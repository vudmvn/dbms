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3" r:id="rId1"/>
  </p:sldMasterIdLst>
  <p:notesMasterIdLst>
    <p:notesMasterId r:id="rId57"/>
  </p:notesMasterIdLst>
  <p:handoutMasterIdLst>
    <p:handoutMasterId r:id="rId58"/>
  </p:handoutMasterIdLst>
  <p:sldIdLst>
    <p:sldId id="349" r:id="rId2"/>
    <p:sldId id="384" r:id="rId3"/>
    <p:sldId id="257" r:id="rId4"/>
    <p:sldId id="432" r:id="rId5"/>
    <p:sldId id="433" r:id="rId6"/>
    <p:sldId id="434" r:id="rId7"/>
    <p:sldId id="435" r:id="rId8"/>
    <p:sldId id="436" r:id="rId9"/>
    <p:sldId id="437" r:id="rId10"/>
    <p:sldId id="438" r:id="rId11"/>
    <p:sldId id="439" r:id="rId12"/>
    <p:sldId id="440" r:id="rId13"/>
    <p:sldId id="441" r:id="rId14"/>
    <p:sldId id="442" r:id="rId15"/>
    <p:sldId id="443" r:id="rId16"/>
    <p:sldId id="444" r:id="rId17"/>
    <p:sldId id="445" r:id="rId18"/>
    <p:sldId id="446" r:id="rId19"/>
    <p:sldId id="447" r:id="rId20"/>
    <p:sldId id="448" r:id="rId21"/>
    <p:sldId id="449" r:id="rId22"/>
    <p:sldId id="450" r:id="rId23"/>
    <p:sldId id="451" r:id="rId24"/>
    <p:sldId id="452" r:id="rId25"/>
    <p:sldId id="453" r:id="rId26"/>
    <p:sldId id="454" r:id="rId27"/>
    <p:sldId id="455" r:id="rId28"/>
    <p:sldId id="456" r:id="rId29"/>
    <p:sldId id="457" r:id="rId30"/>
    <p:sldId id="458" r:id="rId31"/>
    <p:sldId id="459" r:id="rId32"/>
    <p:sldId id="460" r:id="rId33"/>
    <p:sldId id="461" r:id="rId34"/>
    <p:sldId id="462" r:id="rId35"/>
    <p:sldId id="463" r:id="rId36"/>
    <p:sldId id="464" r:id="rId37"/>
    <p:sldId id="465" r:id="rId38"/>
    <p:sldId id="466" r:id="rId39"/>
    <p:sldId id="467" r:id="rId40"/>
    <p:sldId id="468" r:id="rId41"/>
    <p:sldId id="469" r:id="rId42"/>
    <p:sldId id="470" r:id="rId43"/>
    <p:sldId id="471" r:id="rId44"/>
    <p:sldId id="472" r:id="rId45"/>
    <p:sldId id="473" r:id="rId46"/>
    <p:sldId id="474" r:id="rId47"/>
    <p:sldId id="475" r:id="rId48"/>
    <p:sldId id="476" r:id="rId49"/>
    <p:sldId id="477" r:id="rId50"/>
    <p:sldId id="478" r:id="rId51"/>
    <p:sldId id="479" r:id="rId52"/>
    <p:sldId id="480" r:id="rId53"/>
    <p:sldId id="481" r:id="rId54"/>
    <p:sldId id="482" r:id="rId55"/>
    <p:sldId id="483" r:id="rId56"/>
  </p:sldIdLst>
  <p:sldSz cx="12192000" cy="6858000"/>
  <p:notesSz cx="7315200" cy="9601200"/>
  <p:defaultTextStyle>
    <a:defPPr>
      <a:defRPr lang="en-US"/>
    </a:defPPr>
    <a:lvl1pPr algn="l" rtl="0" eaLnBrk="0" fontAlgn="base" hangingPunct="0">
      <a:spcBef>
        <a:spcPct val="20000"/>
      </a:spcBef>
      <a:spcAft>
        <a:spcPct val="0"/>
      </a:spcAft>
      <a:buClr>
        <a:srgbClr val="FF6600"/>
      </a:buClr>
      <a:buSzPct val="75000"/>
      <a:buFont typeface="Monotype Sorts" charset="2"/>
      <a:buChar char="l"/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20000"/>
      </a:spcBef>
      <a:spcAft>
        <a:spcPct val="0"/>
      </a:spcAft>
      <a:buClr>
        <a:srgbClr val="FF6600"/>
      </a:buClr>
      <a:buSzPct val="75000"/>
      <a:buFont typeface="Monotype Sorts" charset="2"/>
      <a:buChar char="l"/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20000"/>
      </a:spcBef>
      <a:spcAft>
        <a:spcPct val="0"/>
      </a:spcAft>
      <a:buClr>
        <a:srgbClr val="FF6600"/>
      </a:buClr>
      <a:buSzPct val="75000"/>
      <a:buFont typeface="Monotype Sorts" charset="2"/>
      <a:buChar char="l"/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20000"/>
      </a:spcBef>
      <a:spcAft>
        <a:spcPct val="0"/>
      </a:spcAft>
      <a:buClr>
        <a:srgbClr val="FF6600"/>
      </a:buClr>
      <a:buSzPct val="75000"/>
      <a:buFont typeface="Monotype Sorts" charset="2"/>
      <a:buChar char="l"/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20000"/>
      </a:spcBef>
      <a:spcAft>
        <a:spcPct val="0"/>
      </a:spcAft>
      <a:buClr>
        <a:srgbClr val="FF6600"/>
      </a:buClr>
      <a:buSzPct val="75000"/>
      <a:buFont typeface="Monotype Sorts" charset="2"/>
      <a:buChar char="l"/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>
            <a:extLst>
              <a:ext uri="{FF2B5EF4-FFF2-40B4-BE49-F238E27FC236}">
                <a16:creationId xmlns:a16="http://schemas.microsoft.com/office/drawing/2014/main" id="{96D549CF-6DFD-CFDB-4965-58194CF4F2D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357" cy="480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790" tIns="46895" rIns="93790" bIns="46895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6131" name="Rectangle 3">
            <a:extLst>
              <a:ext uri="{FF2B5EF4-FFF2-40B4-BE49-F238E27FC236}">
                <a16:creationId xmlns:a16="http://schemas.microsoft.com/office/drawing/2014/main" id="{8E19A229-EAF8-2AAF-E6EC-E0366ADCBC2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209" y="0"/>
            <a:ext cx="3170357" cy="480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790" tIns="46895" rIns="93790" bIns="46895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6132" name="Rectangle 4">
            <a:extLst>
              <a:ext uri="{FF2B5EF4-FFF2-40B4-BE49-F238E27FC236}">
                <a16:creationId xmlns:a16="http://schemas.microsoft.com/office/drawing/2014/main" id="{F0195859-3B9C-EA5A-DAC2-F772721978B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19030"/>
            <a:ext cx="3170357" cy="480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790" tIns="46895" rIns="93790" bIns="46895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6133" name="Rectangle 5">
            <a:extLst>
              <a:ext uri="{FF2B5EF4-FFF2-40B4-BE49-F238E27FC236}">
                <a16:creationId xmlns:a16="http://schemas.microsoft.com/office/drawing/2014/main" id="{B8E62657-3ACA-464B-2D2E-4F1C967F22F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209" y="9119030"/>
            <a:ext cx="3170357" cy="480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790" tIns="46895" rIns="93790" bIns="46895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fld id="{1AA94293-E3C3-4E54-B9F5-BDD568EB9D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07B0EA7D-2BA2-8120-5ABC-58CDE72589F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357" cy="480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5" rIns="96651" bIns="48325" numCol="1" anchor="t" anchorCtr="0" compatLnSpc="1">
            <a:prstTxWarp prst="textNoShape">
              <a:avLst/>
            </a:prstTxWarp>
          </a:bodyPr>
          <a:lstStyle>
            <a:lvl1pPr defTabSz="967209"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9C10E525-0B9B-E215-412D-1BFB60849A0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3209" y="0"/>
            <a:ext cx="3170357" cy="480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5" rIns="96651" bIns="48325" numCol="1" anchor="t" anchorCtr="0" compatLnSpc="1">
            <a:prstTxWarp prst="textNoShape">
              <a:avLst/>
            </a:prstTxWarp>
          </a:bodyPr>
          <a:lstStyle>
            <a:lvl1pPr algn="r" defTabSz="967209"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2" name="Rectangle 4">
            <a:extLst>
              <a:ext uri="{FF2B5EF4-FFF2-40B4-BE49-F238E27FC236}">
                <a16:creationId xmlns:a16="http://schemas.microsoft.com/office/drawing/2014/main" id="{D0C47E53-5BA5-1AAE-751E-1F2FCB50DCD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8788" y="720725"/>
            <a:ext cx="6397625" cy="3598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AC9F7E04-E094-DF99-87DE-5755394A5A3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0867" y="4560328"/>
            <a:ext cx="5853468" cy="4320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5" rIns="96651" bIns="483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B63EB7C0-6B53-7D30-2E9B-C6D99EA8D4D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9030"/>
            <a:ext cx="3170357" cy="480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5" rIns="96651" bIns="48325" numCol="1" anchor="b" anchorCtr="0" compatLnSpc="1">
            <a:prstTxWarp prst="textNoShape">
              <a:avLst/>
            </a:prstTxWarp>
          </a:bodyPr>
          <a:lstStyle>
            <a:lvl1pPr defTabSz="967209"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31" name="Rectangle 7">
            <a:extLst>
              <a:ext uri="{FF2B5EF4-FFF2-40B4-BE49-F238E27FC236}">
                <a16:creationId xmlns:a16="http://schemas.microsoft.com/office/drawing/2014/main" id="{93E52514-5308-A2CB-4759-555ACCF988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209" y="9119030"/>
            <a:ext cx="3170357" cy="480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5" rIns="96651" bIns="48325" numCol="1" anchor="b" anchorCtr="0" compatLnSpc="1">
            <a:prstTxWarp prst="textNoShape">
              <a:avLst/>
            </a:prstTxWarp>
          </a:bodyPr>
          <a:lstStyle>
            <a:lvl1pPr algn="r" defTabSz="967209" eaLnBrk="1" hangingPunct="1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fld id="{8A144A25-5569-4442-A77C-2A296DF0D21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3BD0B5F7-2B7A-DA2F-7070-6EF7799975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62044" indent="-293094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72375" indent="-23447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41325" indent="-23447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110275" indent="-23447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79225" indent="-23447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3048175" indent="-23447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517125" indent="-23447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986075" indent="-23447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35C4C7B-183C-403B-84D5-321BC85875A1}" type="slidenum">
              <a:rPr lang="en-US" altLang="en-US" sz="1200">
                <a:latin typeface="Times New Roman" panose="02020603050405020304" pitchFamily="18" charset="0"/>
              </a:rPr>
              <a:pPr/>
              <a:t>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DF4AD010-AA0B-CF86-F1F1-8CF3B11AFC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BCAB0135-16F3-2242-1C12-4813333113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A4991CFF-1925-B2DC-0C79-EFA4CA20EA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209">
              <a:defRPr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62044" indent="-293094" defTabSz="967209">
              <a:defRPr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72375" indent="-234475" defTabSz="967209">
              <a:defRPr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41325" indent="-234475" defTabSz="967209">
              <a:defRPr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110275" indent="-234475" defTabSz="967209">
              <a:defRPr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79225" indent="-234475" defTabSz="967209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3048175" indent="-234475" defTabSz="967209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517125" indent="-234475" defTabSz="967209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986075" indent="-234475" defTabSz="967209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8FBE478-A0BF-42B8-A0DC-3DB0C1A712F1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D89EA09E-FDE6-9DE3-FDF9-7CA57728B9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48AFACFC-483F-60C7-7B04-AE823E11C4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964BB1-7357-BCBC-C333-4CA5E7116E2E}"/>
              </a:ext>
            </a:extLst>
          </p:cNvPr>
          <p:cNvSpPr/>
          <p:nvPr userDrawn="1"/>
        </p:nvSpPr>
        <p:spPr>
          <a:xfrm>
            <a:off x="0" y="2"/>
            <a:ext cx="12192000" cy="6486525"/>
          </a:xfrm>
          <a:prstGeom prst="rect">
            <a:avLst/>
          </a:prstGeom>
          <a:solidFill>
            <a:srgbClr val="2237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41219" y="3243266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7">
            <a:extLst>
              <a:ext uri="{FF2B5EF4-FFF2-40B4-BE49-F238E27FC236}">
                <a16:creationId xmlns:a16="http://schemas.microsoft.com/office/drawing/2014/main" id="{EFE6BCEB-9D04-0A31-13FD-E54A7886E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38915"/>
            <a:ext cx="2743200" cy="365125"/>
          </a:xfrm>
        </p:spPr>
        <p:txBody>
          <a:bodyPr/>
          <a:lstStyle>
            <a:lvl1pPr>
              <a:defRPr sz="1000" smtClean="0">
                <a:latin typeface="+mn-lt"/>
              </a:defRPr>
            </a:lvl1pPr>
          </a:lstStyle>
          <a:p>
            <a:pPr>
              <a:buFont typeface="Monotype Sorts" charset="2"/>
              <a:buNone/>
              <a:defRPr/>
            </a:pPr>
            <a:fld id="{1CC891BA-034A-48B1-A882-E2BBAA86CE85}" type="datetime1">
              <a:rPr lang="en-US" smtClean="0"/>
              <a:t>2/5/2024</a:t>
            </a:fld>
            <a:endParaRPr lang="en-US" dirty="0"/>
          </a:p>
        </p:txBody>
      </p:sp>
      <p:sp>
        <p:nvSpPr>
          <p:cNvPr id="4" name="Slide Number Placeholder 11">
            <a:extLst>
              <a:ext uri="{FF2B5EF4-FFF2-40B4-BE49-F238E27FC236}">
                <a16:creationId xmlns:a16="http://schemas.microsoft.com/office/drawing/2014/main" id="{21C2B440-578D-B562-B0A6-B54BDB743A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48800" y="6538915"/>
            <a:ext cx="2743200" cy="365125"/>
          </a:xfrm>
        </p:spPr>
        <p:txBody>
          <a:bodyPr/>
          <a:lstStyle>
            <a:lvl1pPr>
              <a:defRPr sz="1000">
                <a:solidFill>
                  <a:prstClr val="white"/>
                </a:solidFill>
                <a:latin typeface="+mn-lt"/>
              </a:defRPr>
            </a:lvl1pPr>
          </a:lstStyle>
          <a:p>
            <a:pPr>
              <a:buFont typeface="Monotype Sorts" charset="2"/>
              <a:buNone/>
              <a:defRPr/>
            </a:pPr>
            <a:fld id="{775A0816-9807-4CA3-A3C5-68577B5C9559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ABBDFAC-3ABC-7AF1-C80F-B9A80EC5DAE2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 sz="1000">
                <a:latin typeface="+mn-lt"/>
              </a:defRPr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UFCFFS-30-1– Foundations of Computing</a:t>
            </a:r>
          </a:p>
        </p:txBody>
      </p:sp>
    </p:spTree>
    <p:extLst>
      <p:ext uri="{BB962C8B-B14F-4D97-AF65-F5344CB8AC3E}">
        <p14:creationId xmlns:p14="http://schemas.microsoft.com/office/powerpoint/2010/main" val="4157092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1A55295-5DC2-C569-6312-199AFA24EE07}"/>
              </a:ext>
            </a:extLst>
          </p:cNvPr>
          <p:cNvSpPr/>
          <p:nvPr userDrawn="1"/>
        </p:nvSpPr>
        <p:spPr>
          <a:xfrm>
            <a:off x="392908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82252" y="277964"/>
            <a:ext cx="7928429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56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29624-F3B5-070E-14EF-70CC1B4849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80188"/>
            <a:ext cx="2743200" cy="277812"/>
          </a:xfrm>
        </p:spPr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2E154125-4608-497B-949A-2E386C1F812E}" type="datetime1">
              <a:rPr lang="en-US" smtClean="0"/>
              <a:t>2/5/2024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685519A-3558-75C9-7D9D-2CD34FE860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12288" y="6623050"/>
            <a:ext cx="2743200" cy="234950"/>
          </a:xfrm>
        </p:spPr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fld id="{3668E2E4-C289-40FA-803B-52DC86338CE3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678CD4D-49EF-4866-C3F2-B2A61D010B3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UFCFFS-30-1– Foundations of Computing</a:t>
            </a:r>
          </a:p>
        </p:txBody>
      </p:sp>
      <p:pic>
        <p:nvPicPr>
          <p:cNvPr id="7" name="Picture 2" descr="Image result for uwe bristol logo">
            <a:extLst>
              <a:ext uri="{FF2B5EF4-FFF2-40B4-BE49-F238E27FC236}">
                <a16:creationId xmlns:a16="http://schemas.microsoft.com/office/drawing/2014/main" id="{0215B41E-72B5-D655-7127-58FC169525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7213" y="16164"/>
            <a:ext cx="1447800" cy="744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9857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E98A4D7-51AA-2B15-3D26-501BAE3FD3F8}"/>
              </a:ext>
            </a:extLst>
          </p:cNvPr>
          <p:cNvSpPr/>
          <p:nvPr userDrawn="1"/>
        </p:nvSpPr>
        <p:spPr>
          <a:xfrm>
            <a:off x="392908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87476" y="2949388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4508C-232F-8AA0-F1C6-36CFF9ACCA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92890"/>
            <a:ext cx="2743200" cy="268287"/>
          </a:xfrm>
        </p:spPr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E3C475DF-DA5F-4E91-A4D4-E6CD91339370}" type="datetime1">
              <a:rPr lang="en-US" smtClean="0"/>
              <a:t>2/5/2024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E118D7B-5BE4-D162-C63C-02493336AE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366251" y="6589715"/>
            <a:ext cx="2743200" cy="314325"/>
          </a:xfrm>
        </p:spPr>
        <p:txBody>
          <a:bodyPr/>
          <a:lstStyle>
            <a:lvl1pPr>
              <a:defRPr sz="1000"/>
            </a:lvl1pPr>
          </a:lstStyle>
          <a:p>
            <a:pPr>
              <a:buFont typeface="Monotype Sorts" charset="2"/>
              <a:buNone/>
              <a:defRPr/>
            </a:pPr>
            <a:fld id="{F9126DDB-45DE-4D72-94FB-1E2D565E80AF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8007CFB-2610-ACA1-B2EA-E3DDAC766C9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UFCFFS-30-1– Foundations of Computing</a:t>
            </a:r>
          </a:p>
        </p:txBody>
      </p:sp>
      <p:pic>
        <p:nvPicPr>
          <p:cNvPr id="8" name="Picture 2" descr="Image result for uwe bristol logo">
            <a:extLst>
              <a:ext uri="{FF2B5EF4-FFF2-40B4-BE49-F238E27FC236}">
                <a16:creationId xmlns:a16="http://schemas.microsoft.com/office/drawing/2014/main" id="{916E3C2A-0A31-00FE-ECF8-1672CFF37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7213" y="16164"/>
            <a:ext cx="1447800" cy="744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8943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858F73B4-3EA4-F35A-3D60-2923D5658ED7}"/>
              </a:ext>
            </a:extLst>
          </p:cNvPr>
          <p:cNvSpPr/>
          <p:nvPr userDrawn="1"/>
        </p:nvSpPr>
        <p:spPr>
          <a:xfrm>
            <a:off x="311261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40859" y="243492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56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309221" y="1169083"/>
            <a:ext cx="11551617" cy="495413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800"/>
            </a:lvl2pPr>
            <a:lvl3pPr>
              <a:defRPr sz="18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V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778A0-1739-29FF-2284-D0326B623CD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buFont typeface="Monotype Sorts" charset="2"/>
              <a:buNone/>
              <a:defRPr/>
            </a:pPr>
            <a:fld id="{F8A5A062-5663-41D9-8D77-F88976B13B59}" type="datetime1">
              <a:rPr lang="en-US" smtClean="0"/>
              <a:t>2/5/2024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C1F769-2EA0-3B74-8A9C-9BD515A3FA5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9421813" y="6600825"/>
            <a:ext cx="2743200" cy="274638"/>
          </a:xfrm>
        </p:spPr>
        <p:txBody>
          <a:bodyPr/>
          <a:lstStyle>
            <a:lvl1pPr>
              <a:defRPr sz="1000"/>
            </a:lvl1pPr>
          </a:lstStyle>
          <a:p>
            <a:pPr>
              <a:buFont typeface="Monotype Sorts" charset="2"/>
              <a:buNone/>
              <a:defRPr/>
            </a:pPr>
            <a:fld id="{BC9EDAA9-37F3-4614-95D5-5B7FFAB71D04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EB4D491-05E9-53AB-E987-C6383C7B7C83}"/>
              </a:ext>
            </a:extLst>
          </p:cNvPr>
          <p:cNvSpPr>
            <a:spLocks noGrp="1" noChangeArrowheads="1"/>
          </p:cNvSpPr>
          <p:nvPr>
            <p:ph type="ftr" sz="quarter" idx="16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UFCFFS-30-1– Foundations of Computing</a:t>
            </a:r>
          </a:p>
        </p:txBody>
      </p:sp>
      <p:pic>
        <p:nvPicPr>
          <p:cNvPr id="1026" name="Picture 2" descr="Image result for uwe bristol logo">
            <a:extLst>
              <a:ext uri="{FF2B5EF4-FFF2-40B4-BE49-F238E27FC236}">
                <a16:creationId xmlns:a16="http://schemas.microsoft.com/office/drawing/2014/main" id="{36ECDC33-660E-2EA9-6A61-B10D1DF96F8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7213" y="16164"/>
            <a:ext cx="1447800" cy="744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8140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63687" y="2846231"/>
            <a:ext cx="4417452" cy="1460428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3150" b="1" baseline="0">
                <a:solidFill>
                  <a:srgbClr val="2237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63687" y="4429523"/>
            <a:ext cx="4417452" cy="75007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350" baseline="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3"/>
          </p:nvPr>
        </p:nvSpPr>
        <p:spPr>
          <a:xfrm>
            <a:off x="1" y="862153"/>
            <a:ext cx="7096259" cy="56319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1888363-DACF-4CD3-2499-6E28B3D6969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638F6F86-1F0B-4A69-B0CE-7FE31F7B216C}" type="datetime1">
              <a:rPr lang="en-US" smtClean="0"/>
              <a:t>2/5/2024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2A37517-8DD7-EEA6-F2E6-49FC8CC73A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871913" y="6604000"/>
            <a:ext cx="4114800" cy="254000"/>
          </a:xfrm>
        </p:spPr>
        <p:txBody>
          <a:bodyPr/>
          <a:lstStyle>
            <a:lvl1pPr defTabSz="257175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white"/>
                </a:solidFill>
                <a:latin typeface="Calibri" panose="020F0502020204030204"/>
                <a:ea typeface="+mn-ea"/>
              </a:defRPr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UFCFFS-30-1– Foundations of Computing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06BDF5-0E4B-7D5D-4DE0-26F369F0EB1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fld id="{4FC3DE7D-4EEA-43B2-9617-70FD3CFD639D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2" descr="Image result for uwe bristol logo">
            <a:extLst>
              <a:ext uri="{FF2B5EF4-FFF2-40B4-BE49-F238E27FC236}">
                <a16:creationId xmlns:a16="http://schemas.microsoft.com/office/drawing/2014/main" id="{C9EF55CF-963F-B99B-6D50-815F7F7C9EE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7213" y="16164"/>
            <a:ext cx="1447800" cy="744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280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3">
            <a:extLst>
              <a:ext uri="{FF2B5EF4-FFF2-40B4-BE49-F238E27FC236}">
                <a16:creationId xmlns:a16="http://schemas.microsoft.com/office/drawing/2014/main" id="{397F7F79-C88E-7534-6D6C-7E21232DD335}"/>
              </a:ext>
            </a:extLst>
          </p:cNvPr>
          <p:cNvSpPr/>
          <p:nvPr userDrawn="1"/>
        </p:nvSpPr>
        <p:spPr>
          <a:xfrm>
            <a:off x="392908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3"/>
          </p:nvPr>
        </p:nvSpPr>
        <p:spPr>
          <a:xfrm>
            <a:off x="392907" y="278800"/>
            <a:ext cx="5813199" cy="457200"/>
          </a:xfrm>
          <a:prstGeom prst="rect">
            <a:avLst/>
          </a:prstGeom>
        </p:spPr>
        <p:txBody>
          <a:bodyPr/>
          <a:lstStyle>
            <a:lvl1pPr>
              <a:defRPr lang="en-VN" sz="1856" b="1" baseline="0" dirty="0">
                <a:solidFill>
                  <a:srgbClr val="223771"/>
                </a:solidFill>
                <a:ea typeface="+mj-e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E8D8520-2EEF-7DFE-992F-B17199C9D3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buFont typeface="Monotype Sorts" charset="2"/>
              <a:buNone/>
              <a:defRPr/>
            </a:pPr>
            <a:fld id="{312F2106-85A1-488C-B255-AD8A5B98FDDB}" type="datetime1">
              <a:rPr lang="en-US" smtClean="0"/>
              <a:t>2/5/2024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86DAE71-5E4C-AD44-94BB-40E3E9BE3B2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buFont typeface="Monotype Sorts" charset="2"/>
              <a:buNone/>
              <a:defRPr/>
            </a:pPr>
            <a:fld id="{B9B03C63-2273-46E4-B7DF-3CCA315B6CB6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74D9259-758C-E063-00D3-B9F2238CDAAB}"/>
              </a:ext>
            </a:extLst>
          </p:cNvPr>
          <p:cNvSpPr>
            <a:spLocks noGrp="1" noChangeArrowheads="1"/>
          </p:cNvSpPr>
          <p:nvPr>
            <p:ph type="ftr" sz="quarter" idx="16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UFCFFS-30-1– Foundations of Computing</a:t>
            </a:r>
          </a:p>
        </p:txBody>
      </p:sp>
      <p:pic>
        <p:nvPicPr>
          <p:cNvPr id="9" name="Picture 2" descr="Image result for uwe bristol logo">
            <a:extLst>
              <a:ext uri="{FF2B5EF4-FFF2-40B4-BE49-F238E27FC236}">
                <a16:creationId xmlns:a16="http://schemas.microsoft.com/office/drawing/2014/main" id="{DA64AC46-0D6A-3ECC-48E7-FA4CC610FE9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7213" y="16164"/>
            <a:ext cx="1447800" cy="744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6617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3">
            <a:extLst>
              <a:ext uri="{FF2B5EF4-FFF2-40B4-BE49-F238E27FC236}">
                <a16:creationId xmlns:a16="http://schemas.microsoft.com/office/drawing/2014/main" id="{E54F1EF8-213B-FF64-8429-F8F6501B5178}"/>
              </a:ext>
            </a:extLst>
          </p:cNvPr>
          <p:cNvSpPr/>
          <p:nvPr userDrawn="1"/>
        </p:nvSpPr>
        <p:spPr>
          <a:xfrm>
            <a:off x="701900" y="515148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900" y="351789"/>
            <a:ext cx="8061101" cy="9227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88" b="1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1901" y="1639781"/>
            <a:ext cx="3336703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711" y="1639781"/>
            <a:ext cx="33318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3"/>
          </p:nvPr>
        </p:nvSpPr>
        <p:spPr>
          <a:xfrm>
            <a:off x="8426539" y="1639781"/>
            <a:ext cx="33318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9E9E4F77-455A-34FF-7394-C19D63B430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EE75DE01-6100-4495-A95A-EE40D6D3DC8E}" type="datetime1">
              <a:rPr lang="en-US" smtClean="0"/>
              <a:t>2/5/2024</a:t>
            </a:fld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7A7C627D-779A-8D83-E2C4-C40DC84F78D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fld id="{FE967A2B-7DC3-460F-82C1-37366D5A5F1B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E03B860-9F7C-2731-9CAC-7601DE48A514}"/>
              </a:ext>
            </a:extLst>
          </p:cNvPr>
          <p:cNvSpPr>
            <a:spLocks noGrp="1" noChangeArrowheads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UFCFFS-30-1– Foundations of Computing</a:t>
            </a:r>
          </a:p>
        </p:txBody>
      </p:sp>
      <p:pic>
        <p:nvPicPr>
          <p:cNvPr id="11" name="Picture 2" descr="Image result for uwe bristol logo">
            <a:extLst>
              <a:ext uri="{FF2B5EF4-FFF2-40B4-BE49-F238E27FC236}">
                <a16:creationId xmlns:a16="http://schemas.microsoft.com/office/drawing/2014/main" id="{DBFBC603-F616-C0DA-6922-8EEB26514F7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7213" y="16164"/>
            <a:ext cx="1447800" cy="744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2271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3916733C-FBD8-62DA-599D-9BAE44D83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100BE7D7-26C6-44E2-8F12-7C4A51A1049F}" type="datetime1">
              <a:rPr lang="en-US" smtClean="0"/>
              <a:t>2/5/2024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71387-83EF-1FFD-724E-49A6E970C5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2812D8D-EA8D-1B75-F994-BA3986DCE525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UFCFFS-30-1– Foundations of Computing</a:t>
            </a:r>
          </a:p>
        </p:txBody>
      </p:sp>
      <p:pic>
        <p:nvPicPr>
          <p:cNvPr id="6" name="Picture 2" descr="Image result for uwe bristol logo">
            <a:extLst>
              <a:ext uri="{FF2B5EF4-FFF2-40B4-BE49-F238E27FC236}">
                <a16:creationId xmlns:a16="http://schemas.microsoft.com/office/drawing/2014/main" id="{8B4C130C-2B6E-BE22-2DB7-00A40F03A43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7213" y="16164"/>
            <a:ext cx="1447800" cy="744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0737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741484" y="785430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6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5DDBC1F-BF9C-7B51-59FB-F19B6984E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8D1CA355-5FCF-4739-98C8-2D5724E91D20}" type="datetime1">
              <a:rPr lang="en-US" smtClean="0"/>
              <a:t>2/5/2024</a:t>
            </a:fld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C17964-6658-65D0-C4E0-286261C6CE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fld id="{2BE77ECF-F060-4D46-A3D9-128B9B0DFB4A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83511F7-1E66-04C0-64CE-2CA8940B2D7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UFCFFS-30-1– Foundations of Computing</a:t>
            </a:r>
          </a:p>
        </p:txBody>
      </p:sp>
      <p:pic>
        <p:nvPicPr>
          <p:cNvPr id="6" name="Picture 2" descr="Image result for uwe bristol logo">
            <a:extLst>
              <a:ext uri="{FF2B5EF4-FFF2-40B4-BE49-F238E27FC236}">
                <a16:creationId xmlns:a16="http://schemas.microsoft.com/office/drawing/2014/main" id="{C6BE80A9-20B3-5E00-2DEE-616D9B2EA2B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7213" y="16164"/>
            <a:ext cx="1447800" cy="744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3785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3">
            <a:extLst>
              <a:ext uri="{FF2B5EF4-FFF2-40B4-BE49-F238E27FC236}">
                <a16:creationId xmlns:a16="http://schemas.microsoft.com/office/drawing/2014/main" id="{AB79923C-0D24-F53B-D9C9-FA068E03CBFF}"/>
              </a:ext>
            </a:extLst>
          </p:cNvPr>
          <p:cNvSpPr/>
          <p:nvPr userDrawn="1"/>
        </p:nvSpPr>
        <p:spPr>
          <a:xfrm>
            <a:off x="851141" y="711200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28588" indent="-128588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q"/>
              <a:defRPr sz="2400"/>
            </a:lvl1pPr>
            <a:lvl2pPr marL="385763" indent="-128588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  <a:defRPr sz="2000"/>
            </a:lvl2pPr>
            <a:lvl3pPr marL="642938" indent="-128588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ü"/>
              <a:defRPr sz="2000"/>
            </a:lvl3pPr>
            <a:lvl4pPr marL="900113" indent="-128588">
              <a:lnSpc>
                <a:spcPct val="150000"/>
              </a:lnSpc>
              <a:buClr>
                <a:schemeClr val="accent2"/>
              </a:buClr>
              <a:buFont typeface="Courier New" panose="02070309020205020404" pitchFamily="49" charset="0"/>
              <a:buChar char="o"/>
              <a:defRPr sz="1600"/>
            </a:lvl4pPr>
            <a:lvl5pPr marL="1157288" indent="-128588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123AFBE-2234-186F-5F0C-22D156916CE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964D1F0-47D7-5B21-B6DA-1122FAFAAB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UFCFFS-30-1– Foundations of Computing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AD08CD51-62C0-58FD-6E1D-88EF84F0130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34DC46FB-FFE8-41F1-A2D5-83B19D9D7258}" type="datetime1">
              <a:rPr lang="en-US" smtClean="0"/>
              <a:t>2/5/2024</a:t>
            </a:fld>
            <a:endParaRPr lang="en-US" dirty="0"/>
          </a:p>
        </p:txBody>
      </p:sp>
      <p:pic>
        <p:nvPicPr>
          <p:cNvPr id="9" name="Picture 2" descr="Image result for uwe bristol logo">
            <a:extLst>
              <a:ext uri="{FF2B5EF4-FFF2-40B4-BE49-F238E27FC236}">
                <a16:creationId xmlns:a16="http://schemas.microsoft.com/office/drawing/2014/main" id="{1EE0DD84-5EC5-6288-B200-F592EAB40BD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7213" y="16164"/>
            <a:ext cx="1447800" cy="744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0708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661F23F4-6AD8-94D5-2C85-4CB1F4DB441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buFont typeface="Monotype Sorts" charset="2"/>
              <a:buNone/>
              <a:defRPr/>
            </a:pPr>
            <a:fld id="{B0510DBD-B54C-4BB2-9910-15204BA8081C}" type="slidenum">
              <a:rPr lang="en-US" alt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5" name="Footer Placeholder 11">
            <a:extLst>
              <a:ext uri="{FF2B5EF4-FFF2-40B4-BE49-F238E27FC236}">
                <a16:creationId xmlns:a16="http://schemas.microsoft.com/office/drawing/2014/main" id="{928E7F04-0F8E-0741-CB89-B9A5C1DC84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UFCFFS-30-1– Foundations of Computing</a:t>
            </a:r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8F00BDC9-ED95-ECCB-3AA2-7C715A291A5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B31F97BD-6B5A-421A-B962-807C0FAC0102}" type="datetime1">
              <a:rPr lang="en-US" smtClean="0"/>
              <a:t>2/5/2024</a:t>
            </a:fld>
            <a:endParaRPr lang="en-US" dirty="0"/>
          </a:p>
        </p:txBody>
      </p:sp>
      <p:pic>
        <p:nvPicPr>
          <p:cNvPr id="7" name="Picture 2" descr="Image result for uwe bristol logo">
            <a:extLst>
              <a:ext uri="{FF2B5EF4-FFF2-40B4-BE49-F238E27FC236}">
                <a16:creationId xmlns:a16="http://schemas.microsoft.com/office/drawing/2014/main" id="{E527E5CE-4CF2-7CCD-AA73-E4B273E56C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7213" y="16164"/>
            <a:ext cx="1447800" cy="744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3508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6">
            <a:extLst>
              <a:ext uri="{FF2B5EF4-FFF2-40B4-BE49-F238E27FC236}">
                <a16:creationId xmlns:a16="http://schemas.microsoft.com/office/drawing/2014/main" id="{95787B45-CCD1-2665-35CA-26FF8EFF88D7}"/>
              </a:ext>
            </a:extLst>
          </p:cNvPr>
          <p:cNvGrpSpPr>
            <a:grpSpLocks/>
          </p:cNvGrpSpPr>
          <p:nvPr/>
        </p:nvGrpSpPr>
        <p:grpSpPr bwMode="auto">
          <a:xfrm>
            <a:off x="0" y="6494463"/>
            <a:ext cx="12192000" cy="373062"/>
            <a:chOff x="0" y="1661375"/>
            <a:chExt cx="12192000" cy="37309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0A8C841-F6D0-23B2-733A-1CD90B3F4DAD}"/>
                </a:ext>
              </a:extLst>
            </p:cNvPr>
            <p:cNvSpPr/>
            <p:nvPr/>
          </p:nvSpPr>
          <p:spPr>
            <a:xfrm>
              <a:off x="0" y="1661375"/>
              <a:ext cx="12192000" cy="109546"/>
            </a:xfrm>
            <a:prstGeom prst="rect">
              <a:avLst/>
            </a:prstGeom>
            <a:solidFill>
              <a:srgbClr val="F265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257175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00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F0B988D-9418-5175-B8F1-38CA646ADBA2}"/>
                </a:ext>
              </a:extLst>
            </p:cNvPr>
            <p:cNvSpPr/>
            <p:nvPr/>
          </p:nvSpPr>
          <p:spPr>
            <a:xfrm>
              <a:off x="0" y="1759808"/>
              <a:ext cx="12192000" cy="274658"/>
            </a:xfrm>
            <a:prstGeom prst="rect">
              <a:avLst/>
            </a:prstGeom>
            <a:solidFill>
              <a:srgbClr val="2237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257175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00" dirty="0">
                <a:solidFill>
                  <a:prstClr val="white"/>
                </a:solidFill>
              </a:endParaRP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B3991-06E6-1D64-C030-E5657676D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600825"/>
            <a:ext cx="27432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257175" eaLnBrk="1" fontAlgn="auto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prstClr val="white"/>
                </a:solidFill>
                <a:latin typeface="Calibri" panose="020F0502020204030204"/>
                <a:ea typeface="+mn-ea"/>
              </a:defRPr>
            </a:lvl1pPr>
          </a:lstStyle>
          <a:p>
            <a:pPr>
              <a:buFont typeface="Monotype Sorts" charset="2"/>
              <a:buNone/>
              <a:defRPr/>
            </a:pPr>
            <a:fld id="{B77A7909-E221-4E66-A5EF-13497EA60DDF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57D17-CBC3-C51E-EB1C-7963F0F1D1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600827"/>
            <a:ext cx="2743200" cy="257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257175" eaLnBrk="1" fontAlgn="auto" hangingPunct="1">
              <a:spcBef>
                <a:spcPts val="0"/>
              </a:spcBef>
              <a:spcAft>
                <a:spcPts val="0"/>
              </a:spcAft>
              <a:defRPr sz="1000" smtClean="0">
                <a:solidFill>
                  <a:prstClr val="white"/>
                </a:solidFill>
                <a:latin typeface="Calibri" panose="020F0502020204030204"/>
                <a:ea typeface="+mn-ea"/>
              </a:defRPr>
            </a:lvl1pPr>
          </a:lstStyle>
          <a:p>
            <a:pPr>
              <a:buFont typeface="Monotype Sorts" charset="2"/>
              <a:buNone/>
              <a:defRPr/>
            </a:pPr>
            <a:fld id="{E387A2F8-A38E-4C0F-A58D-AB896ACBCF8D}" type="datetime1">
              <a:rPr lang="en-US" smtClean="0"/>
              <a:t>2/5/2024</a:t>
            </a:fld>
            <a:endParaRPr lang="en-US" dirty="0"/>
          </a:p>
        </p:txBody>
      </p:sp>
      <p:sp>
        <p:nvSpPr>
          <p:cNvPr id="1029" name="Title Placeholder 1">
            <a:extLst>
              <a:ext uri="{FF2B5EF4-FFF2-40B4-BE49-F238E27FC236}">
                <a16:creationId xmlns:a16="http://schemas.microsoft.com/office/drawing/2014/main" id="{B3DE4959-DECB-5DE9-5280-05B3FE6EB0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0" name="Text Placeholder 2">
            <a:extLst>
              <a:ext uri="{FF2B5EF4-FFF2-40B4-BE49-F238E27FC236}">
                <a16:creationId xmlns:a16="http://schemas.microsoft.com/office/drawing/2014/main" id="{810CF440-6E0B-2021-0C2C-5CE6B0FDCE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CD044D3-EBD5-9CF6-2CD8-89513494DC6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871914" y="6604000"/>
            <a:ext cx="4967287" cy="254000"/>
          </a:xfrm>
          <a:prstGeom prst="rect">
            <a:avLst/>
          </a:prstGeom>
          <a:ln/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20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hdr="0" dt="0"/>
  <p:txStyles>
    <p:titleStyle>
      <a:lvl1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3429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6858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0287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3716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28588" indent="-128588" algn="l" defTabSz="51435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85763" indent="-128588" algn="l" defTabSz="514350" rtl="0" eaLnBrk="0" fontAlgn="base" hangingPunct="0">
        <a:lnSpc>
          <a:spcPct val="90000"/>
        </a:lnSpc>
        <a:spcBef>
          <a:spcPts val="281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2938" indent="-128588" algn="l" defTabSz="514350" rtl="0" eaLnBrk="0" fontAlgn="base" hangingPunct="0">
        <a:lnSpc>
          <a:spcPct val="90000"/>
        </a:lnSpc>
        <a:spcBef>
          <a:spcPts val="281"/>
        </a:spcBef>
        <a:spcAft>
          <a:spcPct val="0"/>
        </a:spcAft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00113" indent="-128588" algn="l" defTabSz="514350" rtl="0" eaLnBrk="0" fontAlgn="base" hangingPunct="0">
        <a:lnSpc>
          <a:spcPct val="90000"/>
        </a:lnSpc>
        <a:spcBef>
          <a:spcPts val="281"/>
        </a:spcBef>
        <a:spcAft>
          <a:spcPct val="0"/>
        </a:spcAft>
        <a:buFont typeface="Arial" panose="020B0604020202020204" pitchFamily="34" charset="0"/>
        <a:buChar char="•"/>
        <a:defRPr sz="97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157288" indent="-128588" algn="l" defTabSz="514350" rtl="0" eaLnBrk="0" fontAlgn="base" hangingPunct="0">
        <a:lnSpc>
          <a:spcPct val="90000"/>
        </a:lnSpc>
        <a:spcBef>
          <a:spcPts val="281"/>
        </a:spcBef>
        <a:spcAft>
          <a:spcPct val="0"/>
        </a:spcAft>
        <a:buFont typeface="Arial" panose="020B0604020202020204" pitchFamily="34" charset="0"/>
        <a:buChar char="•"/>
        <a:defRPr sz="97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1027">
            <a:extLst>
              <a:ext uri="{FF2B5EF4-FFF2-40B4-BE49-F238E27FC236}">
                <a16:creationId xmlns:a16="http://schemas.microsoft.com/office/drawing/2014/main" id="{248535E3-6B0B-E1D8-9717-427E36E84EA0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2740025" y="4524375"/>
            <a:ext cx="7927975" cy="1462088"/>
          </a:xfrm>
        </p:spPr>
        <p:txBody>
          <a:bodyPr/>
          <a:lstStyle/>
          <a:p>
            <a:pPr marL="0" indent="0" algn="ctr" eaLnBrk="1" hangingPunct="1">
              <a:buFont typeface="Arial" panose="020B0604020202020204" pitchFamily="34" charset="0"/>
              <a:buNone/>
            </a:pPr>
            <a:r>
              <a:rPr lang="en-US" altLang="en-US" sz="3400" i="1"/>
              <a:t>Chapter 1</a:t>
            </a:r>
          </a:p>
          <a:p>
            <a:pPr marL="0" indent="0" algn="ctr" eaLnBrk="1" hangingPunct="1">
              <a:buFont typeface="Arial" panose="020B0604020202020204" pitchFamily="34" charset="0"/>
              <a:buNone/>
            </a:pPr>
            <a:r>
              <a:rPr lang="en-US" altLang="en-US" sz="3400" i="1"/>
              <a:t>Database Systems</a:t>
            </a:r>
          </a:p>
        </p:txBody>
      </p:sp>
      <p:sp>
        <p:nvSpPr>
          <p:cNvPr id="15365" name="Footer Placeholder 5">
            <a:extLst>
              <a:ext uri="{FF2B5EF4-FFF2-40B4-BE49-F238E27FC236}">
                <a16:creationId xmlns:a16="http://schemas.microsoft.com/office/drawing/2014/main" id="{AAF4E8F2-2222-1382-2DBB-5EDCE12E239C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UFCFFS-30-1– Foundations of Computing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A4F77A-56CD-A304-C081-F43792560C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FE6265-9601-66BB-50D8-1BF905EEE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1548" y="0"/>
            <a:ext cx="5628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20FFC1CF-C6D1-C190-5CBD-BA8BD4CDF1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52600" y="304800"/>
            <a:ext cx="9601200" cy="1325563"/>
          </a:xfrm>
        </p:spPr>
        <p:txBody>
          <a:bodyPr/>
          <a:lstStyle/>
          <a:p>
            <a:pPr algn="ctr" eaLnBrk="1" hangingPunct="1"/>
            <a:r>
              <a:rPr lang="en-US" altLang="en-US" dirty="0"/>
              <a:t>Faculty of Computer Science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50F7E22-523E-06DC-63AF-3DDDA301838E}"/>
              </a:ext>
            </a:extLst>
          </p:cNvPr>
          <p:cNvSpPr txBox="1">
            <a:spLocks/>
          </p:cNvSpPr>
          <p:nvPr/>
        </p:nvSpPr>
        <p:spPr bwMode="auto">
          <a:xfrm>
            <a:off x="838200" y="1828800"/>
            <a:ext cx="10515600" cy="3657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None/>
              <a:defRPr/>
            </a:pPr>
            <a:r>
              <a:rPr lang="en-US" dirty="0"/>
              <a:t>UFCFFS-30-1– Foundations of Computing: Mathematic Induction &amp; Recursion</a:t>
            </a:r>
          </a:p>
          <a:p>
            <a:pPr eaLnBrk="1" hangingPunct="1">
              <a:buNone/>
              <a:defRPr/>
            </a:pPr>
            <a:endParaRPr lang="en-US" dirty="0"/>
          </a:p>
          <a:p>
            <a:pPr marL="457200" indent="-457200" eaLnBrk="1" hangingPunct="1">
              <a:buFont typeface="Wingdings" panose="05000000000000000000" pitchFamily="2" charset="2"/>
              <a:buChar char="q"/>
              <a:defRPr/>
            </a:pPr>
            <a:r>
              <a:rPr lang="en-US" dirty="0"/>
              <a:t>Instructor: Duc Minh Vu  </a:t>
            </a:r>
          </a:p>
          <a:p>
            <a:pPr eaLnBrk="1" hangingPunct="1">
              <a:buNone/>
              <a:defRPr/>
            </a:pPr>
            <a:br>
              <a:rPr lang="en-US" dirty="0"/>
            </a:br>
            <a:endParaRPr lang="en-US" dirty="0"/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FF2E9559-A610-6BCA-EEBA-A8DDB5882BF8}"/>
              </a:ext>
            </a:extLst>
          </p:cNvPr>
          <p:cNvSpPr txBox="1">
            <a:spLocks/>
          </p:cNvSpPr>
          <p:nvPr/>
        </p:nvSpPr>
        <p:spPr>
          <a:xfrm>
            <a:off x="0" y="6600827"/>
            <a:ext cx="2743200" cy="257175"/>
          </a:xfrm>
          <a:prstGeom prst="rect">
            <a:avLst/>
          </a:prstGeom>
          <a:ln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750" kern="12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defRPr/>
            </a:pPr>
            <a:fld id="{51F7BAB8-80DB-4E62-842E-B5FE49FBC773}" type="datetime1">
              <a:rPr lang="en-US" sz="1000" smtClean="0">
                <a:latin typeface="+mn-lt"/>
              </a:rPr>
              <a:pPr>
                <a:defRPr/>
              </a:pPr>
              <a:t>2/5/2024</a:t>
            </a:fld>
            <a:endParaRPr lang="en-US" sz="1000" dirty="0">
              <a:latin typeface="+mn-lt"/>
            </a:endParaRP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6296C59F-53C6-1B43-72EC-A1FCFF66E337}"/>
              </a:ext>
            </a:extLst>
          </p:cNvPr>
          <p:cNvSpPr txBox="1">
            <a:spLocks/>
          </p:cNvSpPr>
          <p:nvPr/>
        </p:nvSpPr>
        <p:spPr>
          <a:xfrm>
            <a:off x="3871914" y="6604000"/>
            <a:ext cx="4967287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defTabSz="257175" rtl="0" eaLnBrk="1" fontAlgn="auto" hangingPunct="1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675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ctr">
              <a:buFont typeface="Monotype Sorts" charset="2"/>
              <a:buNone/>
              <a:defRPr/>
            </a:pPr>
            <a:r>
              <a:rPr lang="en-US" sz="1000" dirty="0">
                <a:latin typeface="+mn-lt"/>
              </a:rPr>
              <a:t>Data Structures and Algorithms in Python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A6ECC19A-CE8F-18B3-D359-9CCECB6EABCC}"/>
              </a:ext>
            </a:extLst>
          </p:cNvPr>
          <p:cNvSpPr txBox="1">
            <a:spLocks/>
          </p:cNvSpPr>
          <p:nvPr/>
        </p:nvSpPr>
        <p:spPr>
          <a:xfrm>
            <a:off x="9448800" y="6600825"/>
            <a:ext cx="27432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defTabSz="257175" rtl="0" eaLnBrk="1" fontAlgn="auto" hangingPunct="1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675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r">
              <a:defRPr/>
            </a:pPr>
            <a:fld id="{34A84676-C444-4AC5-8B4E-405A7C81C0FB}" type="slidenum">
              <a:rPr lang="en-US" altLang="en-US" sz="1000" smtClean="0">
                <a:latin typeface="+mn-lt"/>
              </a:rPr>
              <a:pPr algn="r">
                <a:defRPr/>
              </a:pPr>
              <a:t>2</a:t>
            </a:fld>
            <a:endParaRPr lang="en-US" altLang="en-US" sz="1000">
              <a:latin typeface="+mn-lt"/>
            </a:endParaRPr>
          </a:p>
        </p:txBody>
      </p:sp>
      <p:pic>
        <p:nvPicPr>
          <p:cNvPr id="2052" name="Picture 4" descr="Image result for phenikaa university logo">
            <a:extLst>
              <a:ext uri="{FF2B5EF4-FFF2-40B4-BE49-F238E27FC236}">
                <a16:creationId xmlns:a16="http://schemas.microsoft.com/office/drawing/2014/main" id="{3D7535AA-4982-EE98-E7F5-2772F4EFC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9053"/>
            <a:ext cx="3352800" cy="1517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FB2FAE43-6016-F4A1-0F7F-F81955AA5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Learning Objectives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D864084F-6DEF-3D43-730D-5A6F7F7037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b="0" i="0" dirty="0">
                <a:effectLst/>
                <a:latin typeface="NewsGothicStd"/>
              </a:rPr>
              <a:t>Describe the features of a queue and the operations on it </a:t>
            </a:r>
          </a:p>
          <a:p>
            <a:pPr marL="457200" indent="-457200">
              <a:buAutoNum type="arabicPeriod"/>
            </a:pPr>
            <a:r>
              <a:rPr lang="en-US" b="0" i="0" dirty="0">
                <a:effectLst/>
                <a:latin typeface="NewsGothicStd"/>
              </a:rPr>
              <a:t>Choose a queue implementation based on its performance characteristics</a:t>
            </a:r>
          </a:p>
          <a:p>
            <a:pPr marL="457200" indent="-457200">
              <a:buAutoNum type="arabicPeriod"/>
            </a:pPr>
            <a:r>
              <a:rPr lang="en-US" b="0" i="0" dirty="0">
                <a:effectLst/>
                <a:latin typeface="NewsGothicStd"/>
              </a:rPr>
              <a:t>Recognize applications where it is appropriate to use a  queue</a:t>
            </a:r>
            <a:r>
              <a:rPr lang="en-US" dirty="0">
                <a:latin typeface="NewsGothicStd"/>
              </a:rPr>
              <a:t> </a:t>
            </a:r>
          </a:p>
          <a:p>
            <a:pPr marL="457200" indent="-457200">
              <a:buAutoNum type="arabicPeriod"/>
            </a:pPr>
            <a:r>
              <a:rPr lang="en-US" b="0" i="0" dirty="0">
                <a:effectLst/>
                <a:latin typeface="NewsGothicStd"/>
              </a:rPr>
              <a:t>Explain the difference between a queue and a priority queue</a:t>
            </a:r>
            <a:endParaRPr lang="en-US" dirty="0">
              <a:latin typeface="NewsGothicStd"/>
            </a:endParaRPr>
          </a:p>
          <a:p>
            <a:pPr marL="457200" indent="-457200">
              <a:buAutoNum type="arabicPeriod"/>
            </a:pPr>
            <a:r>
              <a:rPr lang="en-US" b="0" i="0" dirty="0">
                <a:effectLst/>
                <a:latin typeface="NewsGothicStd"/>
              </a:rPr>
              <a:t>Recognize applications where it is appropriate to use a priority queue</a:t>
            </a:r>
            <a:r>
              <a:rPr lang="en-US" sz="3200" dirty="0"/>
              <a:t> </a:t>
            </a:r>
            <a:endParaRPr lang="en-US" altLang="en-US" sz="3200" dirty="0">
              <a:ea typeface="ＭＳ Ｐゴシック" panose="020B0600070205080204" pitchFamily="34" charset="-128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B50547-D408-5F4B-F3A4-A9C3C269A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9ED99F-0129-AEE9-074F-E711FBCBBA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CDDBF-D288-B674-6994-1AFADB1DE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FE43E-03F2-440B-8D5E-698364127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Chapter 5 - Discrete Mathematics with Applications 5th Edition (Susanna’s Book)</a:t>
            </a:r>
          </a:p>
          <a:p>
            <a:r>
              <a:rPr lang="en-US" dirty="0"/>
              <a:t>Chapter 5 – Discrete Mathematics and Its Applications 7</a:t>
            </a:r>
            <a:r>
              <a:rPr lang="en-US" baseline="30000" dirty="0"/>
              <a:t>th</a:t>
            </a:r>
            <a:r>
              <a:rPr lang="en-US" dirty="0"/>
              <a:t> Edition (Kenneth Rosen’s book)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FCD2C-F367-819F-A356-2ADFD07EF1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4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42861-13F3-E25B-8552-20B119EF1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511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232D6-A874-5DED-93C5-B4F286ECD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Induction I: proving Formulas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7532B-DAE6-7643-0965-774428896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5EBEE-E48D-F714-A878-1FD3C3EF04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5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487A2-4AD4-8315-D5C6-0EE38A963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7A043C-87CE-058E-BD02-9AEFB6B66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2895600"/>
            <a:ext cx="7058025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049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677499-C4E4-C397-92C4-C30C634593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4769BF-64E4-7687-4A8F-3BBCE54A37C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E6361C-9765-128A-822A-DB02966D3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700" y="1814512"/>
            <a:ext cx="7086600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678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55F2E-9DFB-6B6A-3401-FBEAB663B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the First n Integers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4C4A1-555F-08F2-E0FB-CFB09999B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B544C-9320-D027-F660-10FB708F72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7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75C4A-F788-0AD4-2C19-F867E94E5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995585-6AA7-F622-7E3B-981758D03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514600"/>
            <a:ext cx="8186927" cy="2938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048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9613FD-72DE-19E9-6DC4-78FF6AD36D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EA57A0-6C2B-14BD-B87B-C9661B0777A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F1AE16-EC66-A722-D14C-8DE8CB35A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914400"/>
            <a:ext cx="9972507" cy="2257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7F5D18-A3D0-537F-3C39-8231DA6E8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064" y="3581400"/>
            <a:ext cx="11349165" cy="1989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401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0C626E-79DA-A777-8658-8EF8B504B2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7FD99C-F176-A1DE-C8EE-94D4CC8528C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B5E9B0-8646-8052-6CE7-B552221FC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514600"/>
            <a:ext cx="10194045" cy="22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777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AA67BB-99A7-16D4-365E-62576E590C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10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201B49-7D26-03C8-32D3-3A8E81CEAFC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D930E3-2CA1-AE3A-06A0-A50792A32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884" y="1638963"/>
            <a:ext cx="8450231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80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09FC3D-B660-0B92-A6BB-0837873D06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11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E4261B-7B5F-640A-62B3-B05A5E1065D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D310D9-E886-EEA6-43BE-58FCFD714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175" y="1214437"/>
            <a:ext cx="8075992" cy="503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020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1F784A-7366-C160-115E-D78D58310B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12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87258B-294F-4483-C831-053BE8079C8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7CD7F0-CD4D-70DD-9510-7BCC409B8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2819400"/>
            <a:ext cx="8532269" cy="143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584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5747C5-FF79-5105-DB18-BE8350D9EC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13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2F83BD-957E-FCB2-2718-B767D638C1E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A8881D-BC8E-66F7-4A62-0C9FA4C45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0" y="2243137"/>
            <a:ext cx="7048500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816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9B0542-4989-2E58-0A7B-7C689A866B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14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0A963D-8C0B-8889-BBC2-D8C642F6744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64699C-D0E6-2C41-BA7D-687784A38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700" y="2395537"/>
            <a:ext cx="7086600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5101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20F35D-E436-E1A2-258E-489C5DBA69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15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DB6A0B-6D66-C7C9-0723-09C1261AD7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447CD9-7DDA-A7F9-13C5-94CEFAF8B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225" y="1852612"/>
            <a:ext cx="7067550" cy="31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587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81C910-90D5-BCA6-9693-44CF7D5076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16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AB4539-8D99-CD74-446B-3D8A0BB9344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834532-E273-820C-42C3-108BA75B6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700" y="1514475"/>
            <a:ext cx="7086600" cy="382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7097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3660EB-E886-AE2A-FF0E-2EBCE7D918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17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6BD79B-B243-7EA6-54BE-8946BCEB339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E82391-3555-F031-3ACB-DA702BDC6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225" y="2233612"/>
            <a:ext cx="7067550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556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529E2-03E7-E2D5-716F-4DF8A78A4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Theorem 5.2.2 Sum of a Geometric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1070B-205E-8C43-033C-94E42F9FF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BB9B4-2D4E-AAA1-A3D2-594E0368A8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18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E0C44-6C9A-2131-1543-A9B15522D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BE7D64-5A0C-AE11-FE22-0C9AB26BF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037" y="2209800"/>
            <a:ext cx="7019925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9877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DBC216-AF90-95F8-DDB1-15DE35314C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ED39E0-6ABD-EEC5-17A2-4D42890E08A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E03AA1-4F49-13A8-AC03-589170E59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0" y="2128837"/>
            <a:ext cx="7048500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5011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246BB4-F329-EA43-0237-959ED35FA0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04544-BE38-8A35-48C7-902FBD21F43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E73AFD-4A47-9222-0304-6DAD9834F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787" y="1219200"/>
            <a:ext cx="7096125" cy="962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F4C0BD-7FBB-783C-533F-49616DC6D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5658" y="1752600"/>
            <a:ext cx="7048500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3296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F7ECA2-A08B-2EC0-3B8B-15457027DD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B5DB49-BB5E-6C7A-EDEE-DBAC9EFCE2A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FAF938-9410-052D-AC91-378F03FA7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0" y="895350"/>
            <a:ext cx="7048500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3434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75B3BB-1C77-2FD8-C7ED-79AFF551D3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15200D-59CE-1610-CF61-6F7C22E3548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9C452E-B10E-44D4-B699-4BD127BC3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950" y="352425"/>
            <a:ext cx="9182100" cy="615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8768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9BFBF-2CDB-22FB-2F2E-1487668BC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Induction II: Applications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52302E6-986B-CEA6-C239-9D1ABDF4AD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6011" y="1825625"/>
            <a:ext cx="6999978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5E071-6118-3285-5B6F-1A9F419572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23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86722-02F1-14EB-3940-3322CB457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3697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745DB4-C5D3-AFD7-9BDB-6DFC9FA92F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6B7568-40AD-70B3-2883-A63ED3C080C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D8F5E3-77A0-0ADB-EB4F-F0BF519A2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412" y="228600"/>
            <a:ext cx="7115175" cy="1343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6370D1-B746-9537-C91B-91E0262FB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987" y="1386195"/>
            <a:ext cx="7086600" cy="541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3082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B82147-8021-053A-A61E-DE151640A2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B6BC81-254C-CAC4-18FE-CB030224F7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CEEFB6-A1C2-738B-72B9-38C07CE7E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323" y="1143000"/>
            <a:ext cx="6648450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3028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1EC25B-08E9-2F71-9C1B-ADFDAAB797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03937D-9720-5A5F-6940-DD8C417F80A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230D1D-1A45-CE8F-FD53-2F0524AA1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412" y="947737"/>
            <a:ext cx="7115175" cy="496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7518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B8ACB3-D2C6-0811-5C78-CD13042D94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27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E8E2DF-C29A-2CBB-8015-FBDD9217B2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4088A9-D148-4889-C213-022F2A7AB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712" y="1428750"/>
            <a:ext cx="8410575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5404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2448D5-F593-6FF9-A382-0CA094875F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28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7DE088-58AF-5510-7DD8-DFE056F5571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59FB6E-7B50-611E-8C1F-84E93B569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262" y="923925"/>
            <a:ext cx="7229475" cy="501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4282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DBF1D6-D751-C632-D913-63816641DA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29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A16706-E2D1-32ED-5AAC-B671546FAC4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0DC087-C6F8-1E54-0891-114AA3856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150" y="304800"/>
            <a:ext cx="7505700" cy="1828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37F523-9C44-EFD1-AEF9-6D8911E83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524" y="2133600"/>
            <a:ext cx="7239000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9021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2A6830-D21E-C2F4-7FCB-F2B76893CB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30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F94792-C197-8E1B-53E3-B923975BBE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CD1C7B-7783-0AAA-13E8-1171BAC5C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462" y="1638300"/>
            <a:ext cx="7077075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8458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7DE76-6983-A0BD-573E-66027398C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Strong Mathematical Induction</a:t>
            </a:r>
            <a:br>
              <a:rPr lang="en-US" dirty="0"/>
            </a:br>
            <a:r>
              <a:rPr lang="en-US" dirty="0"/>
              <a:t>and the Well-Ordering principle</a:t>
            </a:r>
            <a:br>
              <a:rPr lang="en-US" dirty="0"/>
            </a:br>
            <a:r>
              <a:rPr lang="en-US" dirty="0"/>
              <a:t>for the Integers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786FE3-545C-A606-FFC8-92916994D3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9126DDB-45DE-4D72-94FB-1E2D565E80AF}" type="slidenum">
              <a:rPr lang="en-US" smtClean="0"/>
              <a:pPr>
                <a:buFont typeface="Monotype Sorts" charset="2"/>
                <a:buNone/>
                <a:defRPr/>
              </a:pPr>
              <a:t>31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20268-F394-5E0F-4EB5-99945AF32C0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6555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984F53-B737-2050-78BE-F841C75605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32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FF9C41-F671-07BD-97F3-63DF8699F67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B7765A-A9BD-4513-45A1-753724F4D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937" y="2419350"/>
            <a:ext cx="8620125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9029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85ADE8-5AE5-B6C2-54A2-0539E9B7F6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33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B90279-104E-8FDB-EF01-1E4DFF95A81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34C43B-EB95-6E48-3D07-06F4A9BF9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987" y="1271587"/>
            <a:ext cx="7058025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2398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FCFFBB-62B0-E7A2-4ED2-261EEF8358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34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FD647C-F727-F3C3-B793-8BA5BE24609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40CDD3-5036-3FA6-9728-A287DB13F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512" y="1461190"/>
            <a:ext cx="7058025" cy="1495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A3BD9E6-9323-88EB-9D14-61A6791DC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1260" y="2956615"/>
            <a:ext cx="7067550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5214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6B4B21-17D2-076D-397B-D9F459A19F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35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ED5B70-6470-D83E-E231-0C51723EE13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8C1CC4-4A06-E7A8-BA20-BB78C3126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087" y="1976437"/>
            <a:ext cx="8505825" cy="290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0764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8C53BF-1E14-076D-7221-E714245B7D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36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786B03-7ACA-C39A-9498-F8969CCAAAB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80CBBB-AAED-E257-B2E1-EF1B755E2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087" y="338137"/>
            <a:ext cx="8505825" cy="618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0125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4706C3-B355-3A85-415D-BCDDD026A2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37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AB15F2-A43E-04C6-9FBE-B5A3AB70599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A40449-7FFB-DBFD-AA6F-6A0642405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937" y="642937"/>
            <a:ext cx="7096125" cy="557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9607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B6CE0F-E851-04EC-78EC-34F44968D4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38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ECB30-04F0-CB55-A534-82BC4E63F9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31ABB4-9C00-A30B-0563-22D66FB47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362" y="523875"/>
            <a:ext cx="8677275" cy="581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718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4AFBBE-4DDE-E664-AED0-6936FD15BD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39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1B6860-CBF4-3F15-E41D-0C40F11F818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5A398E-EBB1-EAE7-D42D-9E4D168C6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987" y="1743075"/>
            <a:ext cx="7058025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657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37728C-EF1F-514F-C95A-FEC1F5B98A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40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4816BC-19F8-C394-6CFE-F155C2CFC77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9FA369-3379-4465-ACFB-25CF798FE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837" y="1090612"/>
            <a:ext cx="9458325" cy="467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2458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0788C7-8613-23CB-3FCE-509E0430BE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41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A3A140-32A3-9707-9D69-7AF12B8AB06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EDB24B-7F6D-ACA8-2F77-E329DF117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-117398"/>
            <a:ext cx="4370832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4960B2-ABC1-408B-0F82-1B7EBE348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362" y="-91715"/>
            <a:ext cx="41199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4106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36CD0-9BD8-2027-CE95-BB11EDF5F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Application: Correctness of Algorithms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2CB8C-AEC1-577F-228F-9C9DD767FE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9126DDB-45DE-4D72-94FB-1E2D565E80AF}" type="slidenum">
              <a:rPr lang="en-US" smtClean="0"/>
              <a:pPr>
                <a:buFont typeface="Monotype Sorts" charset="2"/>
                <a:buNone/>
                <a:defRPr/>
              </a:pPr>
              <a:t>42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D699F-E50A-BA67-248D-852603D636C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8971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759E37-8D9F-D0D3-3181-4C489B390C6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43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1D7552-FCCC-291F-474C-102A95D28A5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FAF0FF-225B-BC7A-5107-F96471E6A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700" y="2609850"/>
            <a:ext cx="708660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6295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E80F6A-21E5-B294-C64C-52BBE0CE00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44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A09DFD-E3B6-F5BF-3175-98DD21A4655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E2575D-21AA-5C49-7BC3-19B735227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0" y="1128712"/>
            <a:ext cx="8610600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5055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F03FCF-73F0-2521-9F1F-CA81E9B632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45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CBB722-6BE2-50E0-EB15-8A97805534E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129DF2-0F71-B29F-04E3-AD18F56F3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787" y="1990725"/>
            <a:ext cx="7210425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0232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308D4-C33D-89B2-2647-C9B9DF9D6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CFCC54-7136-9FD2-5FDD-5950D30363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2BE77ECF-F060-4D46-A3D9-128B9B0DFB4A}" type="slidenum">
              <a:rPr lang="en-US" smtClean="0"/>
              <a:pPr>
                <a:buFont typeface="Monotype Sorts" charset="2"/>
                <a:buNone/>
                <a:defRPr/>
              </a:pPr>
              <a:t>46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4BC3F-B948-8014-4583-2D82D5E681A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F20785-A9A5-7767-7501-19AE776B9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637" y="1630540"/>
            <a:ext cx="7324725" cy="44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0309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6B63C6-5F6F-EF27-D31B-DD46E105F9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47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F79D19-62F9-49BD-F66C-3C28AA836AC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2CC559-6E4E-D126-05B2-53930C90A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837" y="2638425"/>
            <a:ext cx="7172325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9610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4F68A4-61D2-AC85-B304-D5C81781B2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48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A11DAE-F9F6-EA4B-67E2-2EC550AA102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B79543-3F77-E2E1-A8E7-B6C3A95FC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0" y="690562"/>
            <a:ext cx="7048500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66690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13FBCF-80D7-043C-0CA9-E4CC4C4367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49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8DCAC4-7317-65E5-2470-A896C729239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A4F0A-5216-7C2F-AE9E-E471F361E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937" y="390525"/>
            <a:ext cx="8620125" cy="607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4580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2A8D81-C7FF-5E9E-853D-6B5DD6BFD6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50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2D3A99-6D39-22AF-AF87-C28093C831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E53B46-A64B-DFD9-92FB-8E783D497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925" y="1519237"/>
            <a:ext cx="8058150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2887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D00580-3C20-65F3-94E4-F9F15214F3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51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98AB80-F1E0-C908-DFFC-5E1E89832D4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DD276B-E2FE-BC3C-DC19-8510D4DBC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475" y="1390650"/>
            <a:ext cx="7639050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1731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ED7025-11DC-A19E-A80D-2BC29DB64D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52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C35DE-1522-3E24-F87C-61FFDB7A9D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F88EE2-524C-8FD4-7054-C86F911BA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337" y="2495550"/>
            <a:ext cx="7553325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7259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8E1BD2-5B14-26A1-F5DA-89EAEB8DD0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53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E292DD-5821-7AEB-38A3-6E9C5897B79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42AB99-DAB3-5D93-E79F-C3FCB12D9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562" y="1557337"/>
            <a:ext cx="9286875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8939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4BD8A7-6B76-4D24-6195-1B880E2927C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54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A15384-9016-A279-C7DA-A69B1EA0579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FF0805-465C-C2F6-9A08-03DCE009E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087" y="314325"/>
            <a:ext cx="9267825" cy="622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1629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D73133-5886-FB3B-8A8C-F82B87662C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55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E37EA-C741-13B7-8231-21A7AFC518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FE6524-43B7-535F-4504-400EDB823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335" y="17463"/>
            <a:ext cx="38799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190851"/>
      </p:ext>
    </p:extLst>
  </p:cSld>
  <p:clrMapOvr>
    <a:masterClrMapping/>
  </p:clrMapOvr>
</p:sld>
</file>

<file path=ppt/theme/theme1.xml><?xml version="1.0" encoding="utf-8"?>
<a:theme xmlns:a="http://schemas.openxmlformats.org/drawingml/2006/main" name="Vicostone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u thuyet trình cong ty Vicostone" id="{123813FF-2186-4307-88AB-E52DC4E764C5}" vid="{7A2E833A-1ED4-4E30-9CFE-D6481D7B3B5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20924</TotalTime>
  <Words>480</Words>
  <Application>Microsoft Office PowerPoint</Application>
  <PresentationFormat>Widescreen</PresentationFormat>
  <Paragraphs>134</Paragraphs>
  <Slides>55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4" baseType="lpstr">
      <vt:lpstr>ＭＳ Ｐゴシック</vt:lpstr>
      <vt:lpstr>Arial</vt:lpstr>
      <vt:lpstr>Calibri</vt:lpstr>
      <vt:lpstr>Courier New</vt:lpstr>
      <vt:lpstr>Monotype Sorts</vt:lpstr>
      <vt:lpstr>NewsGothicStd</vt:lpstr>
      <vt:lpstr>Times New Roman</vt:lpstr>
      <vt:lpstr>Wingdings</vt:lpstr>
      <vt:lpstr>Vicostone Template</vt:lpstr>
      <vt:lpstr>PowerPoint Presentation</vt:lpstr>
      <vt:lpstr>Faculty of Computer Science</vt:lpstr>
      <vt:lpstr>Learning Objectives</vt:lpstr>
      <vt:lpstr>Reading</vt:lpstr>
      <vt:lpstr>Mathematical Induction I: proving Formulas</vt:lpstr>
      <vt:lpstr>PowerPoint Presentation</vt:lpstr>
      <vt:lpstr>Sum of the First n Integers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Theorem 5.2.2 Sum of a Geometric Sequence</vt:lpstr>
      <vt:lpstr>PowerPoint Presentation</vt:lpstr>
      <vt:lpstr>PowerPoint Presentation</vt:lpstr>
      <vt:lpstr>PowerPoint Presentation</vt:lpstr>
      <vt:lpstr>PowerPoint Presentation</vt:lpstr>
      <vt:lpstr>Mathematical Induction II: Applications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Strong Mathematical Induction and the Well-Ordering principle for the Integers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Application: Correctness of Algorithms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Systems:  Design, Implementation, and Management Ninth Edition</dc:title>
  <dc:creator>Duc Minh Vu</dc:creator>
  <cp:lastModifiedBy>Vu Duc Minh</cp:lastModifiedBy>
  <cp:revision>298</cp:revision>
  <cp:lastPrinted>2024-02-05T14:40:16Z</cp:lastPrinted>
  <dcterms:created xsi:type="dcterms:W3CDTF">2009-10-12T20:16:00Z</dcterms:created>
  <dcterms:modified xsi:type="dcterms:W3CDTF">2024-02-07T00:45:38Z</dcterms:modified>
</cp:coreProperties>
</file>