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68" r:id="rId1"/>
  </p:sldMasterIdLst>
  <p:notesMasterIdLst>
    <p:notesMasterId r:id="rId56"/>
  </p:notesMasterIdLst>
  <p:handoutMasterIdLst>
    <p:handoutMasterId r:id="rId57"/>
  </p:handoutMasterIdLst>
  <p:sldIdLst>
    <p:sldId id="393" r:id="rId2"/>
    <p:sldId id="384" r:id="rId3"/>
    <p:sldId id="392" r:id="rId4"/>
    <p:sldId id="369" r:id="rId5"/>
    <p:sldId id="370" r:id="rId6"/>
    <p:sldId id="394" r:id="rId7"/>
    <p:sldId id="396" r:id="rId8"/>
    <p:sldId id="397" r:id="rId9"/>
    <p:sldId id="399" r:id="rId10"/>
    <p:sldId id="398" r:id="rId11"/>
    <p:sldId id="400" r:id="rId12"/>
    <p:sldId id="395" r:id="rId13"/>
    <p:sldId id="401" r:id="rId14"/>
    <p:sldId id="402" r:id="rId15"/>
    <p:sldId id="403" r:id="rId16"/>
    <p:sldId id="404" r:id="rId17"/>
    <p:sldId id="405" r:id="rId18"/>
    <p:sldId id="406" r:id="rId19"/>
    <p:sldId id="407" r:id="rId20"/>
    <p:sldId id="408" r:id="rId21"/>
    <p:sldId id="409" r:id="rId22"/>
    <p:sldId id="410" r:id="rId23"/>
    <p:sldId id="411" r:id="rId24"/>
    <p:sldId id="412" r:id="rId25"/>
    <p:sldId id="413" r:id="rId26"/>
    <p:sldId id="414" r:id="rId27"/>
    <p:sldId id="415" r:id="rId28"/>
    <p:sldId id="416" r:id="rId29"/>
    <p:sldId id="417" r:id="rId30"/>
    <p:sldId id="418" r:id="rId31"/>
    <p:sldId id="419" r:id="rId32"/>
    <p:sldId id="420" r:id="rId33"/>
    <p:sldId id="421" r:id="rId34"/>
    <p:sldId id="422" r:id="rId35"/>
    <p:sldId id="423" r:id="rId36"/>
    <p:sldId id="424" r:id="rId37"/>
    <p:sldId id="425" r:id="rId38"/>
    <p:sldId id="426" r:id="rId39"/>
    <p:sldId id="427" r:id="rId40"/>
    <p:sldId id="428" r:id="rId41"/>
    <p:sldId id="429" r:id="rId42"/>
    <p:sldId id="430" r:id="rId43"/>
    <p:sldId id="431" r:id="rId44"/>
    <p:sldId id="432" r:id="rId45"/>
    <p:sldId id="433" r:id="rId46"/>
    <p:sldId id="434" r:id="rId47"/>
    <p:sldId id="435" r:id="rId48"/>
    <p:sldId id="436" r:id="rId49"/>
    <p:sldId id="437" r:id="rId50"/>
    <p:sldId id="438" r:id="rId51"/>
    <p:sldId id="439" r:id="rId52"/>
    <p:sldId id="441" r:id="rId53"/>
    <p:sldId id="442" r:id="rId54"/>
    <p:sldId id="443" r:id="rId55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2222"/>
    <a:srgbClr val="FFFFFF"/>
    <a:srgbClr val="18B2B6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 autoAdjust="0"/>
  </p:normalViewPr>
  <p:slideViewPr>
    <p:cSldViewPr>
      <p:cViewPr varScale="1">
        <p:scale>
          <a:sx n="78" d="100"/>
          <a:sy n="78" d="100"/>
        </p:scale>
        <p:origin x="878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72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4" d="100"/>
          <a:sy n="84" d="100"/>
        </p:scale>
        <p:origin x="3912" y="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1E0CD608-9C48-CFFC-091C-1EB0A50DD52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40A79EA3-0E2A-9BC8-92DE-DE60AD7ACB2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4" name="Rectangle 4">
            <a:extLst>
              <a:ext uri="{FF2B5EF4-FFF2-40B4-BE49-F238E27FC236}">
                <a16:creationId xmlns:a16="http://schemas.microsoft.com/office/drawing/2014/main" id="{FDF3F9D9-6B1E-F3FB-1EE2-507A2BF5352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5" name="Rectangle 5">
            <a:extLst>
              <a:ext uri="{FF2B5EF4-FFF2-40B4-BE49-F238E27FC236}">
                <a16:creationId xmlns:a16="http://schemas.microsoft.com/office/drawing/2014/main" id="{C807B6BD-FE77-FDDF-E76E-F014CE39446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AC33DE4-4784-45D4-BD47-64193262C56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609328F3-5DC5-1B4F-AC31-7F7B3EBD074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0C90B5EC-E3BF-D965-C636-268E0CF481C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4F7C882E-B38E-4AF0-3755-55D00B742B1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7" name="Rectangle 5">
            <a:extLst>
              <a:ext uri="{FF2B5EF4-FFF2-40B4-BE49-F238E27FC236}">
                <a16:creationId xmlns:a16="http://schemas.microsoft.com/office/drawing/2014/main" id="{25345C98-55FA-262F-4EBB-C287BE5D311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4518" name="Rectangle 6">
            <a:extLst>
              <a:ext uri="{FF2B5EF4-FFF2-40B4-BE49-F238E27FC236}">
                <a16:creationId xmlns:a16="http://schemas.microsoft.com/office/drawing/2014/main" id="{7644B954-D13F-DFA1-B30A-F36EC7DE0E5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9" name="Rectangle 7">
            <a:extLst>
              <a:ext uri="{FF2B5EF4-FFF2-40B4-BE49-F238E27FC236}">
                <a16:creationId xmlns:a16="http://schemas.microsoft.com/office/drawing/2014/main" id="{2E0066C6-C608-29FA-EB14-B3E0F66870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94FC1F20-5EAB-41FB-B210-370B9C2C46B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599F73F7-2B99-BEC6-CE62-E002191078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DD6BCF7-8E9F-41C5-A608-0D41664076BA}" type="slidenum">
              <a:rPr lang="en-US" altLang="en-US" sz="1200" smtClean="0">
                <a:latin typeface="Times New Roman" panose="02020603050405020304" pitchFamily="18" charset="0"/>
              </a:rPr>
              <a:pPr/>
              <a:t>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8A82C24E-40D0-0AA6-6604-71E8A34BF2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2AEAAEAB-07EC-3E8B-79E7-643BBF9841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2259666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391B5252-16C6-80AB-C623-DFB0BA76DB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22910E35-9775-39F1-BEA4-7AE5267A59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01A75D0E-06ED-6423-4046-46A6B10ADC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69B8064-7F42-41EE-BEFE-60077C03D710}" type="slidenum">
              <a:rPr lang="en-US" altLang="en-US" sz="1200" smtClean="0">
                <a:latin typeface="Times New Roman" panose="02020603050405020304" pitchFamily="18" charset="0"/>
              </a:rPr>
              <a:pPr/>
              <a:t>4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B964D356-4787-6715-EC4E-FF5E6347FB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B79412EA-291E-6331-0DF0-2C5D37119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758285CA-74F0-913D-A80E-1B3225A1DA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27B00A3-857A-44D5-97CC-9D94FC651846}" type="slidenum">
              <a:rPr lang="en-US" altLang="en-US" sz="1200" smtClean="0">
                <a:latin typeface="Times New Roman" panose="02020603050405020304" pitchFamily="18" charset="0"/>
              </a:rPr>
              <a:pPr/>
              <a:t>5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964BB1-7357-BCBC-C333-4CA5E7116E2E}"/>
              </a:ext>
            </a:extLst>
          </p:cNvPr>
          <p:cNvSpPr/>
          <p:nvPr userDrawn="1"/>
        </p:nvSpPr>
        <p:spPr>
          <a:xfrm>
            <a:off x="0" y="0"/>
            <a:ext cx="12192000" cy="6486525"/>
          </a:xfrm>
          <a:prstGeom prst="rect">
            <a:avLst/>
          </a:prstGeom>
          <a:solidFill>
            <a:srgbClr val="22377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41219" y="3243264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7">
            <a:extLst>
              <a:ext uri="{FF2B5EF4-FFF2-40B4-BE49-F238E27FC236}">
                <a16:creationId xmlns:a16="http://schemas.microsoft.com/office/drawing/2014/main" id="{EFE6BCEB-9D04-0A31-13FD-E54A7886E9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38913"/>
            <a:ext cx="2743200" cy="3651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C0707B2-DFCC-4507-B25D-6D3422D6660C}" type="datetime1">
              <a:rPr lang="en-US" smtClean="0"/>
              <a:t>12/27/2023</a:t>
            </a:fld>
            <a:endParaRPr lang="en-US"/>
          </a:p>
        </p:txBody>
      </p:sp>
      <p:sp>
        <p:nvSpPr>
          <p:cNvPr id="4" name="Slide Number Placeholder 11">
            <a:extLst>
              <a:ext uri="{FF2B5EF4-FFF2-40B4-BE49-F238E27FC236}">
                <a16:creationId xmlns:a16="http://schemas.microsoft.com/office/drawing/2014/main" id="{21C2B440-578D-B562-B0A6-B54BDB743A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48800" y="6538913"/>
            <a:ext cx="2743200" cy="365125"/>
          </a:xfrm>
        </p:spPr>
        <p:txBody>
          <a:bodyPr/>
          <a:lstStyle>
            <a:lvl1pPr>
              <a:defRPr>
                <a:solidFill>
                  <a:prstClr val="white"/>
                </a:solidFill>
              </a:defRPr>
            </a:lvl1pPr>
          </a:lstStyle>
          <a:p>
            <a:pPr>
              <a:defRPr/>
            </a:pPr>
            <a:fld id="{775A0816-9807-4CA3-A3C5-68577B5C95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ABBDFAC-3ABC-7AF1-C80F-B9A80EC5DAE2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algn="ctr">
              <a:defRPr/>
            </a:pPr>
            <a:r>
              <a:rPr lang="en-US" dirty="0"/>
              <a:t>UFCFF-30-1 Foundation of Computing</a:t>
            </a:r>
          </a:p>
        </p:txBody>
      </p:sp>
    </p:spTree>
    <p:extLst>
      <p:ext uri="{BB962C8B-B14F-4D97-AF65-F5344CB8AC3E}">
        <p14:creationId xmlns:p14="http://schemas.microsoft.com/office/powerpoint/2010/main" val="2633009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1A55295-5DC2-C569-6312-199AFA24EE07}"/>
              </a:ext>
            </a:extLst>
          </p:cNvPr>
          <p:cNvSpPr/>
          <p:nvPr userDrawn="1"/>
        </p:nvSpPr>
        <p:spPr>
          <a:xfrm>
            <a:off x="392907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82252" y="277962"/>
            <a:ext cx="7928429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75" b="1" baseline="0">
                <a:solidFill>
                  <a:srgbClr val="22377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29624-F3B5-070E-14EF-70CC1B4849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80188"/>
            <a:ext cx="2743200" cy="277812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96E522B-ED3F-4D75-9540-7F9457CD7C31}" type="datetime1">
              <a:rPr lang="en-US" smtClean="0"/>
              <a:t>12/27/2023</a:t>
            </a:fld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685519A-3558-75C9-7D9D-2CD34FE860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12288" y="6623050"/>
            <a:ext cx="2743200" cy="2349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68E2E4-C289-40FA-803B-52DC86338C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678CD4D-49EF-4866-C3F2-B2A61D010B34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algn="ctr">
              <a:defRPr/>
            </a:pPr>
            <a:r>
              <a:rPr lang="en-US" dirty="0"/>
              <a:t>UFCFF-30-1 Foundation of Computing</a:t>
            </a:r>
          </a:p>
        </p:txBody>
      </p:sp>
    </p:spTree>
    <p:extLst>
      <p:ext uri="{BB962C8B-B14F-4D97-AF65-F5344CB8AC3E}">
        <p14:creationId xmlns:p14="http://schemas.microsoft.com/office/powerpoint/2010/main" val="1816587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E98A4D7-51AA-2B15-3D26-501BAE3FD3F8}"/>
              </a:ext>
            </a:extLst>
          </p:cNvPr>
          <p:cNvSpPr/>
          <p:nvPr userDrawn="1"/>
        </p:nvSpPr>
        <p:spPr>
          <a:xfrm>
            <a:off x="392907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87476" y="2949386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4508C-232F-8AA0-F1C6-36CFF9ACCA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92888"/>
            <a:ext cx="2743200" cy="268287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D55B0B6-4193-4E13-9899-E05787ABE5C1}" type="datetime1">
              <a:rPr lang="en-US" smtClean="0"/>
              <a:t>12/27/2023</a:t>
            </a:fld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E118D7B-5BE4-D162-C63C-02493336AE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366250" y="6589713"/>
            <a:ext cx="2743200" cy="314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126DDB-45DE-4D72-94FB-1E2D565E80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8007CFB-2610-ACA1-B2EA-E3DDAC766C94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algn="ctr">
              <a:defRPr/>
            </a:pPr>
            <a:r>
              <a:rPr lang="en-US" dirty="0"/>
              <a:t>UFCFF-30-1 Foundation of Computing</a:t>
            </a:r>
          </a:p>
        </p:txBody>
      </p:sp>
    </p:spTree>
    <p:extLst>
      <p:ext uri="{BB962C8B-B14F-4D97-AF65-F5344CB8AC3E}">
        <p14:creationId xmlns:p14="http://schemas.microsoft.com/office/powerpoint/2010/main" val="2919306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7">
            <a:extLst>
              <a:ext uri="{FF2B5EF4-FFF2-40B4-BE49-F238E27FC236}">
                <a16:creationId xmlns:a16="http://schemas.microsoft.com/office/drawing/2014/main" id="{858F73B4-3EA4-F35A-3D60-2923D5658ED7}"/>
              </a:ext>
            </a:extLst>
          </p:cNvPr>
          <p:cNvSpPr/>
          <p:nvPr userDrawn="1"/>
        </p:nvSpPr>
        <p:spPr>
          <a:xfrm>
            <a:off x="311261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40858" y="243491"/>
            <a:ext cx="8061101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75" b="1" baseline="0">
                <a:solidFill>
                  <a:srgbClr val="22377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309220" y="1169082"/>
            <a:ext cx="11551617" cy="495413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V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778A0-1739-29FF-2284-D0326B623CD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82E6E80-87F2-4314-8897-871F080C8580}" type="datetime1">
              <a:rPr lang="en-US" smtClean="0"/>
              <a:t>12/27/2023</a:t>
            </a:fld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DC1F769-2EA0-3B74-8A9C-9BD515A3FA5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9421813" y="6600825"/>
            <a:ext cx="2743200" cy="27463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9EDAA9-37F3-4614-95D5-5B7FFAB71D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EB4D491-05E9-53AB-E987-C6383C7B7C83}"/>
              </a:ext>
            </a:extLst>
          </p:cNvPr>
          <p:cNvSpPr>
            <a:spLocks noGrp="1" noChangeArrowheads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 algn="ctr">
              <a:defRPr/>
            </a:pPr>
            <a:r>
              <a:rPr lang="en-US" dirty="0"/>
              <a:t>UFCFF-30-1 Foundation of Computing</a:t>
            </a:r>
          </a:p>
        </p:txBody>
      </p:sp>
    </p:spTree>
    <p:extLst>
      <p:ext uri="{BB962C8B-B14F-4D97-AF65-F5344CB8AC3E}">
        <p14:creationId xmlns:p14="http://schemas.microsoft.com/office/powerpoint/2010/main" val="162171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63686" y="2846231"/>
            <a:ext cx="4417452" cy="1460428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4200" b="1" baseline="0">
                <a:solidFill>
                  <a:srgbClr val="2237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63686" y="4429523"/>
            <a:ext cx="4417452" cy="75007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 baseline="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3"/>
          </p:nvPr>
        </p:nvSpPr>
        <p:spPr>
          <a:xfrm>
            <a:off x="1" y="862151"/>
            <a:ext cx="7096259" cy="56319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1888363-DACF-4CD3-2499-6E28B3D6969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14123C4-785B-4319-902C-B433CF66BA36}" type="datetime1">
              <a:rPr lang="en-US" smtClean="0"/>
              <a:t>12/27/2023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2A37517-8DD7-EEA6-F2E6-49FC8CC73A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871913" y="6604000"/>
            <a:ext cx="4114800" cy="254000"/>
          </a:xfrm>
        </p:spPr>
        <p:txBody>
          <a:bodyPr/>
          <a:lstStyle>
            <a:lvl1pPr defTabSz="342900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prstClr val="white"/>
                </a:solidFill>
                <a:latin typeface="Calibri" panose="020F0502020204030204"/>
                <a:ea typeface="+mn-ea"/>
              </a:defRPr>
            </a:lvl1pPr>
          </a:lstStyle>
          <a:p>
            <a:pPr algn="ctr">
              <a:defRPr/>
            </a:pPr>
            <a:r>
              <a:rPr lang="en-US" dirty="0"/>
              <a:t>UFCFF-30-1 Foundation of Computing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06BDF5-0E4B-7D5D-4DE0-26F369F0EB1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C3DE7D-4EEA-43B2-9617-70FD3CFD63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050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3">
            <a:extLst>
              <a:ext uri="{FF2B5EF4-FFF2-40B4-BE49-F238E27FC236}">
                <a16:creationId xmlns:a16="http://schemas.microsoft.com/office/drawing/2014/main" id="{397F7F79-C88E-7534-6D6C-7E21232DD335}"/>
              </a:ext>
            </a:extLst>
          </p:cNvPr>
          <p:cNvSpPr/>
          <p:nvPr userDrawn="1"/>
        </p:nvSpPr>
        <p:spPr>
          <a:xfrm>
            <a:off x="392907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3"/>
          </p:nvPr>
        </p:nvSpPr>
        <p:spPr>
          <a:xfrm>
            <a:off x="392906" y="278800"/>
            <a:ext cx="5813199" cy="457200"/>
          </a:xfrm>
          <a:prstGeom prst="rect">
            <a:avLst/>
          </a:prstGeom>
        </p:spPr>
        <p:txBody>
          <a:bodyPr/>
          <a:lstStyle>
            <a:lvl1pPr>
              <a:defRPr lang="en-VN" sz="2475" b="1" baseline="0" dirty="0">
                <a:solidFill>
                  <a:srgbClr val="223771"/>
                </a:solidFill>
                <a:ea typeface="+mj-e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7E8D8520-2EEF-7DFE-992F-B17199C9D3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55A972F-D48B-4E15-815F-1F2FD614C320}" type="datetime1">
              <a:rPr lang="en-US" smtClean="0"/>
              <a:t>12/27/2023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86DAE71-5E4C-AD44-94BB-40E3E9BE3B2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B03C63-2273-46E4-B7DF-3CCA315B6C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74D9259-758C-E063-00D3-B9F2238CDAAB}"/>
              </a:ext>
            </a:extLst>
          </p:cNvPr>
          <p:cNvSpPr>
            <a:spLocks noGrp="1" noChangeArrowheads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 algn="ctr">
              <a:defRPr/>
            </a:pPr>
            <a:r>
              <a:rPr lang="en-US" dirty="0"/>
              <a:t>UFCFF-30-1 Foundation of Computing</a:t>
            </a:r>
          </a:p>
        </p:txBody>
      </p:sp>
      <p:pic>
        <p:nvPicPr>
          <p:cNvPr id="5122" name="Picture 2" descr="Experience Day tại UWE Bristol - Phenikaa Campus">
            <a:extLst>
              <a:ext uri="{FF2B5EF4-FFF2-40B4-BE49-F238E27FC236}">
                <a16:creationId xmlns:a16="http://schemas.microsoft.com/office/drawing/2014/main" id="{C553BCCC-2E75-1DD8-245B-7783DD7D16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3275" y="0"/>
            <a:ext cx="1228725" cy="777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1039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3">
            <a:extLst>
              <a:ext uri="{FF2B5EF4-FFF2-40B4-BE49-F238E27FC236}">
                <a16:creationId xmlns:a16="http://schemas.microsoft.com/office/drawing/2014/main" id="{E54F1EF8-213B-FF64-8429-F8F6501B5178}"/>
              </a:ext>
            </a:extLst>
          </p:cNvPr>
          <p:cNvSpPr/>
          <p:nvPr userDrawn="1"/>
        </p:nvSpPr>
        <p:spPr>
          <a:xfrm>
            <a:off x="701899" y="515148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1900" y="351789"/>
            <a:ext cx="8061101" cy="92276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50" b="1">
                <a:solidFill>
                  <a:srgbClr val="22377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1899" y="1639781"/>
            <a:ext cx="3336703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711" y="1639781"/>
            <a:ext cx="333187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13"/>
          </p:nvPr>
        </p:nvSpPr>
        <p:spPr>
          <a:xfrm>
            <a:off x="8426539" y="1639781"/>
            <a:ext cx="333187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9E9E4F77-455A-34FF-7394-C19D63B430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AA2C014-A1D8-47FD-8423-2B455B502565}" type="datetime1">
              <a:rPr lang="en-US" smtClean="0"/>
              <a:t>12/27/2023</a:t>
            </a:fld>
            <a:endParaRPr 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7A7C627D-779A-8D83-E2C4-C40DC84F78D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967A2B-7DC3-460F-82C1-37366D5A5F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E03B860-9F7C-2731-9CAC-7601DE48A514}"/>
              </a:ext>
            </a:extLst>
          </p:cNvPr>
          <p:cNvSpPr>
            <a:spLocks noGrp="1" noChangeArrowheads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 algn="ctr">
              <a:defRPr/>
            </a:pPr>
            <a:r>
              <a:rPr lang="en-US" dirty="0"/>
              <a:t>UFCFF-30-1 Foundation of Computing</a:t>
            </a:r>
          </a:p>
        </p:txBody>
      </p:sp>
      <p:pic>
        <p:nvPicPr>
          <p:cNvPr id="11" name="Picture 2" descr="Experience Day tại UWE Bristol - Phenikaa Campus">
            <a:extLst>
              <a:ext uri="{FF2B5EF4-FFF2-40B4-BE49-F238E27FC236}">
                <a16:creationId xmlns:a16="http://schemas.microsoft.com/office/drawing/2014/main" id="{3A493DE0-B877-09AA-89B7-027BB227341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3275" y="0"/>
            <a:ext cx="1228725" cy="777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4626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3916733C-FBD8-62DA-599D-9BAE44D83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13ECAA5-290B-47EF-933A-FB04C2080D95}" type="datetime1">
              <a:rPr lang="en-US" smtClean="0"/>
              <a:t>12/27/2023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71387-83EF-1FFD-724E-49A6E970C5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AD3536-327C-4937-83AF-A64971CFA6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2812D8D-EA8D-1B75-F994-BA3986DCE525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algn="ctr">
              <a:defRPr/>
            </a:pPr>
            <a:r>
              <a:rPr lang="en-US" dirty="0"/>
              <a:t>UFCFF-30-1 Foundation of Computing</a:t>
            </a:r>
          </a:p>
        </p:txBody>
      </p:sp>
      <p:pic>
        <p:nvPicPr>
          <p:cNvPr id="7" name="Picture 2" descr="Experience Day tại UWE Bristol - Phenikaa Campus">
            <a:extLst>
              <a:ext uri="{FF2B5EF4-FFF2-40B4-BE49-F238E27FC236}">
                <a16:creationId xmlns:a16="http://schemas.microsoft.com/office/drawing/2014/main" id="{BA9ACBD5-7650-ED3B-9377-A32F71CDC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3275" y="0"/>
            <a:ext cx="1228725" cy="777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0669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741484" y="785428"/>
            <a:ext cx="8061101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75" b="1" baseline="0">
                <a:solidFill>
                  <a:srgbClr val="22377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5DDBC1F-BF9C-7B51-59FB-F19B6984E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2C3DA52-99F4-4AC6-B215-B3E5A1AA919D}" type="datetime1">
              <a:rPr lang="en-US" smtClean="0"/>
              <a:t>12/27/2023</a:t>
            </a:fld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3C17964-6658-65D0-C4E0-286261C6CE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E77ECF-F060-4D46-A3D9-128B9B0DFB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83511F7-1E66-04C0-64CE-2CA8940B2D71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algn="ctr">
              <a:defRPr/>
            </a:pPr>
            <a:r>
              <a:rPr lang="en-US" dirty="0"/>
              <a:t>UFCFF-30-1 Foundation of Computing</a:t>
            </a:r>
          </a:p>
        </p:txBody>
      </p:sp>
      <p:pic>
        <p:nvPicPr>
          <p:cNvPr id="7" name="Picture 2" descr="Experience Day tại UWE Bristol - Phenikaa Campus">
            <a:extLst>
              <a:ext uri="{FF2B5EF4-FFF2-40B4-BE49-F238E27FC236}">
                <a16:creationId xmlns:a16="http://schemas.microsoft.com/office/drawing/2014/main" id="{9F0F5D39-1965-74CF-4670-FB942DA2310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3275" y="0"/>
            <a:ext cx="1228725" cy="777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4838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3">
            <a:extLst>
              <a:ext uri="{FF2B5EF4-FFF2-40B4-BE49-F238E27FC236}">
                <a16:creationId xmlns:a16="http://schemas.microsoft.com/office/drawing/2014/main" id="{AB79923C-0D24-F53B-D9C9-FA068E03CBFF}"/>
              </a:ext>
            </a:extLst>
          </p:cNvPr>
          <p:cNvSpPr/>
          <p:nvPr userDrawn="1"/>
        </p:nvSpPr>
        <p:spPr>
          <a:xfrm>
            <a:off x="851140" y="711200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buClr>
                <a:schemeClr val="accent2"/>
              </a:buClr>
              <a:buFont typeface="Wingdings" panose="05000000000000000000" pitchFamily="2" charset="2"/>
              <a:buChar char="q"/>
              <a:defRPr/>
            </a:lvl1pPr>
            <a:lvl2pPr marL="514350" indent="-171450">
              <a:buClr>
                <a:schemeClr val="accent2"/>
              </a:buClr>
              <a:buFont typeface="Wingdings" panose="05000000000000000000" pitchFamily="2" charset="2"/>
              <a:buChar char="Ø"/>
              <a:defRPr/>
            </a:lvl2pPr>
            <a:lvl3pPr marL="857250" indent="-171450">
              <a:buClr>
                <a:schemeClr val="accent2"/>
              </a:buClr>
              <a:buFont typeface="Wingdings" panose="05000000000000000000" pitchFamily="2" charset="2"/>
              <a:buChar char="ü"/>
              <a:defRPr/>
            </a:lvl3pPr>
            <a:lvl4pPr marL="12001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/>
            </a:lvl4pPr>
            <a:lvl5pPr marL="1543050" indent="-171450">
              <a:buClr>
                <a:schemeClr val="accent2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6123AFBE-2234-186F-5F0C-22D156916CE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defTabSz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34A84676-C444-4AC5-8B4E-405A7C81C0F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964D1F0-47D7-5B21-B6DA-1122FAFAAB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ctr">
              <a:defRPr/>
            </a:pPr>
            <a:r>
              <a:rPr lang="en-US" dirty="0"/>
              <a:t>UFCFF-30-1 Foundation of Computing</a:t>
            </a:r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AD08CD51-62C0-58FD-6E1D-88EF84F0130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212BBC5-0387-467A-891F-EEBDF682206B}" type="datetime1">
              <a:rPr lang="en-US" smtClean="0"/>
              <a:t>12/27/2023</a:t>
            </a:fld>
            <a:endParaRPr lang="en-US"/>
          </a:p>
        </p:txBody>
      </p:sp>
      <p:pic>
        <p:nvPicPr>
          <p:cNvPr id="9" name="Picture 2" descr="Experience Day tại UWE Bristol - Phenikaa Campus">
            <a:extLst>
              <a:ext uri="{FF2B5EF4-FFF2-40B4-BE49-F238E27FC236}">
                <a16:creationId xmlns:a16="http://schemas.microsoft.com/office/drawing/2014/main" id="{DBB4FCA8-8B22-F890-37BD-5CB128B420B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3275" y="0"/>
            <a:ext cx="1228725" cy="777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8677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6">
            <a:extLst>
              <a:ext uri="{FF2B5EF4-FFF2-40B4-BE49-F238E27FC236}">
                <a16:creationId xmlns:a16="http://schemas.microsoft.com/office/drawing/2014/main" id="{95787B45-CCD1-2665-35CA-26FF8EFF88D7}"/>
              </a:ext>
            </a:extLst>
          </p:cNvPr>
          <p:cNvGrpSpPr>
            <a:grpSpLocks/>
          </p:cNvGrpSpPr>
          <p:nvPr/>
        </p:nvGrpSpPr>
        <p:grpSpPr bwMode="auto">
          <a:xfrm>
            <a:off x="0" y="6494463"/>
            <a:ext cx="12192000" cy="373062"/>
            <a:chOff x="0" y="1661375"/>
            <a:chExt cx="12192000" cy="37309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0A8C841-F6D0-23B2-733A-1CD90B3F4DAD}"/>
                </a:ext>
              </a:extLst>
            </p:cNvPr>
            <p:cNvSpPr/>
            <p:nvPr/>
          </p:nvSpPr>
          <p:spPr>
            <a:xfrm>
              <a:off x="0" y="1661375"/>
              <a:ext cx="12192000" cy="109546"/>
            </a:xfrm>
            <a:prstGeom prst="rect">
              <a:avLst/>
            </a:prstGeom>
            <a:solidFill>
              <a:srgbClr val="F265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3429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F0B988D-9418-5175-B8F1-38CA646ADBA2}"/>
                </a:ext>
              </a:extLst>
            </p:cNvPr>
            <p:cNvSpPr/>
            <p:nvPr/>
          </p:nvSpPr>
          <p:spPr>
            <a:xfrm>
              <a:off x="0" y="1759808"/>
              <a:ext cx="12192000" cy="274658"/>
            </a:xfrm>
            <a:prstGeom prst="rect">
              <a:avLst/>
            </a:prstGeom>
            <a:solidFill>
              <a:srgbClr val="2237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3429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solidFill>
                  <a:prstClr val="white"/>
                </a:solidFill>
              </a:endParaRPr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B3991-06E6-1D64-C030-E5657676DB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600825"/>
            <a:ext cx="27432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342900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prstClr val="white"/>
                </a:solidFill>
                <a:latin typeface="Calibri" panose="020F0502020204030204"/>
                <a:ea typeface="+mn-ea"/>
              </a:defRPr>
            </a:lvl1pPr>
          </a:lstStyle>
          <a:p>
            <a:pPr>
              <a:defRPr/>
            </a:pPr>
            <a:fld id="{B77A7909-E221-4E66-A5EF-13497EA60D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57D17-CBC3-C51E-EB1C-7963F0F1D1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600825"/>
            <a:ext cx="2743200" cy="257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342900" eaLnBrk="1" fontAlgn="auto" hangingPunct="1">
              <a:spcBef>
                <a:spcPts val="0"/>
              </a:spcBef>
              <a:spcAft>
                <a:spcPts val="0"/>
              </a:spcAft>
              <a:defRPr sz="900" smtClean="0">
                <a:solidFill>
                  <a:prstClr val="white"/>
                </a:solidFill>
                <a:latin typeface="Calibri" panose="020F0502020204030204"/>
                <a:ea typeface="+mn-ea"/>
              </a:defRPr>
            </a:lvl1pPr>
          </a:lstStyle>
          <a:p>
            <a:pPr>
              <a:defRPr/>
            </a:pPr>
            <a:fld id="{D309B617-C7CB-4293-A138-13267799795D}" type="datetime1">
              <a:rPr lang="en-US" smtClean="0"/>
              <a:t>12/27/2023</a:t>
            </a:fld>
            <a:endParaRPr lang="en-US"/>
          </a:p>
        </p:txBody>
      </p:sp>
      <p:sp>
        <p:nvSpPr>
          <p:cNvPr id="1029" name="Title Placeholder 1">
            <a:extLst>
              <a:ext uri="{FF2B5EF4-FFF2-40B4-BE49-F238E27FC236}">
                <a16:creationId xmlns:a16="http://schemas.microsoft.com/office/drawing/2014/main" id="{B3DE4959-DECB-5DE9-5280-05B3FE6EB0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0" name="Text Placeholder 2">
            <a:extLst>
              <a:ext uri="{FF2B5EF4-FFF2-40B4-BE49-F238E27FC236}">
                <a16:creationId xmlns:a16="http://schemas.microsoft.com/office/drawing/2014/main" id="{810CF440-6E0B-2021-0C2C-5CE6B0FDCE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CCD044D3-EBD5-9CF6-2CD8-89513494DC6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871913" y="6604000"/>
            <a:ext cx="4967287" cy="254000"/>
          </a:xfrm>
          <a:prstGeom prst="rect">
            <a:avLst/>
          </a:prstGeom>
          <a:ln/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ctr">
              <a:defRPr/>
            </a:pPr>
            <a:r>
              <a:rPr lang="en-US" dirty="0"/>
              <a:t>UFCFF-30-1 Foundation of Computing</a:t>
            </a:r>
          </a:p>
        </p:txBody>
      </p:sp>
      <p:pic>
        <p:nvPicPr>
          <p:cNvPr id="2" name="Picture 2" descr="Experience Day tại UWE Bristol - Phenikaa Campus">
            <a:extLst>
              <a:ext uri="{FF2B5EF4-FFF2-40B4-BE49-F238E27FC236}">
                <a16:creationId xmlns:a16="http://schemas.microsoft.com/office/drawing/2014/main" id="{3F74C8B6-09C6-7B1B-3762-FDC494A367C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3275" y="0"/>
            <a:ext cx="1228725" cy="777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</p:sldLayoutIdLst>
  <p:hf hdr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6C6F77-50AB-BCF4-A6CD-E3C01F9D3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D4C8FC6-D597-4853-BC2C-D1E74E2F147C}" type="datetime1">
              <a:rPr lang="en-US" smtClean="0"/>
              <a:t>12/27/2023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4EF4B6-80C7-D225-643F-357A4DD939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5732FC-2246-1163-13BF-EF816BFA1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6912"/>
            <a:ext cx="12192000" cy="5024176"/>
          </a:xfrm>
          <a:prstGeom prst="rect">
            <a:avLst/>
          </a:prstGeom>
        </p:spPr>
      </p:pic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0C2D5F68-8EBD-2595-7D08-86589F66C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592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20FFC1CF-C6D1-C190-5CBD-BA8BD4CDF1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04800"/>
            <a:ext cx="10515600" cy="1325563"/>
          </a:xfrm>
        </p:spPr>
        <p:txBody>
          <a:bodyPr/>
          <a:lstStyle/>
          <a:p>
            <a:pPr algn="ctr" eaLnBrk="1" hangingPunct="1"/>
            <a:r>
              <a:rPr lang="en-US" altLang="en-US" dirty="0"/>
              <a:t>University of West England</a:t>
            </a:r>
            <a:br>
              <a:rPr lang="en-US" altLang="en-US" dirty="0"/>
            </a:br>
            <a:r>
              <a:rPr lang="en-US" altLang="en-US" dirty="0"/>
              <a:t>Phenikaa Campus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50F7E22-523E-06DC-63AF-3DDDA301838E}"/>
              </a:ext>
            </a:extLst>
          </p:cNvPr>
          <p:cNvSpPr txBox="1">
            <a:spLocks/>
          </p:cNvSpPr>
          <p:nvPr/>
        </p:nvSpPr>
        <p:spPr bwMode="auto">
          <a:xfrm>
            <a:off x="838200" y="1828800"/>
            <a:ext cx="10515600" cy="3657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dirty="0"/>
              <a:t>UCFF-30-1 Foundation of Computing - Graph</a:t>
            </a:r>
          </a:p>
          <a:p>
            <a:pPr eaLnBrk="1" hangingPunct="1">
              <a:defRPr/>
            </a:pPr>
            <a:endParaRPr lang="en-US" dirty="0"/>
          </a:p>
          <a:p>
            <a:pPr marL="457200" indent="-457200" eaLnBrk="1" hangingPunct="1">
              <a:buFont typeface="Wingdings" panose="05000000000000000000" pitchFamily="2" charset="2"/>
              <a:buChar char="q"/>
              <a:defRPr/>
            </a:pPr>
            <a:r>
              <a:rPr lang="en-US" dirty="0"/>
              <a:t>Instructor: Duc Minh Vu </a:t>
            </a:r>
          </a:p>
          <a:p>
            <a:pPr marL="457200" indent="-457200" eaLnBrk="1" hangingPunct="1">
              <a:buFont typeface="Wingdings" panose="05000000000000000000" pitchFamily="2" charset="2"/>
              <a:buChar char="q"/>
              <a:defRPr/>
            </a:pPr>
            <a:r>
              <a:rPr lang="en-US" dirty="0"/>
              <a:t>Email: vudm.vn [at] gmail.com</a:t>
            </a:r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19BFC2BE-16EA-CF2A-0193-BCC3544BE7F1}"/>
              </a:ext>
            </a:extLst>
          </p:cNvPr>
          <p:cNvSpPr txBox="1">
            <a:spLocks/>
          </p:cNvSpPr>
          <p:nvPr/>
        </p:nvSpPr>
        <p:spPr>
          <a:xfrm>
            <a:off x="0" y="6600825"/>
            <a:ext cx="2743200" cy="257175"/>
          </a:xfrm>
          <a:prstGeom prst="rect">
            <a:avLst/>
          </a:prstGeom>
          <a:ln/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defRPr/>
            </a:pPr>
            <a:fld id="{70935733-0070-4FC4-AA67-45D4DA740129}" type="datetime1">
              <a:rPr lang="en-US" smtClean="0"/>
              <a:pPr>
                <a:defRPr/>
              </a:pPr>
              <a:t>12/27/2023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836BB0-D354-C3A9-B5A0-5D1CD29611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1913" y="6604000"/>
            <a:ext cx="4967287" cy="25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342900" rtl="0" eaLnBrk="1" fontAlgn="auto" hangingPunct="1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algn="ctr"/>
            <a:r>
              <a:rPr lang="en-US" altLang="en-US" sz="1000" dirty="0">
                <a:solidFill>
                  <a:schemeClr val="bg1"/>
                </a:solidFill>
              </a:rPr>
              <a:t>UFCFF-30-1 Foundation of Computing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9EEC19-2A29-080D-84C0-C504A808E7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8800" y="6600825"/>
            <a:ext cx="2743200" cy="274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defTabSz="342900" rtl="0" eaLnBrk="1" fontAlgn="auto" hangingPunct="1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algn="r"/>
            <a:fld id="{25E4E02F-8D0B-4F73-B3DD-858F1DB63CB0}" type="slidenum">
              <a:rPr lang="en-US" altLang="en-US" sz="900" smtClean="0">
                <a:solidFill>
                  <a:schemeClr val="bg1"/>
                </a:solidFill>
              </a:rPr>
              <a:pPr algn="r"/>
              <a:t>2</a:t>
            </a:fld>
            <a:endParaRPr lang="en-US" altLang="en-US" sz="900" dirty="0">
              <a:solidFill>
                <a:schemeClr val="bg1"/>
              </a:solidFill>
            </a:endParaRPr>
          </a:p>
        </p:txBody>
      </p:sp>
      <p:pic>
        <p:nvPicPr>
          <p:cNvPr id="4" name="Picture 2" descr="Experience Day tại UWE Bristol - Phenikaa Campus">
            <a:extLst>
              <a:ext uri="{FF2B5EF4-FFF2-40B4-BE49-F238E27FC236}">
                <a16:creationId xmlns:a16="http://schemas.microsoft.com/office/drawing/2014/main" id="{2A2FA92F-3F1C-388F-3637-902263BB67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17140"/>
            <a:ext cx="2448232" cy="1549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955D12DE-3880-DE12-CE17-D7CD7AFD7B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Learning Objectives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55AFAA60-0CDA-A322-906A-3A5AB6B6D2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US" altLang="en-US" sz="1800" dirty="0"/>
              <a:t>Graph and Graph Models</a:t>
            </a:r>
          </a:p>
          <a:p>
            <a:pPr marL="457200" indent="-457200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US" altLang="en-US" sz="1800" dirty="0"/>
              <a:t>Graph Terminology</a:t>
            </a:r>
          </a:p>
          <a:p>
            <a:pPr marL="457200" indent="-457200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US" altLang="en-US" sz="1800" dirty="0"/>
              <a:t>Graph Representations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F56535-3CEC-D929-4BC5-BFFFA746272B}"/>
              </a:ext>
            </a:extLst>
          </p:cNvPr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fld id="{B75655CC-F3F6-433E-9B97-C2EEB1D36997}" type="datetime1">
              <a:rPr lang="en-US" smtClean="0"/>
              <a:t>12/27/2023</a:t>
            </a:fld>
            <a:endParaRPr lang="en-US"/>
          </a:p>
        </p:txBody>
      </p:sp>
      <p:sp>
        <p:nvSpPr>
          <p:cNvPr id="18438" name="Slide Number Placeholder 6">
            <a:extLst>
              <a:ext uri="{FF2B5EF4-FFF2-40B4-BE49-F238E27FC236}">
                <a16:creationId xmlns:a16="http://schemas.microsoft.com/office/drawing/2014/main" id="{B056787B-F6F1-4E67-9330-2245C057F8F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5E4E02F-8D0B-4F73-B3DD-858F1DB63CB0}" type="slidenum">
              <a:rPr lang="en-US" altLang="en-US" sz="900" smtClean="0">
                <a:solidFill>
                  <a:schemeClr val="bg1"/>
                </a:solidFill>
              </a:rPr>
              <a:pPr/>
              <a:t>3</a:t>
            </a:fld>
            <a:endParaRPr lang="en-US" altLang="en-US" sz="900" dirty="0">
              <a:solidFill>
                <a:schemeClr val="bg1"/>
              </a:solidFill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B1741CE2-E2DA-23AE-A092-6486A10FA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30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A1DCB29D-D534-B857-7C83-DE4C3BDFA4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Introduction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41F3EEDD-860D-60D3-AD02-6DD47DB021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 sz="2400" dirty="0"/>
              <a:t>Discrete structures consisting of vertices and edges that connect these vertices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 dirty="0"/>
              <a:t>Different kinds of graphs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 dirty="0"/>
              <a:t>Problems in almost every conceivable discipline can be solved using graph models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CC2DE5-019B-3B11-82F4-2D9677E84263}"/>
              </a:ext>
            </a:extLst>
          </p:cNvPr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fld id="{9CD53F07-AB33-42F4-BD93-71E9F3BC5B36}" type="datetime1">
              <a:rPr lang="en-US" smtClean="0"/>
              <a:t>12/27/2023</a:t>
            </a:fld>
            <a:endParaRPr lang="en-US"/>
          </a:p>
        </p:txBody>
      </p:sp>
      <p:sp>
        <p:nvSpPr>
          <p:cNvPr id="20486" name="Slide Number Placeholder 6">
            <a:extLst>
              <a:ext uri="{FF2B5EF4-FFF2-40B4-BE49-F238E27FC236}">
                <a16:creationId xmlns:a16="http://schemas.microsoft.com/office/drawing/2014/main" id="{858B14FA-ADB0-CDA2-307C-681CB0F88A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1072680-6AB0-491B-8B57-14E3B9BF6F78}" type="slidenum">
              <a:rPr lang="en-US" altLang="en-US" sz="900" smtClean="0">
                <a:solidFill>
                  <a:schemeClr val="bg1"/>
                </a:solidFill>
              </a:rPr>
              <a:pPr/>
              <a:t>4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848E35EC-86C4-5C6A-B921-F5A4CB29C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5F71A3E5-5358-9342-1415-859526D199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10.1 Graphs and Graph Models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BE2363-379F-11E0-55C7-AAF38B7E13E7}"/>
              </a:ext>
            </a:extLst>
          </p:cNvPr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fld id="{DF312E78-F517-4866-AF34-1303E1B9F805}" type="datetime1">
              <a:rPr lang="en-US" smtClean="0"/>
              <a:t>12/27/2023</a:t>
            </a:fld>
            <a:endParaRPr lang="en-US"/>
          </a:p>
        </p:txBody>
      </p:sp>
      <p:sp>
        <p:nvSpPr>
          <p:cNvPr id="23558" name="Slide Number Placeholder 6">
            <a:extLst>
              <a:ext uri="{FF2B5EF4-FFF2-40B4-BE49-F238E27FC236}">
                <a16:creationId xmlns:a16="http://schemas.microsoft.com/office/drawing/2014/main" id="{5E357859-01D7-6BF1-4BBD-1B7E2FB51E8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0EAB96A-97DB-4DF2-BF26-C2CEA16BF1A7}" type="slidenum">
              <a:rPr lang="en-US" altLang="en-US" sz="900" smtClean="0">
                <a:solidFill>
                  <a:schemeClr val="bg1"/>
                </a:solidFill>
              </a:rPr>
              <a:pPr/>
              <a:t>5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873F4790-AFD6-1119-A97B-C028F8503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1920D7BF-A53F-696B-8472-C54706DC2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BF2476D-40F1-900D-7AF9-1121700CAF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27483"/>
            <a:ext cx="12192000" cy="30030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BCC6A8-82E3-EACE-D890-529615C75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12/27/2023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05AEDB-8656-6B29-C69B-3044E67E4B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EC0110-FB33-946E-D6A2-9D0D561B409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306B66-82E1-4A93-62CA-2CEC9E139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76200"/>
            <a:ext cx="8991600" cy="33432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D5689CD-829C-2334-7EEB-FFD953B6241D}"/>
              </a:ext>
            </a:extLst>
          </p:cNvPr>
          <p:cNvSpPr txBox="1"/>
          <p:nvPr/>
        </p:nvSpPr>
        <p:spPr>
          <a:xfrm>
            <a:off x="1981200" y="4038600"/>
            <a:ext cx="7620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/>
              <a:t>A network is made up of data centers and communication links between computers.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/>
              <a:t>Represent the location of each data center by a point and each communications link by a line segment, as shown in Figure 1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/>
              <a:t>Can be modeled using a graph in which the vertices of the graph represent the data centers and the edges represent communication links</a:t>
            </a:r>
          </a:p>
        </p:txBody>
      </p:sp>
    </p:spTree>
    <p:extLst>
      <p:ext uri="{BB962C8B-B14F-4D97-AF65-F5344CB8AC3E}">
        <p14:creationId xmlns:p14="http://schemas.microsoft.com/office/powerpoint/2010/main" val="2081605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0FBE65-9AED-552E-1E31-95BF155F1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12/27/2023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7BFD22-3BA4-7E9A-6598-503840935C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12501A-60AB-2934-8E4C-9FB38B3847A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482273-9214-D47A-9EE7-5047C8D35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810057"/>
            <a:ext cx="10810875" cy="30956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FDFF382-C5A0-368C-0F49-4C4BBC60E838}"/>
              </a:ext>
            </a:extLst>
          </p:cNvPr>
          <p:cNvSpPr txBox="1"/>
          <p:nvPr/>
        </p:nvSpPr>
        <p:spPr>
          <a:xfrm>
            <a:off x="542925" y="4648200"/>
            <a:ext cx="1081087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Times-Roman"/>
              </a:rPr>
              <a:t>A computer network may contain multiple links between data centers, as shown in Figure 2.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Times-Roman"/>
              </a:rPr>
              <a:t>To model such networks, we need graphs that have more than one edge connecting the same pair of vertices</a:t>
            </a: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75647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3E8223-BF1A-5C00-2837-C86DB5E1A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12/27/2023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5419A3-A73B-0156-D9DB-06B0D5C104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BB01AB-D884-D59A-3D8C-BA8A94B8818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B21089-E31E-CE94-E633-97DCE6C31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381000"/>
            <a:ext cx="8553450" cy="38576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80D263-4930-1218-4CF5-F21E36DAF8B6}"/>
              </a:ext>
            </a:extLst>
          </p:cNvPr>
          <p:cNvSpPr txBox="1"/>
          <p:nvPr/>
        </p:nvSpPr>
        <p:spPr>
          <a:xfrm>
            <a:off x="990600" y="4572000"/>
            <a:ext cx="954405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Times-Roman"/>
              </a:rPr>
              <a:t>A communications link connects a data center with itself, perhaps a feedback loop for diagnostic purposes. Such a network is illustrated in Figure 3.</a:t>
            </a:r>
          </a:p>
          <a:p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917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05BF36-22B2-C28E-698A-A8F899C02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12/27/2023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A67ED3-6B5E-205F-D331-20C8244E05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13028E-EA5D-151B-4C05-FE975905465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6E75F6-1B88-D636-13F2-C9C52976E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7815"/>
            <a:ext cx="12192000" cy="1502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755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D39F53-C46D-1D02-FAA8-A14063C01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12/27/2023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BF34C6-7241-33ED-F338-AE35DDAB6B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522E11-1BF4-D6EB-DFFB-CBFC57C2955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3A5F30-93A1-C8B7-F2DD-B6765800D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37" y="1143000"/>
            <a:ext cx="11134725" cy="32670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D465CFD-AC76-30E7-86F8-A73BDF86CBB0}"/>
              </a:ext>
            </a:extLst>
          </p:cNvPr>
          <p:cNvSpPr txBox="1"/>
          <p:nvPr/>
        </p:nvSpPr>
        <p:spPr>
          <a:xfrm>
            <a:off x="1066799" y="4738698"/>
            <a:ext cx="10058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Times-Roman"/>
              </a:rPr>
              <a:t>This may be the case if there is a large amount of traffic sent to some data centers, with little or no traffic going in the opposite direction. Such a network is shown in Figure 4</a:t>
            </a:r>
            <a:r>
              <a:rPr lang="en-US" sz="2400" dirty="0"/>
              <a:t> </a:t>
            </a:r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5740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B7108C-B81E-741E-95BA-249A5EFDC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12/27/2023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C020A4-3CFC-FBCA-E850-D2EE0AED9C4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58A11B-DB2D-ADEC-5C58-0A357144142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F53757-3C4A-A2C1-3B77-51BA59264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700" y="1885950"/>
            <a:ext cx="937260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431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829F7-6055-1C3B-2D75-D222EA4B7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B193D-E842-810B-864E-CF6FCCD3E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graph in which each edge connects two different vertices and where no two edges connect the same pair of vertices is called a simple graph.</a:t>
            </a:r>
          </a:p>
          <a:p>
            <a:r>
              <a:rPr lang="en-US" dirty="0"/>
              <a:t>Graphs that may have multiple edges connecting the same vertices are called multigraphs. </a:t>
            </a:r>
          </a:p>
          <a:p>
            <a:r>
              <a:rPr lang="en-US" dirty="0"/>
              <a:t>Such edges are called loops, and sometimes we may even have more than one loop at a vertex</a:t>
            </a:r>
          </a:p>
          <a:p>
            <a:r>
              <a:rPr lang="en-US" dirty="0"/>
              <a:t>Graphs that may include loops, and possibly multiple edges connecting the same pair of vertices or a vertex to itself, are sometimes called pseudographs.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ED7FAE-B242-804E-A6DE-39946FC94B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2553F-D989-C3F5-E2C2-13055DA4E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6F5509E-3DC0-8AE7-C486-CE3D3201245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9212BBC5-0387-467A-891F-EEBDF682206B}" type="datetime1">
              <a:rPr lang="en-US" smtClean="0"/>
              <a:t>12/27/2023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128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AF1DCB-1C65-B777-EB45-35E549FE1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12/27/2023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B5EC35-6090-BE83-53F7-D26453B73A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19DF75-958D-B7C0-B786-BCBDD05C47E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AAAAE6-EAD2-9B88-D8C9-87FEA9FD7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9970"/>
            <a:ext cx="12192000" cy="3898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044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B2EB0-96D0-4108-302D-5EE38792B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A8C64-6B78-6ABD-957C-A089C2C24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Social Networks</a:t>
            </a:r>
          </a:p>
          <a:p>
            <a:pPr lvl="1"/>
            <a:r>
              <a:rPr lang="en-US" dirty="0"/>
              <a:t>Acquaintanceship and Friendship Graphs</a:t>
            </a:r>
          </a:p>
          <a:p>
            <a:pPr lvl="1"/>
            <a:r>
              <a:rPr lang="en-US" dirty="0"/>
              <a:t>Influence Graphs</a:t>
            </a:r>
          </a:p>
          <a:p>
            <a:pPr lvl="1"/>
            <a:r>
              <a:rPr lang="en-US" dirty="0"/>
              <a:t>Collaboration Graphs </a:t>
            </a:r>
          </a:p>
          <a:p>
            <a:pPr lvl="1"/>
            <a:r>
              <a:rPr lang="en-US" dirty="0"/>
              <a:t>Call Graph</a:t>
            </a:r>
          </a:p>
          <a:p>
            <a:r>
              <a:rPr lang="en-US" dirty="0"/>
              <a:t>INFORMATION NETWORKS</a:t>
            </a:r>
          </a:p>
          <a:p>
            <a:pPr lvl="1"/>
            <a:r>
              <a:rPr lang="en-US" dirty="0"/>
              <a:t>The Web Graph</a:t>
            </a:r>
          </a:p>
          <a:p>
            <a:pPr lvl="1"/>
            <a:r>
              <a:rPr lang="en-US" dirty="0"/>
              <a:t>Citation Graphs</a:t>
            </a:r>
          </a:p>
          <a:p>
            <a:r>
              <a:rPr lang="en-US" dirty="0"/>
              <a:t>SOFTWARE DESIGN APPLICATIONS </a:t>
            </a:r>
          </a:p>
          <a:p>
            <a:pPr lvl="1"/>
            <a:r>
              <a:rPr lang="en-US" dirty="0"/>
              <a:t>Module Dependency Graphs</a:t>
            </a:r>
          </a:p>
          <a:p>
            <a:pPr lvl="1"/>
            <a:r>
              <a:rPr lang="en-US" dirty="0"/>
              <a:t>Precedence Graphs and Concurrent Processing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79AF69-1E68-A212-936D-4AE787E92D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3AE42-3541-8B49-86D0-9AB453813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3440982-294B-8640-073D-C6CB384C950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9212BBC5-0387-467A-891F-EEBDF682206B}" type="datetime1">
              <a:rPr lang="en-US" smtClean="0"/>
              <a:t>12/27/2023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3976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E0597A-1E66-50BF-F250-83B8F5243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12/27/2023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503CF8-46B7-D153-33DD-305885D02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039186-4628-51C6-A4C8-C1155CDF8C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8A96E5-6085-75FF-20DA-38668E477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1703"/>
            <a:ext cx="12192000" cy="4514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5801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89823C-96A2-6B91-0B3B-84EBDEBB5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12/27/2023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12C2B5-467E-37CD-6487-9D4949F357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6A1C85-F6B2-07AA-0111-E1C51F4522C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9783BA-A9DC-E007-16C0-E087B38C1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8521"/>
            <a:ext cx="12192000" cy="426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255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A5F58B-FAE2-E8EA-7457-EFF6F7583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12/27/2023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B6DED0-7D7F-FCF8-60F0-8E7726B85C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033626-0FB6-5239-22DD-67D4207628B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390709-F7E6-C3D5-119C-120DDB7B3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" y="1209675"/>
            <a:ext cx="12011025" cy="443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3851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CC0A77-087A-A382-81D7-BAE18F66F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12/27/2023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B8DAFC-7192-7364-BC99-1536B7230F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549C63-496F-706D-AAB4-D8C2FF7B50A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B06636-582A-9EB6-F228-A3A79C7AF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6685"/>
            <a:ext cx="12192000" cy="4084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9077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4F1B10-9F6B-A499-0A10-22F740B45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12/27/2023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C13E5C-E5B4-C132-F4D1-C91B66CFDE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AF59FB-1AD5-4F9E-D39C-09C33C44355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54E6C8-6899-5665-720B-31375F700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7522"/>
            <a:ext cx="12192000" cy="484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742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E0334B-D84A-D5DA-48E6-0A07CF357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12/27/2023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25207B-FB84-0804-F91D-EC673FC3CE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D7E38B-88F5-59AC-3982-DDC9BF2AB30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8397BE-64EB-5B5F-7757-7A38D9E2E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6114"/>
            <a:ext cx="12192000" cy="578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1097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E6DC0-5E83-C47C-086F-12060BC9F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10.2 Graph Terminology and Special Types of Graphs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44F5115-3148-0A9A-FAB2-7868946F02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28800"/>
            <a:ext cx="10515600" cy="130173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46029E-B770-FCDE-76CA-4BF7CC5B25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0E15E-7877-AAEA-CBFB-C98488AA2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B2329E-941A-50E3-FB68-D82AA3DBE78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9212BBC5-0387-467A-891F-EEBDF682206B}" type="datetime1">
              <a:rPr lang="en-US" smtClean="0"/>
              <a:t>12/27/2023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3127E04-89B8-5722-4CCB-13C3B2E68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353983"/>
            <a:ext cx="10439400" cy="129897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6B0D179-1043-08CC-5D89-4A2F9FA17E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475" y="4724400"/>
            <a:ext cx="10382325" cy="125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4809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CE19A6-C923-4F2E-B177-0291194B2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12/27/2023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CCF25A-5FC2-2D38-74CD-0C1DD3124B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E737D2-6E25-E531-5261-8A5444A45B9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52246A-2608-770B-0A6E-4AB6E7FF6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58" y="1206178"/>
            <a:ext cx="12192000" cy="7981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D154CD5-653A-937B-6E19-7F7E73800E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9310" y="2631095"/>
            <a:ext cx="927735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0644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A6DF31-1775-AD05-8DB3-58C28FE98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12/27/2023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74DA05-DA06-0280-EAB3-2694A772F8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BBBFF3-DA0F-E164-0ABD-04736C8686E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32D8E4-95C8-1056-2EE2-009BA26E3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69373"/>
            <a:ext cx="12192000" cy="2719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6705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BDF3BE-FA5E-2ADA-39EA-C0FD960E3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12/27/2023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6A8DC6-C881-F831-D861-BF6A0CB9A8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CB33E-FFE5-92AD-9648-13FFFAD2537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97257B-15EF-E72E-D01C-F92EDA1BC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3190875"/>
            <a:ext cx="11582400" cy="47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8485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850C3A-F627-B989-C083-F1B17AD5F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12/27/2023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C80154-E418-B958-8A6C-F2475D6311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E1FE97-067C-BD51-2FC0-D44964F6E3C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EB367F-44E6-D6B0-B8FA-4A2F27B61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88666"/>
            <a:ext cx="12192000" cy="880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1452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1B3C99-B055-7213-9DD4-F285E97F2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12/27/2023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5B8343-CFA8-8501-2015-E2C2BE95AE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A94715-04C1-5656-AD84-9FD7B3F912E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270A15-B83B-F585-1A91-5BB33E094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66619"/>
            <a:ext cx="12192000" cy="1724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1838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2B470F-C5A7-AB72-EF26-0432E4B63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12/27/2023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6AA577-EA1A-B384-1979-B6369148582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5B39C6-D4F6-D081-C2AF-5E689B8F7BE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AEC6B0-52FD-E11C-E65C-21DFF38CC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65532"/>
            <a:ext cx="12192000" cy="172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6204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96A253-03F8-A53F-3124-F4861CB46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12/27/2023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187D73-F041-F26D-923D-4A2F1108F4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E5B36C-6D9A-5669-FFA1-DA17B1E6479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ABA0D1-007A-D162-FBB9-A7C7EE551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5245"/>
            <a:ext cx="12192000" cy="3847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4106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72A7E4-17FD-4F76-C069-F0FFD0580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12/27/2023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9B9B8F-56E1-BFCC-53F1-28A61BC6E9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CBE994-3620-A885-C9A7-C87E7597ECF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183D19-56D4-DD16-B909-28BD8D185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71576"/>
            <a:ext cx="12192000" cy="1914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1651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677A7C-2E1A-8CC8-EB94-ABF556752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12/27/2023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BCBBF0-EBD6-1884-DC8C-8789AD6CC4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DF5966-480F-9C88-1CCB-4F686F230E9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CD2717-5129-2B83-D30D-566CF91BF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9200"/>
            <a:ext cx="12192000" cy="12996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C3D47D-EFF8-8929-C1EA-C4DA3AE61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87335"/>
            <a:ext cx="12192000" cy="2903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8278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E83316-4181-7AB8-4657-B8F198743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12/27/2023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4CF934-5A17-9341-44F7-58CC08D84D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C61F47-80E0-5171-C1A4-C8B21765C6F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971DF2-D653-9DC4-AAB1-CA24EEEDB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7869"/>
            <a:ext cx="12192000" cy="3622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8169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FACE2B-4D83-9400-969B-FDED4524F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12/27/2023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8D4913-6204-CD1F-50BA-A59FAAD995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74874D-6145-4FD8-C934-EA3428E14ED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A6F451-0314-1F38-84C6-27667BAEB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0871"/>
            <a:ext cx="12192000" cy="3736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9940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D0590-B9F4-842B-B25A-87EC358F6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10.3 Representing Graphs and Graph Isomorphism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AC2A7-C15C-941E-49F0-D2F7C5F28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all the edges of this graph.</a:t>
            </a:r>
          </a:p>
          <a:p>
            <a:r>
              <a:rPr lang="en-US" dirty="0"/>
              <a:t>Use adjacency lists, which specify the vertices that are adjacent to each vertex of the graph</a:t>
            </a:r>
          </a:p>
          <a:p>
            <a:r>
              <a:rPr lang="en-US" dirty="0"/>
              <a:t>Matrices</a:t>
            </a:r>
          </a:p>
          <a:p>
            <a:pPr lvl="1"/>
            <a:r>
              <a:rPr lang="en-US" dirty="0"/>
              <a:t>One is based on the adjacency of vertices, </a:t>
            </a:r>
          </a:p>
          <a:p>
            <a:pPr lvl="1"/>
            <a:r>
              <a:rPr lang="en-US" dirty="0"/>
              <a:t>The other is based on incidence of vertices and edges.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BB5346-D2B3-A965-2355-80F7875EE9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33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8B00A-83AA-0C82-C7C8-0908041CA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5AB19E3-87F0-77C1-B26D-C0724CB0F08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9212BBC5-0387-467A-891F-EEBDF682206B}" type="datetime1">
              <a:rPr lang="en-US" smtClean="0"/>
              <a:t>12/27/2023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4997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017A07-447B-5981-CC76-44B63C3E4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12/27/2023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CB796D-0C71-FCDA-35C5-A617105C1E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A51EFC-D0F0-C0E5-9686-1EA5D273297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0FE321-DFED-D93C-3985-0CCCBAAC5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8102"/>
            <a:ext cx="12192000" cy="5021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6270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AF412E-7B90-3346-4FDB-479ED19DC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12/27/2023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4E539C-E82C-E586-68E2-425B01F3FE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2C077-1EB4-EB74-A939-670A22BADD1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705D25-FE57-6D5B-9440-42BA19B7A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8455"/>
            <a:ext cx="12192000" cy="4461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3227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B4C95-5FC4-D104-6CFF-69A552B30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Adjacency Matrices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12AE8-A582-C280-29FF-89B150B1F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A2CE99-817D-C909-2733-AFB42CF4B1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36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112AE8-0907-000A-7AE5-4C6E40296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9105029-31B9-FE0D-960A-C175EE2DA58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9212BBC5-0387-467A-891F-EEBDF682206B}" type="datetime1">
              <a:rPr lang="en-US" smtClean="0"/>
              <a:t>12/27/2023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265733-04A0-2667-B780-A23CE0D9F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" y="1981200"/>
            <a:ext cx="12011025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6607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441195-43FA-21E4-A91A-6FE90D1D6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12/27/2023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02F61C-9756-E0AF-DF0C-2EDED165F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F105EE-165E-CA9F-41DA-2484D174108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AA2DAF-ED46-36A5-B860-8FE8A8BF3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3063"/>
            <a:ext cx="12192000" cy="30318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67112DB-2FC1-D0C2-A67A-B66120F5D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7800" y="3124200"/>
            <a:ext cx="2609850" cy="325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7057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DA9941-C8AE-4811-142A-138E71ABE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12/27/2023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736E03-0884-B42B-44CB-5E472C74EB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CAAA4B-5267-0D39-FF59-35B4CD3B228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843C9F-5EE8-DEA4-A2B0-2734335CF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1896"/>
            <a:ext cx="12192000" cy="30342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786578-A9A2-7879-6141-3B3464D49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4958394"/>
            <a:ext cx="2276475" cy="84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5983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EDA5D4-DFF2-FE09-5793-66E65477D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12/27/2023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B05B2B-4F16-34DA-C020-2FC7BD78A6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6DD5A0-ADE6-80C9-A51A-5CAD44C6BEF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174D80-2497-8412-CD78-7F56D816C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7" y="1357312"/>
            <a:ext cx="11934825" cy="414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3669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5E266-DEB5-B68D-A0C0-5117AAC84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Incidence Matrices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29068-55BF-E7E3-E879-9DE7033D8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53C74-4860-17A9-19A3-D36277B8CF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40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72746-034D-5E7A-6A99-035ACB146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BCC00E-F1DE-8FCD-1B4C-693C0E3D1C7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9212BBC5-0387-467A-891F-EEBDF682206B}" type="datetime1">
              <a:rPr lang="en-US" smtClean="0"/>
              <a:t>12/27/2023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7E75FD-B335-6F6A-5090-60CCEC975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" y="2057400"/>
            <a:ext cx="1198245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9086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8D925B-3B19-6601-8151-78BAC4934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12/27/2023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3B4422-C6CC-4677-F627-462082DCE5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89BF9D-10CE-4117-D848-7594CE89263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7F7040-DCBD-EFBE-DE49-D93F2CFE6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62" y="838200"/>
            <a:ext cx="11115675" cy="37147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516AC8-8370-762C-2AA7-0887A27D4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4552950"/>
            <a:ext cx="2333625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2633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ABC25F-A7DB-7D73-05BA-9DAF7652F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12/27/2023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E2C78B-93E5-FA1F-C075-C06E7E564E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CAD6BD-F8FD-BBB4-235E-18CFB8805D2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8907F0-770C-2CE2-0CC8-BF65D09B1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4522"/>
            <a:ext cx="12192000" cy="376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9645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B00C17-B06A-D3F0-B546-5DAE83B84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12/27/2023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A8AC4F-F6A9-E678-3A09-CAC61198FD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D53877-08F5-67B4-0B3C-6955CE7BA4F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FD4101-769E-C122-661E-3C4362414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81702"/>
            <a:ext cx="12192000" cy="1894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5404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C47951-3960-1DC2-C945-7A4D71AAB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12/27/2023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DAE556-3D06-DE28-36A6-2D68F6BA93F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B85A28-E011-BBEB-9F8D-CE1BE018CF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67F007-7BF3-7FF7-C4F2-20400107D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0"/>
            <a:ext cx="12192000" cy="4886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D1B1AF0-FB4D-2F53-7597-8F062AB5F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525" y="2590800"/>
            <a:ext cx="2419350" cy="24669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BF14E1A-11BE-82EC-37FE-C1CF43F8B0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2590800"/>
            <a:ext cx="2514600" cy="24193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247793B-6AA7-992E-8697-F0C6BEDA65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7275" y="3081337"/>
            <a:ext cx="2457450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7468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1D3512-4FC8-8E21-1553-1382D8F31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12/27/2023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9F32AA-5B90-2AC0-2615-FA5B4F0197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D50A3B-FA71-DFBD-56BE-C6DBE05AD09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7D6E4D-7259-FB84-5B06-CC0040597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49" y="1066800"/>
            <a:ext cx="10248900" cy="4857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5DD098-7DD6-96A6-B446-711A5C6FA8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905000"/>
            <a:ext cx="5019675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4163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9C02A-D7DD-1DEA-7C00-2E0293BF6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10.4 Connectivity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CBCB5-48DD-B40F-5895-537129E3D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problems can be modeled with paths formed by traveling along the edges of graphs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38C7E1-0247-BC09-D147-1DD4808C4E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46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2D6A2-3311-3DDB-42A2-8539BA3C6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C40193B-6CCA-878F-4107-971437B7A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9212BBC5-0387-467A-891F-EEBDF682206B}" type="datetime1">
              <a:rPr lang="en-US" smtClean="0"/>
              <a:t>12/27/2023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6D448D-9699-BED3-9AEF-F154A2978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" y="2895600"/>
            <a:ext cx="11991975" cy="20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4895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E7EC8D-7F35-A326-0456-B6A390BC2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12/27/2023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0E1782-19B6-46F2-B082-1857201990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939B75-6843-04FD-6F1C-4C85535E49E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AC2811-BB4E-1224-EEF8-8E9E05E9A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7971"/>
            <a:ext cx="12192000" cy="304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78750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41203B-EA78-DB37-3D30-2ABB0BC1E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12/27/2023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7FF4B8-FD7D-6D74-76E1-1A6C423D21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181583-6A92-C085-A49C-6411A6D18E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BD92C-398C-619A-5FFE-48CA458A2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58" y="1371600"/>
            <a:ext cx="12192000" cy="16037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669F9DA-074E-A208-CB07-43A870C58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9581" y="3200400"/>
            <a:ext cx="4171950" cy="294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2757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19B40B-67C6-1739-9CD4-67E0DCA59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12/27/2023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ADA0EC-528C-9891-4B0A-2B851264A7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4CED97-A724-8C4A-557D-DEE264D75EF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0ADE23-15E3-F8E6-9653-8EFE3BC06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88435"/>
            <a:ext cx="12192000" cy="2681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7927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0FEDD-D3EF-1546-6CF0-A9397D58C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Connectedness in Undirected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D04DA-E929-63E0-6E81-F58818056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does a computer network have the property that every pair of computers can share information, if messages can be sent through one or more intermediate computers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039F59-0FAA-8DA2-F65A-57712585A6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50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AB395-3B66-CC49-2C59-E3C0E1706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63F24BC-99A2-9F53-2629-DCF9F668718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9212BBC5-0387-467A-891F-EEBDF682206B}" type="datetime1">
              <a:rPr lang="en-US" smtClean="0"/>
              <a:t>12/27/2023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180658-17F8-CAD3-CB9E-97DAACBAF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" y="3421626"/>
            <a:ext cx="12192000" cy="1886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12943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B9A334-A505-49B9-38CD-77E5D7047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12/27/2023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E1DF63-5F2F-F00B-16D2-B9409ABF24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DFBB8F-21A9-AD4F-BC9F-AF871A90F34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DD31F7-4568-D24E-EEA2-C3BBC6C33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0"/>
            <a:ext cx="12192000" cy="10193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1EBACE-FB5C-9DF5-9FAF-6E84C88376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9293" y="2590800"/>
            <a:ext cx="8253413" cy="319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51539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2F664-26CB-76BE-4EE8-79733AB91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Counting Paths Between Vertices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32EF7-C5F2-9E48-1FB4-52CEC5780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CF6711-A64E-EE03-3587-D6A9D249C5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52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79A7C6-E58D-31F0-A2FC-6309C174F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069714-5B65-BC08-C5AD-673FC194C26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9212BBC5-0387-467A-891F-EEBDF682206B}" type="datetime1">
              <a:rPr lang="en-US" smtClean="0"/>
              <a:t>12/27/2023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7718E2-7EF3-F7DC-535A-6DBEF9D3C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43638"/>
            <a:ext cx="12192000" cy="1770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48987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3C7BA7-A4F4-AE63-4991-0F7876741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3ECAA5-290B-47EF-933A-FB04C2080D95}" type="datetime1">
              <a:rPr lang="en-US" smtClean="0"/>
              <a:t>12/27/2023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D50A3F-D03A-04B9-37C4-7AF5318DB8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5EA0CE-A5C4-7AD4-D99C-1217BA78D52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802BDC-FD00-1756-D1BE-1FE377ADC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9977"/>
            <a:ext cx="12192000" cy="453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052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9DFC7-A594-3AD7-DE80-758B19B14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3E82D-A211-5C8C-EAAD-4B85E7284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Order and size</a:t>
            </a:r>
          </a:p>
          <a:p>
            <a:r>
              <a:rPr lang="en-US" dirty="0"/>
              <a:t>Degree and degree sequence</a:t>
            </a:r>
          </a:p>
          <a:p>
            <a:r>
              <a:rPr lang="en-US" dirty="0"/>
              <a:t>Walk, path and cycle</a:t>
            </a:r>
          </a:p>
          <a:p>
            <a:r>
              <a:rPr lang="en-US" dirty="0"/>
              <a:t>Isomorphic graphs</a:t>
            </a:r>
          </a:p>
          <a:p>
            <a:r>
              <a:rPr lang="en-US"/>
              <a:t>Graph representation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8E995C-52B1-5720-B524-D40AB5052F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54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4858E4-06C1-0F2E-F3F8-2DD9A6051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UFCFF-30-1 Foundation of Computing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42810C8-7F0B-6B8B-E408-4C4C4334CD9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9212BBC5-0387-467A-891F-EEBDF682206B}" type="datetime1">
              <a:rPr lang="en-US" smtClean="0"/>
              <a:t>12/27/2023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264446"/>
      </p:ext>
    </p:extLst>
  </p:cSld>
  <p:clrMapOvr>
    <a:masterClrMapping/>
  </p:clrMapOvr>
</p:sld>
</file>

<file path=ppt/theme/theme1.xml><?xml version="1.0" encoding="utf-8"?>
<a:theme xmlns:a="http://schemas.openxmlformats.org/drawingml/2006/main" name="Vicostone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u thuyet trình cong ty Vicostone" id="{123813FF-2186-4307-88AB-E52DC4E764C5}" vid="{7A2E833A-1ED4-4E30-9CFE-D6481D7B3B54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818</Words>
  <Application>Microsoft Office PowerPoint</Application>
  <PresentationFormat>Widescreen</PresentationFormat>
  <Paragraphs>223</Paragraphs>
  <Slides>54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2" baseType="lpstr">
      <vt:lpstr>Arial</vt:lpstr>
      <vt:lpstr>Calibri</vt:lpstr>
      <vt:lpstr>Calibri Light</vt:lpstr>
      <vt:lpstr>Courier New</vt:lpstr>
      <vt:lpstr>Times New Roman</vt:lpstr>
      <vt:lpstr>Times-Roman</vt:lpstr>
      <vt:lpstr>Wingdings</vt:lpstr>
      <vt:lpstr>Vicostone Template</vt:lpstr>
      <vt:lpstr>PowerPoint Presentation</vt:lpstr>
      <vt:lpstr>University of West England Phenikaa Campus</vt:lpstr>
      <vt:lpstr>Learning Objectives</vt:lpstr>
      <vt:lpstr>Introduction</vt:lpstr>
      <vt:lpstr>10.1 Graphs and Graph Models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Graph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10.2 Graph Terminology and Special Types of Graphs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10.3 Representing Graphs and Graph Isomorphism</vt:lpstr>
      <vt:lpstr>PowerPoint Presentation</vt:lpstr>
      <vt:lpstr>PowerPoint Presentation</vt:lpstr>
      <vt:lpstr>Adjacency Matrices</vt:lpstr>
      <vt:lpstr>PowerPoint Presentation</vt:lpstr>
      <vt:lpstr>PowerPoint Presentation</vt:lpstr>
      <vt:lpstr>PowerPoint Presentation</vt:lpstr>
      <vt:lpstr>Incidence Matrices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10.4 Connectivity</vt:lpstr>
      <vt:lpstr>PowerPoint Presentation</vt:lpstr>
      <vt:lpstr>PowerPoint Presentation</vt:lpstr>
      <vt:lpstr>PowerPoint Presentation</vt:lpstr>
      <vt:lpstr>Connectedness in Undirected Graphs</vt:lpstr>
      <vt:lpstr>PowerPoint Presentation</vt:lpstr>
      <vt:lpstr>Counting Paths Between Vertices</vt:lpstr>
      <vt:lpstr>PowerPoint Presentation</vt:lpstr>
      <vt:lpstr>Conclusions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subject/>
  <dc:creator/>
  <cp:lastModifiedBy/>
  <cp:revision>462</cp:revision>
  <dcterms:created xsi:type="dcterms:W3CDTF">2009-09-28T17:47:54Z</dcterms:created>
  <dcterms:modified xsi:type="dcterms:W3CDTF">2023-12-27T15:35:23Z</dcterms:modified>
</cp:coreProperties>
</file>