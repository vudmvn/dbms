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3"/>
  </p:notesMasterIdLst>
  <p:handoutMasterIdLst>
    <p:handoutMasterId r:id="rId34"/>
  </p:handoutMasterIdLst>
  <p:sldIdLst>
    <p:sldId id="349" r:id="rId2"/>
    <p:sldId id="477" r:id="rId3"/>
    <p:sldId id="257" r:id="rId4"/>
    <p:sldId id="385" r:id="rId5"/>
    <p:sldId id="412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9" r:id="rId29"/>
    <p:sldId id="410" r:id="rId30"/>
    <p:sldId id="411" r:id="rId31"/>
    <p:sldId id="408" r:id="rId32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0AB240B4-1A2E-4C00-9336-DA12AFA09EB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3F9286B-6EB0-415E-9FD7-53754A124BCC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C1CF96D5-A543-45D5-8992-B94C1177E4C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DF507722-439B-4523-9CE9-B70AFEB2097E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F34B5DD-F4AF-4694-A8F2-2077CF15276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D956F7ED-D063-4ECE-9B57-E455597CA49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ew.officeapps.live.com/op/view.aspx?src=https://ece.uwaterloo.ca/~dwharder/aads/Lecture_materials/3.02.Stacks.pptx&amp;wdOrigin=BROWSELINK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3D60C-B233-4073-9E4F-853A6F50270F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FF61F-2683-08B0-9745-3DDA87C7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"/>
            <a:ext cx="12192000" cy="6654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National Economics University</a:t>
            </a:r>
            <a:br>
              <a:rPr lang="en-US" altLang="en-US" sz="3200" dirty="0"/>
            </a:br>
            <a:r>
              <a:rPr lang="en-US" altLang="en-US" sz="3200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DATA STRUCTURES AND ALGORITHMS: Stack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None/>
            </a:pPr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Describe the features and behavior of a stack </a:t>
            </a:r>
          </a:p>
          <a:p>
            <a:pPr marL="457200" indent="-457200">
              <a:buAutoNum type="arabicPeriod"/>
            </a:pPr>
            <a:r>
              <a:rPr lang="en-US" dirty="0"/>
              <a:t>Choose a stack implementation based on its performance characteristics</a:t>
            </a:r>
          </a:p>
          <a:p>
            <a:pPr marL="457200" indent="-457200">
              <a:buAutoNum type="arabicPeriod"/>
            </a:pPr>
            <a:r>
              <a:rPr lang="en-US" dirty="0"/>
              <a:t>Recognize applications where it is appropriate to use a stack </a:t>
            </a:r>
          </a:p>
          <a:p>
            <a:pPr marL="457200" indent="-457200">
              <a:buAutoNum type="arabicPeriod"/>
            </a:pPr>
            <a:r>
              <a:rPr lang="en-US" dirty="0"/>
              <a:t>Explain how the system call stack provides run-time support for recursive subroutines </a:t>
            </a:r>
          </a:p>
          <a:p>
            <a:pPr marL="457200" indent="-457200">
              <a:buAutoNum type="arabicPeriod"/>
            </a:pPr>
            <a:r>
              <a:rPr lang="en-US" dirty="0"/>
              <a:t>Design and implement a backtracking algorithm that uses a stack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ABE9123-2607-4938-9511-9CCBFBB1BFE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Stacks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Stacks are linear collections in which access is completely restricted to just one end, called the </a:t>
            </a:r>
            <a:r>
              <a:rPr lang="en-US" b="1" dirty="0"/>
              <a:t>top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Insert an element to a collection – this new element becomes top.</a:t>
            </a:r>
          </a:p>
          <a:p>
            <a:pPr lvl="1"/>
            <a:r>
              <a:rPr lang="en-US" dirty="0"/>
              <a:t>Remove the newest element in the collection (the top) </a:t>
            </a:r>
          </a:p>
          <a:p>
            <a:r>
              <a:rPr lang="en-US" dirty="0"/>
              <a:t>Adhere to a </a:t>
            </a:r>
            <a:r>
              <a:rPr lang="en-US" b="1" dirty="0"/>
              <a:t>last-in first-out (</a:t>
            </a:r>
            <a:r>
              <a:rPr lang="en-US" dirty="0"/>
              <a:t>LIFO) protocol. </a:t>
            </a:r>
          </a:p>
          <a:p>
            <a:r>
              <a:rPr lang="en-US" dirty="0"/>
              <a:t>The operations for putting items on and removing items from a stack are called </a:t>
            </a:r>
            <a:r>
              <a:rPr lang="en-US" b="1" dirty="0"/>
              <a:t>push </a:t>
            </a:r>
            <a:r>
              <a:rPr lang="en-US" dirty="0"/>
              <a:t>and </a:t>
            </a:r>
            <a:r>
              <a:rPr lang="en-US" b="1" dirty="0"/>
              <a:t>pop.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5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A8275-9956-19CF-6BC0-BF107171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FF38D2-9525-52DC-F0D2-65B271D662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C4F65-5F30-A43A-DB13-19CEE0B604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56B0F-190D-CD3E-6AF4-DAA9545FD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8645"/>
            <a:ext cx="7905750" cy="4619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3034BE-B1BE-E44B-41E4-746BF6596E16}"/>
              </a:ext>
            </a:extLst>
          </p:cNvPr>
          <p:cNvSpPr txBox="1"/>
          <p:nvPr/>
        </p:nvSpPr>
        <p:spPr>
          <a:xfrm>
            <a:off x="8686800" y="1295400"/>
            <a:ext cx="3124200" cy="349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Initially, the stack is empty, and then an item called </a:t>
            </a:r>
            <a:r>
              <a:rPr lang="en-US" sz="2400" b="1" i="0" dirty="0">
                <a:solidFill>
                  <a:srgbClr val="242021"/>
                </a:solidFill>
                <a:effectLst/>
                <a:latin typeface="LucidaSansTypewriterStd-Bd"/>
              </a:rPr>
              <a:t>a 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is pushed. </a:t>
            </a:r>
          </a:p>
          <a:p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Next, three more items called </a:t>
            </a:r>
            <a:r>
              <a:rPr lang="en-US" sz="2400" b="1" i="0" dirty="0">
                <a:solidFill>
                  <a:srgbClr val="242021"/>
                </a:solidFill>
                <a:effectLst/>
                <a:latin typeface="LucidaSansTypewriterStd-Bd"/>
              </a:rPr>
              <a:t>b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, </a:t>
            </a:r>
            <a:r>
              <a:rPr lang="en-US" sz="2400" b="1" i="0" dirty="0">
                <a:solidFill>
                  <a:srgbClr val="242021"/>
                </a:solidFill>
                <a:effectLst/>
                <a:latin typeface="LucidaSansTypewriterStd-Bd"/>
              </a:rPr>
              <a:t>c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, and </a:t>
            </a:r>
            <a:r>
              <a:rPr lang="en-US" sz="2400" b="1" i="0" dirty="0">
                <a:solidFill>
                  <a:srgbClr val="242021"/>
                </a:solidFill>
                <a:effectLst/>
                <a:latin typeface="LucidaSansTypewriterStd-Bd"/>
              </a:rPr>
              <a:t>d 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WarnockPro-Light"/>
              </a:rPr>
              <a:t>are pushed, after which the stack is popped, and so forth.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9711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Translating infix expressions to postfix form and evaluating postfix expressions. </a:t>
            </a:r>
          </a:p>
          <a:p>
            <a:r>
              <a:rPr lang="en-US" sz="2000" dirty="0"/>
              <a:t>Backtracking algorithms </a:t>
            </a:r>
          </a:p>
          <a:p>
            <a:r>
              <a:rPr lang="en-US" sz="2000" dirty="0"/>
              <a:t>Managing computer memory in support of function and method calls.</a:t>
            </a:r>
          </a:p>
          <a:p>
            <a:r>
              <a:rPr lang="en-US" sz="2000" dirty="0"/>
              <a:t>Supporting the undo feature in text editors, word processors, spreadsheet programs, drawing programs, and similar applications.</a:t>
            </a:r>
          </a:p>
          <a:p>
            <a:r>
              <a:rPr lang="en-US" sz="2000" dirty="0"/>
              <a:t>Maintaining a history of the links visited by a web browser</a:t>
            </a:r>
          </a:p>
          <a:p>
            <a:r>
              <a:rPr lang="en-US" sz="2000" dirty="0">
                <a:hlinkClick r:id="rId2"/>
              </a:rPr>
              <a:t>More: 3.02.Stacks.pptx (live.com)</a:t>
            </a:r>
            <a:r>
              <a:rPr lang="en-US" sz="20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43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38800" cy="4351338"/>
          </a:xfrm>
        </p:spPr>
        <p:txBody>
          <a:bodyPr/>
          <a:lstStyle/>
          <a:p>
            <a:r>
              <a:rPr lang="en-US" dirty="0"/>
              <a:t>The Stack Interface </a:t>
            </a:r>
          </a:p>
          <a:p>
            <a:pPr lvl="1"/>
            <a:r>
              <a:rPr lang="en-US" dirty="0"/>
              <a:t>push, pop, peek and other basic methods</a:t>
            </a:r>
          </a:p>
          <a:p>
            <a:pPr lvl="2"/>
            <a:r>
              <a:rPr lang="en-US" dirty="0"/>
              <a:t>peek = examine the top element but not pop</a:t>
            </a:r>
          </a:p>
          <a:p>
            <a:r>
              <a:rPr lang="en-US" dirty="0"/>
              <a:t>Instantiating a Stack</a:t>
            </a:r>
          </a:p>
          <a:p>
            <a:pPr lvl="1"/>
            <a:r>
              <a:rPr lang="en-US" dirty="0"/>
              <a:t>s1 = </a:t>
            </a:r>
            <a:r>
              <a:rPr lang="en-US" dirty="0" err="1"/>
              <a:t>ArrayStack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s2 = </a:t>
            </a:r>
            <a:r>
              <a:rPr lang="en-US" dirty="0" err="1"/>
              <a:t>LinkedStack</a:t>
            </a:r>
            <a:r>
              <a:rPr lang="en-US" dirty="0"/>
              <a:t>([20, 40, 60])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276260"/>
            <a:ext cx="42767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2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92" y="457200"/>
            <a:ext cx="6351074" cy="59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3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Matching Parentheses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if the bracketing symbols in expressions are balanced correctly.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971800"/>
            <a:ext cx="66865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80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Matching Parentheses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4351338"/>
          </a:xfrm>
        </p:spPr>
        <p:txBody>
          <a:bodyPr/>
          <a:lstStyle/>
          <a:p>
            <a:r>
              <a:rPr lang="en-US" sz="2000" dirty="0"/>
              <a:t>Parenthesis is balanced if we can find a right match for each (open) parenthesis</a:t>
            </a:r>
          </a:p>
          <a:p>
            <a:pPr lvl="1"/>
            <a:r>
              <a:rPr lang="en-US" sz="1800" dirty="0"/>
              <a:t>We maintain a collection of parentheses that have not found matchings yet</a:t>
            </a:r>
          </a:p>
          <a:p>
            <a:pPr lvl="1"/>
            <a:r>
              <a:rPr lang="en-US" sz="1800" dirty="0"/>
              <a:t>Traverse from left to right:</a:t>
            </a:r>
          </a:p>
          <a:p>
            <a:pPr lvl="2"/>
            <a:r>
              <a:rPr lang="en-US" sz="1800" dirty="0"/>
              <a:t>If the current bracket is an open bracket : </a:t>
            </a:r>
            <a:r>
              <a:rPr lang="en-US" sz="1800" dirty="0">
                <a:solidFill>
                  <a:srgbClr val="FF0000"/>
                </a:solidFill>
              </a:rPr>
              <a:t>push into the collection</a:t>
            </a:r>
          </a:p>
          <a:p>
            <a:pPr lvl="2"/>
            <a:r>
              <a:rPr lang="en-US" sz="1800" dirty="0"/>
              <a:t>If the current bracket is a close bracket: </a:t>
            </a:r>
            <a:r>
              <a:rPr lang="en-US" sz="1800" dirty="0">
                <a:solidFill>
                  <a:srgbClr val="FF0000"/>
                </a:solidFill>
              </a:rPr>
              <a:t>check</a:t>
            </a:r>
            <a:r>
              <a:rPr lang="en-US" sz="1800" dirty="0"/>
              <a:t> whether </a:t>
            </a:r>
            <a:r>
              <a:rPr lang="en-US" sz="1800" dirty="0">
                <a:solidFill>
                  <a:srgbClr val="FF0000"/>
                </a:solidFill>
              </a:rPr>
              <a:t>the newest open bracket</a:t>
            </a:r>
            <a:r>
              <a:rPr lang="en-US" sz="1800" dirty="0"/>
              <a:t> matches the current close bracket</a:t>
            </a:r>
          </a:p>
          <a:p>
            <a:pPr lvl="3"/>
            <a:r>
              <a:rPr lang="en-US" sz="1400" dirty="0">
                <a:solidFill>
                  <a:srgbClr val="FF0000"/>
                </a:solidFill>
              </a:rPr>
              <a:t>Remove/Pop if they are matching</a:t>
            </a:r>
          </a:p>
          <a:p>
            <a:pPr lvl="3"/>
            <a:r>
              <a:rPr lang="en-US" sz="1400" dirty="0"/>
              <a:t>Otherwise, declare unbalanced parenthesis</a:t>
            </a:r>
          </a:p>
          <a:p>
            <a:pPr lvl="1"/>
            <a:r>
              <a:rPr lang="en-US" sz="1800" dirty="0"/>
              <a:t>If the collection is not empty after checking every bracket: return unbalanced parenthesis (more open parenthesis than close open thesis) – otherwise, return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18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762000"/>
            <a:ext cx="6057900" cy="2181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2" y="2819400"/>
            <a:ext cx="65436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7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337" y="762000"/>
            <a:ext cx="5905500" cy="5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7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600200"/>
            <a:ext cx="7236004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applications of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/>
              <a:t>Arithmetic Expressions</a:t>
            </a:r>
          </a:p>
          <a:p>
            <a:pPr lvl="1"/>
            <a:r>
              <a:rPr lang="en-US"/>
              <a:t>We mention only this one in the lecture</a:t>
            </a:r>
            <a:endParaRPr lang="en-US" dirty="0"/>
          </a:p>
          <a:p>
            <a:r>
              <a:rPr lang="en-US"/>
              <a:t>Backtracking </a:t>
            </a:r>
            <a:endParaRPr lang="en-US" dirty="0"/>
          </a:p>
          <a:p>
            <a:r>
              <a:rPr lang="en-US"/>
              <a:t>Memory Management</a:t>
            </a:r>
          </a:p>
          <a:p>
            <a:pPr marL="0" indent="0">
              <a:buNone/>
            </a:pPr>
            <a:br>
              <a:rPr lang="en-US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7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Arithmetic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Infix expression: each operator is located between its operands, </a:t>
            </a:r>
          </a:p>
          <a:p>
            <a:r>
              <a:rPr lang="en-US" dirty="0"/>
              <a:t>Postfix expression: an operator immediately follows its operands. </a:t>
            </a:r>
          </a:p>
          <a:p>
            <a:r>
              <a:rPr lang="en-US" dirty="0"/>
              <a:t>People calculate infix expressions but computer calculates postfix expression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82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97" y="1676400"/>
            <a:ext cx="693352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Postfix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Evaluating a postfix expression involves three steps:</a:t>
            </a:r>
          </a:p>
          <a:p>
            <a:pPr lvl="1"/>
            <a:r>
              <a:rPr lang="en-US" dirty="0"/>
              <a:t>1. Scan across the expression from left to right.</a:t>
            </a:r>
          </a:p>
          <a:p>
            <a:pPr lvl="1"/>
            <a:r>
              <a:rPr lang="en-US" dirty="0"/>
              <a:t>2. On encountering an operator, apply it to the two preceding operands and replace all three by the result.</a:t>
            </a:r>
          </a:p>
          <a:p>
            <a:pPr lvl="1"/>
            <a:r>
              <a:rPr lang="en-US" dirty="0"/>
              <a:t>3. Continue scanning until you reach the expression’s end, at which point only the expression’s value remains. </a:t>
            </a:r>
          </a:p>
          <a:p>
            <a:r>
              <a:rPr lang="en-US" dirty="0"/>
              <a:t>Stack is suitable to store operands because activities in step 2 can be seen as two pops and one push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22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981200"/>
            <a:ext cx="6753225" cy="2504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31556" y="5020151"/>
            <a:ext cx="6481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Complexity: O(n) for postfix evaluation</a:t>
            </a:r>
          </a:p>
        </p:txBody>
      </p:sp>
    </p:spTree>
    <p:extLst>
      <p:ext uri="{BB962C8B-B14F-4D97-AF65-F5344CB8AC3E}">
        <p14:creationId xmlns:p14="http://schemas.microsoft.com/office/powerpoint/2010/main" val="18064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978728"/>
            <a:ext cx="8229600" cy="529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57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81200"/>
            <a:ext cx="7852663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72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351338"/>
          </a:xfrm>
        </p:spPr>
        <p:txBody>
          <a:bodyPr/>
          <a:lstStyle/>
          <a:p>
            <a:r>
              <a:rPr lang="en-US" sz="2000" dirty="0"/>
              <a:t>Steps</a:t>
            </a:r>
            <a:r>
              <a:rPr lang="en-US" sz="2800" dirty="0"/>
              <a:t>:</a:t>
            </a:r>
          </a:p>
          <a:p>
            <a:pPr lvl="1"/>
            <a:r>
              <a:rPr lang="en-US" sz="1600" dirty="0"/>
              <a:t>1. Start with an empty postfix expression and an empty stack, which will hold operators and left parentheses.</a:t>
            </a:r>
          </a:p>
          <a:p>
            <a:pPr lvl="1"/>
            <a:r>
              <a:rPr lang="en-US" sz="1600" dirty="0"/>
              <a:t>2. Scan across the infix expression from left to right.</a:t>
            </a:r>
          </a:p>
          <a:p>
            <a:pPr lvl="1"/>
            <a:r>
              <a:rPr lang="en-US" sz="1600" dirty="0"/>
              <a:t>3. On encountering an operand, append it to the postfix expression.</a:t>
            </a:r>
          </a:p>
          <a:p>
            <a:pPr lvl="1"/>
            <a:r>
              <a:rPr lang="en-US" sz="1600" dirty="0"/>
              <a:t>4. On encountering a left parenthesis, push it onto the stack.</a:t>
            </a:r>
          </a:p>
          <a:p>
            <a:pPr lvl="1"/>
            <a:r>
              <a:rPr lang="en-US" sz="1600" dirty="0"/>
              <a:t>5. On encountering an operator, pop off the stack all operators that have equal or higher precedence, append them to the postfix expression, and then push the scanned operator onto the stack.</a:t>
            </a:r>
          </a:p>
          <a:p>
            <a:pPr lvl="1"/>
            <a:r>
              <a:rPr lang="en-US" sz="1600" dirty="0"/>
              <a:t>6. On encountering a right parenthesis, shift operators from the stack to the postfix expression until meeting the matching left parenthesis, which is discarded.</a:t>
            </a:r>
          </a:p>
          <a:p>
            <a:pPr lvl="1"/>
            <a:r>
              <a:rPr lang="en-US" sz="1600" dirty="0"/>
              <a:t>7. On encountering the end of the infix expression, transfer the remaining operators from the stack to the postfix expression.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378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988769"/>
            <a:ext cx="6858000" cy="488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12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533400"/>
            <a:ext cx="6344891" cy="581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75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33600"/>
            <a:ext cx="8657147" cy="32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5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Implementations of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Stacks are implemented easily using arrays or linked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0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141" y="166815"/>
            <a:ext cx="5114060" cy="608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15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462" y="4351529"/>
            <a:ext cx="4577938" cy="212547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362201"/>
            <a:ext cx="4279152" cy="1781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662" y="1401523"/>
            <a:ext cx="4882738" cy="296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06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726" y="2881324"/>
            <a:ext cx="4848950" cy="114563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2543"/>
            <a:ext cx="4419600" cy="488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52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0240"/>
            <a:ext cx="4567699" cy="17272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96" y="3307521"/>
            <a:ext cx="5247904" cy="24382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54" y="4728743"/>
            <a:ext cx="4201746" cy="17531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854" y="699400"/>
            <a:ext cx="4430346" cy="396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23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54" y="1905000"/>
            <a:ext cx="8561805" cy="28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02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1" y="835391"/>
            <a:ext cx="6096000" cy="48157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70" y="1219200"/>
            <a:ext cx="5534025" cy="36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02147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16936</TotalTime>
  <Words>1043</Words>
  <Application>Microsoft Office PowerPoint</Application>
  <PresentationFormat>Widescreen</PresentationFormat>
  <Paragraphs>173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ＭＳ Ｐゴシック</vt:lpstr>
      <vt:lpstr>Arial</vt:lpstr>
      <vt:lpstr>Calibri</vt:lpstr>
      <vt:lpstr>Courier New</vt:lpstr>
      <vt:lpstr>LucidaSansTypewriterStd-Bd</vt:lpstr>
      <vt:lpstr>Monotype Sorts</vt:lpstr>
      <vt:lpstr>Times New Roman</vt:lpstr>
      <vt:lpstr>WarnockPro-Light</vt:lpstr>
      <vt:lpstr>Wingdings</vt:lpstr>
      <vt:lpstr>Vicostone Template</vt:lpstr>
      <vt:lpstr>Database Systems:  Design, Implementation, and Management 14th Edition</vt:lpstr>
      <vt:lpstr>National Economics University Faculty of Data Science &amp; Artificial Intelligence</vt:lpstr>
      <vt:lpstr>Learning Objectives</vt:lpstr>
      <vt:lpstr>Overview of Stacks</vt:lpstr>
      <vt:lpstr>PowerPoint Presentation</vt:lpstr>
      <vt:lpstr>Some applications</vt:lpstr>
      <vt:lpstr>Using a Stack</vt:lpstr>
      <vt:lpstr>PowerPoint Presentation</vt:lpstr>
      <vt:lpstr>Example Application: Matching Parentheses</vt:lpstr>
      <vt:lpstr>Example Application: Matching Parentheses</vt:lpstr>
      <vt:lpstr>PowerPoint Presentation</vt:lpstr>
      <vt:lpstr>PowerPoint Presentation</vt:lpstr>
      <vt:lpstr>PowerPoint Presentation</vt:lpstr>
      <vt:lpstr>Three applications of Stacks</vt:lpstr>
      <vt:lpstr>Evaluating Arithmetic Expressions</vt:lpstr>
      <vt:lpstr>PowerPoint Presentation</vt:lpstr>
      <vt:lpstr>Evaluating Postfix Expressions</vt:lpstr>
      <vt:lpstr>PowerPoint Presentation</vt:lpstr>
      <vt:lpstr>PowerPoint Presentation</vt:lpstr>
      <vt:lpstr>PowerPoint Presentation</vt:lpstr>
      <vt:lpstr>Converting Infix to Postfix</vt:lpstr>
      <vt:lpstr>PowerPoint Presentation</vt:lpstr>
      <vt:lpstr>PowerPoint Presentation</vt:lpstr>
      <vt:lpstr>PowerPoint Presentation</vt:lpstr>
      <vt:lpstr>Implementations of Stacks</vt:lpstr>
      <vt:lpstr>PowerPoint Presentation</vt:lpstr>
      <vt:lpstr>Array Implementation</vt:lpstr>
      <vt:lpstr>Linked Implementation</vt:lpstr>
      <vt:lpstr>Linked Implementation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294</cp:revision>
  <cp:lastPrinted>2024-12-19T14:45:58Z</cp:lastPrinted>
  <dcterms:created xsi:type="dcterms:W3CDTF">2009-10-12T20:16:00Z</dcterms:created>
  <dcterms:modified xsi:type="dcterms:W3CDTF">2024-12-19T14:48:45Z</dcterms:modified>
</cp:coreProperties>
</file>