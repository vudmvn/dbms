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8" r:id="rId1"/>
  </p:sldMasterIdLst>
  <p:notesMasterIdLst>
    <p:notesMasterId r:id="rId71"/>
  </p:notesMasterIdLst>
  <p:handoutMasterIdLst>
    <p:handoutMasterId r:id="rId72"/>
  </p:handoutMasterIdLst>
  <p:sldIdLst>
    <p:sldId id="392" r:id="rId2"/>
    <p:sldId id="462" r:id="rId3"/>
    <p:sldId id="393" r:id="rId4"/>
    <p:sldId id="394" r:id="rId5"/>
    <p:sldId id="395" r:id="rId6"/>
    <p:sldId id="396" r:id="rId7"/>
    <p:sldId id="397" r:id="rId8"/>
    <p:sldId id="398" r:id="rId9"/>
    <p:sldId id="399" r:id="rId10"/>
    <p:sldId id="400" r:id="rId11"/>
    <p:sldId id="401" r:id="rId12"/>
    <p:sldId id="402" r:id="rId13"/>
    <p:sldId id="404" r:id="rId14"/>
    <p:sldId id="405" r:id="rId15"/>
    <p:sldId id="408" r:id="rId16"/>
    <p:sldId id="403" r:id="rId17"/>
    <p:sldId id="407" r:id="rId18"/>
    <p:sldId id="417" r:id="rId19"/>
    <p:sldId id="409" r:id="rId20"/>
    <p:sldId id="411" r:id="rId21"/>
    <p:sldId id="410" r:id="rId22"/>
    <p:sldId id="412" r:id="rId23"/>
    <p:sldId id="414" r:id="rId24"/>
    <p:sldId id="415" r:id="rId25"/>
    <p:sldId id="416" r:id="rId26"/>
    <p:sldId id="418" r:id="rId27"/>
    <p:sldId id="419" r:id="rId28"/>
    <p:sldId id="420" r:id="rId29"/>
    <p:sldId id="421" r:id="rId30"/>
    <p:sldId id="425" r:id="rId31"/>
    <p:sldId id="422" r:id="rId32"/>
    <p:sldId id="423" r:id="rId33"/>
    <p:sldId id="424" r:id="rId34"/>
    <p:sldId id="426" r:id="rId35"/>
    <p:sldId id="427" r:id="rId36"/>
    <p:sldId id="428" r:id="rId37"/>
    <p:sldId id="429" r:id="rId38"/>
    <p:sldId id="430" r:id="rId39"/>
    <p:sldId id="431" r:id="rId40"/>
    <p:sldId id="432" r:id="rId41"/>
    <p:sldId id="434" r:id="rId42"/>
    <p:sldId id="433" r:id="rId43"/>
    <p:sldId id="435" r:id="rId44"/>
    <p:sldId id="439" r:id="rId45"/>
    <p:sldId id="440" r:id="rId46"/>
    <p:sldId id="441" r:id="rId47"/>
    <p:sldId id="443" r:id="rId48"/>
    <p:sldId id="442" r:id="rId49"/>
    <p:sldId id="444" r:id="rId50"/>
    <p:sldId id="445" r:id="rId51"/>
    <p:sldId id="446" r:id="rId52"/>
    <p:sldId id="447" r:id="rId53"/>
    <p:sldId id="448" r:id="rId54"/>
    <p:sldId id="449" r:id="rId55"/>
    <p:sldId id="450" r:id="rId56"/>
    <p:sldId id="451" r:id="rId57"/>
    <p:sldId id="452" r:id="rId58"/>
    <p:sldId id="453" r:id="rId59"/>
    <p:sldId id="454" r:id="rId60"/>
    <p:sldId id="455" r:id="rId61"/>
    <p:sldId id="456" r:id="rId62"/>
    <p:sldId id="457" r:id="rId63"/>
    <p:sldId id="436" r:id="rId64"/>
    <p:sldId id="437" r:id="rId65"/>
    <p:sldId id="438" r:id="rId66"/>
    <p:sldId id="458" r:id="rId67"/>
    <p:sldId id="459" r:id="rId68"/>
    <p:sldId id="460" r:id="rId69"/>
    <p:sldId id="461" r:id="rId70"/>
  </p:sldIdLst>
  <p:sldSz cx="12192000" cy="6858000"/>
  <p:notesSz cx="6858000" cy="9144000"/>
  <p:defaultTextStyle>
    <a:defPPr>
      <a:defRPr lang="en-US"/>
    </a:defPPr>
    <a:lvl1pPr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22222"/>
    <a:srgbClr val="FFFFFF"/>
    <a:srgbClr val="18B2B6"/>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60" autoAdjust="0"/>
  </p:normalViewPr>
  <p:slideViewPr>
    <p:cSldViewPr>
      <p:cViewPr varScale="1">
        <p:scale>
          <a:sx n="105" d="100"/>
          <a:sy n="105" d="100"/>
        </p:scale>
        <p:origin x="798" y="96"/>
      </p:cViewPr>
      <p:guideLst>
        <p:guide orient="horz" pos="2160"/>
        <p:guide pos="3840"/>
      </p:guideLst>
    </p:cSldViewPr>
  </p:slideViewPr>
  <p:outlineViewPr>
    <p:cViewPr>
      <p:scale>
        <a:sx n="33" d="100"/>
        <a:sy n="33" d="100"/>
      </p:scale>
      <p:origin x="0" y="-272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84" d="100"/>
          <a:sy n="84" d="100"/>
        </p:scale>
        <p:origin x="3912"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a:extLst>
              <a:ext uri="{FF2B5EF4-FFF2-40B4-BE49-F238E27FC236}">
                <a16:creationId xmlns:a16="http://schemas.microsoft.com/office/drawing/2014/main" id="{1E0CD608-9C48-CFFC-091C-1EB0A50DD52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122883" name="Rectangle 3">
            <a:extLst>
              <a:ext uri="{FF2B5EF4-FFF2-40B4-BE49-F238E27FC236}">
                <a16:creationId xmlns:a16="http://schemas.microsoft.com/office/drawing/2014/main" id="{40A79EA3-0E2A-9BC8-92DE-DE60AD7ACB2C}"/>
              </a:ext>
            </a:extLst>
          </p:cNvPr>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pitchFamily="18" charset="0"/>
                <a:ea typeface="+mn-ea"/>
              </a:defRPr>
            </a:lvl1pPr>
          </a:lstStyle>
          <a:p>
            <a:pPr>
              <a:defRPr/>
            </a:pPr>
            <a:endParaRPr lang="en-US"/>
          </a:p>
        </p:txBody>
      </p:sp>
      <p:sp>
        <p:nvSpPr>
          <p:cNvPr id="122884" name="Rectangle 4">
            <a:extLst>
              <a:ext uri="{FF2B5EF4-FFF2-40B4-BE49-F238E27FC236}">
                <a16:creationId xmlns:a16="http://schemas.microsoft.com/office/drawing/2014/main" id="{FDF3F9D9-6B1E-F3FB-1EE2-507A2BF53520}"/>
              </a:ext>
            </a:extLst>
          </p:cNvPr>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122885" name="Rectangle 5">
            <a:extLst>
              <a:ext uri="{FF2B5EF4-FFF2-40B4-BE49-F238E27FC236}">
                <a16:creationId xmlns:a16="http://schemas.microsoft.com/office/drawing/2014/main" id="{C807B6BD-FE77-FDDF-E76E-F014CE394467}"/>
              </a:ext>
            </a:extLst>
          </p:cNvPr>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FAC33DE4-4784-45D4-BD47-64193262C564}"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4514" name="Rectangle 2">
            <a:extLst>
              <a:ext uri="{FF2B5EF4-FFF2-40B4-BE49-F238E27FC236}">
                <a16:creationId xmlns:a16="http://schemas.microsoft.com/office/drawing/2014/main" id="{609328F3-5DC5-1B4F-AC31-7F7B3EBD074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64515" name="Rectangle 3">
            <a:extLst>
              <a:ext uri="{FF2B5EF4-FFF2-40B4-BE49-F238E27FC236}">
                <a16:creationId xmlns:a16="http://schemas.microsoft.com/office/drawing/2014/main" id="{0C90B5EC-E3BF-D965-C636-268E0CF481C1}"/>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Times New Roman" pitchFamily="18" charset="0"/>
                <a:ea typeface="+mn-ea"/>
              </a:defRPr>
            </a:lvl1pPr>
          </a:lstStyle>
          <a:p>
            <a:pPr>
              <a:defRPr/>
            </a:pPr>
            <a:endParaRPr lang="en-US"/>
          </a:p>
        </p:txBody>
      </p:sp>
      <p:sp>
        <p:nvSpPr>
          <p:cNvPr id="13316" name="Rectangle 4">
            <a:extLst>
              <a:ext uri="{FF2B5EF4-FFF2-40B4-BE49-F238E27FC236}">
                <a16:creationId xmlns:a16="http://schemas.microsoft.com/office/drawing/2014/main" id="{4F7C882E-B38E-4AF0-3755-55D00B742B16}"/>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7" name="Rectangle 5">
            <a:extLst>
              <a:ext uri="{FF2B5EF4-FFF2-40B4-BE49-F238E27FC236}">
                <a16:creationId xmlns:a16="http://schemas.microsoft.com/office/drawing/2014/main" id="{25345C98-55FA-262F-4EBB-C287BE5D3111}"/>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4518" name="Rectangle 6">
            <a:extLst>
              <a:ext uri="{FF2B5EF4-FFF2-40B4-BE49-F238E27FC236}">
                <a16:creationId xmlns:a16="http://schemas.microsoft.com/office/drawing/2014/main" id="{7644B954-D13F-DFA1-B30A-F36EC7DE0E54}"/>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Times New Roman" pitchFamily="18" charset="0"/>
                <a:ea typeface="+mn-ea"/>
              </a:defRPr>
            </a:lvl1pPr>
          </a:lstStyle>
          <a:p>
            <a:pPr>
              <a:defRPr/>
            </a:pPr>
            <a:endParaRPr lang="en-US"/>
          </a:p>
        </p:txBody>
      </p:sp>
      <p:sp>
        <p:nvSpPr>
          <p:cNvPr id="64519" name="Rectangle 7">
            <a:extLst>
              <a:ext uri="{FF2B5EF4-FFF2-40B4-BE49-F238E27FC236}">
                <a16:creationId xmlns:a16="http://schemas.microsoft.com/office/drawing/2014/main" id="{2E0066C6-C608-29FA-EB14-B3E0F66870F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imes New Roman" panose="02020603050405020304" pitchFamily="18" charset="0"/>
              </a:defRPr>
            </a:lvl1pPr>
          </a:lstStyle>
          <a:p>
            <a:pPr>
              <a:defRPr/>
            </a:pPr>
            <a:fld id="{94FC1F20-5EAB-41FB-B210-370B9C2C46B1}"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pitchFamily="34"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599F73F7-2B99-BEC6-CE62-E002191078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6DD6BCF7-8E9F-41C5-A608-0D41664076BA}" type="slidenum">
              <a:rPr lang="en-US" altLang="en-US" sz="1200" smtClean="0">
                <a:latin typeface="Times New Roman" panose="02020603050405020304" pitchFamily="18" charset="0"/>
              </a:rPr>
              <a:pPr/>
              <a:t>1</a:t>
            </a:fld>
            <a:endParaRPr lang="en-US" altLang="en-US" sz="1200">
              <a:latin typeface="Times New Roman" panose="02020603050405020304" pitchFamily="18" charset="0"/>
            </a:endParaRPr>
          </a:p>
        </p:txBody>
      </p:sp>
      <p:sp>
        <p:nvSpPr>
          <p:cNvPr id="19459" name="Rectangle 2">
            <a:extLst>
              <a:ext uri="{FF2B5EF4-FFF2-40B4-BE49-F238E27FC236}">
                <a16:creationId xmlns:a16="http://schemas.microsoft.com/office/drawing/2014/main" id="{8A82C24E-40D0-0AA6-6604-71E8A34BF24B}"/>
              </a:ext>
            </a:extLst>
          </p:cNvPr>
          <p:cNvSpPr>
            <a:spLocks noGrp="1" noRot="1" noChangeAspect="1" noChangeArrowheads="1" noTextEdit="1"/>
          </p:cNvSpPr>
          <p:nvPr>
            <p:ph type="sldImg"/>
          </p:nvPr>
        </p:nvSpPr>
        <p:spPr>
          <a:ln/>
        </p:spPr>
      </p:sp>
      <p:sp>
        <p:nvSpPr>
          <p:cNvPr id="19460" name="Rectangle 3">
            <a:extLst>
              <a:ext uri="{FF2B5EF4-FFF2-40B4-BE49-F238E27FC236}">
                <a16:creationId xmlns:a16="http://schemas.microsoft.com/office/drawing/2014/main" id="{2AEAAEAB-07EC-3E8B-79E7-643BBF98414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CA" altLang="en-US"/>
          </a:p>
        </p:txBody>
      </p:sp>
    </p:spTree>
    <p:extLst>
      <p:ext uri="{BB962C8B-B14F-4D97-AF65-F5344CB8AC3E}">
        <p14:creationId xmlns:p14="http://schemas.microsoft.com/office/powerpoint/2010/main" val="12259666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964BB1-7357-BCBC-C333-4CA5E7116E2E}"/>
              </a:ext>
            </a:extLst>
          </p:cNvPr>
          <p:cNvSpPr/>
          <p:nvPr userDrawn="1"/>
        </p:nvSpPr>
        <p:spPr>
          <a:xfrm>
            <a:off x="0" y="0"/>
            <a:ext cx="12192000" cy="6486525"/>
          </a:xfrm>
          <a:prstGeom prst="rect">
            <a:avLst/>
          </a:prstGeom>
          <a:solidFill>
            <a:srgbClr val="223771"/>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741219" y="3243264"/>
            <a:ext cx="10515600" cy="1325563"/>
          </a:xfrm>
          <a:prstGeom prst="rect">
            <a:avLst/>
          </a:prstGeom>
        </p:spPr>
        <p:txBody>
          <a:bodyPr/>
          <a:lstStyle>
            <a:lvl1pPr>
              <a:defRPr>
                <a:solidFill>
                  <a:schemeClr val="bg1"/>
                </a:solidFill>
              </a:defRPr>
            </a:lvl1pPr>
          </a:lstStyle>
          <a:p>
            <a:r>
              <a:rPr lang="en-US"/>
              <a:t>Click to edit Master title style</a:t>
            </a:r>
            <a:endParaRPr lang="en-VN"/>
          </a:p>
        </p:txBody>
      </p:sp>
      <p:sp>
        <p:nvSpPr>
          <p:cNvPr id="3" name="Date Placeholder 7">
            <a:extLst>
              <a:ext uri="{FF2B5EF4-FFF2-40B4-BE49-F238E27FC236}">
                <a16:creationId xmlns:a16="http://schemas.microsoft.com/office/drawing/2014/main" id="{EFE6BCEB-9D04-0A31-13FD-E54A7886E959}"/>
              </a:ext>
            </a:extLst>
          </p:cNvPr>
          <p:cNvSpPr>
            <a:spLocks noGrp="1"/>
          </p:cNvSpPr>
          <p:nvPr>
            <p:ph type="dt" sz="half" idx="10"/>
          </p:nvPr>
        </p:nvSpPr>
        <p:spPr>
          <a:xfrm>
            <a:off x="0" y="6538913"/>
            <a:ext cx="2743200" cy="365125"/>
          </a:xfrm>
        </p:spPr>
        <p:txBody>
          <a:bodyPr/>
          <a:lstStyle>
            <a:lvl1pPr>
              <a:defRPr smtClean="0"/>
            </a:lvl1pPr>
          </a:lstStyle>
          <a:p>
            <a:pPr>
              <a:defRPr/>
            </a:pPr>
            <a:fld id="{04BF734D-FA21-46CC-B337-08991588F7D2}" type="datetime1">
              <a:rPr lang="en-US"/>
              <a:pPr>
                <a:defRPr/>
              </a:pPr>
              <a:t>12/19/2024</a:t>
            </a:fld>
            <a:endParaRPr lang="en-US"/>
          </a:p>
        </p:txBody>
      </p:sp>
      <p:sp>
        <p:nvSpPr>
          <p:cNvPr id="4" name="Slide Number Placeholder 11">
            <a:extLst>
              <a:ext uri="{FF2B5EF4-FFF2-40B4-BE49-F238E27FC236}">
                <a16:creationId xmlns:a16="http://schemas.microsoft.com/office/drawing/2014/main" id="{21C2B440-578D-B562-B0A6-B54BDB743A02}"/>
              </a:ext>
            </a:extLst>
          </p:cNvPr>
          <p:cNvSpPr>
            <a:spLocks noGrp="1"/>
          </p:cNvSpPr>
          <p:nvPr>
            <p:ph type="sldNum" sz="quarter" idx="11"/>
          </p:nvPr>
        </p:nvSpPr>
        <p:spPr>
          <a:xfrm>
            <a:off x="9448800" y="6538913"/>
            <a:ext cx="2743200" cy="365125"/>
          </a:xfrm>
        </p:spPr>
        <p:txBody>
          <a:bodyPr/>
          <a:lstStyle>
            <a:lvl1pPr>
              <a:defRPr>
                <a:solidFill>
                  <a:prstClr val="white"/>
                </a:solidFill>
              </a:defRPr>
            </a:lvl1pPr>
          </a:lstStyle>
          <a:p>
            <a:pPr>
              <a:defRPr/>
            </a:pPr>
            <a:fld id="{775A0816-9807-4CA3-A3C5-68577B5C9559}" type="slidenum">
              <a:rPr lang="en-US"/>
              <a:pPr>
                <a:defRPr/>
              </a:pPr>
              <a:t>‹#›</a:t>
            </a:fld>
            <a:endParaRPr lang="en-US"/>
          </a:p>
        </p:txBody>
      </p:sp>
      <p:sp>
        <p:nvSpPr>
          <p:cNvPr id="5" name="Rectangle 3">
            <a:extLst>
              <a:ext uri="{FF2B5EF4-FFF2-40B4-BE49-F238E27FC236}">
                <a16:creationId xmlns:a16="http://schemas.microsoft.com/office/drawing/2014/main" id="{AABBDFAC-3ABC-7AF1-C80F-B9A80EC5DAE2}"/>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33009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41A55295-5DC2-C569-6312-199AFA24EE07}"/>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13" name="Title 1"/>
          <p:cNvSpPr>
            <a:spLocks noGrp="1"/>
          </p:cNvSpPr>
          <p:nvPr>
            <p:ph type="title"/>
          </p:nvPr>
        </p:nvSpPr>
        <p:spPr>
          <a:xfrm>
            <a:off x="482252" y="277962"/>
            <a:ext cx="7928429"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7729624-F3B5-070E-14EF-70CC1B484925}"/>
              </a:ext>
            </a:extLst>
          </p:cNvPr>
          <p:cNvSpPr>
            <a:spLocks noGrp="1"/>
          </p:cNvSpPr>
          <p:nvPr>
            <p:ph type="dt" sz="half" idx="10"/>
          </p:nvPr>
        </p:nvSpPr>
        <p:spPr>
          <a:xfrm>
            <a:off x="0" y="6580188"/>
            <a:ext cx="2743200" cy="277812"/>
          </a:xfrm>
        </p:spPr>
        <p:txBody>
          <a:bodyPr/>
          <a:lstStyle>
            <a:lvl1pPr>
              <a:defRPr smtClean="0"/>
            </a:lvl1pPr>
          </a:lstStyle>
          <a:p>
            <a:pPr>
              <a:defRPr/>
            </a:pPr>
            <a:fld id="{619230D7-F585-4615-8690-EE47007A6E78}" type="datetime1">
              <a:rPr lang="en-US"/>
              <a:pPr>
                <a:defRPr/>
              </a:pPr>
              <a:t>12/19/2024</a:t>
            </a:fld>
            <a:endParaRPr lang="en-US"/>
          </a:p>
        </p:txBody>
      </p:sp>
      <p:sp>
        <p:nvSpPr>
          <p:cNvPr id="5" name="Slide Number Placeholder 5">
            <a:extLst>
              <a:ext uri="{FF2B5EF4-FFF2-40B4-BE49-F238E27FC236}">
                <a16:creationId xmlns:a16="http://schemas.microsoft.com/office/drawing/2014/main" id="{C685519A-3558-75C9-7D9D-2CD34FE8601A}"/>
              </a:ext>
            </a:extLst>
          </p:cNvPr>
          <p:cNvSpPr>
            <a:spLocks noGrp="1"/>
          </p:cNvSpPr>
          <p:nvPr>
            <p:ph type="sldNum" sz="quarter" idx="11"/>
          </p:nvPr>
        </p:nvSpPr>
        <p:spPr>
          <a:xfrm>
            <a:off x="9412288" y="6623050"/>
            <a:ext cx="2743200" cy="234950"/>
          </a:xfrm>
        </p:spPr>
        <p:txBody>
          <a:bodyPr/>
          <a:lstStyle>
            <a:lvl1pPr>
              <a:defRPr/>
            </a:lvl1pPr>
          </a:lstStyle>
          <a:p>
            <a:pPr>
              <a:defRPr/>
            </a:pPr>
            <a:fld id="{3668E2E4-C289-40FA-803B-52DC86338CE3}" type="slidenum">
              <a:rPr lang="en-US"/>
              <a:pPr>
                <a:defRPr/>
              </a:pPr>
              <a:t>‹#›</a:t>
            </a:fld>
            <a:endParaRPr lang="en-US"/>
          </a:p>
        </p:txBody>
      </p:sp>
      <p:sp>
        <p:nvSpPr>
          <p:cNvPr id="6" name="Rectangle 3">
            <a:extLst>
              <a:ext uri="{FF2B5EF4-FFF2-40B4-BE49-F238E27FC236}">
                <a16:creationId xmlns:a16="http://schemas.microsoft.com/office/drawing/2014/main" id="{3678CD4D-49EF-4866-C3F2-B2A61D010B34}"/>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8165872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E98A4D7-51AA-2B15-3D26-501BAE3FD3F8}"/>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7" name="Title 6"/>
          <p:cNvSpPr>
            <a:spLocks noGrp="1"/>
          </p:cNvSpPr>
          <p:nvPr>
            <p:ph type="title"/>
          </p:nvPr>
        </p:nvSpPr>
        <p:spPr>
          <a:xfrm>
            <a:off x="487476" y="2949386"/>
            <a:ext cx="10515600" cy="1325563"/>
          </a:xfrm>
          <a:prstGeom prst="rect">
            <a:avLst/>
          </a:prstGeom>
        </p:spPr>
        <p:txBody>
          <a:bodyPr/>
          <a:lstStyle>
            <a:lvl1pPr>
              <a:defRPr sz="4500">
                <a:solidFill>
                  <a:schemeClr val="accent5"/>
                </a:solidFill>
              </a:defRPr>
            </a:lvl1pPr>
          </a:lstStyle>
          <a:p>
            <a:r>
              <a:rPr lang="en-US" dirty="0"/>
              <a:t>Click to edit Master title style</a:t>
            </a:r>
            <a:endParaRPr lang="en-VN" dirty="0"/>
          </a:p>
        </p:txBody>
      </p:sp>
      <p:sp>
        <p:nvSpPr>
          <p:cNvPr id="4" name="Date Placeholder 3">
            <a:extLst>
              <a:ext uri="{FF2B5EF4-FFF2-40B4-BE49-F238E27FC236}">
                <a16:creationId xmlns:a16="http://schemas.microsoft.com/office/drawing/2014/main" id="{AC24508C-232F-8AA0-F1C6-36CFF9ACCA6D}"/>
              </a:ext>
            </a:extLst>
          </p:cNvPr>
          <p:cNvSpPr>
            <a:spLocks noGrp="1"/>
          </p:cNvSpPr>
          <p:nvPr>
            <p:ph type="dt" sz="half" idx="10"/>
          </p:nvPr>
        </p:nvSpPr>
        <p:spPr>
          <a:xfrm>
            <a:off x="0" y="6592888"/>
            <a:ext cx="2743200" cy="268287"/>
          </a:xfrm>
        </p:spPr>
        <p:txBody>
          <a:bodyPr/>
          <a:lstStyle>
            <a:lvl1pPr>
              <a:defRPr smtClean="0"/>
            </a:lvl1pPr>
          </a:lstStyle>
          <a:p>
            <a:pPr>
              <a:defRPr/>
            </a:pPr>
            <a:fld id="{7F53EECD-5EF2-4F97-996E-6CBAC1BF3011}" type="datetime1">
              <a:rPr lang="en-US"/>
              <a:pPr>
                <a:defRPr/>
              </a:pPr>
              <a:t>12/19/2024</a:t>
            </a:fld>
            <a:endParaRPr lang="en-US"/>
          </a:p>
        </p:txBody>
      </p:sp>
      <p:sp>
        <p:nvSpPr>
          <p:cNvPr id="5" name="Slide Number Placeholder 5">
            <a:extLst>
              <a:ext uri="{FF2B5EF4-FFF2-40B4-BE49-F238E27FC236}">
                <a16:creationId xmlns:a16="http://schemas.microsoft.com/office/drawing/2014/main" id="{5E118D7B-5BE4-D162-C63C-02493336AEA7}"/>
              </a:ext>
            </a:extLst>
          </p:cNvPr>
          <p:cNvSpPr>
            <a:spLocks noGrp="1"/>
          </p:cNvSpPr>
          <p:nvPr>
            <p:ph type="sldNum" sz="quarter" idx="11"/>
          </p:nvPr>
        </p:nvSpPr>
        <p:spPr>
          <a:xfrm>
            <a:off x="9366250" y="6589713"/>
            <a:ext cx="2743200" cy="314325"/>
          </a:xfrm>
        </p:spPr>
        <p:txBody>
          <a:bodyPr/>
          <a:lstStyle>
            <a:lvl1pPr>
              <a:defRPr/>
            </a:lvl1pPr>
          </a:lstStyle>
          <a:p>
            <a:pPr>
              <a:defRPr/>
            </a:pPr>
            <a:fld id="{F9126DDB-45DE-4D72-94FB-1E2D565E80AF}" type="slidenum">
              <a:rPr lang="en-US"/>
              <a:pPr>
                <a:defRPr/>
              </a:pPr>
              <a:t>‹#›</a:t>
            </a:fld>
            <a:endParaRPr lang="en-US"/>
          </a:p>
        </p:txBody>
      </p:sp>
      <p:sp>
        <p:nvSpPr>
          <p:cNvPr id="6" name="Rectangle 3">
            <a:extLst>
              <a:ext uri="{FF2B5EF4-FFF2-40B4-BE49-F238E27FC236}">
                <a16:creationId xmlns:a16="http://schemas.microsoft.com/office/drawing/2014/main" id="{38007CFB-2610-ACA1-B2EA-E3DDAC766C94}"/>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9193060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858F73B4-3EA4-F35A-3D60-2923D5658ED7}"/>
              </a:ext>
            </a:extLst>
          </p:cNvPr>
          <p:cNvSpPr/>
          <p:nvPr userDrawn="1"/>
        </p:nvSpPr>
        <p:spPr>
          <a:xfrm>
            <a:off x="311261"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12" name="Title 1"/>
          <p:cNvSpPr>
            <a:spLocks noGrp="1"/>
          </p:cNvSpPr>
          <p:nvPr>
            <p:ph type="title"/>
          </p:nvPr>
        </p:nvSpPr>
        <p:spPr>
          <a:xfrm>
            <a:off x="340858" y="243491"/>
            <a:ext cx="8061101" cy="553289"/>
          </a:xfrm>
          <a:prstGeom prst="rect">
            <a:avLst/>
          </a:prstGeom>
        </p:spPr>
        <p:txBody>
          <a:bodyPr>
            <a:normAutofit/>
          </a:bodyPr>
          <a:lstStyle>
            <a:lvl1pPr>
              <a:defRPr sz="2475" b="1" baseline="0">
                <a:solidFill>
                  <a:srgbClr val="223771"/>
                </a:solidFill>
              </a:defRPr>
            </a:lvl1pPr>
          </a:lstStyle>
          <a:p>
            <a:r>
              <a:rPr lang="en-US"/>
              <a:t>Click to edit Master title style</a:t>
            </a:r>
          </a:p>
        </p:txBody>
      </p:sp>
      <p:sp>
        <p:nvSpPr>
          <p:cNvPr id="13" name="Content Placeholder 12"/>
          <p:cNvSpPr>
            <a:spLocks noGrp="1"/>
          </p:cNvSpPr>
          <p:nvPr>
            <p:ph sz="quarter" idx="13"/>
          </p:nvPr>
        </p:nvSpPr>
        <p:spPr>
          <a:xfrm>
            <a:off x="309220" y="1169082"/>
            <a:ext cx="11551617" cy="495413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4" name="Date Placeholder 3">
            <a:extLst>
              <a:ext uri="{FF2B5EF4-FFF2-40B4-BE49-F238E27FC236}">
                <a16:creationId xmlns:a16="http://schemas.microsoft.com/office/drawing/2014/main" id="{925778A0-1739-29FF-2284-D0326B623CD9}"/>
              </a:ext>
            </a:extLst>
          </p:cNvPr>
          <p:cNvSpPr>
            <a:spLocks noGrp="1"/>
          </p:cNvSpPr>
          <p:nvPr>
            <p:ph type="dt" sz="half" idx="14"/>
          </p:nvPr>
        </p:nvSpPr>
        <p:spPr/>
        <p:txBody>
          <a:bodyPr/>
          <a:lstStyle>
            <a:lvl1pPr>
              <a:defRPr smtClean="0"/>
            </a:lvl1pPr>
          </a:lstStyle>
          <a:p>
            <a:pPr>
              <a:defRPr/>
            </a:pPr>
            <a:fld id="{2953D200-00AA-42A7-802D-F180C1D57E6B}" type="datetime1">
              <a:rPr lang="en-US"/>
              <a:pPr>
                <a:defRPr/>
              </a:pPr>
              <a:t>12/19/2024</a:t>
            </a:fld>
            <a:endParaRPr lang="en-US"/>
          </a:p>
        </p:txBody>
      </p:sp>
      <p:sp>
        <p:nvSpPr>
          <p:cNvPr id="5" name="Slide Number Placeholder 5">
            <a:extLst>
              <a:ext uri="{FF2B5EF4-FFF2-40B4-BE49-F238E27FC236}">
                <a16:creationId xmlns:a16="http://schemas.microsoft.com/office/drawing/2014/main" id="{BDC1F769-2EA0-3B74-8A9C-9BD515A3FA5A}"/>
              </a:ext>
            </a:extLst>
          </p:cNvPr>
          <p:cNvSpPr>
            <a:spLocks noGrp="1"/>
          </p:cNvSpPr>
          <p:nvPr>
            <p:ph type="sldNum" sz="quarter" idx="15"/>
          </p:nvPr>
        </p:nvSpPr>
        <p:spPr>
          <a:xfrm>
            <a:off x="9421813" y="6600825"/>
            <a:ext cx="2743200" cy="274638"/>
          </a:xfrm>
        </p:spPr>
        <p:txBody>
          <a:bodyPr/>
          <a:lstStyle>
            <a:lvl1pPr>
              <a:defRPr/>
            </a:lvl1pPr>
          </a:lstStyle>
          <a:p>
            <a:pPr>
              <a:defRPr/>
            </a:pPr>
            <a:fld id="{BC9EDAA9-37F3-4614-95D5-5B7FFAB71D04}" type="slidenum">
              <a:rPr lang="en-US"/>
              <a:pPr>
                <a:defRPr/>
              </a:pPr>
              <a:t>‹#›</a:t>
            </a:fld>
            <a:endParaRPr lang="en-US"/>
          </a:p>
        </p:txBody>
      </p:sp>
      <p:sp>
        <p:nvSpPr>
          <p:cNvPr id="6" name="Rectangle 3">
            <a:extLst>
              <a:ext uri="{FF2B5EF4-FFF2-40B4-BE49-F238E27FC236}">
                <a16:creationId xmlns:a16="http://schemas.microsoft.com/office/drawing/2014/main" id="{2EB4D491-05E9-53AB-E987-C6383C7B7C83}"/>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621713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263686" y="2846231"/>
            <a:ext cx="4417452" cy="1460428"/>
          </a:xfrm>
          <a:prstGeom prst="rect">
            <a:avLst/>
          </a:prstGeom>
        </p:spPr>
        <p:txBody>
          <a:bodyPr anchor="b">
            <a:normAutofit/>
          </a:bodyPr>
          <a:lstStyle>
            <a:lvl1pPr algn="r">
              <a:defRPr sz="4200" b="1" baseline="0">
                <a:solidFill>
                  <a:srgbClr val="223771"/>
                </a:solidFill>
                <a:latin typeface="Arial" panose="020B0604020202020204" pitchFamily="34" charset="0"/>
                <a:cs typeface="Arial" panose="020B0604020202020204" pitchFamily="34" charset="0"/>
              </a:defRPr>
            </a:lvl1pPr>
          </a:lstStyle>
          <a:p>
            <a:r>
              <a:rPr lang="en-US"/>
              <a:t>Click to edit Master title style</a:t>
            </a:r>
          </a:p>
        </p:txBody>
      </p:sp>
      <p:sp>
        <p:nvSpPr>
          <p:cNvPr id="3" name="Subtitle 2"/>
          <p:cNvSpPr>
            <a:spLocks noGrp="1"/>
          </p:cNvSpPr>
          <p:nvPr>
            <p:ph type="subTitle" idx="1"/>
          </p:nvPr>
        </p:nvSpPr>
        <p:spPr>
          <a:xfrm>
            <a:off x="7263686" y="4429523"/>
            <a:ext cx="4417452" cy="750072"/>
          </a:xfrm>
          <a:prstGeom prst="rect">
            <a:avLst/>
          </a:prstGeom>
        </p:spPr>
        <p:txBody>
          <a:bodyPr/>
          <a:lstStyle>
            <a:lvl1pPr marL="0" indent="0" algn="r">
              <a:buNone/>
              <a:defRPr sz="1800" baseline="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1" name="Content Placeholder 2"/>
          <p:cNvSpPr>
            <a:spLocks noGrp="1"/>
          </p:cNvSpPr>
          <p:nvPr>
            <p:ph idx="13"/>
          </p:nvPr>
        </p:nvSpPr>
        <p:spPr>
          <a:xfrm>
            <a:off x="1" y="862151"/>
            <a:ext cx="7096259" cy="5631943"/>
          </a:xfrm>
          <a:prstGeom prst="rect">
            <a:avLst/>
          </a:prstGeom>
        </p:spPr>
        <p:txBody>
          <a:bodyPr/>
          <a:lstStyle>
            <a:lvl1pPr marL="0" indent="0">
              <a:buNone/>
              <a:defRPr baseline="0"/>
            </a:lvl1pPr>
          </a:lstStyle>
          <a:p>
            <a:pPr lvl="0"/>
            <a:r>
              <a:rPr lang="en-US"/>
              <a:t>Click to edit Master text styles</a:t>
            </a:r>
          </a:p>
        </p:txBody>
      </p:sp>
      <p:sp>
        <p:nvSpPr>
          <p:cNvPr id="5" name="Date Placeholder 3">
            <a:extLst>
              <a:ext uri="{FF2B5EF4-FFF2-40B4-BE49-F238E27FC236}">
                <a16:creationId xmlns:a16="http://schemas.microsoft.com/office/drawing/2014/main" id="{F1888363-DACF-4CD3-2499-6E28B3D6969D}"/>
              </a:ext>
            </a:extLst>
          </p:cNvPr>
          <p:cNvSpPr>
            <a:spLocks noGrp="1"/>
          </p:cNvSpPr>
          <p:nvPr>
            <p:ph type="dt" sz="half" idx="14"/>
          </p:nvPr>
        </p:nvSpPr>
        <p:spPr/>
        <p:txBody>
          <a:bodyPr/>
          <a:lstStyle>
            <a:lvl1pPr>
              <a:defRPr smtClean="0"/>
            </a:lvl1pPr>
          </a:lstStyle>
          <a:p>
            <a:pPr>
              <a:defRPr/>
            </a:pPr>
            <a:fld id="{7A147622-DF6C-4AD4-B05B-A94F62E38A86}" type="datetime1">
              <a:rPr lang="en-US"/>
              <a:pPr>
                <a:defRPr/>
              </a:pPr>
              <a:t>12/19/2024</a:t>
            </a:fld>
            <a:endParaRPr lang="en-US"/>
          </a:p>
        </p:txBody>
      </p:sp>
      <p:sp>
        <p:nvSpPr>
          <p:cNvPr id="6" name="Footer Placeholder 4">
            <a:extLst>
              <a:ext uri="{FF2B5EF4-FFF2-40B4-BE49-F238E27FC236}">
                <a16:creationId xmlns:a16="http://schemas.microsoft.com/office/drawing/2014/main" id="{32A37517-8DD7-EEA6-F2E6-49FC8CC73AB6}"/>
              </a:ext>
            </a:extLst>
          </p:cNvPr>
          <p:cNvSpPr>
            <a:spLocks noGrp="1"/>
          </p:cNvSpPr>
          <p:nvPr>
            <p:ph type="ftr" sz="quarter" idx="15"/>
          </p:nvPr>
        </p:nvSpPr>
        <p:spPr>
          <a:xfrm>
            <a:off x="3871913" y="6604000"/>
            <a:ext cx="4114800" cy="254000"/>
          </a:xfrm>
        </p:spPr>
        <p:txBody>
          <a:bodyPr/>
          <a:lstStyle>
            <a:lvl1pPr defTabSz="342900" eaLnBrk="1" fontAlgn="auto" hangingPunct="1">
              <a:spcBef>
                <a:spcPts val="0"/>
              </a:spcBef>
              <a:spcAft>
                <a:spcPts val="0"/>
              </a:spcAft>
              <a:defRPr>
                <a:solidFill>
                  <a:prstClr val="white"/>
                </a:solidFill>
                <a:latin typeface="Calibri" panose="020F0502020204030204"/>
                <a:ea typeface="+mn-ea"/>
              </a:defRPr>
            </a:lvl1pPr>
          </a:lstStyle>
          <a:p>
            <a:pPr>
              <a:defRPr/>
            </a:pPr>
            <a:r>
              <a:rPr lang="en-US"/>
              <a:t>Database System Design, Implementation And Management </a:t>
            </a:r>
          </a:p>
        </p:txBody>
      </p:sp>
      <p:sp>
        <p:nvSpPr>
          <p:cNvPr id="7" name="Slide Number Placeholder 5">
            <a:extLst>
              <a:ext uri="{FF2B5EF4-FFF2-40B4-BE49-F238E27FC236}">
                <a16:creationId xmlns:a16="http://schemas.microsoft.com/office/drawing/2014/main" id="{9E06BDF5-0E4B-7D5D-4DE0-26F369F0EB12}"/>
              </a:ext>
            </a:extLst>
          </p:cNvPr>
          <p:cNvSpPr>
            <a:spLocks noGrp="1"/>
          </p:cNvSpPr>
          <p:nvPr>
            <p:ph type="sldNum" sz="quarter" idx="16"/>
          </p:nvPr>
        </p:nvSpPr>
        <p:spPr/>
        <p:txBody>
          <a:bodyPr/>
          <a:lstStyle>
            <a:lvl1pPr>
              <a:defRPr/>
            </a:lvl1pPr>
          </a:lstStyle>
          <a:p>
            <a:pPr>
              <a:defRPr/>
            </a:pPr>
            <a:fld id="{4FC3DE7D-4EEA-43B2-9617-70FD3CFD639D}" type="slidenum">
              <a:rPr lang="en-US"/>
              <a:pPr>
                <a:defRPr/>
              </a:pPr>
              <a:t>‹#›</a:t>
            </a:fld>
            <a:endParaRPr lang="en-US"/>
          </a:p>
        </p:txBody>
      </p:sp>
    </p:spTree>
    <p:extLst>
      <p:ext uri="{BB962C8B-B14F-4D97-AF65-F5344CB8AC3E}">
        <p14:creationId xmlns:p14="http://schemas.microsoft.com/office/powerpoint/2010/main" val="16830506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4" name="Freeform 13">
            <a:extLst>
              <a:ext uri="{FF2B5EF4-FFF2-40B4-BE49-F238E27FC236}">
                <a16:creationId xmlns:a16="http://schemas.microsoft.com/office/drawing/2014/main" id="{397F7F79-C88E-7534-6D6C-7E21232DD335}"/>
              </a:ext>
            </a:extLst>
          </p:cNvPr>
          <p:cNvSpPr/>
          <p:nvPr userDrawn="1"/>
        </p:nvSpPr>
        <p:spPr>
          <a:xfrm>
            <a:off x="392907" y="235206"/>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831851" y="1709740"/>
            <a:ext cx="10515600" cy="2852737"/>
          </a:xfrm>
          <a:prstGeom prst="rect">
            <a:avLst/>
          </a:prstGeo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831851" y="4589465"/>
            <a:ext cx="10515600" cy="1500187"/>
          </a:xfrm>
          <a:prstGeom prst="rect">
            <a:avLst/>
          </a:prstGeo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16" name="Content Placeholder 15"/>
          <p:cNvSpPr>
            <a:spLocks noGrp="1"/>
          </p:cNvSpPr>
          <p:nvPr>
            <p:ph sz="quarter" idx="13"/>
          </p:nvPr>
        </p:nvSpPr>
        <p:spPr>
          <a:xfrm>
            <a:off x="392906" y="278800"/>
            <a:ext cx="5813199" cy="457200"/>
          </a:xfrm>
          <a:prstGeom prst="rect">
            <a:avLst/>
          </a:prstGeom>
        </p:spPr>
        <p:txBody>
          <a:bodyPr/>
          <a:lstStyle>
            <a:lvl1pPr>
              <a:defRPr lang="en-VN" sz="2475" b="1" baseline="0" dirty="0">
                <a:solidFill>
                  <a:srgbClr val="223771"/>
                </a:solidFill>
                <a:ea typeface="+mj-ea"/>
              </a:defRPr>
            </a:lvl1pPr>
          </a:lstStyle>
          <a:p>
            <a:pPr lvl="0"/>
            <a:r>
              <a:rPr lang="en-US"/>
              <a:t>Click to edit Master text styles</a:t>
            </a:r>
          </a:p>
        </p:txBody>
      </p:sp>
      <p:sp>
        <p:nvSpPr>
          <p:cNvPr id="6" name="Date Placeholder 3">
            <a:extLst>
              <a:ext uri="{FF2B5EF4-FFF2-40B4-BE49-F238E27FC236}">
                <a16:creationId xmlns:a16="http://schemas.microsoft.com/office/drawing/2014/main" id="{7E8D8520-2EEF-7DFE-992F-B17199C9D3A9}"/>
              </a:ext>
            </a:extLst>
          </p:cNvPr>
          <p:cNvSpPr>
            <a:spLocks noGrp="1"/>
          </p:cNvSpPr>
          <p:nvPr>
            <p:ph type="dt" sz="half" idx="14"/>
          </p:nvPr>
        </p:nvSpPr>
        <p:spPr/>
        <p:txBody>
          <a:bodyPr/>
          <a:lstStyle>
            <a:lvl1pPr>
              <a:defRPr smtClean="0"/>
            </a:lvl1pPr>
          </a:lstStyle>
          <a:p>
            <a:pPr>
              <a:defRPr/>
            </a:pPr>
            <a:fld id="{591607DA-A9BC-4664-80C0-A8EF5A98972C}" type="datetime1">
              <a:rPr lang="en-US"/>
              <a:pPr>
                <a:defRPr/>
              </a:pPr>
              <a:t>12/19/2024</a:t>
            </a:fld>
            <a:endParaRPr lang="en-US"/>
          </a:p>
        </p:txBody>
      </p:sp>
      <p:sp>
        <p:nvSpPr>
          <p:cNvPr id="7" name="Slide Number Placeholder 5">
            <a:extLst>
              <a:ext uri="{FF2B5EF4-FFF2-40B4-BE49-F238E27FC236}">
                <a16:creationId xmlns:a16="http://schemas.microsoft.com/office/drawing/2014/main" id="{B86DAE71-5E4C-AD44-94BB-40E3E9BE3B2A}"/>
              </a:ext>
            </a:extLst>
          </p:cNvPr>
          <p:cNvSpPr>
            <a:spLocks noGrp="1"/>
          </p:cNvSpPr>
          <p:nvPr>
            <p:ph type="sldNum" sz="quarter" idx="15"/>
          </p:nvPr>
        </p:nvSpPr>
        <p:spPr/>
        <p:txBody>
          <a:bodyPr/>
          <a:lstStyle>
            <a:lvl1pPr>
              <a:defRPr/>
            </a:lvl1pPr>
          </a:lstStyle>
          <a:p>
            <a:pPr>
              <a:defRPr/>
            </a:pPr>
            <a:fld id="{B9B03C63-2273-46E4-B7DF-3CCA315B6CB6}" type="slidenum">
              <a:rPr lang="en-US"/>
              <a:pPr>
                <a:defRPr/>
              </a:pPr>
              <a:t>‹#›</a:t>
            </a:fld>
            <a:endParaRPr lang="en-US"/>
          </a:p>
        </p:txBody>
      </p:sp>
      <p:sp>
        <p:nvSpPr>
          <p:cNvPr id="8" name="Rectangle 3">
            <a:extLst>
              <a:ext uri="{FF2B5EF4-FFF2-40B4-BE49-F238E27FC236}">
                <a16:creationId xmlns:a16="http://schemas.microsoft.com/office/drawing/2014/main" id="{474D9259-758C-E063-00D3-B9F2238CDAAB}"/>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810392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6" name="Freeform 13">
            <a:extLst>
              <a:ext uri="{FF2B5EF4-FFF2-40B4-BE49-F238E27FC236}">
                <a16:creationId xmlns:a16="http://schemas.microsoft.com/office/drawing/2014/main" id="{E54F1EF8-213B-FF64-8429-F8F6501B5178}"/>
              </a:ext>
            </a:extLst>
          </p:cNvPr>
          <p:cNvSpPr/>
          <p:nvPr userDrawn="1"/>
        </p:nvSpPr>
        <p:spPr>
          <a:xfrm>
            <a:off x="701899" y="515148"/>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a:xfrm>
            <a:off x="701900" y="351789"/>
            <a:ext cx="8061101" cy="922762"/>
          </a:xfrm>
          <a:prstGeom prst="rect">
            <a:avLst/>
          </a:prstGeom>
        </p:spPr>
        <p:txBody>
          <a:bodyPr>
            <a:normAutofit/>
          </a:bodyPr>
          <a:lstStyle>
            <a:lvl1pPr>
              <a:defRPr sz="2250" b="1">
                <a:solidFill>
                  <a:srgbClr val="223771"/>
                </a:solidFill>
              </a:defRPr>
            </a:lvl1pPr>
          </a:lstStyle>
          <a:p>
            <a:r>
              <a:rPr lang="en-US"/>
              <a:t>Click to edit Master title style</a:t>
            </a:r>
          </a:p>
        </p:txBody>
      </p:sp>
      <p:sp>
        <p:nvSpPr>
          <p:cNvPr id="3" name="Content Placeholder 2"/>
          <p:cNvSpPr>
            <a:spLocks noGrp="1"/>
          </p:cNvSpPr>
          <p:nvPr>
            <p:ph sz="half" idx="1"/>
          </p:nvPr>
        </p:nvSpPr>
        <p:spPr>
          <a:xfrm>
            <a:off x="701899" y="1639781"/>
            <a:ext cx="3336703"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11711"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3"/>
          <p:cNvSpPr>
            <a:spLocks noGrp="1"/>
          </p:cNvSpPr>
          <p:nvPr>
            <p:ph sz="half" idx="13"/>
          </p:nvPr>
        </p:nvSpPr>
        <p:spPr>
          <a:xfrm>
            <a:off x="8426539" y="1639781"/>
            <a:ext cx="3331872"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4">
            <a:extLst>
              <a:ext uri="{FF2B5EF4-FFF2-40B4-BE49-F238E27FC236}">
                <a16:creationId xmlns:a16="http://schemas.microsoft.com/office/drawing/2014/main" id="{9E9E4F77-455A-34FF-7394-C19D63B430BC}"/>
              </a:ext>
            </a:extLst>
          </p:cNvPr>
          <p:cNvSpPr>
            <a:spLocks noGrp="1"/>
          </p:cNvSpPr>
          <p:nvPr>
            <p:ph type="dt" sz="half" idx="14"/>
          </p:nvPr>
        </p:nvSpPr>
        <p:spPr/>
        <p:txBody>
          <a:bodyPr/>
          <a:lstStyle>
            <a:lvl1pPr>
              <a:defRPr smtClean="0"/>
            </a:lvl1pPr>
          </a:lstStyle>
          <a:p>
            <a:pPr>
              <a:defRPr/>
            </a:pPr>
            <a:fld id="{C90A3BB5-049D-4035-BBD7-C54E04C91C61}" type="datetime1">
              <a:rPr lang="en-US"/>
              <a:pPr>
                <a:defRPr/>
              </a:pPr>
              <a:t>12/19/2024</a:t>
            </a:fld>
            <a:endParaRPr lang="en-US"/>
          </a:p>
        </p:txBody>
      </p:sp>
      <p:sp>
        <p:nvSpPr>
          <p:cNvPr id="8" name="Slide Number Placeholder 6">
            <a:extLst>
              <a:ext uri="{FF2B5EF4-FFF2-40B4-BE49-F238E27FC236}">
                <a16:creationId xmlns:a16="http://schemas.microsoft.com/office/drawing/2014/main" id="{7A7C627D-779A-8D83-E2C4-C40DC84F78DD}"/>
              </a:ext>
            </a:extLst>
          </p:cNvPr>
          <p:cNvSpPr>
            <a:spLocks noGrp="1"/>
          </p:cNvSpPr>
          <p:nvPr>
            <p:ph type="sldNum" sz="quarter" idx="15"/>
          </p:nvPr>
        </p:nvSpPr>
        <p:spPr/>
        <p:txBody>
          <a:bodyPr/>
          <a:lstStyle>
            <a:lvl1pPr>
              <a:defRPr/>
            </a:lvl1pPr>
          </a:lstStyle>
          <a:p>
            <a:pPr>
              <a:defRPr/>
            </a:pPr>
            <a:fld id="{FE967A2B-7DC3-460F-82C1-37366D5A5F1B}" type="slidenum">
              <a:rPr lang="en-US"/>
              <a:pPr>
                <a:defRPr/>
              </a:pPr>
              <a:t>‹#›</a:t>
            </a:fld>
            <a:endParaRPr lang="en-US"/>
          </a:p>
        </p:txBody>
      </p:sp>
      <p:sp>
        <p:nvSpPr>
          <p:cNvPr id="10" name="Rectangle 3">
            <a:extLst>
              <a:ext uri="{FF2B5EF4-FFF2-40B4-BE49-F238E27FC236}">
                <a16:creationId xmlns:a16="http://schemas.microsoft.com/office/drawing/2014/main" id="{2E03B860-9F7C-2731-9CAC-7601DE48A514}"/>
              </a:ext>
            </a:extLst>
          </p:cNvPr>
          <p:cNvSpPr>
            <a:spLocks noGrp="1" noChangeArrowheads="1"/>
          </p:cNvSpPr>
          <p:nvPr>
            <p:ph type="ftr" sz="quarter" idx="16"/>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265462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Date Placeholder 1">
            <a:extLst>
              <a:ext uri="{FF2B5EF4-FFF2-40B4-BE49-F238E27FC236}">
                <a16:creationId xmlns:a16="http://schemas.microsoft.com/office/drawing/2014/main" id="{3916733C-FBD8-62DA-599D-9BAE44D832F0}"/>
              </a:ext>
            </a:extLst>
          </p:cNvPr>
          <p:cNvSpPr>
            <a:spLocks noGrp="1"/>
          </p:cNvSpPr>
          <p:nvPr>
            <p:ph type="dt" sz="half" idx="10"/>
          </p:nvPr>
        </p:nvSpPr>
        <p:spPr/>
        <p:txBody>
          <a:bodyPr/>
          <a:lstStyle>
            <a:lvl1pPr>
              <a:defRPr smtClean="0"/>
            </a:lvl1pPr>
          </a:lstStyle>
          <a:p>
            <a:pPr>
              <a:defRPr/>
            </a:pPr>
            <a:fld id="{0135270F-5CE6-4EF5-9A71-BDCE233B4E76}" type="datetime1">
              <a:rPr lang="en-US"/>
              <a:pPr>
                <a:defRPr/>
              </a:pPr>
              <a:t>12/19/2024</a:t>
            </a:fld>
            <a:endParaRPr lang="en-US"/>
          </a:p>
        </p:txBody>
      </p:sp>
      <p:sp>
        <p:nvSpPr>
          <p:cNvPr id="4" name="Slide Number Placeholder 3">
            <a:extLst>
              <a:ext uri="{FF2B5EF4-FFF2-40B4-BE49-F238E27FC236}">
                <a16:creationId xmlns:a16="http://schemas.microsoft.com/office/drawing/2014/main" id="{ADA71387-83EF-1FFD-724E-49A6E970C5CC}"/>
              </a:ext>
            </a:extLst>
          </p:cNvPr>
          <p:cNvSpPr>
            <a:spLocks noGrp="1"/>
          </p:cNvSpPr>
          <p:nvPr>
            <p:ph type="sldNum" sz="quarter" idx="11"/>
          </p:nvPr>
        </p:nvSpPr>
        <p:spPr/>
        <p:txBody>
          <a:bodyPr/>
          <a:lstStyle>
            <a:lvl1pPr>
              <a:defRPr/>
            </a:lvl1pPr>
          </a:lstStyle>
          <a:p>
            <a:pPr>
              <a:defRPr/>
            </a:pPr>
            <a:fld id="{D1AD3536-327C-4937-83AF-A64971CFA6D9}" type="slidenum">
              <a:rPr lang="en-US"/>
              <a:pPr>
                <a:defRPr/>
              </a:pPr>
              <a:t>‹#›</a:t>
            </a:fld>
            <a:endParaRPr lang="en-US"/>
          </a:p>
        </p:txBody>
      </p:sp>
      <p:sp>
        <p:nvSpPr>
          <p:cNvPr id="5" name="Rectangle 3">
            <a:extLst>
              <a:ext uri="{FF2B5EF4-FFF2-40B4-BE49-F238E27FC236}">
                <a16:creationId xmlns:a16="http://schemas.microsoft.com/office/drawing/2014/main" id="{82812D8D-EA8D-1B75-F994-BA3986DCE525}"/>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1600669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4" name="Title 1"/>
          <p:cNvSpPr>
            <a:spLocks noGrp="1"/>
          </p:cNvSpPr>
          <p:nvPr>
            <p:ph type="title"/>
          </p:nvPr>
        </p:nvSpPr>
        <p:spPr>
          <a:xfrm>
            <a:off x="741484" y="785428"/>
            <a:ext cx="8061101" cy="553289"/>
          </a:xfrm>
          <a:prstGeom prst="rect">
            <a:avLst/>
          </a:prstGeom>
        </p:spPr>
        <p:txBody>
          <a:bodyPr>
            <a:normAutofit/>
          </a:bodyPr>
          <a:lstStyle>
            <a:lvl1pPr>
              <a:defRPr sz="1875" b="1" baseline="0">
                <a:solidFill>
                  <a:srgbClr val="223771"/>
                </a:solidFill>
              </a:defRPr>
            </a:lvl1pPr>
          </a:lstStyle>
          <a:p>
            <a:r>
              <a:rPr lang="en-US"/>
              <a:t>Click to edit Master title style</a:t>
            </a:r>
            <a:endParaRPr lang="en-US" dirty="0"/>
          </a:p>
        </p:txBody>
      </p:sp>
      <p:sp>
        <p:nvSpPr>
          <p:cNvPr id="3" name="Date Placeholder 3">
            <a:extLst>
              <a:ext uri="{FF2B5EF4-FFF2-40B4-BE49-F238E27FC236}">
                <a16:creationId xmlns:a16="http://schemas.microsoft.com/office/drawing/2014/main" id="{95DDBC1F-BF9C-7B51-59FB-F19B6984EB64}"/>
              </a:ext>
            </a:extLst>
          </p:cNvPr>
          <p:cNvSpPr>
            <a:spLocks noGrp="1"/>
          </p:cNvSpPr>
          <p:nvPr>
            <p:ph type="dt" sz="half" idx="10"/>
          </p:nvPr>
        </p:nvSpPr>
        <p:spPr/>
        <p:txBody>
          <a:bodyPr/>
          <a:lstStyle>
            <a:lvl1pPr>
              <a:defRPr smtClean="0"/>
            </a:lvl1pPr>
          </a:lstStyle>
          <a:p>
            <a:pPr>
              <a:defRPr/>
            </a:pPr>
            <a:fld id="{42F541BA-B8B3-45BF-9568-D96FA3A28EA4}" type="datetime1">
              <a:rPr lang="en-US"/>
              <a:pPr>
                <a:defRPr/>
              </a:pPr>
              <a:t>12/19/2024</a:t>
            </a:fld>
            <a:endParaRPr lang="en-US"/>
          </a:p>
        </p:txBody>
      </p:sp>
      <p:sp>
        <p:nvSpPr>
          <p:cNvPr id="4" name="Slide Number Placeholder 5">
            <a:extLst>
              <a:ext uri="{FF2B5EF4-FFF2-40B4-BE49-F238E27FC236}">
                <a16:creationId xmlns:a16="http://schemas.microsoft.com/office/drawing/2014/main" id="{F3C17964-6658-65D0-C4E0-286261C6CE64}"/>
              </a:ext>
            </a:extLst>
          </p:cNvPr>
          <p:cNvSpPr>
            <a:spLocks noGrp="1"/>
          </p:cNvSpPr>
          <p:nvPr>
            <p:ph type="sldNum" sz="quarter" idx="11"/>
          </p:nvPr>
        </p:nvSpPr>
        <p:spPr/>
        <p:txBody>
          <a:bodyPr/>
          <a:lstStyle>
            <a:lvl1pPr>
              <a:defRPr/>
            </a:lvl1pPr>
          </a:lstStyle>
          <a:p>
            <a:pPr>
              <a:defRPr/>
            </a:pPr>
            <a:fld id="{2BE77ECF-F060-4D46-A3D9-128B9B0DFB4A}" type="slidenum">
              <a:rPr lang="en-US"/>
              <a:pPr>
                <a:defRPr/>
              </a:pPr>
              <a:t>‹#›</a:t>
            </a:fld>
            <a:endParaRPr lang="en-US"/>
          </a:p>
        </p:txBody>
      </p:sp>
      <p:sp>
        <p:nvSpPr>
          <p:cNvPr id="5" name="Rectangle 3">
            <a:extLst>
              <a:ext uri="{FF2B5EF4-FFF2-40B4-BE49-F238E27FC236}">
                <a16:creationId xmlns:a16="http://schemas.microsoft.com/office/drawing/2014/main" id="{C83511F7-1E66-04C0-64CE-2CA8940B2D71}"/>
              </a:ext>
            </a:extLst>
          </p:cNvPr>
          <p:cNvSpPr>
            <a:spLocks noGrp="1" noChangeArrowheads="1"/>
          </p:cNvSpPr>
          <p:nvPr>
            <p:ph type="ftr" sz="quarter" idx="12"/>
          </p:nvPr>
        </p:nvSpPr>
        <p:spPr/>
        <p:txBody>
          <a:bodyPr/>
          <a:lstStyle>
            <a:lvl1pPr>
              <a:defRPr/>
            </a:lvl1pPr>
          </a:lstStyle>
          <a:p>
            <a:pPr>
              <a:defRPr/>
            </a:pPr>
            <a:r>
              <a:rPr lang="en-US"/>
              <a:t>Database System Design, Implementation And Management </a:t>
            </a:r>
          </a:p>
        </p:txBody>
      </p:sp>
    </p:spTree>
    <p:extLst>
      <p:ext uri="{BB962C8B-B14F-4D97-AF65-F5344CB8AC3E}">
        <p14:creationId xmlns:p14="http://schemas.microsoft.com/office/powerpoint/2010/main" val="34848380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5" name="Freeform 13">
            <a:extLst>
              <a:ext uri="{FF2B5EF4-FFF2-40B4-BE49-F238E27FC236}">
                <a16:creationId xmlns:a16="http://schemas.microsoft.com/office/drawing/2014/main" id="{AB79923C-0D24-F53B-D9C9-FA068E03CBFF}"/>
              </a:ext>
            </a:extLst>
          </p:cNvPr>
          <p:cNvSpPr/>
          <p:nvPr userDrawn="1"/>
        </p:nvSpPr>
        <p:spPr>
          <a:xfrm>
            <a:off x="851140" y="711200"/>
            <a:ext cx="1750219" cy="596044"/>
          </a:xfrm>
          <a:custGeom>
            <a:avLst/>
            <a:gdLst>
              <a:gd name="connsiteX0" fmla="*/ 471488 w 1750219"/>
              <a:gd name="connsiteY0" fmla="*/ 0 h 721518"/>
              <a:gd name="connsiteX1" fmla="*/ 0 w 1750219"/>
              <a:gd name="connsiteY1" fmla="*/ 0 h 721518"/>
              <a:gd name="connsiteX2" fmla="*/ 0 w 1750219"/>
              <a:gd name="connsiteY2" fmla="*/ 721518 h 721518"/>
              <a:gd name="connsiteX3" fmla="*/ 1750219 w 1750219"/>
              <a:gd name="connsiteY3" fmla="*/ 721518 h 721518"/>
            </a:gdLst>
            <a:ahLst/>
            <a:cxnLst>
              <a:cxn ang="0">
                <a:pos x="connsiteX0" y="connsiteY0"/>
              </a:cxn>
              <a:cxn ang="0">
                <a:pos x="connsiteX1" y="connsiteY1"/>
              </a:cxn>
              <a:cxn ang="0">
                <a:pos x="connsiteX2" y="connsiteY2"/>
              </a:cxn>
              <a:cxn ang="0">
                <a:pos x="connsiteX3" y="connsiteY3"/>
              </a:cxn>
            </a:cxnLst>
            <a:rect l="l" t="t" r="r" b="b"/>
            <a:pathLst>
              <a:path w="1750219" h="721518">
                <a:moveTo>
                  <a:pt x="471488" y="0"/>
                </a:moveTo>
                <a:lnTo>
                  <a:pt x="0" y="0"/>
                </a:lnTo>
                <a:lnTo>
                  <a:pt x="0" y="721518"/>
                </a:lnTo>
                <a:lnTo>
                  <a:pt x="1750219" y="721518"/>
                </a:lnTo>
              </a:path>
            </a:pathLst>
          </a:custGeom>
          <a:noFill/>
          <a:ln w="57150" cmpd="thickThin">
            <a:solidFill>
              <a:srgbClr val="223771"/>
            </a:solidFill>
          </a:ln>
          <a:scene3d>
            <a:camera prst="orthographicFront"/>
            <a:lightRig rig="threePt" dir="t"/>
          </a:scene3d>
          <a:sp3d>
            <a:bevelB/>
            <a:contourClr>
              <a:srgbClr val="000000"/>
            </a:contourClr>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171450" indent="-171450">
              <a:lnSpc>
                <a:spcPct val="150000"/>
              </a:lnSpc>
              <a:buClr>
                <a:schemeClr val="accent2"/>
              </a:buClr>
              <a:buFont typeface="Wingdings" panose="05000000000000000000" pitchFamily="2" charset="2"/>
              <a:buChar char="q"/>
              <a:defRPr>
                <a:latin typeface="NewCaledoniaLTStd"/>
              </a:defRPr>
            </a:lvl1pPr>
            <a:lvl2pPr marL="514350" indent="-171450">
              <a:lnSpc>
                <a:spcPct val="150000"/>
              </a:lnSpc>
              <a:buClr>
                <a:schemeClr val="accent2"/>
              </a:buClr>
              <a:buFont typeface="Wingdings" panose="05000000000000000000" pitchFamily="2" charset="2"/>
              <a:buChar char="Ø"/>
              <a:defRPr>
                <a:latin typeface="NewCaledoniaLTStd"/>
              </a:defRPr>
            </a:lvl2pPr>
            <a:lvl3pPr marL="857250" indent="-171450">
              <a:lnSpc>
                <a:spcPct val="150000"/>
              </a:lnSpc>
              <a:buClr>
                <a:schemeClr val="accent2"/>
              </a:buClr>
              <a:buFont typeface="Wingdings" panose="05000000000000000000" pitchFamily="2" charset="2"/>
              <a:buChar char="ü"/>
              <a:defRPr>
                <a:latin typeface="NewCaledoniaLTStd"/>
              </a:defRPr>
            </a:lvl3pPr>
            <a:lvl4pPr marL="1200150" indent="-171450">
              <a:lnSpc>
                <a:spcPct val="150000"/>
              </a:lnSpc>
              <a:buClr>
                <a:schemeClr val="accent2"/>
              </a:buClr>
              <a:buFont typeface="Courier New" panose="02070309020205020404" pitchFamily="49" charset="0"/>
              <a:buChar char="o"/>
              <a:defRPr>
                <a:latin typeface="NewCaledoniaLTStd"/>
              </a:defRPr>
            </a:lvl4pPr>
            <a:lvl5pPr marL="1543050" indent="-171450">
              <a:lnSpc>
                <a:spcPct val="150000"/>
              </a:lnSpc>
              <a:buClr>
                <a:schemeClr val="accent2"/>
              </a:buClr>
              <a:buFont typeface="Arial" panose="020B0604020202020204" pitchFamily="34" charset="0"/>
              <a:buChar char="•"/>
              <a:defRPr>
                <a:latin typeface="NewCaledoniaLTStd"/>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Rectangle 8">
            <a:extLst>
              <a:ext uri="{FF2B5EF4-FFF2-40B4-BE49-F238E27FC236}">
                <a16:creationId xmlns:a16="http://schemas.microsoft.com/office/drawing/2014/main" id="{6123AFBE-2234-186F-5F0C-22D156916CE5}"/>
              </a:ext>
            </a:extLst>
          </p:cNvPr>
          <p:cNvSpPr>
            <a:spLocks noGrp="1" noChangeArrowheads="1"/>
          </p:cNvSpPr>
          <p:nvPr>
            <p:ph type="sldNum" sz="quarter" idx="10"/>
          </p:nvPr>
        </p:nvSpPr>
        <p:spPr/>
        <p:txBody>
          <a:bodyPr/>
          <a:lstStyle>
            <a:lvl1pPr defTabSz="914400" eaLnBrk="0" fontAlgn="base" hangingPunct="0">
              <a:spcBef>
                <a:spcPct val="0"/>
              </a:spcBef>
              <a:spcAft>
                <a:spcPct val="0"/>
              </a:spcAft>
              <a:defRPr>
                <a:solidFill>
                  <a:schemeClr val="bg1"/>
                </a:solidFill>
                <a:latin typeface="Arial" panose="020B0604020202020204" pitchFamily="34" charset="0"/>
                <a:ea typeface="ＭＳ Ｐゴシック" panose="020B0600070205080204" pitchFamily="34" charset="-128"/>
              </a:defRPr>
            </a:lvl1pPr>
          </a:lstStyle>
          <a:p>
            <a:pPr>
              <a:defRPr/>
            </a:pPr>
            <a:fld id="{34A84676-C444-4AC5-8B4E-405A7C81C0FB}" type="slidenum">
              <a:rPr lang="en-US" altLang="en-US"/>
              <a:pPr>
                <a:defRPr/>
              </a:pPr>
              <a:t>‹#›</a:t>
            </a:fld>
            <a:endParaRPr lang="en-US" altLang="en-US"/>
          </a:p>
        </p:txBody>
      </p:sp>
      <p:sp>
        <p:nvSpPr>
          <p:cNvPr id="7" name="Rectangle 3">
            <a:extLst>
              <a:ext uri="{FF2B5EF4-FFF2-40B4-BE49-F238E27FC236}">
                <a16:creationId xmlns:a16="http://schemas.microsoft.com/office/drawing/2014/main" id="{2964D1F0-47D7-5B21-B6DA-1122FAFAABBE}"/>
              </a:ext>
            </a:extLst>
          </p:cNvPr>
          <p:cNvSpPr>
            <a:spLocks noGrp="1" noChangeArrowheads="1"/>
          </p:cNvSpPr>
          <p:nvPr>
            <p:ph type="ftr" sz="quarter" idx="11"/>
          </p:nvPr>
        </p:nvSpPr>
        <p:spPr/>
        <p:txBody>
          <a:bodyPr/>
          <a:lstStyle>
            <a:lvl1pPr>
              <a:defRPr/>
            </a:lvl1pPr>
          </a:lstStyle>
          <a:p>
            <a:pPr>
              <a:defRPr/>
            </a:pPr>
            <a:r>
              <a:rPr lang="en-US"/>
              <a:t>Database System Design, Implementation And Management </a:t>
            </a:r>
          </a:p>
        </p:txBody>
      </p:sp>
      <p:sp>
        <p:nvSpPr>
          <p:cNvPr id="8" name="Date Placeholder 1">
            <a:extLst>
              <a:ext uri="{FF2B5EF4-FFF2-40B4-BE49-F238E27FC236}">
                <a16:creationId xmlns:a16="http://schemas.microsoft.com/office/drawing/2014/main" id="{AD08CD51-62C0-58FD-6E1D-88EF84F0130D}"/>
              </a:ext>
            </a:extLst>
          </p:cNvPr>
          <p:cNvSpPr>
            <a:spLocks noGrp="1"/>
          </p:cNvSpPr>
          <p:nvPr>
            <p:ph type="dt" sz="half" idx="12"/>
          </p:nvPr>
        </p:nvSpPr>
        <p:spPr/>
        <p:txBody>
          <a:bodyPr/>
          <a:lstStyle>
            <a:lvl1pPr>
              <a:defRPr smtClean="0"/>
            </a:lvl1pPr>
          </a:lstStyle>
          <a:p>
            <a:pPr>
              <a:defRPr/>
            </a:pPr>
            <a:fld id="{6D947E3C-0B49-413F-8928-2C02ECEF5B61}" type="datetime1">
              <a:rPr lang="en-US"/>
              <a:pPr>
                <a:defRPr/>
              </a:pPr>
              <a:t>12/19/2024</a:t>
            </a:fld>
            <a:endParaRPr lang="en-US"/>
          </a:p>
        </p:txBody>
      </p:sp>
    </p:spTree>
    <p:extLst>
      <p:ext uri="{BB962C8B-B14F-4D97-AF65-F5344CB8AC3E}">
        <p14:creationId xmlns:p14="http://schemas.microsoft.com/office/powerpoint/2010/main" val="33786778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026" name="Group 6">
            <a:extLst>
              <a:ext uri="{FF2B5EF4-FFF2-40B4-BE49-F238E27FC236}">
                <a16:creationId xmlns:a16="http://schemas.microsoft.com/office/drawing/2014/main" id="{95787B45-CCD1-2665-35CA-26FF8EFF88D7}"/>
              </a:ext>
            </a:extLst>
          </p:cNvPr>
          <p:cNvGrpSpPr>
            <a:grpSpLocks/>
          </p:cNvGrpSpPr>
          <p:nvPr/>
        </p:nvGrpSpPr>
        <p:grpSpPr bwMode="auto">
          <a:xfrm>
            <a:off x="0" y="6494463"/>
            <a:ext cx="12192000" cy="373062"/>
            <a:chOff x="0" y="1661375"/>
            <a:chExt cx="12192000" cy="373091"/>
          </a:xfrm>
        </p:grpSpPr>
        <p:sp>
          <p:nvSpPr>
            <p:cNvPr id="8" name="Rectangle 7">
              <a:extLst>
                <a:ext uri="{FF2B5EF4-FFF2-40B4-BE49-F238E27FC236}">
                  <a16:creationId xmlns:a16="http://schemas.microsoft.com/office/drawing/2014/main" id="{E0A8C841-F6D0-23B2-733A-1CD90B3F4DAD}"/>
                </a:ext>
              </a:extLst>
            </p:cNvPr>
            <p:cNvSpPr/>
            <p:nvPr/>
          </p:nvSpPr>
          <p:spPr>
            <a:xfrm>
              <a:off x="0" y="1661375"/>
              <a:ext cx="12192000" cy="109546"/>
            </a:xfrm>
            <a:prstGeom prst="rect">
              <a:avLst/>
            </a:prstGeom>
            <a:solidFill>
              <a:srgbClr val="F2652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sp>
          <p:nvSpPr>
            <p:cNvPr id="9" name="Rectangle 8">
              <a:extLst>
                <a:ext uri="{FF2B5EF4-FFF2-40B4-BE49-F238E27FC236}">
                  <a16:creationId xmlns:a16="http://schemas.microsoft.com/office/drawing/2014/main" id="{3F0B988D-9418-5175-B8F1-38CA646ADBA2}"/>
                </a:ext>
              </a:extLst>
            </p:cNvPr>
            <p:cNvSpPr/>
            <p:nvPr/>
          </p:nvSpPr>
          <p:spPr>
            <a:xfrm>
              <a:off x="0" y="1759808"/>
              <a:ext cx="12192000" cy="274658"/>
            </a:xfrm>
            <a:prstGeom prst="rect">
              <a:avLst/>
            </a:prstGeom>
            <a:solidFill>
              <a:srgbClr val="22377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defTabSz="342900" eaLnBrk="1" fontAlgn="auto" hangingPunct="1">
                <a:spcBef>
                  <a:spcPts val="0"/>
                </a:spcBef>
                <a:spcAft>
                  <a:spcPts val="0"/>
                </a:spcAft>
                <a:defRPr/>
              </a:pPr>
              <a:endParaRPr lang="en-US" sz="1350">
                <a:solidFill>
                  <a:prstClr val="white"/>
                </a:solidFill>
              </a:endParaRPr>
            </a:p>
          </p:txBody>
        </p:sp>
      </p:grpSp>
      <p:sp>
        <p:nvSpPr>
          <p:cNvPr id="6" name="Slide Number Placeholder 5">
            <a:extLst>
              <a:ext uri="{FF2B5EF4-FFF2-40B4-BE49-F238E27FC236}">
                <a16:creationId xmlns:a16="http://schemas.microsoft.com/office/drawing/2014/main" id="{9B3B3991-06E6-1D64-C030-E5657676DBBE}"/>
              </a:ext>
            </a:extLst>
          </p:cNvPr>
          <p:cNvSpPr>
            <a:spLocks noGrp="1"/>
          </p:cNvSpPr>
          <p:nvPr>
            <p:ph type="sldNum" sz="quarter" idx="4"/>
          </p:nvPr>
        </p:nvSpPr>
        <p:spPr>
          <a:xfrm>
            <a:off x="9448800" y="6600825"/>
            <a:ext cx="2743200" cy="274638"/>
          </a:xfrm>
          <a:prstGeom prst="rect">
            <a:avLst/>
          </a:prstGeom>
        </p:spPr>
        <p:txBody>
          <a:bodyPr vert="horz" lIns="91440" tIns="45720" rIns="91440" bIns="45720" rtlCol="0" anchor="ctr"/>
          <a:lstStyle>
            <a:lvl1pPr algn="r" defTabSz="342900" eaLnBrk="1" fontAlgn="auto" hangingPunct="1">
              <a:spcBef>
                <a:spcPts val="0"/>
              </a:spcBef>
              <a:spcAft>
                <a:spcPts val="0"/>
              </a:spcAft>
              <a:defRPr sz="900">
                <a:solidFill>
                  <a:prstClr val="white"/>
                </a:solidFill>
                <a:latin typeface="Calibri" panose="020F0502020204030204"/>
                <a:ea typeface="+mn-ea"/>
              </a:defRPr>
            </a:lvl1pPr>
          </a:lstStyle>
          <a:p>
            <a:pPr>
              <a:defRPr/>
            </a:pPr>
            <a:fld id="{B77A7909-E221-4E66-A5EF-13497EA60DDF}" type="slidenum">
              <a:rPr lang="en-US"/>
              <a:pPr>
                <a:defRPr/>
              </a:pPr>
              <a:t>‹#›</a:t>
            </a:fld>
            <a:endParaRPr lang="en-US"/>
          </a:p>
        </p:txBody>
      </p:sp>
      <p:sp>
        <p:nvSpPr>
          <p:cNvPr id="4" name="Date Placeholder 3">
            <a:extLst>
              <a:ext uri="{FF2B5EF4-FFF2-40B4-BE49-F238E27FC236}">
                <a16:creationId xmlns:a16="http://schemas.microsoft.com/office/drawing/2014/main" id="{0DB57D17-CBC3-C51E-EB1C-7963F0F1D19C}"/>
              </a:ext>
            </a:extLst>
          </p:cNvPr>
          <p:cNvSpPr>
            <a:spLocks noGrp="1"/>
          </p:cNvSpPr>
          <p:nvPr>
            <p:ph type="dt" sz="half" idx="2"/>
          </p:nvPr>
        </p:nvSpPr>
        <p:spPr>
          <a:xfrm>
            <a:off x="0" y="6600825"/>
            <a:ext cx="2743200" cy="257175"/>
          </a:xfrm>
          <a:prstGeom prst="rect">
            <a:avLst/>
          </a:prstGeom>
        </p:spPr>
        <p:txBody>
          <a:bodyPr vert="horz" lIns="91440" tIns="45720" rIns="91440" bIns="45720" rtlCol="0" anchor="ctr"/>
          <a:lstStyle>
            <a:lvl1pPr algn="l" defTabSz="342900" eaLnBrk="1" fontAlgn="auto" hangingPunct="1">
              <a:spcBef>
                <a:spcPts val="0"/>
              </a:spcBef>
              <a:spcAft>
                <a:spcPts val="0"/>
              </a:spcAft>
              <a:defRPr sz="900" smtClean="0">
                <a:solidFill>
                  <a:prstClr val="white"/>
                </a:solidFill>
                <a:latin typeface="Calibri" panose="020F0502020204030204"/>
                <a:ea typeface="+mn-ea"/>
              </a:defRPr>
            </a:lvl1pPr>
          </a:lstStyle>
          <a:p>
            <a:pPr>
              <a:defRPr/>
            </a:pPr>
            <a:fld id="{AE5C34FE-8DBA-47D2-B92C-42DE287139A6}" type="datetime1">
              <a:rPr lang="en-US"/>
              <a:pPr>
                <a:defRPr/>
              </a:pPr>
              <a:t>12/19/2024</a:t>
            </a:fld>
            <a:endParaRPr lang="en-US"/>
          </a:p>
        </p:txBody>
      </p:sp>
      <p:sp>
        <p:nvSpPr>
          <p:cNvPr id="1029" name="Title Placeholder 1">
            <a:extLst>
              <a:ext uri="{FF2B5EF4-FFF2-40B4-BE49-F238E27FC236}">
                <a16:creationId xmlns:a16="http://schemas.microsoft.com/office/drawing/2014/main" id="{B3DE4959-DECB-5DE9-5280-05B3FE6EB057}"/>
              </a:ext>
            </a:extLst>
          </p:cNvPr>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30" name="Text Placeholder 2">
            <a:extLst>
              <a:ext uri="{FF2B5EF4-FFF2-40B4-BE49-F238E27FC236}">
                <a16:creationId xmlns:a16="http://schemas.microsoft.com/office/drawing/2014/main" id="{810CF440-6E0B-2021-0C2C-5CE6B0FDCE52}"/>
              </a:ext>
            </a:extLst>
          </p:cNvPr>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 name="Rectangle 3">
            <a:extLst>
              <a:ext uri="{FF2B5EF4-FFF2-40B4-BE49-F238E27FC236}">
                <a16:creationId xmlns:a16="http://schemas.microsoft.com/office/drawing/2014/main" id="{CCD044D3-EBD5-9CF6-2CD8-89513494DC68}"/>
              </a:ext>
            </a:extLst>
          </p:cNvPr>
          <p:cNvSpPr>
            <a:spLocks noGrp="1" noChangeArrowheads="1"/>
          </p:cNvSpPr>
          <p:nvPr>
            <p:ph type="ftr" sz="quarter" idx="3"/>
          </p:nvPr>
        </p:nvSpPr>
        <p:spPr>
          <a:xfrm>
            <a:off x="3871913" y="6604000"/>
            <a:ext cx="4967287" cy="254000"/>
          </a:xfrm>
          <a:prstGeom prst="rect">
            <a:avLst/>
          </a:prstGeom>
          <a:ln/>
        </p:spPr>
        <p:txBody>
          <a:bodyPr/>
          <a:lstStyle>
            <a:lvl1pPr>
              <a:defRPr sz="1000">
                <a:solidFill>
                  <a:schemeClr val="bg1"/>
                </a:solidFill>
              </a:defRPr>
            </a:lvl1pPr>
          </a:lstStyle>
          <a:p>
            <a:pPr>
              <a:defRPr/>
            </a:pPr>
            <a:r>
              <a:rPr lang="en-US"/>
              <a:t>Database System Design, Implementation And Management </a:t>
            </a:r>
          </a:p>
        </p:txBody>
      </p:sp>
    </p:spTree>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hdr="0"/>
  <p:txStyles>
    <p:titleStyle>
      <a:lvl1pPr algn="l" defTabSz="685800" rtl="0" eaLnBrk="0" fontAlgn="base" hangingPunct="0">
        <a:lnSpc>
          <a:spcPct val="90000"/>
        </a:lnSpc>
        <a:spcBef>
          <a:spcPct val="0"/>
        </a:spcBef>
        <a:spcAft>
          <a:spcPct val="0"/>
        </a:spcAft>
        <a:defRPr sz="3300" kern="1200">
          <a:solidFill>
            <a:schemeClr val="tx1"/>
          </a:solidFill>
          <a:latin typeface="Arial" panose="020B0604020202020204" pitchFamily="34" charset="0"/>
          <a:ea typeface="+mj-ea"/>
          <a:cs typeface="Arial" panose="020B0604020202020204" pitchFamily="34" charset="0"/>
        </a:defRPr>
      </a:lvl1pPr>
      <a:lvl2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eaLnBrk="0" fontAlgn="base" hangingPunct="0">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p:titleStyle>
    <p:bodyStyle>
      <a:lvl1pPr marL="171450" indent="-171450" algn="l" defTabSz="685800" rtl="0" eaLnBrk="0" fontAlgn="base" hangingPunct="0">
        <a:lnSpc>
          <a:spcPct val="90000"/>
        </a:lnSpc>
        <a:spcBef>
          <a:spcPts val="750"/>
        </a:spcBef>
        <a:spcAft>
          <a:spcPct val="0"/>
        </a:spcAft>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50" indent="-171450" algn="l" defTabSz="685800" rtl="0" eaLnBrk="0" fontAlgn="base" hangingPunct="0">
        <a:lnSpc>
          <a:spcPct val="90000"/>
        </a:lnSpc>
        <a:spcBef>
          <a:spcPts val="375"/>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2pPr>
      <a:lvl3pPr marL="857250" indent="-171450" algn="l" defTabSz="685800" rtl="0" eaLnBrk="0" fontAlgn="base" hangingPunct="0">
        <a:lnSpc>
          <a:spcPct val="90000"/>
        </a:lnSpc>
        <a:spcBef>
          <a:spcPts val="375"/>
        </a:spcBef>
        <a:spcAft>
          <a:spcPct val="0"/>
        </a:spcAft>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4pPr>
      <a:lvl5pPr marL="1543050" indent="-171450" algn="l" defTabSz="685800" rtl="0" eaLnBrk="0" fontAlgn="base" hangingPunct="0">
        <a:lnSpc>
          <a:spcPct val="90000"/>
        </a:lnSpc>
        <a:spcBef>
          <a:spcPts val="375"/>
        </a:spcBef>
        <a:spcAft>
          <a:spcPct val="0"/>
        </a:spcAft>
        <a:buFont typeface="Arial" panose="020B0604020202020204" pitchFamily="34" charset="0"/>
        <a:buChar char="•"/>
        <a:defRPr sz="1300" kern="1200">
          <a:solidFill>
            <a:schemeClr val="tx1"/>
          </a:solidFill>
          <a:latin typeface="Arial" panose="020B0604020202020204" pitchFamily="34" charset="0"/>
          <a:ea typeface="+mn-ea"/>
          <a:cs typeface="Arial" panose="020B0604020202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55D12DE-3880-DE12-CE17-D7CD7AFD7B88}"/>
              </a:ext>
            </a:extLst>
          </p:cNvPr>
          <p:cNvSpPr>
            <a:spLocks noGrp="1" noChangeArrowheads="1"/>
          </p:cNvSpPr>
          <p:nvPr>
            <p:ph type="title"/>
          </p:nvPr>
        </p:nvSpPr>
        <p:spPr/>
        <p:txBody>
          <a:bodyPr/>
          <a:lstStyle/>
          <a:p>
            <a:pPr eaLnBrk="1" hangingPunct="1"/>
            <a:r>
              <a:rPr lang="en-US" altLang="en-US"/>
              <a:t>Learning Objectives</a:t>
            </a:r>
          </a:p>
        </p:txBody>
      </p:sp>
      <p:sp>
        <p:nvSpPr>
          <p:cNvPr id="18435" name="Rectangle 3">
            <a:extLst>
              <a:ext uri="{FF2B5EF4-FFF2-40B4-BE49-F238E27FC236}">
                <a16:creationId xmlns:a16="http://schemas.microsoft.com/office/drawing/2014/main" id="{55AFAA60-0CDA-A322-906A-3A5AB6B6D2D6}"/>
              </a:ext>
            </a:extLst>
          </p:cNvPr>
          <p:cNvSpPr>
            <a:spLocks noGrp="1" noChangeArrowheads="1"/>
          </p:cNvSpPr>
          <p:nvPr>
            <p:ph idx="1"/>
          </p:nvPr>
        </p:nvSpPr>
        <p:spPr/>
        <p:txBody>
          <a:bodyPr/>
          <a:lstStyle/>
          <a:p>
            <a:pPr marL="457200" indent="-457200" eaLnBrk="1" hangingPunct="1">
              <a:lnSpc>
                <a:spcPct val="150000"/>
              </a:lnSpc>
              <a:buFont typeface="Calibri Light" panose="020F0302020204030204" pitchFamily="34" charset="0"/>
              <a:buAutoNum type="arabicPeriod"/>
            </a:pPr>
            <a:r>
              <a:rPr lang="en-US" altLang="en-US" sz="1800" dirty="0"/>
              <a:t>Define the difference between data and information</a:t>
            </a:r>
          </a:p>
          <a:p>
            <a:pPr marL="457200" indent="-457200" eaLnBrk="1" hangingPunct="1">
              <a:lnSpc>
                <a:spcPct val="150000"/>
              </a:lnSpc>
              <a:buFont typeface="Calibri Light" panose="020F0302020204030204" pitchFamily="34" charset="0"/>
              <a:buAutoNum type="arabicPeriod"/>
            </a:pPr>
            <a:r>
              <a:rPr lang="en-US" altLang="en-US" sz="1800" dirty="0"/>
              <a:t>Describe what a database is, the various types of databases, and why they are valuable assets for decision making</a:t>
            </a:r>
          </a:p>
          <a:p>
            <a:pPr marL="457200" indent="-457200" eaLnBrk="1" hangingPunct="1">
              <a:lnSpc>
                <a:spcPct val="150000"/>
              </a:lnSpc>
              <a:buFont typeface="Calibri Light" panose="020F0302020204030204" pitchFamily="34" charset="0"/>
              <a:buAutoNum type="arabicPeriod"/>
            </a:pPr>
            <a:r>
              <a:rPr lang="en-US" altLang="en-US" sz="1800" dirty="0"/>
              <a:t>Explain the importance of database design</a:t>
            </a:r>
          </a:p>
          <a:p>
            <a:pPr marL="457200" indent="-457200" eaLnBrk="1" hangingPunct="1">
              <a:lnSpc>
                <a:spcPct val="150000"/>
              </a:lnSpc>
              <a:buFont typeface="Calibri Light" panose="020F0302020204030204" pitchFamily="34" charset="0"/>
              <a:buAutoNum type="arabicPeriod"/>
            </a:pPr>
            <a:r>
              <a:rPr lang="en-US" altLang="en-US" sz="1800" dirty="0"/>
              <a:t>Outline how modern databases evolved from file systems</a:t>
            </a:r>
          </a:p>
          <a:p>
            <a:pPr marL="457200" indent="-457200" eaLnBrk="1" hangingPunct="1">
              <a:lnSpc>
                <a:spcPct val="150000"/>
              </a:lnSpc>
              <a:buFont typeface="Calibri Light" panose="020F0302020204030204" pitchFamily="34" charset="0"/>
              <a:buAutoNum type="arabicPeriod"/>
            </a:pPr>
            <a:r>
              <a:rPr lang="en-US" altLang="en-US" sz="1800" dirty="0"/>
              <a:t>Identify flaws in file system data management</a:t>
            </a:r>
          </a:p>
          <a:p>
            <a:pPr marL="457200" indent="-457200" eaLnBrk="1" hangingPunct="1">
              <a:lnSpc>
                <a:spcPct val="150000"/>
              </a:lnSpc>
              <a:buFont typeface="Calibri Light" panose="020F0302020204030204" pitchFamily="34" charset="0"/>
              <a:buAutoNum type="arabicPeriod"/>
            </a:pPr>
            <a:r>
              <a:rPr lang="en-US" altLang="en-US" sz="1800" dirty="0"/>
              <a:t>Outline the main components of the database system</a:t>
            </a:r>
          </a:p>
          <a:p>
            <a:pPr marL="457200" indent="-457200" eaLnBrk="1" hangingPunct="1">
              <a:lnSpc>
                <a:spcPct val="150000"/>
              </a:lnSpc>
              <a:buFont typeface="Calibri Light" panose="020F0302020204030204" pitchFamily="34" charset="0"/>
              <a:buAutoNum type="arabicPeriod"/>
            </a:pPr>
            <a:r>
              <a:rPr lang="en-US" altLang="en-US" sz="1800" dirty="0"/>
              <a:t>Describe the main functions of a database management system (DBMS)</a:t>
            </a:r>
          </a:p>
        </p:txBody>
      </p:sp>
      <p:sp>
        <p:nvSpPr>
          <p:cNvPr id="2" name="Date Placeholder 1">
            <a:extLst>
              <a:ext uri="{FF2B5EF4-FFF2-40B4-BE49-F238E27FC236}">
                <a16:creationId xmlns:a16="http://schemas.microsoft.com/office/drawing/2014/main" id="{5CF56535-3CEC-D929-4BC5-BFFFA746272B}"/>
              </a:ext>
            </a:extLst>
          </p:cNvPr>
          <p:cNvSpPr>
            <a:spLocks noGrp="1"/>
          </p:cNvSpPr>
          <p:nvPr>
            <p:ph type="dt" sz="quarter" idx="12"/>
          </p:nvPr>
        </p:nvSpPr>
        <p:spPr/>
        <p:txBody>
          <a:bodyPr/>
          <a:lstStyle/>
          <a:p>
            <a:pPr>
              <a:defRPr/>
            </a:pPr>
            <a:fld id="{70935733-0070-4FC4-AA67-45D4DA740129}" type="datetime1">
              <a:rPr lang="en-US"/>
              <a:pPr>
                <a:defRPr/>
              </a:pPr>
              <a:t>12/19/2024</a:t>
            </a:fld>
            <a:endParaRPr lang="en-US"/>
          </a:p>
        </p:txBody>
      </p:sp>
      <p:sp>
        <p:nvSpPr>
          <p:cNvPr id="18437" name="Footer Placeholder 5">
            <a:extLst>
              <a:ext uri="{FF2B5EF4-FFF2-40B4-BE49-F238E27FC236}">
                <a16:creationId xmlns:a16="http://schemas.microsoft.com/office/drawing/2014/main" id="{485A426D-6530-9FB2-88B2-A3A18506708A}"/>
              </a:ext>
            </a:extLst>
          </p:cNvPr>
          <p:cNvSpPr>
            <a:spLocks noGrp="1" noChangeArrowheads="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r>
              <a:rPr lang="en-US" altLang="en-US" sz="1000">
                <a:solidFill>
                  <a:schemeClr val="bg1"/>
                </a:solidFill>
              </a:rPr>
              <a:t>Database System Design, Implementation And Management </a:t>
            </a:r>
          </a:p>
        </p:txBody>
      </p:sp>
      <p:sp>
        <p:nvSpPr>
          <p:cNvPr id="18438" name="Slide Number Placeholder 6">
            <a:extLst>
              <a:ext uri="{FF2B5EF4-FFF2-40B4-BE49-F238E27FC236}">
                <a16:creationId xmlns:a16="http://schemas.microsoft.com/office/drawing/2014/main" id="{B056787B-F6F1-4E67-9330-2245C057F8F4}"/>
              </a:ext>
            </a:extLst>
          </p:cNvPr>
          <p:cNvSpPr>
            <a:spLocks noGrp="1" noChangeArrowheads="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sz="1400">
                <a:solidFill>
                  <a:schemeClr val="tx1"/>
                </a:solidFill>
                <a:latin typeface="Arial" panose="020B0604020202020204" pitchFamily="34" charset="0"/>
                <a:ea typeface="ＭＳ Ｐゴシック" panose="020B0600070205080204" pitchFamily="34" charset="-128"/>
              </a:defRPr>
            </a:lvl1pPr>
            <a:lvl2pPr marL="742950" indent="-285750">
              <a:defRPr sz="1400">
                <a:solidFill>
                  <a:schemeClr val="tx1"/>
                </a:solidFill>
                <a:latin typeface="Arial" panose="020B0604020202020204" pitchFamily="34" charset="0"/>
                <a:ea typeface="ＭＳ Ｐゴシック" panose="020B0600070205080204" pitchFamily="34" charset="-128"/>
              </a:defRPr>
            </a:lvl2pPr>
            <a:lvl3pPr marL="1143000" indent="-228600">
              <a:defRPr sz="1400">
                <a:solidFill>
                  <a:schemeClr val="tx1"/>
                </a:solidFill>
                <a:latin typeface="Arial" panose="020B0604020202020204" pitchFamily="34" charset="0"/>
                <a:ea typeface="ＭＳ Ｐゴシック" panose="020B0600070205080204" pitchFamily="34" charset="-128"/>
              </a:defRPr>
            </a:lvl3pPr>
            <a:lvl4pPr marL="1600200" indent="-228600">
              <a:defRPr sz="1400">
                <a:solidFill>
                  <a:schemeClr val="tx1"/>
                </a:solidFill>
                <a:latin typeface="Arial" panose="020B0604020202020204" pitchFamily="34" charset="0"/>
                <a:ea typeface="ＭＳ Ｐゴシック" panose="020B0600070205080204" pitchFamily="34" charset="-128"/>
              </a:defRPr>
            </a:lvl4pPr>
            <a:lvl5pPr marL="2057400" indent="-228600">
              <a:defRPr sz="1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1400">
                <a:solidFill>
                  <a:schemeClr val="tx1"/>
                </a:solidFill>
                <a:latin typeface="Arial" panose="020B0604020202020204" pitchFamily="34" charset="0"/>
                <a:ea typeface="ＭＳ Ｐゴシック" panose="020B0600070205080204" pitchFamily="34" charset="-128"/>
              </a:defRPr>
            </a:lvl9pPr>
          </a:lstStyle>
          <a:p>
            <a:fld id="{25E4E02F-8D0B-4F73-B3DD-858F1DB63CB0}" type="slidenum">
              <a:rPr lang="en-US" altLang="en-US" sz="900" smtClean="0">
                <a:solidFill>
                  <a:schemeClr val="bg1"/>
                </a:solidFill>
              </a:rPr>
              <a:pPr/>
              <a:t>1</a:t>
            </a:fld>
            <a:endParaRPr lang="en-US" altLang="en-US" sz="900" dirty="0">
              <a:solidFill>
                <a:schemeClr val="bg1"/>
              </a:solidFill>
            </a:endParaRPr>
          </a:p>
        </p:txBody>
      </p:sp>
      <p:pic>
        <p:nvPicPr>
          <p:cNvPr id="5" name="Picture 8">
            <a:extLst>
              <a:ext uri="{FF2B5EF4-FFF2-40B4-BE49-F238E27FC236}">
                <a16:creationId xmlns:a16="http://schemas.microsoft.com/office/drawing/2014/main" id="{93202BEA-2638-74DD-C797-07253743C9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810" y="76200"/>
            <a:ext cx="11904379" cy="623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3230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20FFC1CF-C6D1-C190-5CBD-BA8BD4CDF186}"/>
              </a:ext>
            </a:extLst>
          </p:cNvPr>
          <p:cNvSpPr>
            <a:spLocks noGrp="1" noChangeArrowheads="1"/>
          </p:cNvSpPr>
          <p:nvPr>
            <p:ph type="title"/>
          </p:nvPr>
        </p:nvSpPr>
        <p:spPr>
          <a:xfrm>
            <a:off x="838200" y="304800"/>
            <a:ext cx="10515600" cy="1325563"/>
          </a:xfrm>
        </p:spPr>
        <p:txBody>
          <a:bodyPr/>
          <a:lstStyle/>
          <a:p>
            <a:pPr algn="ctr" eaLnBrk="1" hangingPunct="1"/>
            <a:r>
              <a:rPr lang="en-US" altLang="en-US" dirty="0"/>
              <a:t>National Economics University</a:t>
            </a:r>
            <a:br>
              <a:rPr lang="en-US" altLang="en-US" dirty="0"/>
            </a:br>
            <a:r>
              <a:rPr lang="en-US" altLang="en-US" dirty="0"/>
              <a:t>Faculty of Data Science &amp; Artificial Intelligence</a:t>
            </a:r>
          </a:p>
        </p:txBody>
      </p:sp>
      <p:sp>
        <p:nvSpPr>
          <p:cNvPr id="3" name="Title 1">
            <a:extLst>
              <a:ext uri="{FF2B5EF4-FFF2-40B4-BE49-F238E27FC236}">
                <a16:creationId xmlns:a16="http://schemas.microsoft.com/office/drawing/2014/main" id="{650F7E22-523E-06DC-63AF-3DDDA301838E}"/>
              </a:ext>
            </a:extLst>
          </p:cNvPr>
          <p:cNvSpPr txBox="1">
            <a:spLocks/>
          </p:cNvSpPr>
          <p:nvPr/>
        </p:nvSpPr>
        <p:spPr bwMode="auto">
          <a:xfrm>
            <a:off x="838200" y="1828800"/>
            <a:ext cx="10515600" cy="3657600"/>
          </a:xfrm>
          <a:prstGeom prst="rect">
            <a:avLst/>
          </a:prstGeom>
          <a:noFill/>
          <a:ln>
            <a:noFill/>
          </a:ln>
        </p:spPr>
        <p:txBody>
          <a:bodyPr anchor="ctr"/>
          <a:lstStyle>
            <a:lvl1pPr algn="l" defTabSz="685800" rtl="0" fontAlgn="base">
              <a:lnSpc>
                <a:spcPct val="90000"/>
              </a:lnSpc>
              <a:spcBef>
                <a:spcPct val="0"/>
              </a:spcBef>
              <a:spcAft>
                <a:spcPct val="0"/>
              </a:spcAft>
              <a:defRPr sz="3300" kern="1200">
                <a:solidFill>
                  <a:schemeClr val="bg1"/>
                </a:solidFill>
                <a:latin typeface="Arial" panose="020B0604020202020204" pitchFamily="34" charset="0"/>
                <a:ea typeface="+mj-ea"/>
                <a:cs typeface="Arial" panose="020B0604020202020204" pitchFamily="34" charset="0"/>
              </a:defRPr>
            </a:lvl1pPr>
            <a:lvl2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2pPr>
            <a:lvl3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3pPr>
            <a:lvl4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4pPr>
            <a:lvl5pPr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5pPr>
            <a:lvl6pPr marL="4572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6pPr>
            <a:lvl7pPr marL="9144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7pPr>
            <a:lvl8pPr marL="13716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8pPr>
            <a:lvl9pPr marL="1828800" algn="l" defTabSz="685800" rtl="0" fontAlgn="base">
              <a:lnSpc>
                <a:spcPct val="90000"/>
              </a:lnSpc>
              <a:spcBef>
                <a:spcPct val="0"/>
              </a:spcBef>
              <a:spcAft>
                <a:spcPct val="0"/>
              </a:spcAft>
              <a:defRPr sz="3300">
                <a:solidFill>
                  <a:schemeClr val="tx1"/>
                </a:solidFill>
                <a:latin typeface="Arial" panose="020B0604020202020204" pitchFamily="34" charset="0"/>
                <a:cs typeface="Arial" panose="020B0604020202020204" pitchFamily="34" charset="0"/>
              </a:defRPr>
            </a:lvl9pPr>
          </a:lstStyle>
          <a:p>
            <a:pPr eaLnBrk="1" hangingPunct="1">
              <a:defRPr/>
            </a:pPr>
            <a:r>
              <a:rPr lang="en-US" dirty="0"/>
              <a:t>Database System Design, Implementation And Management Course – Normalization of Database Tables</a:t>
            </a:r>
          </a:p>
          <a:p>
            <a:pPr eaLnBrk="1" hangingPunct="1">
              <a:defRPr/>
            </a:pPr>
            <a:endParaRPr lang="en-US" dirty="0"/>
          </a:p>
          <a:p>
            <a:pPr marL="457200" indent="-457200" eaLnBrk="1" hangingPunct="1">
              <a:buFont typeface="Wingdings" panose="05000000000000000000" pitchFamily="2" charset="2"/>
              <a:buChar char="q"/>
              <a:defRPr/>
            </a:pPr>
            <a:r>
              <a:rPr lang="en-US" dirty="0"/>
              <a:t>Instructor: Duc Minh Vu (FDA – SLSCM Lab)</a:t>
            </a:r>
          </a:p>
          <a:p>
            <a:pPr marL="457200" indent="-457200" eaLnBrk="1" hangingPunct="1">
              <a:buFont typeface="Wingdings" panose="05000000000000000000" pitchFamily="2" charset="2"/>
              <a:buChar char="q"/>
              <a:defRPr/>
            </a:pPr>
            <a:r>
              <a:rPr lang="en-US" dirty="0"/>
              <a:t>Email: </a:t>
            </a:r>
            <a:r>
              <a:rPr lang="en-US" dirty="0" err="1"/>
              <a:t>minhvd</a:t>
            </a:r>
            <a:r>
              <a:rPr lang="en-US" dirty="0"/>
              <a:t> [at] neu.edu.vn</a:t>
            </a:r>
            <a:br>
              <a:rPr lang="en-US" dirty="0"/>
            </a:br>
            <a:endParaRPr lang="en-US" dirty="0"/>
          </a:p>
        </p:txBody>
      </p:sp>
      <p:pic>
        <p:nvPicPr>
          <p:cNvPr id="2" name="Picture 2">
            <a:extLst>
              <a:ext uri="{FF2B5EF4-FFF2-40B4-BE49-F238E27FC236}">
                <a16:creationId xmlns:a16="http://schemas.microsoft.com/office/drawing/2014/main" id="{276F99BE-16D2-D698-B84F-294467AC8B8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44034" y="204634"/>
            <a:ext cx="1243166" cy="1243166"/>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1">
            <a:extLst>
              <a:ext uri="{FF2B5EF4-FFF2-40B4-BE49-F238E27FC236}">
                <a16:creationId xmlns:a16="http://schemas.microsoft.com/office/drawing/2014/main" id="{19BFC2BE-16EA-CF2A-0193-BCC3544BE7F1}"/>
              </a:ext>
            </a:extLst>
          </p:cNvPr>
          <p:cNvSpPr txBox="1">
            <a:spLocks/>
          </p:cNvSpPr>
          <p:nvPr/>
        </p:nvSpPr>
        <p:spPr>
          <a:xfrm>
            <a:off x="0" y="6600825"/>
            <a:ext cx="2743200" cy="257175"/>
          </a:xfrm>
          <a:prstGeom prst="rect">
            <a:avLst/>
          </a:prstGeom>
          <a:ln/>
        </p:spPr>
        <p:txBody>
          <a:bodyPr/>
          <a:lstStyle>
            <a:defPPr>
              <a:defRPr lang="en-US"/>
            </a:defPPr>
            <a:lvl1pPr algn="l" rtl="0" eaLnBrk="0" fontAlgn="base" hangingPunct="0">
              <a:spcBef>
                <a:spcPct val="0"/>
              </a:spcBef>
              <a:spcAft>
                <a:spcPct val="0"/>
              </a:spcAft>
              <a:defRPr sz="1000" kern="1200">
                <a:solidFill>
                  <a:schemeClr val="bg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1400" kern="1200">
                <a:solidFill>
                  <a:schemeClr val="tx1"/>
                </a:solidFill>
                <a:latin typeface="Arial" panose="020B0604020202020204" pitchFamily="34" charset="0"/>
                <a:ea typeface="ＭＳ Ｐゴシック" panose="020B0600070205080204" pitchFamily="34" charset="-128"/>
                <a:cs typeface="+mn-cs"/>
              </a:defRPr>
            </a:lvl9pPr>
          </a:lstStyle>
          <a:p>
            <a:pPr>
              <a:defRPr/>
            </a:pPr>
            <a:fld id="{70935733-0070-4FC4-AA67-45D4DA740129}" type="datetime1">
              <a:rPr lang="en-US" sz="900" smtClean="0"/>
              <a:pPr>
                <a:defRPr/>
              </a:pPr>
              <a:t>12/19/2024</a:t>
            </a:fld>
            <a:endParaRPr lang="en-US" dirty="0"/>
          </a:p>
        </p:txBody>
      </p:sp>
      <p:sp>
        <p:nvSpPr>
          <p:cNvPr id="6" name="Footer Placeholder 5">
            <a:extLst>
              <a:ext uri="{FF2B5EF4-FFF2-40B4-BE49-F238E27FC236}">
                <a16:creationId xmlns:a16="http://schemas.microsoft.com/office/drawing/2014/main" id="{13836BB0-D354-C3A9-B5A0-5D1CD2961152}"/>
              </a:ext>
            </a:extLst>
          </p:cNvPr>
          <p:cNvSpPr txBox="1">
            <a:spLocks noChangeArrowheads="1"/>
          </p:cNvSpPr>
          <p:nvPr/>
        </p:nvSpPr>
        <p:spPr bwMode="auto">
          <a:xfrm>
            <a:off x="3871913" y="6604000"/>
            <a:ext cx="4967287" cy="2540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bodyPr>
          <a:lstStyle>
            <a:defPPr>
              <a:defRPr lang="en-US"/>
            </a:defPPr>
            <a:lvl1pPr algn="r"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ctr"/>
            <a:r>
              <a:rPr lang="en-US" altLang="en-US" sz="900" dirty="0">
                <a:solidFill>
                  <a:schemeClr val="bg1"/>
                </a:solidFill>
              </a:rPr>
              <a:t>Database System Design, Implementation And Management </a:t>
            </a:r>
          </a:p>
        </p:txBody>
      </p:sp>
      <p:sp>
        <p:nvSpPr>
          <p:cNvPr id="7" name="Slide Number Placeholder 6">
            <a:extLst>
              <a:ext uri="{FF2B5EF4-FFF2-40B4-BE49-F238E27FC236}">
                <a16:creationId xmlns:a16="http://schemas.microsoft.com/office/drawing/2014/main" id="{E59EEC19-2A29-080D-84C0-C504A808E7DA}"/>
              </a:ext>
            </a:extLst>
          </p:cNvPr>
          <p:cNvSpPr txBox="1">
            <a:spLocks noChangeArrowheads="1"/>
          </p:cNvSpPr>
          <p:nvPr/>
        </p:nvSpPr>
        <p:spPr bwMode="auto">
          <a:xfrm>
            <a:off x="9448800" y="6600825"/>
            <a:ext cx="2743200" cy="2746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defPPr>
              <a:defRPr lang="en-US"/>
            </a:defPPr>
            <a:lvl1pPr algn="l" defTabSz="342900" rtl="0" eaLnBrk="1" fontAlgn="auto" hangingPunct="1">
              <a:spcBef>
                <a:spcPts val="0"/>
              </a:spcBef>
              <a:spcAft>
                <a:spcPts val="0"/>
              </a:spcAft>
              <a:defRPr sz="1400" kern="1200">
                <a:solidFill>
                  <a:schemeClr val="tx1"/>
                </a:solidFill>
                <a:latin typeface="Arial" panose="020B0604020202020204" pitchFamily="34" charset="0"/>
                <a:ea typeface="ＭＳ Ｐゴシック" panose="020B0600070205080204" pitchFamily="34" charset="-128"/>
                <a:cs typeface="+mn-cs"/>
              </a:defRPr>
            </a:lvl1pPr>
            <a:lvl2pPr marL="742950" indent="-28575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2pPr>
            <a:lvl3pPr marL="11430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3pPr>
            <a:lvl4pPr marL="16002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4pPr>
            <a:lvl5pPr marL="2057400" indent="-228600" algn="l" rtl="0" eaLnBrk="0" fontAlgn="base"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5pPr>
            <a:lvl6pPr marL="25146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6pPr>
            <a:lvl7pPr marL="29718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7pPr>
            <a:lvl8pPr marL="34290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8pPr>
            <a:lvl9pPr marL="3886200" indent="-228600" algn="l" defTabSz="914400" rtl="0" eaLnBrk="0" fontAlgn="base" latinLnBrk="0" hangingPunct="0">
              <a:spcBef>
                <a:spcPct val="0"/>
              </a:spcBef>
              <a:spcAft>
                <a:spcPct val="0"/>
              </a:spcAft>
              <a:defRPr sz="1400" kern="1200">
                <a:solidFill>
                  <a:schemeClr val="tx1"/>
                </a:solidFill>
                <a:latin typeface="Arial" panose="020B0604020202020204" pitchFamily="34" charset="0"/>
                <a:ea typeface="ＭＳ Ｐゴシック" panose="020B0600070205080204" pitchFamily="34" charset="-128"/>
                <a:cs typeface="+mn-cs"/>
              </a:defRPr>
            </a:lvl9pPr>
          </a:lstStyle>
          <a:p>
            <a:pPr algn="r"/>
            <a:fld id="{25E4E02F-8D0B-4F73-B3DD-858F1DB63CB0}" type="slidenum">
              <a:rPr lang="en-US" altLang="en-US" sz="900" smtClean="0">
                <a:solidFill>
                  <a:schemeClr val="bg1"/>
                </a:solidFill>
              </a:rPr>
              <a:pPr algn="r"/>
              <a:t>2</a:t>
            </a:fld>
            <a:endParaRPr lang="en-US" altLang="en-US" sz="900" dirty="0">
              <a:solidFill>
                <a:schemeClr val="bg1"/>
              </a:solidFill>
            </a:endParaRPr>
          </a:p>
        </p:txBody>
      </p:sp>
      <p:pic>
        <p:nvPicPr>
          <p:cNvPr id="1026" name="Picture 2" descr="No photo description available.">
            <a:extLst>
              <a:ext uri="{FF2B5EF4-FFF2-40B4-BE49-F238E27FC236}">
                <a16:creationId xmlns:a16="http://schemas.microsoft.com/office/drawing/2014/main" id="{11910D4C-A8E1-69FA-9253-D7771B263A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550" y="209550"/>
            <a:ext cx="1162050" cy="1162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B0DA7-AC14-657A-B65E-6C7711BCA482}"/>
              </a:ext>
            </a:extLst>
          </p:cNvPr>
          <p:cNvSpPr>
            <a:spLocks noGrp="1"/>
          </p:cNvSpPr>
          <p:nvPr>
            <p:ph type="title"/>
          </p:nvPr>
        </p:nvSpPr>
        <p:spPr/>
        <p:txBody>
          <a:bodyPr/>
          <a:lstStyle/>
          <a:p>
            <a:r>
              <a:rPr lang="en-US" dirty="0"/>
              <a:t>Learning Objectives</a:t>
            </a:r>
          </a:p>
        </p:txBody>
      </p:sp>
      <p:sp>
        <p:nvSpPr>
          <p:cNvPr id="3" name="Content Placeholder 2">
            <a:extLst>
              <a:ext uri="{FF2B5EF4-FFF2-40B4-BE49-F238E27FC236}">
                <a16:creationId xmlns:a16="http://schemas.microsoft.com/office/drawing/2014/main" id="{DD22CAA6-61A0-1ABB-6AE0-8956A0AF5EE3}"/>
              </a:ext>
            </a:extLst>
          </p:cNvPr>
          <p:cNvSpPr>
            <a:spLocks noGrp="1"/>
          </p:cNvSpPr>
          <p:nvPr>
            <p:ph idx="1"/>
          </p:nvPr>
        </p:nvSpPr>
        <p:spPr/>
        <p:txBody>
          <a:bodyPr/>
          <a:lstStyle/>
          <a:p>
            <a:r>
              <a:rPr lang="en-US" sz="2000" b="1" i="0" dirty="0">
                <a:solidFill>
                  <a:srgbClr val="474A9E"/>
                </a:solidFill>
                <a:effectLst/>
                <a:latin typeface="MyriadPro-Black"/>
              </a:rPr>
              <a:t>6-1 </a:t>
            </a:r>
            <a:r>
              <a:rPr lang="en-US" sz="2000" b="0" i="0" dirty="0">
                <a:solidFill>
                  <a:srgbClr val="242021"/>
                </a:solidFill>
                <a:effectLst/>
                <a:latin typeface="MyriadPro-SemiboldSemiCn"/>
              </a:rPr>
              <a:t>Explain normalization and its role in the database design process</a:t>
            </a:r>
          </a:p>
          <a:p>
            <a:r>
              <a:rPr lang="en-US" sz="2000" b="1" i="0" dirty="0">
                <a:solidFill>
                  <a:srgbClr val="474A9E"/>
                </a:solidFill>
                <a:effectLst/>
                <a:latin typeface="MyriadPro-Black"/>
              </a:rPr>
              <a:t>6-2 </a:t>
            </a:r>
            <a:r>
              <a:rPr lang="en-US" sz="2000" b="0" i="0" dirty="0">
                <a:solidFill>
                  <a:srgbClr val="242021"/>
                </a:solidFill>
                <a:effectLst/>
                <a:latin typeface="MyriadPro-SemiboldSemiCn"/>
              </a:rPr>
              <a:t>Identify each of the normal forms: 1NF, 2NF, 3NF, BCNF, 4NF, and 5NF</a:t>
            </a:r>
          </a:p>
          <a:p>
            <a:r>
              <a:rPr lang="en-US" sz="2000" b="1" i="0" dirty="0">
                <a:solidFill>
                  <a:srgbClr val="474A9E"/>
                </a:solidFill>
                <a:effectLst/>
                <a:latin typeface="MyriadPro-Black"/>
              </a:rPr>
              <a:t>6-3 </a:t>
            </a:r>
            <a:r>
              <a:rPr lang="en-US" sz="2000" b="0" i="0" dirty="0">
                <a:solidFill>
                  <a:srgbClr val="242021"/>
                </a:solidFill>
                <a:effectLst/>
                <a:latin typeface="MyriadPro-SemiboldSemiCn"/>
              </a:rPr>
              <a:t>Explain how normal forms can be transformed from lower normal forms to higher normal forms</a:t>
            </a:r>
            <a:r>
              <a:rPr lang="en-US" sz="2400" dirty="0"/>
              <a:t> </a:t>
            </a:r>
          </a:p>
          <a:p>
            <a:r>
              <a:rPr lang="en-US" sz="2000" b="1" i="0" dirty="0">
                <a:solidFill>
                  <a:srgbClr val="474A9E"/>
                </a:solidFill>
                <a:effectLst/>
                <a:latin typeface="MyriadPro-Black"/>
              </a:rPr>
              <a:t>6-4 </a:t>
            </a:r>
            <a:r>
              <a:rPr lang="en-US" sz="2000" b="0" i="0" dirty="0">
                <a:solidFill>
                  <a:srgbClr val="242021"/>
                </a:solidFill>
                <a:effectLst/>
                <a:latin typeface="MyriadPro-SemiboldSemiCn"/>
              </a:rPr>
              <a:t>Apply normalization rules to evaluate and correct table structures </a:t>
            </a:r>
          </a:p>
          <a:p>
            <a:r>
              <a:rPr lang="en-US" sz="2000" b="1" i="0" dirty="0">
                <a:solidFill>
                  <a:srgbClr val="474A9E"/>
                </a:solidFill>
                <a:effectLst/>
                <a:latin typeface="MyriadPro-Black"/>
              </a:rPr>
              <a:t>6-5 </a:t>
            </a:r>
            <a:r>
              <a:rPr lang="en-US" sz="2000" b="0" i="0" dirty="0">
                <a:solidFill>
                  <a:srgbClr val="242021"/>
                </a:solidFill>
                <a:effectLst/>
                <a:latin typeface="MyriadPro-SemiboldSemiCn"/>
              </a:rPr>
              <a:t>Identify situations that require denormalization to generate information efficiently </a:t>
            </a:r>
          </a:p>
          <a:p>
            <a:r>
              <a:rPr lang="en-US" sz="2000" b="1" i="0" dirty="0">
                <a:solidFill>
                  <a:srgbClr val="474A9E"/>
                </a:solidFill>
                <a:effectLst/>
                <a:latin typeface="MyriadPro-Black"/>
              </a:rPr>
              <a:t>6-6 </a:t>
            </a:r>
            <a:r>
              <a:rPr lang="en-US" sz="2000" b="0" i="0" dirty="0">
                <a:solidFill>
                  <a:srgbClr val="242021"/>
                </a:solidFill>
                <a:effectLst/>
                <a:latin typeface="MyriadPro-SemiboldSemiCn"/>
              </a:rPr>
              <a:t>Use a data-modeling checklist to check that the ERD meets a set of minimum requirements</a:t>
            </a:r>
            <a:r>
              <a:rPr lang="en-US" sz="1800" dirty="0"/>
              <a:t> </a:t>
            </a:r>
            <a:endParaRPr lang="en-US" sz="2800" dirty="0"/>
          </a:p>
        </p:txBody>
      </p:sp>
      <p:sp>
        <p:nvSpPr>
          <p:cNvPr id="4" name="Slide Number Placeholder 3">
            <a:extLst>
              <a:ext uri="{FF2B5EF4-FFF2-40B4-BE49-F238E27FC236}">
                <a16:creationId xmlns:a16="http://schemas.microsoft.com/office/drawing/2014/main" id="{3AB04E03-CFDC-8496-B141-12E33FFDEF26}"/>
              </a:ext>
            </a:extLst>
          </p:cNvPr>
          <p:cNvSpPr>
            <a:spLocks noGrp="1"/>
          </p:cNvSpPr>
          <p:nvPr>
            <p:ph type="sldNum" sz="quarter" idx="10"/>
          </p:nvPr>
        </p:nvSpPr>
        <p:spPr/>
        <p:txBody>
          <a:bodyPr/>
          <a:lstStyle/>
          <a:p>
            <a:pPr>
              <a:defRPr/>
            </a:pPr>
            <a:fld id="{34A84676-C444-4AC5-8B4E-405A7C81C0FB}" type="slidenum">
              <a:rPr lang="en-US" altLang="en-US" smtClean="0"/>
              <a:pPr>
                <a:defRPr/>
              </a:pPr>
              <a:t>3</a:t>
            </a:fld>
            <a:endParaRPr lang="en-US" altLang="en-US"/>
          </a:p>
        </p:txBody>
      </p:sp>
      <p:sp>
        <p:nvSpPr>
          <p:cNvPr id="5" name="Footer Placeholder 4">
            <a:extLst>
              <a:ext uri="{FF2B5EF4-FFF2-40B4-BE49-F238E27FC236}">
                <a16:creationId xmlns:a16="http://schemas.microsoft.com/office/drawing/2014/main" id="{71C188EE-963D-A173-9000-E5CD0A99CAF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4A4C7548-FAE8-AAA6-4170-2281F5E08BF1}"/>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910690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571A2-9770-F496-95A5-08FB8A30DC30}"/>
              </a:ext>
            </a:extLst>
          </p:cNvPr>
          <p:cNvSpPr>
            <a:spLocks noGrp="1"/>
          </p:cNvSpPr>
          <p:nvPr>
            <p:ph type="title"/>
          </p:nvPr>
        </p:nvSpPr>
        <p:spPr/>
        <p:txBody>
          <a:bodyPr/>
          <a:lstStyle/>
          <a:p>
            <a:r>
              <a:rPr lang="en-US" dirty="0"/>
              <a:t>6-1 Database Tables and Normalization</a:t>
            </a:r>
          </a:p>
        </p:txBody>
      </p:sp>
      <p:sp>
        <p:nvSpPr>
          <p:cNvPr id="3" name="Date Placeholder 2">
            <a:extLst>
              <a:ext uri="{FF2B5EF4-FFF2-40B4-BE49-F238E27FC236}">
                <a16:creationId xmlns:a16="http://schemas.microsoft.com/office/drawing/2014/main" id="{2BA18ECF-52DD-FA24-701A-D7E52994E127}"/>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3DBDACB5-54B7-C39C-B918-74E05AC82F73}"/>
              </a:ext>
            </a:extLst>
          </p:cNvPr>
          <p:cNvSpPr>
            <a:spLocks noGrp="1"/>
          </p:cNvSpPr>
          <p:nvPr>
            <p:ph type="sldNum" sz="quarter" idx="11"/>
          </p:nvPr>
        </p:nvSpPr>
        <p:spPr/>
        <p:txBody>
          <a:bodyPr/>
          <a:lstStyle/>
          <a:p>
            <a:pPr>
              <a:defRPr/>
            </a:pPr>
            <a:fld id="{F9126DDB-45DE-4D72-94FB-1E2D565E80AF}" type="slidenum">
              <a:rPr lang="en-US" smtClean="0"/>
              <a:pPr>
                <a:defRPr/>
              </a:pPr>
              <a:t>4</a:t>
            </a:fld>
            <a:endParaRPr lang="en-US"/>
          </a:p>
        </p:txBody>
      </p:sp>
      <p:sp>
        <p:nvSpPr>
          <p:cNvPr id="5" name="Footer Placeholder 4">
            <a:extLst>
              <a:ext uri="{FF2B5EF4-FFF2-40B4-BE49-F238E27FC236}">
                <a16:creationId xmlns:a16="http://schemas.microsoft.com/office/drawing/2014/main" id="{95914323-9322-D192-1875-D1BD06E5F1F0}"/>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1632409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EF6C4-1A68-446B-208D-96849B9CD3B6}"/>
              </a:ext>
            </a:extLst>
          </p:cNvPr>
          <p:cNvSpPr>
            <a:spLocks noGrp="1"/>
          </p:cNvSpPr>
          <p:nvPr>
            <p:ph type="title"/>
          </p:nvPr>
        </p:nvSpPr>
        <p:spPr/>
        <p:txBody>
          <a:bodyPr/>
          <a:lstStyle/>
          <a:p>
            <a:r>
              <a:rPr lang="en-US" dirty="0"/>
              <a:t>6-1 Database Tables and Normalization</a:t>
            </a:r>
          </a:p>
        </p:txBody>
      </p:sp>
      <p:sp>
        <p:nvSpPr>
          <p:cNvPr id="3" name="Content Placeholder 2">
            <a:extLst>
              <a:ext uri="{FF2B5EF4-FFF2-40B4-BE49-F238E27FC236}">
                <a16:creationId xmlns:a16="http://schemas.microsoft.com/office/drawing/2014/main" id="{E6C4BE74-3C78-A7AB-4554-C4966DD95C7A}"/>
              </a:ext>
            </a:extLst>
          </p:cNvPr>
          <p:cNvSpPr>
            <a:spLocks noGrp="1"/>
          </p:cNvSpPr>
          <p:nvPr>
            <p:ph idx="1"/>
          </p:nvPr>
        </p:nvSpPr>
        <p:spPr/>
        <p:txBody>
          <a:bodyPr/>
          <a:lstStyle/>
          <a:p>
            <a:r>
              <a:rPr lang="en-US" sz="1800" dirty="0"/>
              <a:t>How do you recognize a poor table structure, and how do you produce a good table?</a:t>
            </a:r>
          </a:p>
          <a:p>
            <a:r>
              <a:rPr lang="en-US" sz="1800" b="1" i="0" dirty="0">
                <a:solidFill>
                  <a:srgbClr val="007DAF"/>
                </a:solidFill>
                <a:effectLst/>
                <a:latin typeface="MyriadPro-Bold"/>
              </a:rPr>
              <a:t>Normalization </a:t>
            </a:r>
            <a:r>
              <a:rPr lang="en-US" sz="1800" b="0" i="0" dirty="0">
                <a:solidFill>
                  <a:srgbClr val="242021"/>
                </a:solidFill>
                <a:effectLst/>
                <a:latin typeface="NewCaledoniaLTStd"/>
              </a:rPr>
              <a:t>is a process for evaluating and correcting table structures to minimize data redundancies.</a:t>
            </a:r>
          </a:p>
          <a:p>
            <a:r>
              <a:rPr lang="en-US" sz="1800" b="0" i="0" dirty="0">
                <a:solidFill>
                  <a:srgbClr val="242021"/>
                </a:solidFill>
                <a:effectLst/>
                <a:latin typeface="NewCaledoniaLTStd"/>
              </a:rPr>
              <a:t>Involve assigning attributes to tables based on the concepts of determination and functional dependency.</a:t>
            </a:r>
          </a:p>
          <a:p>
            <a:r>
              <a:rPr lang="en-US" sz="1800" b="0" i="0" dirty="0">
                <a:solidFill>
                  <a:srgbClr val="242021"/>
                </a:solidFill>
                <a:effectLst/>
                <a:latin typeface="NewCaledoniaLTStd"/>
              </a:rPr>
              <a:t>Normal forms: first three forms include first normal form (1NF), second normal form (2NF), and third normal form (3NF). </a:t>
            </a:r>
          </a:p>
          <a:p>
            <a:pPr lvl="1"/>
            <a:r>
              <a:rPr lang="en-US" b="0" i="0" dirty="0">
                <a:solidFill>
                  <a:srgbClr val="242021"/>
                </a:solidFill>
                <a:effectLst/>
                <a:latin typeface="NewCaledoniaLTStd"/>
              </a:rPr>
              <a:t>From a structural point of view, 2NF is better than 1NF, and 3NF is better than 2NF.</a:t>
            </a:r>
          </a:p>
          <a:p>
            <a:r>
              <a:rPr lang="en-US" sz="1800" b="0" i="0" dirty="0">
                <a:solidFill>
                  <a:srgbClr val="242021"/>
                </a:solidFill>
                <a:effectLst/>
                <a:latin typeface="NewCaledoniaLTStd"/>
              </a:rPr>
              <a:t>For most purposes in business database design, 3NF is as high as you need to go in the normalization process</a:t>
            </a:r>
            <a:br>
              <a:rPr lang="en-US" sz="1800" dirty="0"/>
            </a:br>
            <a:endParaRPr lang="en-US" sz="1800" dirty="0"/>
          </a:p>
        </p:txBody>
      </p:sp>
      <p:sp>
        <p:nvSpPr>
          <p:cNvPr id="4" name="Slide Number Placeholder 3">
            <a:extLst>
              <a:ext uri="{FF2B5EF4-FFF2-40B4-BE49-F238E27FC236}">
                <a16:creationId xmlns:a16="http://schemas.microsoft.com/office/drawing/2014/main" id="{5F1C01BE-8599-9EBE-AD66-5653A0DEE691}"/>
              </a:ext>
            </a:extLst>
          </p:cNvPr>
          <p:cNvSpPr>
            <a:spLocks noGrp="1"/>
          </p:cNvSpPr>
          <p:nvPr>
            <p:ph type="sldNum" sz="quarter" idx="10"/>
          </p:nvPr>
        </p:nvSpPr>
        <p:spPr/>
        <p:txBody>
          <a:bodyPr/>
          <a:lstStyle/>
          <a:p>
            <a:pPr>
              <a:defRPr/>
            </a:pPr>
            <a:fld id="{34A84676-C444-4AC5-8B4E-405A7C81C0FB}" type="slidenum">
              <a:rPr lang="en-US" altLang="en-US" smtClean="0"/>
              <a:pPr>
                <a:defRPr/>
              </a:pPr>
              <a:t>5</a:t>
            </a:fld>
            <a:endParaRPr lang="en-US" altLang="en-US"/>
          </a:p>
        </p:txBody>
      </p:sp>
      <p:sp>
        <p:nvSpPr>
          <p:cNvPr id="5" name="Footer Placeholder 4">
            <a:extLst>
              <a:ext uri="{FF2B5EF4-FFF2-40B4-BE49-F238E27FC236}">
                <a16:creationId xmlns:a16="http://schemas.microsoft.com/office/drawing/2014/main" id="{2F114A75-39F1-711F-D87A-75AAF47F99E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87B4339E-A383-73A3-554F-0AD3B2FAD746}"/>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7957566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EF6C4-1A68-446B-208D-96849B9CD3B6}"/>
              </a:ext>
            </a:extLst>
          </p:cNvPr>
          <p:cNvSpPr>
            <a:spLocks noGrp="1"/>
          </p:cNvSpPr>
          <p:nvPr>
            <p:ph type="title"/>
          </p:nvPr>
        </p:nvSpPr>
        <p:spPr/>
        <p:txBody>
          <a:bodyPr/>
          <a:lstStyle/>
          <a:p>
            <a:r>
              <a:rPr lang="en-US" dirty="0"/>
              <a:t>6-1 Database Tables and Normalization</a:t>
            </a:r>
          </a:p>
        </p:txBody>
      </p:sp>
      <p:sp>
        <p:nvSpPr>
          <p:cNvPr id="3" name="Content Placeholder 2">
            <a:extLst>
              <a:ext uri="{FF2B5EF4-FFF2-40B4-BE49-F238E27FC236}">
                <a16:creationId xmlns:a16="http://schemas.microsoft.com/office/drawing/2014/main" id="{E6C4BE74-3C78-A7AB-4554-C4966DD95C7A}"/>
              </a:ext>
            </a:extLst>
          </p:cNvPr>
          <p:cNvSpPr>
            <a:spLocks noGrp="1"/>
          </p:cNvSpPr>
          <p:nvPr>
            <p:ph idx="1"/>
          </p:nvPr>
        </p:nvSpPr>
        <p:spPr>
          <a:xfrm>
            <a:off x="838200" y="1825625"/>
            <a:ext cx="8305800" cy="4351338"/>
          </a:xfrm>
        </p:spPr>
        <p:txBody>
          <a:bodyPr/>
          <a:lstStyle/>
          <a:p>
            <a:r>
              <a:rPr lang="en-US" sz="2400" b="0" i="0" dirty="0">
                <a:solidFill>
                  <a:srgbClr val="242021"/>
                </a:solidFill>
                <a:effectLst/>
                <a:latin typeface="NewCaledoniaLTStd"/>
              </a:rPr>
              <a:t>The</a:t>
            </a:r>
            <a:r>
              <a:rPr lang="en-US" sz="2400" dirty="0">
                <a:solidFill>
                  <a:srgbClr val="242021"/>
                </a:solidFill>
              </a:rPr>
              <a:t> </a:t>
            </a:r>
            <a:r>
              <a:rPr lang="en-US" sz="2400" b="0" i="0" dirty="0">
                <a:solidFill>
                  <a:srgbClr val="242021"/>
                </a:solidFill>
                <a:effectLst/>
                <a:latin typeface="NewCaledoniaLTStd"/>
              </a:rPr>
              <a:t>higher the normal form, the more relational join operations you need to produce a specified</a:t>
            </a:r>
            <a:br>
              <a:rPr lang="en-US" sz="2400" b="0" i="0" dirty="0">
                <a:solidFill>
                  <a:srgbClr val="242021"/>
                </a:solidFill>
                <a:effectLst/>
                <a:latin typeface="NewCaledoniaLTStd"/>
              </a:rPr>
            </a:br>
            <a:r>
              <a:rPr lang="en-US" sz="2400" b="0" i="0" dirty="0">
                <a:solidFill>
                  <a:srgbClr val="242021"/>
                </a:solidFill>
                <a:effectLst/>
                <a:latin typeface="NewCaledoniaLTStd"/>
              </a:rPr>
              <a:t>output. More resources are required by the database system to respond to end-user queries. </a:t>
            </a:r>
          </a:p>
          <a:p>
            <a:r>
              <a:rPr lang="en-US" sz="2400" b="1" i="0" dirty="0">
                <a:solidFill>
                  <a:srgbClr val="007DAF"/>
                </a:solidFill>
                <a:effectLst/>
                <a:latin typeface="MyriadPro-Bold"/>
              </a:rPr>
              <a:t>Denormalization </a:t>
            </a:r>
            <a:r>
              <a:rPr lang="en-US" sz="2400" b="0" i="0" dirty="0">
                <a:solidFill>
                  <a:srgbClr val="242021"/>
                </a:solidFill>
                <a:effectLst/>
                <a:latin typeface="NewCaledoniaLTStd"/>
              </a:rPr>
              <a:t>produces a lower normal form; that is, a 3NF will be converted to a 2NF through denormalization.</a:t>
            </a:r>
          </a:p>
          <a:p>
            <a:pPr lvl="1"/>
            <a:r>
              <a:rPr lang="en-US" b="0" i="0" dirty="0">
                <a:solidFill>
                  <a:srgbClr val="242021"/>
                </a:solidFill>
                <a:effectLst/>
                <a:latin typeface="NewCaledoniaLTStd"/>
              </a:rPr>
              <a:t>The price you pay for increased performance through denormalization is greater data redundancy</a:t>
            </a:r>
            <a:r>
              <a:rPr lang="en-US" sz="1000" dirty="0"/>
              <a:t> </a:t>
            </a:r>
            <a:br>
              <a:rPr lang="en-US" dirty="0"/>
            </a:br>
            <a:endParaRPr lang="en-US" dirty="0"/>
          </a:p>
        </p:txBody>
      </p:sp>
      <p:sp>
        <p:nvSpPr>
          <p:cNvPr id="4" name="Slide Number Placeholder 3">
            <a:extLst>
              <a:ext uri="{FF2B5EF4-FFF2-40B4-BE49-F238E27FC236}">
                <a16:creationId xmlns:a16="http://schemas.microsoft.com/office/drawing/2014/main" id="{5F1C01BE-8599-9EBE-AD66-5653A0DEE691}"/>
              </a:ext>
            </a:extLst>
          </p:cNvPr>
          <p:cNvSpPr>
            <a:spLocks noGrp="1"/>
          </p:cNvSpPr>
          <p:nvPr>
            <p:ph type="sldNum" sz="quarter" idx="10"/>
          </p:nvPr>
        </p:nvSpPr>
        <p:spPr/>
        <p:txBody>
          <a:bodyPr/>
          <a:lstStyle/>
          <a:p>
            <a:pPr>
              <a:defRPr/>
            </a:pPr>
            <a:fld id="{34A84676-C444-4AC5-8B4E-405A7C81C0FB}" type="slidenum">
              <a:rPr lang="en-US" altLang="en-US" smtClean="0"/>
              <a:pPr>
                <a:defRPr/>
              </a:pPr>
              <a:t>6</a:t>
            </a:fld>
            <a:endParaRPr lang="en-US" altLang="en-US"/>
          </a:p>
        </p:txBody>
      </p:sp>
      <p:sp>
        <p:nvSpPr>
          <p:cNvPr id="5" name="Footer Placeholder 4">
            <a:extLst>
              <a:ext uri="{FF2B5EF4-FFF2-40B4-BE49-F238E27FC236}">
                <a16:creationId xmlns:a16="http://schemas.microsoft.com/office/drawing/2014/main" id="{2F114A75-39F1-711F-D87A-75AAF47F99E5}"/>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87B4339E-A383-73A3-554F-0AD3B2FAD746}"/>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02FFE907-55E1-ED81-6624-C0D6A899CAB9}"/>
              </a:ext>
            </a:extLst>
          </p:cNvPr>
          <p:cNvPicPr>
            <a:picLocks noChangeAspect="1"/>
          </p:cNvPicPr>
          <p:nvPr/>
        </p:nvPicPr>
        <p:blipFill>
          <a:blip r:embed="rId2"/>
          <a:stretch>
            <a:fillRect/>
          </a:stretch>
        </p:blipFill>
        <p:spPr>
          <a:xfrm>
            <a:off x="9448800" y="1804987"/>
            <a:ext cx="2209800" cy="3248025"/>
          </a:xfrm>
          <a:prstGeom prst="rect">
            <a:avLst/>
          </a:prstGeom>
        </p:spPr>
      </p:pic>
    </p:spTree>
    <p:extLst>
      <p:ext uri="{BB962C8B-B14F-4D97-AF65-F5344CB8AC3E}">
        <p14:creationId xmlns:p14="http://schemas.microsoft.com/office/powerpoint/2010/main" val="32897339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3F4A7-E96F-51D7-99AB-4F1A0058B325}"/>
              </a:ext>
            </a:extLst>
          </p:cNvPr>
          <p:cNvSpPr>
            <a:spLocks noGrp="1"/>
          </p:cNvSpPr>
          <p:nvPr>
            <p:ph type="title"/>
          </p:nvPr>
        </p:nvSpPr>
        <p:spPr/>
        <p:txBody>
          <a:bodyPr/>
          <a:lstStyle/>
          <a:p>
            <a:r>
              <a:rPr lang="en-US" dirty="0"/>
              <a:t>6-2 The Need for Normalization</a:t>
            </a:r>
          </a:p>
        </p:txBody>
      </p:sp>
      <p:sp>
        <p:nvSpPr>
          <p:cNvPr id="3" name="Date Placeholder 2">
            <a:extLst>
              <a:ext uri="{FF2B5EF4-FFF2-40B4-BE49-F238E27FC236}">
                <a16:creationId xmlns:a16="http://schemas.microsoft.com/office/drawing/2014/main" id="{193B3ECD-2B6B-81BF-02F1-9BA08E3CAEB8}"/>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27C5DFD1-3582-9985-848C-EEB5D1EB354C}"/>
              </a:ext>
            </a:extLst>
          </p:cNvPr>
          <p:cNvSpPr>
            <a:spLocks noGrp="1"/>
          </p:cNvSpPr>
          <p:nvPr>
            <p:ph type="sldNum" sz="quarter" idx="11"/>
          </p:nvPr>
        </p:nvSpPr>
        <p:spPr/>
        <p:txBody>
          <a:bodyPr/>
          <a:lstStyle/>
          <a:p>
            <a:pPr>
              <a:defRPr/>
            </a:pPr>
            <a:fld id="{F9126DDB-45DE-4D72-94FB-1E2D565E80AF}" type="slidenum">
              <a:rPr lang="en-US" smtClean="0"/>
              <a:pPr>
                <a:defRPr/>
              </a:pPr>
              <a:t>7</a:t>
            </a:fld>
            <a:endParaRPr lang="en-US"/>
          </a:p>
        </p:txBody>
      </p:sp>
      <p:sp>
        <p:nvSpPr>
          <p:cNvPr id="5" name="Footer Placeholder 4">
            <a:extLst>
              <a:ext uri="{FF2B5EF4-FFF2-40B4-BE49-F238E27FC236}">
                <a16:creationId xmlns:a16="http://schemas.microsoft.com/office/drawing/2014/main" id="{89061C86-371D-8417-1F51-3CAFF3F0F667}"/>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1174647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35D97F-F465-B245-DF4C-337BF024C7DC}"/>
              </a:ext>
            </a:extLst>
          </p:cNvPr>
          <p:cNvSpPr>
            <a:spLocks noGrp="1"/>
          </p:cNvSpPr>
          <p:nvPr>
            <p:ph type="title"/>
          </p:nvPr>
        </p:nvSpPr>
        <p:spPr/>
        <p:txBody>
          <a:bodyPr/>
          <a:lstStyle/>
          <a:p>
            <a:r>
              <a:rPr lang="en-US" dirty="0"/>
              <a:t>6-2 The Need for Normalization</a:t>
            </a:r>
          </a:p>
        </p:txBody>
      </p:sp>
      <p:sp>
        <p:nvSpPr>
          <p:cNvPr id="3" name="Content Placeholder 2">
            <a:extLst>
              <a:ext uri="{FF2B5EF4-FFF2-40B4-BE49-F238E27FC236}">
                <a16:creationId xmlns:a16="http://schemas.microsoft.com/office/drawing/2014/main" id="{83B16EC3-0F8A-E325-C63D-31B2D87FAF85}"/>
              </a:ext>
            </a:extLst>
          </p:cNvPr>
          <p:cNvSpPr>
            <a:spLocks noGrp="1"/>
          </p:cNvSpPr>
          <p:nvPr>
            <p:ph idx="1"/>
          </p:nvPr>
        </p:nvSpPr>
        <p:spPr/>
        <p:txBody>
          <a:bodyPr/>
          <a:lstStyle/>
          <a:p>
            <a:r>
              <a:rPr lang="en-US" sz="2000" dirty="0"/>
              <a:t>Design process </a:t>
            </a:r>
          </a:p>
          <a:p>
            <a:pPr lvl="1"/>
            <a:r>
              <a:rPr lang="en-US" sz="1600" b="0" i="0" dirty="0">
                <a:solidFill>
                  <a:srgbClr val="242021"/>
                </a:solidFill>
                <a:effectLst/>
                <a:latin typeface="NewCaledoniaLTStd"/>
              </a:rPr>
              <a:t>Identifying business rules</a:t>
            </a:r>
            <a:endParaRPr lang="en-US" sz="1600" dirty="0">
              <a:solidFill>
                <a:srgbClr val="242021"/>
              </a:solidFill>
            </a:endParaRPr>
          </a:p>
          <a:p>
            <a:pPr lvl="1"/>
            <a:r>
              <a:rPr lang="en-US" sz="1600" b="0" i="0" dirty="0">
                <a:solidFill>
                  <a:srgbClr val="242021"/>
                </a:solidFill>
                <a:effectLst/>
                <a:latin typeface="NewCaledoniaLTStd"/>
              </a:rPr>
              <a:t>Identifying and defining business and data constraints</a:t>
            </a:r>
            <a:endParaRPr lang="en-US" sz="1600" dirty="0">
              <a:solidFill>
                <a:srgbClr val="242021"/>
              </a:solidFill>
            </a:endParaRPr>
          </a:p>
          <a:p>
            <a:pPr lvl="1"/>
            <a:r>
              <a:rPr lang="en-US" sz="1600" b="0" i="0" dirty="0">
                <a:solidFill>
                  <a:srgbClr val="242021"/>
                </a:solidFill>
                <a:effectLst/>
                <a:latin typeface="NewCaledoniaLTStd"/>
              </a:rPr>
              <a:t>Defining functional dependencies</a:t>
            </a:r>
            <a:endParaRPr lang="en-US" sz="1600" dirty="0">
              <a:solidFill>
                <a:srgbClr val="242021"/>
              </a:solidFill>
            </a:endParaRPr>
          </a:p>
          <a:p>
            <a:pPr lvl="1"/>
            <a:r>
              <a:rPr lang="en-US" sz="1600" b="0" i="0" dirty="0">
                <a:solidFill>
                  <a:srgbClr val="242021"/>
                </a:solidFill>
                <a:effectLst/>
                <a:latin typeface="NewCaledoniaLTStd"/>
              </a:rPr>
              <a:t>Identifying entities and relationships</a:t>
            </a:r>
            <a:endParaRPr lang="en-US" sz="1600" dirty="0">
              <a:solidFill>
                <a:srgbClr val="242021"/>
              </a:solidFill>
            </a:endParaRPr>
          </a:p>
          <a:p>
            <a:pPr lvl="1"/>
            <a:r>
              <a:rPr lang="en-US" sz="1600" b="0" i="0" dirty="0">
                <a:solidFill>
                  <a:srgbClr val="242021"/>
                </a:solidFill>
                <a:effectLst/>
                <a:latin typeface="NewCaledoniaLTStd"/>
              </a:rPr>
              <a:t>Eliminating multivalued attributes</a:t>
            </a:r>
            <a:r>
              <a:rPr lang="en-US" sz="2000" dirty="0"/>
              <a:t> </a:t>
            </a:r>
          </a:p>
          <a:p>
            <a:r>
              <a:rPr lang="en-US" sz="2000" dirty="0">
                <a:solidFill>
                  <a:srgbClr val="242021"/>
                </a:solidFill>
              </a:rPr>
              <a:t>Design and normalize</a:t>
            </a:r>
            <a:endParaRPr lang="en-US" sz="2000" b="0" i="0" dirty="0">
              <a:solidFill>
                <a:srgbClr val="242021"/>
              </a:solidFill>
              <a:effectLst/>
              <a:latin typeface="NewCaledoniaLTStd"/>
            </a:endParaRPr>
          </a:p>
          <a:p>
            <a:pPr lvl="1"/>
            <a:r>
              <a:rPr lang="en-US" sz="1600" b="0" i="0" dirty="0">
                <a:solidFill>
                  <a:srgbClr val="242021"/>
                </a:solidFill>
                <a:effectLst/>
                <a:latin typeface="NewCaledoniaLTStd"/>
              </a:rPr>
              <a:t>Defining the business rules and data constraints, and identifying the functional dependencies, entities, and attributes</a:t>
            </a:r>
          </a:p>
          <a:p>
            <a:pPr lvl="1"/>
            <a:r>
              <a:rPr lang="en-US" sz="1600" b="0" i="0" dirty="0">
                <a:solidFill>
                  <a:srgbClr val="242021"/>
                </a:solidFill>
                <a:effectLst/>
                <a:latin typeface="NewCaledoniaLTStd"/>
              </a:rPr>
              <a:t>Apply normalization concepts to validate and further refine the model.</a:t>
            </a:r>
          </a:p>
          <a:p>
            <a:pPr marL="0" indent="0">
              <a:buNone/>
            </a:pPr>
            <a:br>
              <a:rPr lang="en-US" dirty="0"/>
            </a:br>
            <a:br>
              <a:rPr lang="en-US" dirty="0"/>
            </a:br>
            <a:endParaRPr lang="en-US" dirty="0"/>
          </a:p>
        </p:txBody>
      </p:sp>
      <p:sp>
        <p:nvSpPr>
          <p:cNvPr id="4" name="Slide Number Placeholder 3">
            <a:extLst>
              <a:ext uri="{FF2B5EF4-FFF2-40B4-BE49-F238E27FC236}">
                <a16:creationId xmlns:a16="http://schemas.microsoft.com/office/drawing/2014/main" id="{BE9276E1-9794-AF6D-B29E-293ECD917A98}"/>
              </a:ext>
            </a:extLst>
          </p:cNvPr>
          <p:cNvSpPr>
            <a:spLocks noGrp="1"/>
          </p:cNvSpPr>
          <p:nvPr>
            <p:ph type="sldNum" sz="quarter" idx="10"/>
          </p:nvPr>
        </p:nvSpPr>
        <p:spPr/>
        <p:txBody>
          <a:bodyPr/>
          <a:lstStyle/>
          <a:p>
            <a:pPr>
              <a:defRPr/>
            </a:pPr>
            <a:fld id="{34A84676-C444-4AC5-8B4E-405A7C81C0FB}" type="slidenum">
              <a:rPr lang="en-US" altLang="en-US" smtClean="0"/>
              <a:pPr>
                <a:defRPr/>
              </a:pPr>
              <a:t>8</a:t>
            </a:fld>
            <a:endParaRPr lang="en-US" altLang="en-US"/>
          </a:p>
        </p:txBody>
      </p:sp>
      <p:sp>
        <p:nvSpPr>
          <p:cNvPr id="5" name="Footer Placeholder 4">
            <a:extLst>
              <a:ext uri="{FF2B5EF4-FFF2-40B4-BE49-F238E27FC236}">
                <a16:creationId xmlns:a16="http://schemas.microsoft.com/office/drawing/2014/main" id="{FB870525-DEC3-184E-DAD6-AF270C0CA392}"/>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7FBB51B7-C3B4-DD03-291B-3983CB7526B3}"/>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4818398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B8AFD-7C70-8118-0373-99301E4C6A00}"/>
              </a:ext>
            </a:extLst>
          </p:cNvPr>
          <p:cNvSpPr>
            <a:spLocks noGrp="1"/>
          </p:cNvSpPr>
          <p:nvPr>
            <p:ph type="title"/>
          </p:nvPr>
        </p:nvSpPr>
        <p:spPr/>
        <p:txBody>
          <a:bodyPr/>
          <a:lstStyle/>
          <a:p>
            <a:r>
              <a:rPr lang="en-US" sz="3600" b="0" i="0" dirty="0">
                <a:solidFill>
                  <a:srgbClr val="242021"/>
                </a:solidFill>
                <a:effectLst/>
                <a:latin typeface="NewCaledoniaLTStd"/>
              </a:rPr>
              <a:t>Reporting activities of a construction</a:t>
            </a:r>
            <a:endParaRPr lang="en-US" dirty="0"/>
          </a:p>
        </p:txBody>
      </p:sp>
      <p:sp>
        <p:nvSpPr>
          <p:cNvPr id="3" name="Content Placeholder 2">
            <a:extLst>
              <a:ext uri="{FF2B5EF4-FFF2-40B4-BE49-F238E27FC236}">
                <a16:creationId xmlns:a16="http://schemas.microsoft.com/office/drawing/2014/main" id="{E3CD40D8-EF03-F063-87DC-10CDC76715EB}"/>
              </a:ext>
            </a:extLst>
          </p:cNvPr>
          <p:cNvSpPr>
            <a:spLocks noGrp="1"/>
          </p:cNvSpPr>
          <p:nvPr>
            <p:ph idx="1"/>
          </p:nvPr>
        </p:nvSpPr>
        <p:spPr/>
        <p:txBody>
          <a:bodyPr/>
          <a:lstStyle/>
          <a:p>
            <a:r>
              <a:rPr lang="en-US" sz="1800" b="0" i="0" dirty="0">
                <a:solidFill>
                  <a:srgbClr val="242021"/>
                </a:solidFill>
                <a:effectLst/>
                <a:latin typeface="NewCaledoniaLTStd"/>
              </a:rPr>
              <a:t>A construction company that manages several building projects. </a:t>
            </a:r>
          </a:p>
          <a:p>
            <a:r>
              <a:rPr lang="en-US" sz="1800" b="0" i="0" dirty="0">
                <a:solidFill>
                  <a:srgbClr val="242021"/>
                </a:solidFill>
                <a:effectLst/>
                <a:latin typeface="NewCaledoniaLTStd"/>
              </a:rPr>
              <a:t>Each project has its own project number, name, assigned employees, and so on. </a:t>
            </a:r>
          </a:p>
          <a:p>
            <a:r>
              <a:rPr lang="en-US" sz="1800" b="0" i="0" dirty="0">
                <a:solidFill>
                  <a:srgbClr val="242021"/>
                </a:solidFill>
                <a:effectLst/>
                <a:latin typeface="NewCaledoniaLTStd"/>
              </a:rPr>
              <a:t>Each employee has an employee number, name, and job classification, such as engineer or computer technician</a:t>
            </a:r>
          </a:p>
          <a:p>
            <a:r>
              <a:rPr lang="en-US" sz="1800" b="0" i="0" dirty="0">
                <a:solidFill>
                  <a:srgbClr val="242021"/>
                </a:solidFill>
                <a:effectLst/>
                <a:latin typeface="NewCaledoniaLTStd"/>
              </a:rPr>
              <a:t>The company charges its clients by billing the hours spent on each contract. </a:t>
            </a:r>
          </a:p>
          <a:p>
            <a:r>
              <a:rPr lang="en-US" sz="1800" b="0" i="0" dirty="0">
                <a:solidFill>
                  <a:srgbClr val="242021"/>
                </a:solidFill>
                <a:effectLst/>
                <a:latin typeface="NewCaledoniaLTStd"/>
              </a:rPr>
              <a:t>The hourly billing rate is dependent on the employee’s job classification. </a:t>
            </a:r>
          </a:p>
          <a:p>
            <a:pPr lvl="1"/>
            <a:r>
              <a:rPr lang="en-US" sz="1500" b="0" i="0" dirty="0">
                <a:solidFill>
                  <a:srgbClr val="242021"/>
                </a:solidFill>
                <a:effectLst/>
                <a:latin typeface="NewCaledoniaLTStd"/>
              </a:rPr>
              <a:t>One hour of computer technician time is billed at a different rate than one hour of engineer time. </a:t>
            </a:r>
          </a:p>
          <a:p>
            <a:r>
              <a:rPr lang="en-US" sz="1800" b="0" i="0" dirty="0">
                <a:solidFill>
                  <a:srgbClr val="242021"/>
                </a:solidFill>
                <a:effectLst/>
                <a:latin typeface="NewCaledoniaLTStd"/>
              </a:rPr>
              <a:t>A project report is generated that contains the information displayed in Table 6.1.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B220CF4A-3D6F-E630-84C1-906CC6B2E90B}"/>
              </a:ext>
            </a:extLst>
          </p:cNvPr>
          <p:cNvSpPr>
            <a:spLocks noGrp="1"/>
          </p:cNvSpPr>
          <p:nvPr>
            <p:ph type="sldNum" sz="quarter" idx="10"/>
          </p:nvPr>
        </p:nvSpPr>
        <p:spPr/>
        <p:txBody>
          <a:bodyPr/>
          <a:lstStyle/>
          <a:p>
            <a:pPr>
              <a:defRPr/>
            </a:pPr>
            <a:fld id="{34A84676-C444-4AC5-8B4E-405A7C81C0FB}" type="slidenum">
              <a:rPr lang="en-US" altLang="en-US" smtClean="0"/>
              <a:pPr>
                <a:defRPr/>
              </a:pPr>
              <a:t>9</a:t>
            </a:fld>
            <a:endParaRPr lang="en-US" altLang="en-US"/>
          </a:p>
        </p:txBody>
      </p:sp>
      <p:sp>
        <p:nvSpPr>
          <p:cNvPr id="5" name="Footer Placeholder 4">
            <a:extLst>
              <a:ext uri="{FF2B5EF4-FFF2-40B4-BE49-F238E27FC236}">
                <a16:creationId xmlns:a16="http://schemas.microsoft.com/office/drawing/2014/main" id="{0BE041CB-A7B7-71C9-04B4-A10795112C76}"/>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34B897A0-1870-E40D-9527-63417F0F7BFE}"/>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42236066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F36D51E-447A-8D0C-CD9F-9EC72C75E81B}"/>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FD368FB-5312-BD87-5F81-75B3F52F1979}"/>
              </a:ext>
            </a:extLst>
          </p:cNvPr>
          <p:cNvSpPr>
            <a:spLocks noGrp="1"/>
          </p:cNvSpPr>
          <p:nvPr>
            <p:ph type="sldNum" sz="quarter" idx="11"/>
          </p:nvPr>
        </p:nvSpPr>
        <p:spPr/>
        <p:txBody>
          <a:bodyPr/>
          <a:lstStyle/>
          <a:p>
            <a:pPr>
              <a:defRPr/>
            </a:pPr>
            <a:fld id="{D1AD3536-327C-4937-83AF-A64971CFA6D9}" type="slidenum">
              <a:rPr lang="en-US" smtClean="0"/>
              <a:pPr>
                <a:defRPr/>
              </a:pPr>
              <a:t>10</a:t>
            </a:fld>
            <a:endParaRPr lang="en-US"/>
          </a:p>
        </p:txBody>
      </p:sp>
      <p:sp>
        <p:nvSpPr>
          <p:cNvPr id="4" name="Footer Placeholder 3">
            <a:extLst>
              <a:ext uri="{FF2B5EF4-FFF2-40B4-BE49-F238E27FC236}">
                <a16:creationId xmlns:a16="http://schemas.microsoft.com/office/drawing/2014/main" id="{09415F58-7DB4-FF91-DC01-D866BDA6979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4647996E-1D6F-38A0-1B17-DD8D14C20B13}"/>
              </a:ext>
            </a:extLst>
          </p:cNvPr>
          <p:cNvPicPr>
            <a:picLocks noChangeAspect="1"/>
          </p:cNvPicPr>
          <p:nvPr/>
        </p:nvPicPr>
        <p:blipFill>
          <a:blip r:embed="rId2"/>
          <a:stretch>
            <a:fillRect/>
          </a:stretch>
        </p:blipFill>
        <p:spPr>
          <a:xfrm rot="5400000">
            <a:off x="2986698" y="-1157898"/>
            <a:ext cx="6375767" cy="8691563"/>
          </a:xfrm>
          <a:prstGeom prst="rect">
            <a:avLst/>
          </a:prstGeom>
        </p:spPr>
      </p:pic>
    </p:spTree>
    <p:extLst>
      <p:ext uri="{BB962C8B-B14F-4D97-AF65-F5344CB8AC3E}">
        <p14:creationId xmlns:p14="http://schemas.microsoft.com/office/powerpoint/2010/main" val="2070145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542781E-5011-5EAB-34D5-739F0686DA2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2FCA584B-FFCE-7E65-CF18-50E5DA531067}"/>
              </a:ext>
            </a:extLst>
          </p:cNvPr>
          <p:cNvSpPr>
            <a:spLocks noGrp="1"/>
          </p:cNvSpPr>
          <p:nvPr>
            <p:ph type="sldNum" sz="quarter" idx="11"/>
          </p:nvPr>
        </p:nvSpPr>
        <p:spPr/>
        <p:txBody>
          <a:bodyPr/>
          <a:lstStyle/>
          <a:p>
            <a:pPr>
              <a:defRPr/>
            </a:pPr>
            <a:fld id="{D1AD3536-327C-4937-83AF-A64971CFA6D9}" type="slidenum">
              <a:rPr lang="en-US" smtClean="0"/>
              <a:pPr>
                <a:defRPr/>
              </a:pPr>
              <a:t>11</a:t>
            </a:fld>
            <a:endParaRPr lang="en-US"/>
          </a:p>
        </p:txBody>
      </p:sp>
      <p:sp>
        <p:nvSpPr>
          <p:cNvPr id="4" name="Footer Placeholder 3">
            <a:extLst>
              <a:ext uri="{FF2B5EF4-FFF2-40B4-BE49-F238E27FC236}">
                <a16:creationId xmlns:a16="http://schemas.microsoft.com/office/drawing/2014/main" id="{F4AA4109-6E1B-2B0C-422E-4EB8E3ABF1B8}"/>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EAB2175-B023-6668-7941-0EEE39E4C3D8}"/>
              </a:ext>
            </a:extLst>
          </p:cNvPr>
          <p:cNvPicPr>
            <a:picLocks noChangeAspect="1"/>
          </p:cNvPicPr>
          <p:nvPr/>
        </p:nvPicPr>
        <p:blipFill>
          <a:blip r:embed="rId2"/>
          <a:stretch>
            <a:fillRect/>
          </a:stretch>
        </p:blipFill>
        <p:spPr>
          <a:xfrm>
            <a:off x="0" y="1391694"/>
            <a:ext cx="12192000" cy="4074611"/>
          </a:xfrm>
          <a:prstGeom prst="rect">
            <a:avLst/>
          </a:prstGeom>
        </p:spPr>
      </p:pic>
      <p:sp>
        <p:nvSpPr>
          <p:cNvPr id="8" name="TextBox 7">
            <a:extLst>
              <a:ext uri="{FF2B5EF4-FFF2-40B4-BE49-F238E27FC236}">
                <a16:creationId xmlns:a16="http://schemas.microsoft.com/office/drawing/2014/main" id="{5DA3C939-0FB0-41E8-2A1C-91E5E5B5C301}"/>
              </a:ext>
            </a:extLst>
          </p:cNvPr>
          <p:cNvSpPr txBox="1"/>
          <p:nvPr/>
        </p:nvSpPr>
        <p:spPr>
          <a:xfrm>
            <a:off x="1981200" y="5554924"/>
            <a:ext cx="8305800" cy="923330"/>
          </a:xfrm>
          <a:prstGeom prst="rect">
            <a:avLst/>
          </a:prstGeom>
          <a:noFill/>
        </p:spPr>
        <p:txBody>
          <a:bodyPr wrap="square">
            <a:spAutoFit/>
          </a:bodyPr>
          <a:lstStyle/>
          <a:p>
            <a:r>
              <a:rPr lang="en-US" sz="1800" b="1" i="0" dirty="0">
                <a:solidFill>
                  <a:srgbClr val="007DAF"/>
                </a:solidFill>
                <a:effectLst/>
                <a:latin typeface="MyriadPro-Bold"/>
              </a:rPr>
              <a:t>unnormalized data</a:t>
            </a:r>
            <a:r>
              <a:rPr lang="en-US" sz="1800" b="0" i="0" dirty="0">
                <a:solidFill>
                  <a:srgbClr val="242021"/>
                </a:solidFill>
                <a:effectLst/>
                <a:latin typeface="NewCaledoniaLTStd"/>
              </a:rPr>
              <a:t>, reflected by the existence of several multivalued data elements (EMP_NUM, EMP_NAME, JOB_CLASS, CHARGE_HOUR, HOURS_BILLED)</a:t>
            </a:r>
            <a:r>
              <a:rPr lang="en-US" sz="1800" dirty="0"/>
              <a:t> </a:t>
            </a:r>
            <a:br>
              <a:rPr lang="en-US" sz="1800" dirty="0"/>
            </a:br>
            <a:endParaRPr lang="en-US" sz="1800" dirty="0"/>
          </a:p>
        </p:txBody>
      </p:sp>
    </p:spTree>
    <p:extLst>
      <p:ext uri="{BB962C8B-B14F-4D97-AF65-F5344CB8AC3E}">
        <p14:creationId xmlns:p14="http://schemas.microsoft.com/office/powerpoint/2010/main" val="1725769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80E2B6-3A78-F92D-2D4C-1EABBEB1227C}"/>
              </a:ext>
            </a:extLst>
          </p:cNvPr>
          <p:cNvSpPr>
            <a:spLocks noGrp="1"/>
          </p:cNvSpPr>
          <p:nvPr>
            <p:ph type="title"/>
          </p:nvPr>
        </p:nvSpPr>
        <p:spPr/>
        <p:txBody>
          <a:bodyPr/>
          <a:lstStyle/>
          <a:p>
            <a:r>
              <a:rPr lang="en-US" dirty="0"/>
              <a:t>Deficiencies</a:t>
            </a:r>
          </a:p>
        </p:txBody>
      </p:sp>
      <p:sp>
        <p:nvSpPr>
          <p:cNvPr id="3" name="Content Placeholder 2">
            <a:extLst>
              <a:ext uri="{FF2B5EF4-FFF2-40B4-BE49-F238E27FC236}">
                <a16:creationId xmlns:a16="http://schemas.microsoft.com/office/drawing/2014/main" id="{E2397813-A683-D9D5-365F-C6BC3AC7B06A}"/>
              </a:ext>
            </a:extLst>
          </p:cNvPr>
          <p:cNvSpPr>
            <a:spLocks noGrp="1"/>
          </p:cNvSpPr>
          <p:nvPr>
            <p:ph idx="1"/>
          </p:nvPr>
        </p:nvSpPr>
        <p:spPr/>
        <p:txBody>
          <a:bodyPr/>
          <a:lstStyle/>
          <a:p>
            <a:r>
              <a:rPr lang="en-US" sz="2000" b="0" i="0" dirty="0">
                <a:solidFill>
                  <a:srgbClr val="242021"/>
                </a:solidFill>
                <a:effectLst/>
                <a:latin typeface="NewCaledoniaLTStd"/>
              </a:rPr>
              <a:t>Data inconsistencies. </a:t>
            </a:r>
          </a:p>
          <a:p>
            <a:pPr lvl="1"/>
            <a:r>
              <a:rPr lang="en-US" sz="2000" b="0" i="0" dirty="0">
                <a:solidFill>
                  <a:srgbClr val="242021"/>
                </a:solidFill>
                <a:effectLst/>
                <a:latin typeface="NewCaledoniaLTStd"/>
              </a:rPr>
              <a:t>“Elect. Engineer” might be entered as “</a:t>
            </a:r>
            <a:r>
              <a:rPr lang="en-US" sz="2000" b="0" i="0" dirty="0" err="1">
                <a:solidFill>
                  <a:srgbClr val="242021"/>
                </a:solidFill>
                <a:effectLst/>
                <a:latin typeface="NewCaledoniaLTStd"/>
              </a:rPr>
              <a:t>Elect.Eng</a:t>
            </a:r>
            <a:r>
              <a:rPr lang="en-US" sz="2000" b="0" i="0" dirty="0">
                <a:solidFill>
                  <a:srgbClr val="242021"/>
                </a:solidFill>
                <a:effectLst/>
                <a:latin typeface="NewCaledoniaLTStd"/>
              </a:rPr>
              <a:t>.”, “El. Eng.” and “EE”.</a:t>
            </a:r>
          </a:p>
          <a:p>
            <a:pPr lvl="1"/>
            <a:r>
              <a:rPr lang="en-US" sz="2000" b="0" i="0" dirty="0">
                <a:solidFill>
                  <a:srgbClr val="242021"/>
                </a:solidFill>
                <a:effectLst/>
                <a:latin typeface="NewCaledoniaLTStd"/>
              </a:rPr>
              <a:t> John G. News and Alice K. Johnson in the Evergreen project to charge different rates even though they have the same job classification.</a:t>
            </a:r>
          </a:p>
          <a:p>
            <a:r>
              <a:rPr lang="en-US" sz="2000" b="0" i="0" dirty="0">
                <a:solidFill>
                  <a:srgbClr val="242021"/>
                </a:solidFill>
                <a:effectLst/>
                <a:latin typeface="NewCaledoniaLTStd"/>
              </a:rPr>
              <a:t>contains several multivalued attributes</a:t>
            </a:r>
            <a:r>
              <a:rPr lang="en-US" sz="2000" dirty="0"/>
              <a:t> </a:t>
            </a:r>
          </a:p>
          <a:p>
            <a:pPr lvl="1"/>
            <a:r>
              <a:rPr lang="en-US" sz="2000" b="0" i="0" dirty="0">
                <a:solidFill>
                  <a:srgbClr val="242021"/>
                </a:solidFill>
                <a:effectLst/>
                <a:latin typeface="NewCaledoniaLTStd"/>
              </a:rPr>
              <a:t>hard to identify each employee individually and for the database to answer questions</a:t>
            </a:r>
            <a:br>
              <a:rPr lang="en-US" sz="2000" b="0" i="0" dirty="0">
                <a:solidFill>
                  <a:srgbClr val="242021"/>
                </a:solidFill>
                <a:effectLst/>
                <a:latin typeface="NewCaledoniaLTStd"/>
              </a:rPr>
            </a:br>
            <a:r>
              <a:rPr lang="en-US" sz="2000" b="0" i="0" dirty="0">
                <a:solidFill>
                  <a:srgbClr val="242021"/>
                </a:solidFill>
                <a:effectLst/>
                <a:latin typeface="NewCaledoniaLTStd"/>
              </a:rPr>
              <a:t>such as “How many employees are working on the Starflight project</a:t>
            </a:r>
            <a:r>
              <a:rPr lang="en-US" sz="2000" dirty="0"/>
              <a:t> </a:t>
            </a:r>
          </a:p>
          <a:p>
            <a:r>
              <a:rPr lang="en-US" sz="2000" b="0" i="0" dirty="0">
                <a:solidFill>
                  <a:srgbClr val="242021"/>
                </a:solidFill>
                <a:effectLst/>
                <a:latin typeface="NewCaledoniaLTStd"/>
              </a:rPr>
              <a:t>Employee data is redundant</a:t>
            </a:r>
            <a:r>
              <a:rPr lang="en-US" sz="2000" dirty="0"/>
              <a:t> </a:t>
            </a:r>
          </a:p>
        </p:txBody>
      </p:sp>
      <p:sp>
        <p:nvSpPr>
          <p:cNvPr id="4" name="Slide Number Placeholder 3">
            <a:extLst>
              <a:ext uri="{FF2B5EF4-FFF2-40B4-BE49-F238E27FC236}">
                <a16:creationId xmlns:a16="http://schemas.microsoft.com/office/drawing/2014/main" id="{3D7ED366-19CE-2D55-4626-A5EBDF412431}"/>
              </a:ext>
            </a:extLst>
          </p:cNvPr>
          <p:cNvSpPr>
            <a:spLocks noGrp="1"/>
          </p:cNvSpPr>
          <p:nvPr>
            <p:ph type="sldNum" sz="quarter" idx="10"/>
          </p:nvPr>
        </p:nvSpPr>
        <p:spPr/>
        <p:txBody>
          <a:bodyPr/>
          <a:lstStyle/>
          <a:p>
            <a:pPr>
              <a:defRPr/>
            </a:pPr>
            <a:fld id="{34A84676-C444-4AC5-8B4E-405A7C81C0FB}" type="slidenum">
              <a:rPr lang="en-US" altLang="en-US" smtClean="0"/>
              <a:pPr>
                <a:defRPr/>
              </a:pPr>
              <a:t>12</a:t>
            </a:fld>
            <a:endParaRPr lang="en-US" altLang="en-US"/>
          </a:p>
        </p:txBody>
      </p:sp>
      <p:sp>
        <p:nvSpPr>
          <p:cNvPr id="5" name="Footer Placeholder 4">
            <a:extLst>
              <a:ext uri="{FF2B5EF4-FFF2-40B4-BE49-F238E27FC236}">
                <a16:creationId xmlns:a16="http://schemas.microsoft.com/office/drawing/2014/main" id="{2E4C86A9-84A9-FDA3-AD04-F3809E94055D}"/>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63025C4-C0EB-8DCB-2BD1-D4FB2412E701}"/>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307423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A46069-BD27-5C55-5C6C-3DFD30692A5F}"/>
              </a:ext>
            </a:extLst>
          </p:cNvPr>
          <p:cNvSpPr>
            <a:spLocks noGrp="1"/>
          </p:cNvSpPr>
          <p:nvPr>
            <p:ph type="title"/>
          </p:nvPr>
        </p:nvSpPr>
        <p:spPr/>
        <p:txBody>
          <a:bodyPr/>
          <a:lstStyle/>
          <a:p>
            <a:r>
              <a:rPr lang="en-US" dirty="0"/>
              <a:t>6-3 The Normalization Process</a:t>
            </a:r>
          </a:p>
        </p:txBody>
      </p:sp>
      <p:sp>
        <p:nvSpPr>
          <p:cNvPr id="3" name="Date Placeholder 2">
            <a:extLst>
              <a:ext uri="{FF2B5EF4-FFF2-40B4-BE49-F238E27FC236}">
                <a16:creationId xmlns:a16="http://schemas.microsoft.com/office/drawing/2014/main" id="{0128F8CD-26E8-40E5-4958-5F4CF8F5225C}"/>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754078AE-FF61-78CD-4726-F2B4B92B5C12}"/>
              </a:ext>
            </a:extLst>
          </p:cNvPr>
          <p:cNvSpPr>
            <a:spLocks noGrp="1"/>
          </p:cNvSpPr>
          <p:nvPr>
            <p:ph type="sldNum" sz="quarter" idx="11"/>
          </p:nvPr>
        </p:nvSpPr>
        <p:spPr/>
        <p:txBody>
          <a:bodyPr/>
          <a:lstStyle/>
          <a:p>
            <a:pPr>
              <a:defRPr/>
            </a:pPr>
            <a:fld id="{F9126DDB-45DE-4D72-94FB-1E2D565E80AF}" type="slidenum">
              <a:rPr lang="en-US" smtClean="0"/>
              <a:pPr>
                <a:defRPr/>
              </a:pPr>
              <a:t>13</a:t>
            </a:fld>
            <a:endParaRPr lang="en-US"/>
          </a:p>
        </p:txBody>
      </p:sp>
      <p:sp>
        <p:nvSpPr>
          <p:cNvPr id="5" name="Footer Placeholder 4">
            <a:extLst>
              <a:ext uri="{FF2B5EF4-FFF2-40B4-BE49-F238E27FC236}">
                <a16:creationId xmlns:a16="http://schemas.microsoft.com/office/drawing/2014/main" id="{8AB224CE-31DC-93DF-1C25-4CD6F49AB4B8}"/>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2181045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1D914-838D-FB23-A9B2-263DD7DE5BE1}"/>
              </a:ext>
            </a:extLst>
          </p:cNvPr>
          <p:cNvSpPr>
            <a:spLocks noGrp="1"/>
          </p:cNvSpPr>
          <p:nvPr>
            <p:ph type="title"/>
          </p:nvPr>
        </p:nvSpPr>
        <p:spPr/>
        <p:txBody>
          <a:bodyPr/>
          <a:lstStyle/>
          <a:p>
            <a:r>
              <a:rPr lang="en-US" dirty="0"/>
              <a:t>6-3 The Normalization Process</a:t>
            </a:r>
          </a:p>
        </p:txBody>
      </p:sp>
      <p:sp>
        <p:nvSpPr>
          <p:cNvPr id="3" name="Content Placeholder 2">
            <a:extLst>
              <a:ext uri="{FF2B5EF4-FFF2-40B4-BE49-F238E27FC236}">
                <a16:creationId xmlns:a16="http://schemas.microsoft.com/office/drawing/2014/main" id="{77A94963-9B7E-C7B5-7257-D967293EA162}"/>
              </a:ext>
            </a:extLst>
          </p:cNvPr>
          <p:cNvSpPr>
            <a:spLocks noGrp="1"/>
          </p:cNvSpPr>
          <p:nvPr>
            <p:ph idx="1"/>
          </p:nvPr>
        </p:nvSpPr>
        <p:spPr/>
        <p:txBody>
          <a:bodyPr/>
          <a:lstStyle/>
          <a:p>
            <a:r>
              <a:rPr lang="en-US" sz="2000" b="0" i="0" dirty="0">
                <a:solidFill>
                  <a:srgbClr val="242021"/>
                </a:solidFill>
                <a:effectLst/>
                <a:latin typeface="NewCaledoniaLTStd"/>
              </a:rPr>
              <a:t>Concept of well-formed relations:</a:t>
            </a:r>
          </a:p>
          <a:p>
            <a:pPr lvl="1"/>
            <a:r>
              <a:rPr lang="en-US" sz="2000" b="0" i="0" dirty="0">
                <a:solidFill>
                  <a:srgbClr val="242021"/>
                </a:solidFill>
                <a:effectLst/>
                <a:latin typeface="NewCaledoniaLTStd"/>
              </a:rPr>
              <a:t>Each relation (table) represents a single subject</a:t>
            </a:r>
            <a:r>
              <a:rPr lang="en-US" sz="2000" dirty="0"/>
              <a:t> </a:t>
            </a:r>
          </a:p>
          <a:p>
            <a:pPr lvl="1"/>
            <a:r>
              <a:rPr lang="en-US" sz="2000" b="0" i="0" dirty="0">
                <a:solidFill>
                  <a:srgbClr val="242021"/>
                </a:solidFill>
                <a:effectLst/>
                <a:latin typeface="NewCaledoniaLTStd"/>
              </a:rPr>
              <a:t>Each row/column intersection contains only one (a single) value and not a group of values.</a:t>
            </a:r>
          </a:p>
          <a:p>
            <a:pPr lvl="1"/>
            <a:r>
              <a:rPr lang="en-US" sz="2000" b="0" i="0" dirty="0">
                <a:solidFill>
                  <a:srgbClr val="242021"/>
                </a:solidFill>
                <a:effectLst/>
                <a:latin typeface="NewCaledoniaLTStd"/>
              </a:rPr>
              <a:t>No data item will be </a:t>
            </a:r>
            <a:r>
              <a:rPr lang="en-US" sz="2000" b="0" i="1" dirty="0">
                <a:solidFill>
                  <a:srgbClr val="242021"/>
                </a:solidFill>
                <a:effectLst/>
                <a:latin typeface="NewCaledoniaLTStd-It"/>
              </a:rPr>
              <a:t>unnecessarily </a:t>
            </a:r>
            <a:r>
              <a:rPr lang="en-US" sz="2000" b="0" i="0" dirty="0">
                <a:solidFill>
                  <a:srgbClr val="242021"/>
                </a:solidFill>
                <a:effectLst/>
                <a:latin typeface="NewCaledoniaLTStd"/>
              </a:rPr>
              <a:t>stored in more than one table </a:t>
            </a:r>
            <a:endParaRPr lang="en-US" sz="2000" dirty="0"/>
          </a:p>
          <a:p>
            <a:pPr lvl="1"/>
            <a:r>
              <a:rPr lang="en-US" sz="2000" b="0" i="0" dirty="0">
                <a:solidFill>
                  <a:srgbClr val="242021"/>
                </a:solidFill>
                <a:effectLst/>
                <a:latin typeface="NewCaledoniaLTStd"/>
              </a:rPr>
              <a:t>All nonprime attributes in a relation (table) are dependent on the primary key—the entire primary key and nothing but the primary key</a:t>
            </a:r>
            <a:r>
              <a:rPr lang="en-US" sz="2000" dirty="0"/>
              <a:t> </a:t>
            </a:r>
          </a:p>
          <a:p>
            <a:pPr lvl="1"/>
            <a:r>
              <a:rPr lang="en-US" sz="2000" b="0" i="0" dirty="0">
                <a:solidFill>
                  <a:srgbClr val="242021"/>
                </a:solidFill>
                <a:effectLst/>
                <a:latin typeface="NewCaledoniaLTStd"/>
              </a:rPr>
              <a:t>Each relation (table) has no insertion, update, or deletion anomalies, which ensures the integrity and consistency of the data.</a:t>
            </a:r>
            <a:r>
              <a:rPr lang="en-US" sz="2000" dirty="0"/>
              <a:t> </a:t>
            </a:r>
            <a:br>
              <a:rPr lang="en-US" dirty="0"/>
            </a:br>
            <a:br>
              <a:rPr lang="en-US" dirty="0"/>
            </a:br>
            <a:br>
              <a:rPr lang="en-US" sz="1800" b="0" i="0" dirty="0">
                <a:solidFill>
                  <a:srgbClr val="242021"/>
                </a:solidFill>
                <a:effectLst/>
                <a:latin typeface="NewCaledoniaLTStd"/>
              </a:rPr>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70C1B7F0-CEFE-EC21-1200-743DE85182B4}"/>
              </a:ext>
            </a:extLst>
          </p:cNvPr>
          <p:cNvSpPr>
            <a:spLocks noGrp="1"/>
          </p:cNvSpPr>
          <p:nvPr>
            <p:ph type="sldNum" sz="quarter" idx="10"/>
          </p:nvPr>
        </p:nvSpPr>
        <p:spPr/>
        <p:txBody>
          <a:bodyPr/>
          <a:lstStyle/>
          <a:p>
            <a:pPr>
              <a:defRPr/>
            </a:pPr>
            <a:fld id="{34A84676-C444-4AC5-8B4E-405A7C81C0FB}" type="slidenum">
              <a:rPr lang="en-US" altLang="en-US" smtClean="0"/>
              <a:pPr>
                <a:defRPr/>
              </a:pPr>
              <a:t>14</a:t>
            </a:fld>
            <a:endParaRPr lang="en-US" altLang="en-US"/>
          </a:p>
        </p:txBody>
      </p:sp>
      <p:sp>
        <p:nvSpPr>
          <p:cNvPr id="5" name="Footer Placeholder 4">
            <a:extLst>
              <a:ext uri="{FF2B5EF4-FFF2-40B4-BE49-F238E27FC236}">
                <a16:creationId xmlns:a16="http://schemas.microsoft.com/office/drawing/2014/main" id="{02621F1F-6A03-CC2A-452B-30A5B3FBDEF1}"/>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02297C2-5A33-B8CC-454D-846E2CB2B9F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7232767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3E5551E-DF27-94B4-C024-91C86E2E4C09}"/>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4C933532-A57E-FDCC-1531-DDEEE9ACDFCE}"/>
              </a:ext>
            </a:extLst>
          </p:cNvPr>
          <p:cNvSpPr>
            <a:spLocks noGrp="1"/>
          </p:cNvSpPr>
          <p:nvPr>
            <p:ph type="sldNum" sz="quarter" idx="11"/>
          </p:nvPr>
        </p:nvSpPr>
        <p:spPr/>
        <p:txBody>
          <a:bodyPr/>
          <a:lstStyle/>
          <a:p>
            <a:pPr>
              <a:defRPr/>
            </a:pPr>
            <a:fld id="{D1AD3536-327C-4937-83AF-A64971CFA6D9}" type="slidenum">
              <a:rPr lang="en-US" smtClean="0"/>
              <a:pPr>
                <a:defRPr/>
              </a:pPr>
              <a:t>15</a:t>
            </a:fld>
            <a:endParaRPr lang="en-US"/>
          </a:p>
        </p:txBody>
      </p:sp>
      <p:sp>
        <p:nvSpPr>
          <p:cNvPr id="4" name="Footer Placeholder 3">
            <a:extLst>
              <a:ext uri="{FF2B5EF4-FFF2-40B4-BE49-F238E27FC236}">
                <a16:creationId xmlns:a16="http://schemas.microsoft.com/office/drawing/2014/main" id="{FB3AB14F-C4F6-C37E-4F93-CA0938DC2D6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A0160C1-D7FC-0083-D472-0E88314EB82E}"/>
              </a:ext>
            </a:extLst>
          </p:cNvPr>
          <p:cNvPicPr>
            <a:picLocks noChangeAspect="1"/>
          </p:cNvPicPr>
          <p:nvPr/>
        </p:nvPicPr>
        <p:blipFill>
          <a:blip r:embed="rId2"/>
          <a:stretch>
            <a:fillRect/>
          </a:stretch>
        </p:blipFill>
        <p:spPr>
          <a:xfrm>
            <a:off x="1366837" y="1328737"/>
            <a:ext cx="9458325" cy="4200525"/>
          </a:xfrm>
          <a:prstGeom prst="rect">
            <a:avLst/>
          </a:prstGeom>
        </p:spPr>
      </p:pic>
    </p:spTree>
    <p:extLst>
      <p:ext uri="{BB962C8B-B14F-4D97-AF65-F5344CB8AC3E}">
        <p14:creationId xmlns:p14="http://schemas.microsoft.com/office/powerpoint/2010/main" val="19920581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1CE65-FF98-0A7A-47E1-FCDB440EA8C7}"/>
              </a:ext>
            </a:extLst>
          </p:cNvPr>
          <p:cNvSpPr>
            <a:spLocks noGrp="1"/>
          </p:cNvSpPr>
          <p:nvPr>
            <p:ph type="title"/>
          </p:nvPr>
        </p:nvSpPr>
        <p:spPr/>
        <p:txBody>
          <a:bodyPr/>
          <a:lstStyle/>
          <a:p>
            <a:r>
              <a:rPr lang="en-US" dirty="0"/>
              <a:t>Functional Dependence Concepts</a:t>
            </a:r>
          </a:p>
        </p:txBody>
      </p:sp>
      <p:sp>
        <p:nvSpPr>
          <p:cNvPr id="3" name="Content Placeholder 2">
            <a:extLst>
              <a:ext uri="{FF2B5EF4-FFF2-40B4-BE49-F238E27FC236}">
                <a16:creationId xmlns:a16="http://schemas.microsoft.com/office/drawing/2014/main" id="{D2230B6E-042E-D2AA-A22B-675CD80E2660}"/>
              </a:ext>
            </a:extLst>
          </p:cNvPr>
          <p:cNvSpPr>
            <a:spLocks noGrp="1"/>
          </p:cNvSpPr>
          <p:nvPr>
            <p:ph idx="1"/>
          </p:nvPr>
        </p:nvSpPr>
        <p:spPr/>
        <p:txBody>
          <a:bodyPr/>
          <a:lstStyle/>
          <a:p>
            <a:r>
              <a:rPr lang="en-US" sz="1800" b="1" i="0" dirty="0">
                <a:solidFill>
                  <a:srgbClr val="007DAF"/>
                </a:solidFill>
                <a:effectLst/>
                <a:latin typeface="MyriadPro-BoldSemiCn"/>
              </a:rPr>
              <a:t>partial dependency: </a:t>
            </a:r>
            <a:r>
              <a:rPr lang="en-US" sz="1800" b="0" i="0" dirty="0">
                <a:solidFill>
                  <a:srgbClr val="242021"/>
                </a:solidFill>
                <a:effectLst/>
                <a:latin typeface="MyriadPro-SemiCn"/>
              </a:rPr>
              <a:t>A condition in which an attribute is dependent on only a portion (subset) of the  primary key.</a:t>
            </a:r>
          </a:p>
          <a:p>
            <a:pPr lvl="1"/>
            <a:r>
              <a:rPr lang="en-US" sz="1800" b="0" i="0" dirty="0">
                <a:solidFill>
                  <a:srgbClr val="242021"/>
                </a:solidFill>
                <a:effectLst/>
                <a:latin typeface="NewCaledoniaLTStd"/>
              </a:rPr>
              <a:t>If (A, B) </a:t>
            </a:r>
            <a:r>
              <a:rPr lang="en-US" sz="1800" b="0" i="0" dirty="0">
                <a:solidFill>
                  <a:srgbClr val="242021"/>
                </a:solidFill>
                <a:effectLst/>
                <a:latin typeface="SymbolStd"/>
              </a:rPr>
              <a:t>→ </a:t>
            </a:r>
            <a:r>
              <a:rPr lang="en-US" sz="1800" b="0" i="0" dirty="0">
                <a:solidFill>
                  <a:srgbClr val="242021"/>
                </a:solidFill>
                <a:effectLst/>
                <a:latin typeface="NewCaledoniaLTStd"/>
              </a:rPr>
              <a:t>(C, D), B </a:t>
            </a:r>
            <a:r>
              <a:rPr lang="en-US" sz="1800" b="0" i="0" dirty="0">
                <a:solidFill>
                  <a:srgbClr val="242021"/>
                </a:solidFill>
                <a:effectLst/>
                <a:latin typeface="SymbolStd"/>
              </a:rPr>
              <a:t>→ </a:t>
            </a:r>
            <a:r>
              <a:rPr lang="en-US" sz="1800" b="0" i="0" dirty="0">
                <a:solidFill>
                  <a:srgbClr val="242021"/>
                </a:solidFill>
                <a:effectLst/>
                <a:latin typeface="NewCaledoniaLTStd"/>
              </a:rPr>
              <a:t>C, and (A, B) is the primary key, then the functional dependence B </a:t>
            </a:r>
            <a:r>
              <a:rPr lang="en-US" sz="1800" b="0" i="0" dirty="0">
                <a:solidFill>
                  <a:srgbClr val="242021"/>
                </a:solidFill>
                <a:effectLst/>
                <a:latin typeface="SymbolStd"/>
              </a:rPr>
              <a:t>→ </a:t>
            </a:r>
            <a:r>
              <a:rPr lang="en-US" sz="1800" b="0" i="0" dirty="0">
                <a:solidFill>
                  <a:srgbClr val="242021"/>
                </a:solidFill>
                <a:effectLst/>
                <a:latin typeface="NewCaledoniaLTStd"/>
              </a:rPr>
              <a:t>C is a partial dependency because only part of the primary key (B) is needed to determine the value of C.</a:t>
            </a:r>
          </a:p>
          <a:p>
            <a:r>
              <a:rPr lang="en-US" sz="1800" b="1" i="0" dirty="0">
                <a:solidFill>
                  <a:srgbClr val="007DAF"/>
                </a:solidFill>
                <a:effectLst/>
                <a:latin typeface="MyriadPro-BoldSemiCn"/>
              </a:rPr>
              <a:t>transitive dependency: </a:t>
            </a:r>
            <a:r>
              <a:rPr lang="en-US" sz="1800" b="0" i="0" dirty="0">
                <a:solidFill>
                  <a:srgbClr val="242021"/>
                </a:solidFill>
                <a:effectLst/>
                <a:latin typeface="MyriadPro-SemiCn"/>
              </a:rPr>
              <a:t>A condition in which an attribute is dependent on another attribute that is not part of the primary key</a:t>
            </a:r>
            <a:r>
              <a:rPr lang="en-US" dirty="0"/>
              <a:t> </a:t>
            </a:r>
          </a:p>
          <a:p>
            <a:pPr lvl="1"/>
            <a:r>
              <a:rPr lang="en-US" sz="1800" b="1" i="0" dirty="0">
                <a:solidFill>
                  <a:srgbClr val="007DAF"/>
                </a:solidFill>
                <a:effectLst/>
                <a:latin typeface="MyriadPro-Bold"/>
              </a:rPr>
              <a:t>T</a:t>
            </a:r>
            <a:r>
              <a:rPr lang="en-US" sz="1800" b="0" i="0" dirty="0">
                <a:solidFill>
                  <a:srgbClr val="242021"/>
                </a:solidFill>
                <a:effectLst/>
                <a:latin typeface="NewCaledoniaLTStd"/>
              </a:rPr>
              <a:t>here are functional dependencies such that X </a:t>
            </a:r>
            <a:r>
              <a:rPr lang="en-US" sz="1800" b="0" i="0" dirty="0">
                <a:solidFill>
                  <a:srgbClr val="242021"/>
                </a:solidFill>
                <a:effectLst/>
                <a:latin typeface="SymbolStd"/>
              </a:rPr>
              <a:t>→ </a:t>
            </a:r>
            <a:r>
              <a:rPr lang="en-US" sz="1800" b="0" i="0" dirty="0">
                <a:solidFill>
                  <a:srgbClr val="242021"/>
                </a:solidFill>
                <a:effectLst/>
                <a:latin typeface="NewCaledoniaLTStd"/>
              </a:rPr>
              <a:t>Y, Y </a:t>
            </a:r>
            <a:r>
              <a:rPr lang="en-US" sz="1800" b="0" i="0" dirty="0">
                <a:solidFill>
                  <a:srgbClr val="242021"/>
                </a:solidFill>
                <a:effectLst/>
                <a:latin typeface="SymbolStd"/>
              </a:rPr>
              <a:t>→ </a:t>
            </a:r>
            <a:r>
              <a:rPr lang="en-US" sz="1800" b="0" i="0" dirty="0">
                <a:solidFill>
                  <a:srgbClr val="242021"/>
                </a:solidFill>
                <a:effectLst/>
                <a:latin typeface="NewCaledoniaLTStd"/>
              </a:rPr>
              <a:t>Z, and X is the primary key. In that case, the dependency X </a:t>
            </a:r>
            <a:r>
              <a:rPr lang="en-US" sz="1800" b="0" i="0" dirty="0">
                <a:solidFill>
                  <a:srgbClr val="242021"/>
                </a:solidFill>
                <a:effectLst/>
                <a:latin typeface="SymbolStd"/>
              </a:rPr>
              <a:t>→ </a:t>
            </a:r>
            <a:r>
              <a:rPr lang="en-US" sz="1800" b="0" i="0" dirty="0">
                <a:solidFill>
                  <a:srgbClr val="242021"/>
                </a:solidFill>
                <a:effectLst/>
                <a:latin typeface="NewCaledoniaLTStd"/>
              </a:rPr>
              <a:t>Z is a transitive dependency because X determines the value of Z via Y</a:t>
            </a:r>
            <a:r>
              <a:rPr lang="en-US" dirty="0"/>
              <a:t> </a:t>
            </a:r>
            <a:br>
              <a:rPr lang="en-US" dirty="0"/>
            </a:br>
            <a:br>
              <a:rPr lang="en-US" dirty="0"/>
            </a:br>
            <a:r>
              <a:rPr lang="en-US" dirty="0"/>
              <a:t> </a:t>
            </a:r>
            <a:br>
              <a:rPr lang="en-US" dirty="0"/>
            </a:br>
            <a:r>
              <a:rPr lang="en-US" dirty="0"/>
              <a:t> </a:t>
            </a:r>
            <a:br>
              <a:rPr lang="en-US" dirty="0"/>
            </a:br>
            <a:endParaRPr lang="en-US" dirty="0"/>
          </a:p>
        </p:txBody>
      </p:sp>
      <p:sp>
        <p:nvSpPr>
          <p:cNvPr id="4" name="Slide Number Placeholder 3">
            <a:extLst>
              <a:ext uri="{FF2B5EF4-FFF2-40B4-BE49-F238E27FC236}">
                <a16:creationId xmlns:a16="http://schemas.microsoft.com/office/drawing/2014/main" id="{3B8E9F05-31BD-A6F1-CD17-D216A395A4E3}"/>
              </a:ext>
            </a:extLst>
          </p:cNvPr>
          <p:cNvSpPr>
            <a:spLocks noGrp="1"/>
          </p:cNvSpPr>
          <p:nvPr>
            <p:ph type="sldNum" sz="quarter" idx="10"/>
          </p:nvPr>
        </p:nvSpPr>
        <p:spPr/>
        <p:txBody>
          <a:bodyPr/>
          <a:lstStyle/>
          <a:p>
            <a:pPr>
              <a:defRPr/>
            </a:pPr>
            <a:fld id="{34A84676-C444-4AC5-8B4E-405A7C81C0FB}" type="slidenum">
              <a:rPr lang="en-US" altLang="en-US" smtClean="0"/>
              <a:pPr>
                <a:defRPr/>
              </a:pPr>
              <a:t>16</a:t>
            </a:fld>
            <a:endParaRPr lang="en-US" altLang="en-US"/>
          </a:p>
        </p:txBody>
      </p:sp>
      <p:sp>
        <p:nvSpPr>
          <p:cNvPr id="5" name="Footer Placeholder 4">
            <a:extLst>
              <a:ext uri="{FF2B5EF4-FFF2-40B4-BE49-F238E27FC236}">
                <a16:creationId xmlns:a16="http://schemas.microsoft.com/office/drawing/2014/main" id="{54444818-7093-9158-0C17-457F7BA2C3A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76B29A33-9998-F167-FC00-ED4D0A0777E7}"/>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8759709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561F98-D1CC-DA22-34D4-4D2A27A9D235}"/>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2619129-D708-364C-734D-88D251ADDCFA}"/>
              </a:ext>
            </a:extLst>
          </p:cNvPr>
          <p:cNvSpPr>
            <a:spLocks noGrp="1"/>
          </p:cNvSpPr>
          <p:nvPr>
            <p:ph type="sldNum" sz="quarter" idx="11"/>
          </p:nvPr>
        </p:nvSpPr>
        <p:spPr/>
        <p:txBody>
          <a:bodyPr/>
          <a:lstStyle/>
          <a:p>
            <a:pPr>
              <a:defRPr/>
            </a:pPr>
            <a:fld id="{D1AD3536-327C-4937-83AF-A64971CFA6D9}" type="slidenum">
              <a:rPr lang="en-US" smtClean="0"/>
              <a:pPr>
                <a:defRPr/>
              </a:pPr>
              <a:t>17</a:t>
            </a:fld>
            <a:endParaRPr lang="en-US"/>
          </a:p>
        </p:txBody>
      </p:sp>
      <p:sp>
        <p:nvSpPr>
          <p:cNvPr id="4" name="Footer Placeholder 3">
            <a:extLst>
              <a:ext uri="{FF2B5EF4-FFF2-40B4-BE49-F238E27FC236}">
                <a16:creationId xmlns:a16="http://schemas.microsoft.com/office/drawing/2014/main" id="{A568A55F-FE22-67FE-EB77-1CBEE3271143}"/>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ED226C0D-4327-A55C-26A0-EA287B40D9C0}"/>
              </a:ext>
            </a:extLst>
          </p:cNvPr>
          <p:cNvPicPr>
            <a:picLocks noChangeAspect="1"/>
          </p:cNvPicPr>
          <p:nvPr/>
        </p:nvPicPr>
        <p:blipFill>
          <a:blip r:embed="rId2"/>
          <a:stretch>
            <a:fillRect/>
          </a:stretch>
        </p:blipFill>
        <p:spPr>
          <a:xfrm>
            <a:off x="52387" y="1771650"/>
            <a:ext cx="12087225" cy="3314700"/>
          </a:xfrm>
          <a:prstGeom prst="rect">
            <a:avLst/>
          </a:prstGeom>
        </p:spPr>
      </p:pic>
    </p:spTree>
    <p:extLst>
      <p:ext uri="{BB962C8B-B14F-4D97-AF65-F5344CB8AC3E}">
        <p14:creationId xmlns:p14="http://schemas.microsoft.com/office/powerpoint/2010/main" val="10059870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D5B7BE-F56A-9CD7-C13A-D9E23EA3EA64}"/>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4D8C200-E534-BC42-7F1A-141D343F3469}"/>
              </a:ext>
            </a:extLst>
          </p:cNvPr>
          <p:cNvSpPr>
            <a:spLocks noGrp="1"/>
          </p:cNvSpPr>
          <p:nvPr>
            <p:ph type="sldNum" sz="quarter" idx="11"/>
          </p:nvPr>
        </p:nvSpPr>
        <p:spPr/>
        <p:txBody>
          <a:bodyPr/>
          <a:lstStyle/>
          <a:p>
            <a:pPr>
              <a:defRPr/>
            </a:pPr>
            <a:fld id="{D1AD3536-327C-4937-83AF-A64971CFA6D9}" type="slidenum">
              <a:rPr lang="en-US" smtClean="0"/>
              <a:pPr>
                <a:defRPr/>
              </a:pPr>
              <a:t>18</a:t>
            </a:fld>
            <a:endParaRPr lang="en-US"/>
          </a:p>
        </p:txBody>
      </p:sp>
      <p:sp>
        <p:nvSpPr>
          <p:cNvPr id="4" name="Footer Placeholder 3">
            <a:extLst>
              <a:ext uri="{FF2B5EF4-FFF2-40B4-BE49-F238E27FC236}">
                <a16:creationId xmlns:a16="http://schemas.microsoft.com/office/drawing/2014/main" id="{121BA551-AA00-FA72-718C-F0974CAAE957}"/>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DD26841-41D6-7C56-055C-5B10E6175B73}"/>
              </a:ext>
            </a:extLst>
          </p:cNvPr>
          <p:cNvPicPr>
            <a:picLocks noChangeAspect="1"/>
          </p:cNvPicPr>
          <p:nvPr/>
        </p:nvPicPr>
        <p:blipFill>
          <a:blip r:embed="rId2"/>
          <a:stretch>
            <a:fillRect/>
          </a:stretch>
        </p:blipFill>
        <p:spPr>
          <a:xfrm>
            <a:off x="1519237" y="1905000"/>
            <a:ext cx="9153525" cy="3048000"/>
          </a:xfrm>
          <a:prstGeom prst="rect">
            <a:avLst/>
          </a:prstGeom>
        </p:spPr>
      </p:pic>
    </p:spTree>
    <p:extLst>
      <p:ext uri="{BB962C8B-B14F-4D97-AF65-F5344CB8AC3E}">
        <p14:creationId xmlns:p14="http://schemas.microsoft.com/office/powerpoint/2010/main" val="42675981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65BA3-3D8D-B13A-7828-0ACD705EE919}"/>
              </a:ext>
            </a:extLst>
          </p:cNvPr>
          <p:cNvSpPr>
            <a:spLocks noGrp="1"/>
          </p:cNvSpPr>
          <p:nvPr>
            <p:ph type="title"/>
          </p:nvPr>
        </p:nvSpPr>
        <p:spPr/>
        <p:txBody>
          <a:bodyPr/>
          <a:lstStyle/>
          <a:p>
            <a:r>
              <a:rPr lang="en-US" dirty="0"/>
              <a:t>6-3a Conversion to First Normal Form (1NF)</a:t>
            </a:r>
          </a:p>
        </p:txBody>
      </p:sp>
      <p:sp>
        <p:nvSpPr>
          <p:cNvPr id="3" name="Content Placeholder 2">
            <a:extLst>
              <a:ext uri="{FF2B5EF4-FFF2-40B4-BE49-F238E27FC236}">
                <a16:creationId xmlns:a16="http://schemas.microsoft.com/office/drawing/2014/main" id="{BAC1338D-9004-AB01-E282-D9DF0F3C06A3}"/>
              </a:ext>
            </a:extLst>
          </p:cNvPr>
          <p:cNvSpPr>
            <a:spLocks noGrp="1"/>
          </p:cNvSpPr>
          <p:nvPr>
            <p:ph idx="1"/>
          </p:nvPr>
        </p:nvSpPr>
        <p:spPr/>
        <p:txBody>
          <a:bodyPr/>
          <a:lstStyle/>
          <a:p>
            <a:r>
              <a:rPr lang="en-US" sz="1800" b="0" i="0" dirty="0">
                <a:solidFill>
                  <a:srgbClr val="242021"/>
                </a:solidFill>
                <a:effectLst/>
                <a:latin typeface="NewCaledoniaLTStd"/>
              </a:rPr>
              <a:t>A </a:t>
            </a:r>
            <a:r>
              <a:rPr lang="en-US" sz="1800" b="1" i="0" dirty="0">
                <a:solidFill>
                  <a:srgbClr val="007DAF"/>
                </a:solidFill>
                <a:effectLst/>
                <a:latin typeface="MyriadPro-Bold"/>
              </a:rPr>
              <a:t>repeating group </a:t>
            </a:r>
            <a:r>
              <a:rPr lang="en-US" sz="1800" b="0" i="0" dirty="0">
                <a:solidFill>
                  <a:srgbClr val="242021"/>
                </a:solidFill>
                <a:effectLst/>
                <a:latin typeface="NewCaledoniaLTStd"/>
              </a:rPr>
              <a:t>derives its name from the fact that a group of multiple entries of the same or multiple types can exist for any </a:t>
            </a:r>
            <a:r>
              <a:rPr lang="en-US" sz="1800" b="0" i="1" dirty="0">
                <a:solidFill>
                  <a:srgbClr val="242021"/>
                </a:solidFill>
                <a:effectLst/>
                <a:latin typeface="NewCaledoniaLTStd-It"/>
              </a:rPr>
              <a:t>single </a:t>
            </a:r>
            <a:r>
              <a:rPr lang="en-US" sz="1800" b="0" i="0" dirty="0">
                <a:solidFill>
                  <a:srgbClr val="242021"/>
                </a:solidFill>
                <a:effectLst/>
                <a:latin typeface="NewCaledoniaLTStd"/>
              </a:rPr>
              <a:t>key attribute occurrence.</a:t>
            </a:r>
            <a:r>
              <a:rPr lang="en-US" dirty="0"/>
              <a:t> </a:t>
            </a:r>
          </a:p>
          <a:p>
            <a:pPr lvl="1"/>
            <a:r>
              <a:rPr lang="en-US" sz="1800" b="0" i="0" dirty="0">
                <a:solidFill>
                  <a:srgbClr val="242021"/>
                </a:solidFill>
                <a:effectLst/>
                <a:latin typeface="NewCaledoniaLTStd"/>
              </a:rPr>
              <a:t>PROJ_NUM occurrence can reference a group of related data in the employee number, employee name, job classification, and charge per hour columns.</a:t>
            </a:r>
          </a:p>
          <a:p>
            <a:pPr lvl="1"/>
            <a:r>
              <a:rPr lang="en-US" dirty="0"/>
              <a:t>E</a:t>
            </a:r>
            <a:r>
              <a:rPr lang="en-US" sz="1800" b="0" i="0" dirty="0">
                <a:solidFill>
                  <a:srgbClr val="242021"/>
                </a:solidFill>
                <a:effectLst/>
                <a:latin typeface="NewCaledoniaLTStd"/>
              </a:rPr>
              <a:t>vergreen project (PROJ_NUM </a:t>
            </a:r>
            <a:r>
              <a:rPr lang="en-US" dirty="0">
                <a:solidFill>
                  <a:srgbClr val="242021"/>
                </a:solidFill>
                <a:latin typeface="MathematicalPiLTStd-1"/>
              </a:rPr>
              <a:t>=</a:t>
            </a:r>
            <a:r>
              <a:rPr lang="en-US" sz="1800" b="0" i="0" dirty="0">
                <a:solidFill>
                  <a:srgbClr val="242021"/>
                </a:solidFill>
                <a:effectLst/>
                <a:latin typeface="MathematicalPiLTStd-1"/>
              </a:rPr>
              <a:t> </a:t>
            </a:r>
            <a:r>
              <a:rPr lang="en-US" sz="1800" b="0" i="0" dirty="0">
                <a:solidFill>
                  <a:srgbClr val="242021"/>
                </a:solidFill>
                <a:effectLst/>
                <a:latin typeface="NewCaledoniaLTStd"/>
              </a:rPr>
              <a:t>15) contains five values for each of those attributes</a:t>
            </a:r>
            <a:r>
              <a:rPr lang="en-US" dirty="0"/>
              <a:t> </a:t>
            </a:r>
          </a:p>
          <a:p>
            <a:r>
              <a:rPr lang="en-US" sz="1800" b="0" i="0" dirty="0">
                <a:solidFill>
                  <a:srgbClr val="242021"/>
                </a:solidFill>
                <a:effectLst/>
                <a:latin typeface="NewCaledoniaLTStd"/>
              </a:rPr>
              <a:t>Eliminate repeating group by making sure that each row defines a single entity instance and that each row-column intersection has only a single value. </a:t>
            </a:r>
          </a:p>
          <a:p>
            <a:r>
              <a:rPr lang="en-US" sz="1800" b="0" i="0" dirty="0">
                <a:solidFill>
                  <a:srgbClr val="242021"/>
                </a:solidFill>
                <a:effectLst/>
                <a:latin typeface="NewCaledoniaLTStd"/>
              </a:rPr>
              <a:t>The dependencies must be identified to diagnose the normal form. </a:t>
            </a:r>
          </a:p>
          <a:p>
            <a:r>
              <a:rPr lang="en-US" sz="1800" b="0" i="0" dirty="0">
                <a:solidFill>
                  <a:srgbClr val="242021"/>
                </a:solidFill>
                <a:effectLst/>
                <a:latin typeface="NewCaledoniaLTStd"/>
              </a:rPr>
              <a:t>Normalization starts with a simple three-step procedure</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266BD10F-A9BF-DD4C-CE55-A1A5BEBC75F7}"/>
              </a:ext>
            </a:extLst>
          </p:cNvPr>
          <p:cNvSpPr>
            <a:spLocks noGrp="1"/>
          </p:cNvSpPr>
          <p:nvPr>
            <p:ph type="sldNum" sz="quarter" idx="10"/>
          </p:nvPr>
        </p:nvSpPr>
        <p:spPr/>
        <p:txBody>
          <a:bodyPr/>
          <a:lstStyle/>
          <a:p>
            <a:pPr>
              <a:defRPr/>
            </a:pPr>
            <a:fld id="{34A84676-C444-4AC5-8B4E-405A7C81C0FB}" type="slidenum">
              <a:rPr lang="en-US" altLang="en-US" smtClean="0"/>
              <a:pPr>
                <a:defRPr/>
              </a:pPr>
              <a:t>19</a:t>
            </a:fld>
            <a:endParaRPr lang="en-US" altLang="en-US"/>
          </a:p>
        </p:txBody>
      </p:sp>
      <p:sp>
        <p:nvSpPr>
          <p:cNvPr id="5" name="Footer Placeholder 4">
            <a:extLst>
              <a:ext uri="{FF2B5EF4-FFF2-40B4-BE49-F238E27FC236}">
                <a16:creationId xmlns:a16="http://schemas.microsoft.com/office/drawing/2014/main" id="{449AEEDA-EC65-18D2-E9BC-851466B81376}"/>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3828EFD-490D-DFDC-1FA9-7D18A2607822}"/>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934634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4CD3-F825-4133-B2DA-2B47AE7ADA0A}"/>
              </a:ext>
            </a:extLst>
          </p:cNvPr>
          <p:cNvSpPr>
            <a:spLocks noGrp="1"/>
          </p:cNvSpPr>
          <p:nvPr>
            <p:ph type="title"/>
          </p:nvPr>
        </p:nvSpPr>
        <p:spPr/>
        <p:txBody>
          <a:bodyPr/>
          <a:lstStyle/>
          <a:p>
            <a:r>
              <a:rPr lang="en-US" dirty="0"/>
              <a:t>6-3a Conversion to First Normal Form (1NF)</a:t>
            </a:r>
          </a:p>
        </p:txBody>
      </p:sp>
      <p:sp>
        <p:nvSpPr>
          <p:cNvPr id="3" name="Content Placeholder 2">
            <a:extLst>
              <a:ext uri="{FF2B5EF4-FFF2-40B4-BE49-F238E27FC236}">
                <a16:creationId xmlns:a16="http://schemas.microsoft.com/office/drawing/2014/main" id="{3EBEF8A2-729A-8497-B132-6EDDED202348}"/>
              </a:ext>
            </a:extLst>
          </p:cNvPr>
          <p:cNvSpPr>
            <a:spLocks noGrp="1"/>
          </p:cNvSpPr>
          <p:nvPr>
            <p:ph idx="1"/>
          </p:nvPr>
        </p:nvSpPr>
        <p:spPr/>
        <p:txBody>
          <a:bodyPr/>
          <a:lstStyle/>
          <a:p>
            <a:r>
              <a:rPr lang="en-US" sz="2800" b="0" i="0" dirty="0">
                <a:solidFill>
                  <a:srgbClr val="732F6A"/>
                </a:solidFill>
                <a:effectLst/>
                <a:latin typeface="MyriadPro-Semibold"/>
              </a:rPr>
              <a:t>Step 1: Eliminate the Repeating Groups </a:t>
            </a:r>
          </a:p>
          <a:p>
            <a:pPr lvl="1"/>
            <a:r>
              <a:rPr lang="en-US" sz="2000" b="0" i="0" dirty="0">
                <a:solidFill>
                  <a:srgbClr val="242021"/>
                </a:solidFill>
                <a:effectLst/>
                <a:latin typeface="NewCaledoniaLTStd"/>
              </a:rPr>
              <a:t>Start by presenting the data in a tabular format, where each cell has a single value and there are no repeating groups. </a:t>
            </a:r>
          </a:p>
          <a:p>
            <a:pPr lvl="1"/>
            <a:r>
              <a:rPr lang="en-US" sz="2000" b="0" i="0" dirty="0">
                <a:solidFill>
                  <a:srgbClr val="242021"/>
                </a:solidFill>
                <a:effectLst/>
                <a:latin typeface="NewCaledoniaLTStd"/>
              </a:rPr>
              <a:t>To eliminate the repeating groups, change the table from a project focus to an assignment focus. </a:t>
            </a:r>
          </a:p>
          <a:p>
            <a:pPr lvl="1"/>
            <a:r>
              <a:rPr lang="en-US" sz="2000" b="0" i="0" dirty="0">
                <a:solidFill>
                  <a:srgbClr val="242021"/>
                </a:solidFill>
                <a:effectLst/>
                <a:latin typeface="NewCaledoniaLTStd"/>
              </a:rPr>
              <a:t>This will create separate rows for each employee assigned to each project, converting the multivalued attributes into single-valued attributes. </a:t>
            </a:r>
          </a:p>
          <a:p>
            <a:pPr lvl="1"/>
            <a:r>
              <a:rPr lang="en-US" sz="2000" b="0" i="0" dirty="0">
                <a:solidFill>
                  <a:srgbClr val="242021"/>
                </a:solidFill>
                <a:effectLst/>
                <a:latin typeface="NewCaledoniaLTStd"/>
              </a:rPr>
              <a:t>This change converts the table in Figure 6.1 to 1NF as shown in Figure 6.2.</a:t>
            </a:r>
            <a:r>
              <a:rPr lang="en-US" sz="2800" dirty="0"/>
              <a:t> </a:t>
            </a:r>
            <a:br>
              <a:rPr lang="en-US" sz="2800" dirty="0"/>
            </a:br>
            <a:endParaRPr lang="en-US" sz="2800" dirty="0"/>
          </a:p>
        </p:txBody>
      </p:sp>
      <p:sp>
        <p:nvSpPr>
          <p:cNvPr id="4" name="Slide Number Placeholder 3">
            <a:extLst>
              <a:ext uri="{FF2B5EF4-FFF2-40B4-BE49-F238E27FC236}">
                <a16:creationId xmlns:a16="http://schemas.microsoft.com/office/drawing/2014/main" id="{F153E5A0-BB54-6072-8B77-52AEBFA5312D}"/>
              </a:ext>
            </a:extLst>
          </p:cNvPr>
          <p:cNvSpPr>
            <a:spLocks noGrp="1"/>
          </p:cNvSpPr>
          <p:nvPr>
            <p:ph type="sldNum" sz="quarter" idx="10"/>
          </p:nvPr>
        </p:nvSpPr>
        <p:spPr/>
        <p:txBody>
          <a:bodyPr/>
          <a:lstStyle/>
          <a:p>
            <a:pPr>
              <a:defRPr/>
            </a:pPr>
            <a:fld id="{34A84676-C444-4AC5-8B4E-405A7C81C0FB}" type="slidenum">
              <a:rPr lang="en-US" altLang="en-US" smtClean="0"/>
              <a:pPr>
                <a:defRPr/>
              </a:pPr>
              <a:t>20</a:t>
            </a:fld>
            <a:endParaRPr lang="en-US" altLang="en-US"/>
          </a:p>
        </p:txBody>
      </p:sp>
      <p:sp>
        <p:nvSpPr>
          <p:cNvPr id="5" name="Footer Placeholder 4">
            <a:extLst>
              <a:ext uri="{FF2B5EF4-FFF2-40B4-BE49-F238E27FC236}">
                <a16:creationId xmlns:a16="http://schemas.microsoft.com/office/drawing/2014/main" id="{0F1C545B-F9B8-DB2F-4525-F29670D223D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DCE4CC1A-AB66-6271-BF79-6640ED97B667}"/>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5938994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B37546-C0DB-87C8-9DDE-AC24015521E6}"/>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B634AB31-86B0-93BC-9C2A-4DB21A5F9351}"/>
              </a:ext>
            </a:extLst>
          </p:cNvPr>
          <p:cNvSpPr>
            <a:spLocks noGrp="1"/>
          </p:cNvSpPr>
          <p:nvPr>
            <p:ph type="sldNum" sz="quarter" idx="11"/>
          </p:nvPr>
        </p:nvSpPr>
        <p:spPr/>
        <p:txBody>
          <a:bodyPr/>
          <a:lstStyle/>
          <a:p>
            <a:pPr>
              <a:defRPr/>
            </a:pPr>
            <a:fld id="{D1AD3536-327C-4937-83AF-A64971CFA6D9}" type="slidenum">
              <a:rPr lang="en-US" smtClean="0"/>
              <a:pPr>
                <a:defRPr/>
              </a:pPr>
              <a:t>21</a:t>
            </a:fld>
            <a:endParaRPr lang="en-US"/>
          </a:p>
        </p:txBody>
      </p:sp>
      <p:sp>
        <p:nvSpPr>
          <p:cNvPr id="4" name="Footer Placeholder 3">
            <a:extLst>
              <a:ext uri="{FF2B5EF4-FFF2-40B4-BE49-F238E27FC236}">
                <a16:creationId xmlns:a16="http://schemas.microsoft.com/office/drawing/2014/main" id="{4F806A7A-FFA0-8743-F3D9-FA65F1A7913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16B442E-A3A4-A2F7-34E0-F037A70583D5}"/>
              </a:ext>
            </a:extLst>
          </p:cNvPr>
          <p:cNvPicPr>
            <a:picLocks noChangeAspect="1"/>
          </p:cNvPicPr>
          <p:nvPr/>
        </p:nvPicPr>
        <p:blipFill>
          <a:blip r:embed="rId2"/>
          <a:stretch>
            <a:fillRect/>
          </a:stretch>
        </p:blipFill>
        <p:spPr>
          <a:xfrm>
            <a:off x="23812" y="242887"/>
            <a:ext cx="12144375" cy="6372225"/>
          </a:xfrm>
          <a:prstGeom prst="rect">
            <a:avLst/>
          </a:prstGeom>
        </p:spPr>
      </p:pic>
    </p:spTree>
    <p:extLst>
      <p:ext uri="{BB962C8B-B14F-4D97-AF65-F5344CB8AC3E}">
        <p14:creationId xmlns:p14="http://schemas.microsoft.com/office/powerpoint/2010/main" val="444621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4CD3-F825-4133-B2DA-2B47AE7ADA0A}"/>
              </a:ext>
            </a:extLst>
          </p:cNvPr>
          <p:cNvSpPr>
            <a:spLocks noGrp="1"/>
          </p:cNvSpPr>
          <p:nvPr>
            <p:ph type="title"/>
          </p:nvPr>
        </p:nvSpPr>
        <p:spPr/>
        <p:txBody>
          <a:bodyPr/>
          <a:lstStyle/>
          <a:p>
            <a:r>
              <a:rPr lang="en-US" dirty="0"/>
              <a:t>6-3a Conversion to First Normal Form (1NF)</a:t>
            </a:r>
          </a:p>
        </p:txBody>
      </p:sp>
      <p:sp>
        <p:nvSpPr>
          <p:cNvPr id="3" name="Content Placeholder 2">
            <a:extLst>
              <a:ext uri="{FF2B5EF4-FFF2-40B4-BE49-F238E27FC236}">
                <a16:creationId xmlns:a16="http://schemas.microsoft.com/office/drawing/2014/main" id="{3EBEF8A2-729A-8497-B132-6EDDED202348}"/>
              </a:ext>
            </a:extLst>
          </p:cNvPr>
          <p:cNvSpPr>
            <a:spLocks noGrp="1"/>
          </p:cNvSpPr>
          <p:nvPr>
            <p:ph idx="1"/>
          </p:nvPr>
        </p:nvSpPr>
        <p:spPr/>
        <p:txBody>
          <a:bodyPr/>
          <a:lstStyle/>
          <a:p>
            <a:r>
              <a:rPr lang="en-US" sz="2800" b="0" i="0" dirty="0">
                <a:solidFill>
                  <a:srgbClr val="732F6A"/>
                </a:solidFill>
                <a:effectLst/>
                <a:latin typeface="MyriadPro-Semibold"/>
              </a:rPr>
              <a:t>Step 2: Identify the Primary Key </a:t>
            </a:r>
          </a:p>
          <a:p>
            <a:pPr lvl="1"/>
            <a:r>
              <a:rPr lang="en-US" sz="2000" b="0" i="0" dirty="0">
                <a:solidFill>
                  <a:srgbClr val="242021"/>
                </a:solidFill>
                <a:effectLst/>
                <a:latin typeface="NewCaledoniaLTStd"/>
              </a:rPr>
              <a:t>PROJ_NUM is not an adequate primary key because the project number does not uniquely identify each row. </a:t>
            </a:r>
          </a:p>
          <a:p>
            <a:pPr lvl="1"/>
            <a:r>
              <a:rPr lang="en-US" sz="2000" b="0" i="0" dirty="0">
                <a:solidFill>
                  <a:srgbClr val="242021"/>
                </a:solidFill>
                <a:effectLst/>
                <a:latin typeface="NewCaledoniaLTStd"/>
              </a:rPr>
              <a:t>To maintain a proper primary key that will </a:t>
            </a:r>
            <a:r>
              <a:rPr lang="en-US" sz="2000" b="0" i="1" dirty="0">
                <a:solidFill>
                  <a:srgbClr val="242021"/>
                </a:solidFill>
                <a:effectLst/>
                <a:latin typeface="NewCaledoniaLTStd-It"/>
              </a:rPr>
              <a:t>uniquely </a:t>
            </a:r>
            <a:r>
              <a:rPr lang="en-US" sz="2000" b="0" i="0" dirty="0">
                <a:solidFill>
                  <a:srgbClr val="242021"/>
                </a:solidFill>
                <a:effectLst/>
                <a:latin typeface="NewCaledoniaLTStd"/>
              </a:rPr>
              <a:t>identify any attribute value, the new key must be composed of a </a:t>
            </a:r>
            <a:r>
              <a:rPr lang="en-US" sz="2000" b="0" i="1" dirty="0">
                <a:solidFill>
                  <a:srgbClr val="242021"/>
                </a:solidFill>
                <a:effectLst/>
                <a:latin typeface="NewCaledoniaLTStd-It"/>
              </a:rPr>
              <a:t>combination </a:t>
            </a:r>
            <a:r>
              <a:rPr lang="en-US" sz="2000" b="0" i="0" dirty="0">
                <a:solidFill>
                  <a:srgbClr val="242021"/>
                </a:solidFill>
                <a:effectLst/>
                <a:latin typeface="NewCaledoniaLTStd"/>
              </a:rPr>
              <a:t>of PROJ_NUM and EMP_NUM. </a:t>
            </a:r>
          </a:p>
          <a:p>
            <a:pPr lvl="2"/>
            <a:r>
              <a:rPr lang="en-US" sz="1800" b="0" i="0" dirty="0">
                <a:solidFill>
                  <a:srgbClr val="242021"/>
                </a:solidFill>
                <a:effectLst/>
                <a:latin typeface="NewCaledoniaLTStd"/>
              </a:rPr>
              <a:t>PROJ_NUM </a:t>
            </a:r>
            <a:r>
              <a:rPr lang="en-US" sz="1800" b="0" i="0" dirty="0">
                <a:solidFill>
                  <a:srgbClr val="242021"/>
                </a:solidFill>
                <a:effectLst/>
                <a:latin typeface="MathematicalPiLTStd-1"/>
              </a:rPr>
              <a:t>= </a:t>
            </a:r>
            <a:r>
              <a:rPr lang="en-US" sz="1800" b="0" i="0" dirty="0">
                <a:solidFill>
                  <a:srgbClr val="242021"/>
                </a:solidFill>
                <a:effectLst/>
                <a:latin typeface="NewCaledoniaLTStd"/>
              </a:rPr>
              <a:t>15 and EMP_NUM </a:t>
            </a:r>
            <a:r>
              <a:rPr lang="en-US" sz="1800" b="0" i="0" dirty="0">
                <a:solidFill>
                  <a:srgbClr val="242021"/>
                </a:solidFill>
                <a:effectLst/>
                <a:latin typeface="MathematicalPiLTStd-1"/>
              </a:rPr>
              <a:t>= </a:t>
            </a:r>
            <a:r>
              <a:rPr lang="en-US" sz="1800" b="0" i="0" dirty="0">
                <a:solidFill>
                  <a:srgbClr val="242021"/>
                </a:solidFill>
                <a:effectLst/>
                <a:latin typeface="NewCaledoniaLTStd"/>
              </a:rPr>
              <a:t>103, the entries for the attributes PROJ_NAME, EMP_NAME, JOB_CLASS, CHG_HOUR, and HOURS must be Evergreen, June E. </a:t>
            </a:r>
            <a:r>
              <a:rPr lang="en-US" sz="1800" b="0" i="0" dirty="0" err="1">
                <a:solidFill>
                  <a:srgbClr val="242021"/>
                </a:solidFill>
                <a:effectLst/>
                <a:latin typeface="NewCaledoniaLTStd"/>
              </a:rPr>
              <a:t>Arbough</a:t>
            </a:r>
            <a:r>
              <a:rPr lang="en-US" sz="1800" b="0" i="0" dirty="0">
                <a:solidFill>
                  <a:srgbClr val="242021"/>
                </a:solidFill>
                <a:effectLst/>
                <a:latin typeface="NewCaledoniaLTStd"/>
              </a:rPr>
              <a:t>, Elect. Engineer, $84.50, and 23.8, respectively.</a:t>
            </a:r>
            <a:r>
              <a:rPr lang="en-US" sz="2000" dirty="0"/>
              <a:t> </a:t>
            </a:r>
            <a:endParaRPr lang="en-US" sz="3200" dirty="0"/>
          </a:p>
        </p:txBody>
      </p:sp>
      <p:sp>
        <p:nvSpPr>
          <p:cNvPr id="4" name="Slide Number Placeholder 3">
            <a:extLst>
              <a:ext uri="{FF2B5EF4-FFF2-40B4-BE49-F238E27FC236}">
                <a16:creationId xmlns:a16="http://schemas.microsoft.com/office/drawing/2014/main" id="{F153E5A0-BB54-6072-8B77-52AEBFA5312D}"/>
              </a:ext>
            </a:extLst>
          </p:cNvPr>
          <p:cNvSpPr>
            <a:spLocks noGrp="1"/>
          </p:cNvSpPr>
          <p:nvPr>
            <p:ph type="sldNum" sz="quarter" idx="10"/>
          </p:nvPr>
        </p:nvSpPr>
        <p:spPr/>
        <p:txBody>
          <a:bodyPr/>
          <a:lstStyle/>
          <a:p>
            <a:pPr>
              <a:defRPr/>
            </a:pPr>
            <a:fld id="{34A84676-C444-4AC5-8B4E-405A7C81C0FB}" type="slidenum">
              <a:rPr lang="en-US" altLang="en-US" smtClean="0"/>
              <a:pPr>
                <a:defRPr/>
              </a:pPr>
              <a:t>22</a:t>
            </a:fld>
            <a:endParaRPr lang="en-US" altLang="en-US"/>
          </a:p>
        </p:txBody>
      </p:sp>
      <p:sp>
        <p:nvSpPr>
          <p:cNvPr id="5" name="Footer Placeholder 4">
            <a:extLst>
              <a:ext uri="{FF2B5EF4-FFF2-40B4-BE49-F238E27FC236}">
                <a16:creationId xmlns:a16="http://schemas.microsoft.com/office/drawing/2014/main" id="{0F1C545B-F9B8-DB2F-4525-F29670D223D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DCE4CC1A-AB66-6271-BF79-6640ED97B667}"/>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925618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4CD3-F825-4133-B2DA-2B47AE7ADA0A}"/>
              </a:ext>
            </a:extLst>
          </p:cNvPr>
          <p:cNvSpPr>
            <a:spLocks noGrp="1"/>
          </p:cNvSpPr>
          <p:nvPr>
            <p:ph type="title"/>
          </p:nvPr>
        </p:nvSpPr>
        <p:spPr/>
        <p:txBody>
          <a:bodyPr/>
          <a:lstStyle/>
          <a:p>
            <a:r>
              <a:rPr lang="en-US" dirty="0"/>
              <a:t>6-3a Conversion to First Normal Form (1NF)</a:t>
            </a:r>
          </a:p>
        </p:txBody>
      </p:sp>
      <p:sp>
        <p:nvSpPr>
          <p:cNvPr id="3" name="Content Placeholder 2">
            <a:extLst>
              <a:ext uri="{FF2B5EF4-FFF2-40B4-BE49-F238E27FC236}">
                <a16:creationId xmlns:a16="http://schemas.microsoft.com/office/drawing/2014/main" id="{3EBEF8A2-729A-8497-B132-6EDDED202348}"/>
              </a:ext>
            </a:extLst>
          </p:cNvPr>
          <p:cNvSpPr>
            <a:spLocks noGrp="1"/>
          </p:cNvSpPr>
          <p:nvPr>
            <p:ph idx="1"/>
          </p:nvPr>
        </p:nvSpPr>
        <p:spPr/>
        <p:txBody>
          <a:bodyPr/>
          <a:lstStyle/>
          <a:p>
            <a:r>
              <a:rPr lang="en-US" sz="2800" b="0" i="0" dirty="0">
                <a:solidFill>
                  <a:srgbClr val="732F6A"/>
                </a:solidFill>
                <a:effectLst/>
                <a:latin typeface="MyriadPro-Semibold"/>
              </a:rPr>
              <a:t>Step 3: Identify All Dependencies </a:t>
            </a:r>
          </a:p>
          <a:p>
            <a:pPr lvl="1"/>
            <a:r>
              <a:rPr lang="en-US" sz="2000" b="0" i="0" dirty="0">
                <a:solidFill>
                  <a:srgbClr val="242021"/>
                </a:solidFill>
                <a:effectLst/>
                <a:latin typeface="NewCaledoniaLTStd"/>
              </a:rPr>
              <a:t>The identification of the PK in Step 2 means that you have already identified the following dependency:</a:t>
            </a:r>
            <a:br>
              <a:rPr lang="en-US" sz="2000" b="0" i="0" dirty="0">
                <a:solidFill>
                  <a:srgbClr val="242021"/>
                </a:solidFill>
                <a:effectLst/>
                <a:latin typeface="NewCaledoniaLTStd"/>
              </a:rPr>
            </a:br>
            <a:r>
              <a:rPr lang="en-US" sz="2000" b="0" i="0" dirty="0">
                <a:solidFill>
                  <a:srgbClr val="242021"/>
                </a:solidFill>
                <a:effectLst/>
                <a:latin typeface="NewCaledoniaLTStd"/>
              </a:rPr>
              <a:t>PROJ_NUM, EMP_NUM </a:t>
            </a:r>
            <a:r>
              <a:rPr lang="en-US" sz="2000" b="0" i="0" dirty="0">
                <a:solidFill>
                  <a:srgbClr val="242021"/>
                </a:solidFill>
                <a:effectLst/>
                <a:latin typeface="SymbolStd"/>
              </a:rPr>
              <a:t>→ </a:t>
            </a:r>
            <a:r>
              <a:rPr lang="en-US" sz="2000" b="0" i="0" dirty="0">
                <a:solidFill>
                  <a:srgbClr val="242021"/>
                </a:solidFill>
                <a:effectLst/>
                <a:latin typeface="NewCaledoniaLTStd"/>
              </a:rPr>
              <a:t>PROJ_NAME, EMP_NAME, JOB_CLASS, CHG_HOUR, HOURS</a:t>
            </a:r>
            <a:endParaRPr lang="en-US" sz="2000" dirty="0">
              <a:solidFill>
                <a:srgbClr val="242021"/>
              </a:solidFill>
            </a:endParaRPr>
          </a:p>
          <a:p>
            <a:pPr lvl="1"/>
            <a:r>
              <a:rPr lang="en-US" sz="2000" b="0" i="0" dirty="0">
                <a:solidFill>
                  <a:srgbClr val="242021"/>
                </a:solidFill>
                <a:effectLst/>
                <a:latin typeface="NewCaledoniaLTStd"/>
              </a:rPr>
              <a:t>The PROJ_NAME, EMP_NAME, JOB_CLASS, CHG_HOUR, and HOURS values are all dependent on—they are determined by—the combination of PROJ_NUM and EMP_NUM.</a:t>
            </a:r>
            <a:r>
              <a:rPr lang="en-US" sz="2400" dirty="0"/>
              <a:t> </a:t>
            </a:r>
            <a:endParaRPr lang="en-US" sz="4000" dirty="0"/>
          </a:p>
        </p:txBody>
      </p:sp>
      <p:sp>
        <p:nvSpPr>
          <p:cNvPr id="4" name="Slide Number Placeholder 3">
            <a:extLst>
              <a:ext uri="{FF2B5EF4-FFF2-40B4-BE49-F238E27FC236}">
                <a16:creationId xmlns:a16="http://schemas.microsoft.com/office/drawing/2014/main" id="{F153E5A0-BB54-6072-8B77-52AEBFA5312D}"/>
              </a:ext>
            </a:extLst>
          </p:cNvPr>
          <p:cNvSpPr>
            <a:spLocks noGrp="1"/>
          </p:cNvSpPr>
          <p:nvPr>
            <p:ph type="sldNum" sz="quarter" idx="10"/>
          </p:nvPr>
        </p:nvSpPr>
        <p:spPr/>
        <p:txBody>
          <a:bodyPr/>
          <a:lstStyle/>
          <a:p>
            <a:pPr>
              <a:defRPr/>
            </a:pPr>
            <a:fld id="{34A84676-C444-4AC5-8B4E-405A7C81C0FB}" type="slidenum">
              <a:rPr lang="en-US" altLang="en-US" smtClean="0"/>
              <a:pPr>
                <a:defRPr/>
              </a:pPr>
              <a:t>23</a:t>
            </a:fld>
            <a:endParaRPr lang="en-US" altLang="en-US"/>
          </a:p>
        </p:txBody>
      </p:sp>
      <p:sp>
        <p:nvSpPr>
          <p:cNvPr id="5" name="Footer Placeholder 4">
            <a:extLst>
              <a:ext uri="{FF2B5EF4-FFF2-40B4-BE49-F238E27FC236}">
                <a16:creationId xmlns:a16="http://schemas.microsoft.com/office/drawing/2014/main" id="{0F1C545B-F9B8-DB2F-4525-F29670D223D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DCE4CC1A-AB66-6271-BF79-6640ED97B667}"/>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711258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A4CD3-F825-4133-B2DA-2B47AE7ADA0A}"/>
              </a:ext>
            </a:extLst>
          </p:cNvPr>
          <p:cNvSpPr>
            <a:spLocks noGrp="1"/>
          </p:cNvSpPr>
          <p:nvPr>
            <p:ph type="title"/>
          </p:nvPr>
        </p:nvSpPr>
        <p:spPr/>
        <p:txBody>
          <a:bodyPr/>
          <a:lstStyle/>
          <a:p>
            <a:r>
              <a:rPr lang="en-US" dirty="0"/>
              <a:t>6-3a Conversion to First Normal Form (1NF)</a:t>
            </a:r>
          </a:p>
        </p:txBody>
      </p:sp>
      <p:sp>
        <p:nvSpPr>
          <p:cNvPr id="3" name="Content Placeholder 2">
            <a:extLst>
              <a:ext uri="{FF2B5EF4-FFF2-40B4-BE49-F238E27FC236}">
                <a16:creationId xmlns:a16="http://schemas.microsoft.com/office/drawing/2014/main" id="{3EBEF8A2-729A-8497-B132-6EDDED202348}"/>
              </a:ext>
            </a:extLst>
          </p:cNvPr>
          <p:cNvSpPr>
            <a:spLocks noGrp="1"/>
          </p:cNvSpPr>
          <p:nvPr>
            <p:ph idx="1"/>
          </p:nvPr>
        </p:nvSpPr>
        <p:spPr/>
        <p:txBody>
          <a:bodyPr/>
          <a:lstStyle/>
          <a:p>
            <a:r>
              <a:rPr lang="en-US" b="0" i="0" dirty="0">
                <a:solidFill>
                  <a:srgbClr val="242021"/>
                </a:solidFill>
                <a:effectLst/>
                <a:latin typeface="NewCaledoniaLTStd"/>
              </a:rPr>
              <a:t>Anomalies remain</a:t>
            </a:r>
          </a:p>
          <a:p>
            <a:r>
              <a:rPr lang="en-US" b="0" i="0" dirty="0">
                <a:solidFill>
                  <a:srgbClr val="242021"/>
                </a:solidFill>
                <a:effectLst/>
                <a:latin typeface="NewCaledoniaLTStd"/>
              </a:rPr>
              <a:t>Each time another employee is assigned to a project, some data entries (such as PROJ_NAME, EMP_NAME, and CHG_HOUR) are unnecessarily repeated</a:t>
            </a:r>
            <a:r>
              <a:rPr lang="en-US" sz="2300" dirty="0"/>
              <a:t> </a:t>
            </a:r>
          </a:p>
          <a:p>
            <a:r>
              <a:rPr lang="en-US" b="0" i="0" dirty="0">
                <a:solidFill>
                  <a:srgbClr val="242021"/>
                </a:solidFill>
                <a:effectLst/>
                <a:latin typeface="NewCaledoniaLTStd"/>
              </a:rPr>
              <a:t>The anomalies that remain exist because there are additional dependencies in addition to</a:t>
            </a:r>
            <a:br>
              <a:rPr lang="en-US" b="0" i="0" dirty="0">
                <a:solidFill>
                  <a:srgbClr val="242021"/>
                </a:solidFill>
                <a:effectLst/>
                <a:latin typeface="NewCaledoniaLTStd"/>
              </a:rPr>
            </a:br>
            <a:r>
              <a:rPr lang="en-US" b="0" i="0" dirty="0">
                <a:solidFill>
                  <a:srgbClr val="242021"/>
                </a:solidFill>
                <a:effectLst/>
                <a:latin typeface="NewCaledoniaLTStd"/>
              </a:rPr>
              <a:t>the primary key dependency. </a:t>
            </a:r>
          </a:p>
          <a:p>
            <a:pPr lvl="1"/>
            <a:r>
              <a:rPr lang="en-US" b="0" i="0" dirty="0">
                <a:solidFill>
                  <a:srgbClr val="242021"/>
                </a:solidFill>
                <a:effectLst/>
                <a:latin typeface="NewCaledoniaLTStd"/>
              </a:rPr>
              <a:t>Project number determines the project name: </a:t>
            </a:r>
            <a:r>
              <a:rPr lang="en-US" sz="1800" b="0" i="0" dirty="0">
                <a:solidFill>
                  <a:srgbClr val="242021"/>
                </a:solidFill>
                <a:effectLst/>
                <a:latin typeface="NewCaledoniaLTStd"/>
              </a:rPr>
              <a:t>PROJ_NUM </a:t>
            </a:r>
            <a:r>
              <a:rPr lang="en-US" sz="1800" b="0" i="0" dirty="0">
                <a:solidFill>
                  <a:srgbClr val="242021"/>
                </a:solidFill>
                <a:effectLst/>
                <a:latin typeface="SymbolStd"/>
              </a:rPr>
              <a:t>→ </a:t>
            </a:r>
            <a:r>
              <a:rPr lang="en-US" sz="1800" b="0" i="0" dirty="0">
                <a:solidFill>
                  <a:srgbClr val="242021"/>
                </a:solidFill>
                <a:effectLst/>
                <a:latin typeface="NewCaledoniaLTStd"/>
              </a:rPr>
              <a:t>PROJ_NAME</a:t>
            </a:r>
          </a:p>
          <a:p>
            <a:pPr lvl="1"/>
            <a:r>
              <a:rPr lang="en-US" sz="1800" b="0" i="0" dirty="0">
                <a:solidFill>
                  <a:srgbClr val="242021"/>
                </a:solidFill>
                <a:effectLst/>
                <a:latin typeface="NewCaledoniaLTStd"/>
              </a:rPr>
              <a:t>Employee number determines employee’s name, job classification, and charge per hour: EMP_NUM </a:t>
            </a:r>
            <a:r>
              <a:rPr lang="en-US" sz="1800" b="0" i="0" dirty="0">
                <a:solidFill>
                  <a:srgbClr val="242021"/>
                </a:solidFill>
                <a:effectLst/>
                <a:latin typeface="SymbolStd"/>
              </a:rPr>
              <a:t>→ </a:t>
            </a:r>
            <a:r>
              <a:rPr lang="en-US" sz="1800" b="0" i="0" dirty="0">
                <a:solidFill>
                  <a:srgbClr val="242021"/>
                </a:solidFill>
                <a:effectLst/>
                <a:latin typeface="NewCaledoniaLTStd"/>
              </a:rPr>
              <a:t>EMP_NAME, JOB_CLASS, CHG_HOUR</a:t>
            </a:r>
            <a:br>
              <a:rPr lang="en-US" sz="1800" b="0" i="0" dirty="0">
                <a:solidFill>
                  <a:srgbClr val="242021"/>
                </a:solidFill>
                <a:effectLst/>
                <a:latin typeface="NewCaledoniaLTStd"/>
              </a:rPr>
            </a:br>
            <a:br>
              <a:rPr lang="en-US" dirty="0"/>
            </a:br>
            <a:br>
              <a:rPr lang="en-US" dirty="0"/>
            </a:br>
            <a:br>
              <a:rPr lang="en-US" sz="1800" b="0" i="0" dirty="0">
                <a:solidFill>
                  <a:srgbClr val="242021"/>
                </a:solidFill>
                <a:effectLst/>
                <a:latin typeface="NewCaledoniaLTStd"/>
              </a:rPr>
            </a:br>
            <a:br>
              <a:rPr lang="en-US" sz="2000" dirty="0"/>
            </a:br>
            <a:br>
              <a:rPr lang="en-US" sz="2000" dirty="0"/>
            </a:br>
            <a:endParaRPr lang="en-US" sz="4000" dirty="0"/>
          </a:p>
        </p:txBody>
      </p:sp>
      <p:sp>
        <p:nvSpPr>
          <p:cNvPr id="4" name="Slide Number Placeholder 3">
            <a:extLst>
              <a:ext uri="{FF2B5EF4-FFF2-40B4-BE49-F238E27FC236}">
                <a16:creationId xmlns:a16="http://schemas.microsoft.com/office/drawing/2014/main" id="{F153E5A0-BB54-6072-8B77-52AEBFA5312D}"/>
              </a:ext>
            </a:extLst>
          </p:cNvPr>
          <p:cNvSpPr>
            <a:spLocks noGrp="1"/>
          </p:cNvSpPr>
          <p:nvPr>
            <p:ph type="sldNum" sz="quarter" idx="10"/>
          </p:nvPr>
        </p:nvSpPr>
        <p:spPr/>
        <p:txBody>
          <a:bodyPr/>
          <a:lstStyle/>
          <a:p>
            <a:pPr>
              <a:defRPr/>
            </a:pPr>
            <a:fld id="{34A84676-C444-4AC5-8B4E-405A7C81C0FB}" type="slidenum">
              <a:rPr lang="en-US" altLang="en-US" smtClean="0"/>
              <a:pPr>
                <a:defRPr/>
              </a:pPr>
              <a:t>24</a:t>
            </a:fld>
            <a:endParaRPr lang="en-US" altLang="en-US"/>
          </a:p>
        </p:txBody>
      </p:sp>
      <p:sp>
        <p:nvSpPr>
          <p:cNvPr id="5" name="Footer Placeholder 4">
            <a:extLst>
              <a:ext uri="{FF2B5EF4-FFF2-40B4-BE49-F238E27FC236}">
                <a16:creationId xmlns:a16="http://schemas.microsoft.com/office/drawing/2014/main" id="{0F1C545B-F9B8-DB2F-4525-F29670D223D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DCE4CC1A-AB66-6271-BF79-6640ED97B667}"/>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7578388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22491-802A-A9F8-AC03-F6325899DAE7}"/>
              </a:ext>
            </a:extLst>
          </p:cNvPr>
          <p:cNvSpPr>
            <a:spLocks noGrp="1"/>
          </p:cNvSpPr>
          <p:nvPr>
            <p:ph type="title"/>
          </p:nvPr>
        </p:nvSpPr>
        <p:spPr/>
        <p:txBody>
          <a:bodyPr/>
          <a:lstStyle/>
          <a:p>
            <a:r>
              <a:rPr lang="en-US" dirty="0"/>
              <a:t>Dependency diagram</a:t>
            </a:r>
          </a:p>
        </p:txBody>
      </p:sp>
      <p:sp>
        <p:nvSpPr>
          <p:cNvPr id="3" name="Content Placeholder 2">
            <a:extLst>
              <a:ext uri="{FF2B5EF4-FFF2-40B4-BE49-F238E27FC236}">
                <a16:creationId xmlns:a16="http://schemas.microsoft.com/office/drawing/2014/main" id="{E0583AA1-9F0F-F24A-CF61-A6C2454809F3}"/>
              </a:ext>
            </a:extLst>
          </p:cNvPr>
          <p:cNvSpPr>
            <a:spLocks noGrp="1"/>
          </p:cNvSpPr>
          <p:nvPr>
            <p:ph idx="1"/>
          </p:nvPr>
        </p:nvSpPr>
        <p:spPr/>
        <p:txBody>
          <a:bodyPr/>
          <a:lstStyle/>
          <a:p>
            <a:r>
              <a:rPr lang="en-US" sz="1800" b="0" i="0" dirty="0">
                <a:solidFill>
                  <a:srgbClr val="242021"/>
                </a:solidFill>
                <a:effectLst/>
                <a:latin typeface="MyriadPro-SemiCn"/>
              </a:rPr>
              <a:t>A representation of all data dependencies (primary key, partial, or transitive) within a table.</a:t>
            </a:r>
            <a:r>
              <a:rPr lang="en-US" dirty="0"/>
              <a:t> </a:t>
            </a:r>
            <a:br>
              <a:rPr lang="en-US" dirty="0"/>
            </a:br>
            <a:endParaRPr lang="en-US" dirty="0"/>
          </a:p>
        </p:txBody>
      </p:sp>
      <p:sp>
        <p:nvSpPr>
          <p:cNvPr id="4" name="Slide Number Placeholder 3">
            <a:extLst>
              <a:ext uri="{FF2B5EF4-FFF2-40B4-BE49-F238E27FC236}">
                <a16:creationId xmlns:a16="http://schemas.microsoft.com/office/drawing/2014/main" id="{5CF75EE8-4F73-C1E4-E3F4-DE9942446B26}"/>
              </a:ext>
            </a:extLst>
          </p:cNvPr>
          <p:cNvSpPr>
            <a:spLocks noGrp="1"/>
          </p:cNvSpPr>
          <p:nvPr>
            <p:ph type="sldNum" sz="quarter" idx="10"/>
          </p:nvPr>
        </p:nvSpPr>
        <p:spPr/>
        <p:txBody>
          <a:bodyPr/>
          <a:lstStyle/>
          <a:p>
            <a:pPr>
              <a:defRPr/>
            </a:pPr>
            <a:fld id="{34A84676-C444-4AC5-8B4E-405A7C81C0FB}" type="slidenum">
              <a:rPr lang="en-US" altLang="en-US" smtClean="0"/>
              <a:pPr>
                <a:defRPr/>
              </a:pPr>
              <a:t>25</a:t>
            </a:fld>
            <a:endParaRPr lang="en-US" altLang="en-US"/>
          </a:p>
        </p:txBody>
      </p:sp>
      <p:sp>
        <p:nvSpPr>
          <p:cNvPr id="5" name="Footer Placeholder 4">
            <a:extLst>
              <a:ext uri="{FF2B5EF4-FFF2-40B4-BE49-F238E27FC236}">
                <a16:creationId xmlns:a16="http://schemas.microsoft.com/office/drawing/2014/main" id="{27AA48EE-E798-6716-014B-D25F32C5F4A8}"/>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1A94BDC7-0564-B5EF-BD6A-98FDC0D6A520}"/>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A8829236-C82B-57EE-644C-8BD1D6C75912}"/>
              </a:ext>
            </a:extLst>
          </p:cNvPr>
          <p:cNvPicPr>
            <a:picLocks noChangeAspect="1"/>
          </p:cNvPicPr>
          <p:nvPr/>
        </p:nvPicPr>
        <p:blipFill>
          <a:blip r:embed="rId2"/>
          <a:stretch>
            <a:fillRect/>
          </a:stretch>
        </p:blipFill>
        <p:spPr>
          <a:xfrm>
            <a:off x="2286000" y="2347061"/>
            <a:ext cx="7443788" cy="3829902"/>
          </a:xfrm>
          <a:prstGeom prst="rect">
            <a:avLst/>
          </a:prstGeom>
        </p:spPr>
      </p:pic>
    </p:spTree>
    <p:extLst>
      <p:ext uri="{BB962C8B-B14F-4D97-AF65-F5344CB8AC3E}">
        <p14:creationId xmlns:p14="http://schemas.microsoft.com/office/powerpoint/2010/main" val="4224321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1881D-557C-DAA0-909C-B9A832BF6349}"/>
              </a:ext>
            </a:extLst>
          </p:cNvPr>
          <p:cNvSpPr>
            <a:spLocks noGrp="1"/>
          </p:cNvSpPr>
          <p:nvPr>
            <p:ph type="title"/>
          </p:nvPr>
        </p:nvSpPr>
        <p:spPr/>
        <p:txBody>
          <a:bodyPr/>
          <a:lstStyle/>
          <a:p>
            <a:r>
              <a:rPr lang="en-US" dirty="0"/>
              <a:t>Anomalies</a:t>
            </a:r>
          </a:p>
        </p:txBody>
      </p:sp>
      <p:sp>
        <p:nvSpPr>
          <p:cNvPr id="3" name="Content Placeholder 2">
            <a:extLst>
              <a:ext uri="{FF2B5EF4-FFF2-40B4-BE49-F238E27FC236}">
                <a16:creationId xmlns:a16="http://schemas.microsoft.com/office/drawing/2014/main" id="{C2A9B533-5175-CBC3-1E68-92FCC4054418}"/>
              </a:ext>
            </a:extLst>
          </p:cNvPr>
          <p:cNvSpPr>
            <a:spLocks noGrp="1"/>
          </p:cNvSpPr>
          <p:nvPr>
            <p:ph idx="1"/>
          </p:nvPr>
        </p:nvSpPr>
        <p:spPr/>
        <p:txBody>
          <a:bodyPr/>
          <a:lstStyle/>
          <a:p>
            <a:r>
              <a:rPr lang="en-US" sz="2000" b="0" i="1" dirty="0">
                <a:solidFill>
                  <a:srgbClr val="242021"/>
                </a:solidFill>
                <a:effectLst/>
                <a:latin typeface="NewCaledoniaLTStd-It"/>
              </a:rPr>
              <a:t>Update anomalies</a:t>
            </a:r>
            <a:r>
              <a:rPr lang="en-US" sz="2000" b="0" i="0" dirty="0">
                <a:solidFill>
                  <a:srgbClr val="242021"/>
                </a:solidFill>
                <a:effectLst/>
                <a:latin typeface="NewCaledoniaLTStd"/>
              </a:rPr>
              <a:t>. Modifying the JOB_CLASS for an employee requires updating many entries; otherwise, it will generate data inconsistencies.</a:t>
            </a:r>
            <a:endParaRPr lang="en-US" sz="2000" dirty="0">
              <a:solidFill>
                <a:srgbClr val="242021"/>
              </a:solidFill>
            </a:endParaRPr>
          </a:p>
          <a:p>
            <a:r>
              <a:rPr lang="en-US" sz="2000" b="0" i="1" dirty="0">
                <a:solidFill>
                  <a:srgbClr val="242021"/>
                </a:solidFill>
                <a:effectLst/>
                <a:latin typeface="NewCaledoniaLTStd-It"/>
              </a:rPr>
              <a:t>Insertion anomalies</a:t>
            </a:r>
            <a:r>
              <a:rPr lang="en-US" sz="2000" b="0" i="0" dirty="0">
                <a:solidFill>
                  <a:srgbClr val="242021"/>
                </a:solidFill>
                <a:effectLst/>
                <a:latin typeface="NewCaledoniaLTStd"/>
              </a:rPr>
              <a:t>. Adding a new employee requires the employee to be assigned to a project and therefore to enter duplicate project information. If the employee is not yet assigned to a project, a phantom project must be created to complete the employee data entry.</a:t>
            </a:r>
            <a:endParaRPr lang="en-US" sz="2000" dirty="0">
              <a:solidFill>
                <a:srgbClr val="242021"/>
              </a:solidFill>
            </a:endParaRPr>
          </a:p>
          <a:p>
            <a:r>
              <a:rPr lang="en-US" sz="2000" b="0" i="1" dirty="0">
                <a:solidFill>
                  <a:srgbClr val="242021"/>
                </a:solidFill>
                <a:effectLst/>
                <a:latin typeface="NewCaledoniaLTStd-It"/>
              </a:rPr>
              <a:t>Deletion anomalies</a:t>
            </a:r>
            <a:r>
              <a:rPr lang="en-US" sz="2000" b="0" i="0" dirty="0">
                <a:solidFill>
                  <a:srgbClr val="242021"/>
                </a:solidFill>
                <a:effectLst/>
                <a:latin typeface="NewCaledoniaLTStd"/>
              </a:rPr>
              <a:t>. Suppose that only one employee is associated with a given project. If that employee is deleted, the project information will also be deleted.</a:t>
            </a:r>
            <a:r>
              <a:rPr lang="en-US" sz="2400" dirty="0"/>
              <a:t> </a:t>
            </a:r>
          </a:p>
        </p:txBody>
      </p:sp>
      <p:sp>
        <p:nvSpPr>
          <p:cNvPr id="4" name="Slide Number Placeholder 3">
            <a:extLst>
              <a:ext uri="{FF2B5EF4-FFF2-40B4-BE49-F238E27FC236}">
                <a16:creationId xmlns:a16="http://schemas.microsoft.com/office/drawing/2014/main" id="{FC5F9C5A-D2DD-DF3D-2FB5-33661F36D9B7}"/>
              </a:ext>
            </a:extLst>
          </p:cNvPr>
          <p:cNvSpPr>
            <a:spLocks noGrp="1"/>
          </p:cNvSpPr>
          <p:nvPr>
            <p:ph type="sldNum" sz="quarter" idx="10"/>
          </p:nvPr>
        </p:nvSpPr>
        <p:spPr/>
        <p:txBody>
          <a:bodyPr/>
          <a:lstStyle/>
          <a:p>
            <a:pPr>
              <a:defRPr/>
            </a:pPr>
            <a:fld id="{34A84676-C444-4AC5-8B4E-405A7C81C0FB}" type="slidenum">
              <a:rPr lang="en-US" altLang="en-US" smtClean="0"/>
              <a:pPr>
                <a:defRPr/>
              </a:pPr>
              <a:t>26</a:t>
            </a:fld>
            <a:endParaRPr lang="en-US" altLang="en-US"/>
          </a:p>
        </p:txBody>
      </p:sp>
      <p:sp>
        <p:nvSpPr>
          <p:cNvPr id="5" name="Footer Placeholder 4">
            <a:extLst>
              <a:ext uri="{FF2B5EF4-FFF2-40B4-BE49-F238E27FC236}">
                <a16:creationId xmlns:a16="http://schemas.microsoft.com/office/drawing/2014/main" id="{DE37E123-D555-2DE3-65F0-4F0DA54C0AAC}"/>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764FA8A4-BA74-38A9-A935-5BFB773BA597}"/>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3172708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88AD85-9DCE-C4CA-31A5-11CC3F8D1182}"/>
              </a:ext>
            </a:extLst>
          </p:cNvPr>
          <p:cNvSpPr>
            <a:spLocks noGrp="1"/>
          </p:cNvSpPr>
          <p:nvPr>
            <p:ph type="title"/>
          </p:nvPr>
        </p:nvSpPr>
        <p:spPr/>
        <p:txBody>
          <a:bodyPr/>
          <a:lstStyle/>
          <a:p>
            <a:r>
              <a:rPr lang="en-US" dirty="0"/>
              <a:t>6-3b Conversion to Second Normal Form (2NF)</a:t>
            </a:r>
          </a:p>
        </p:txBody>
      </p:sp>
      <p:sp>
        <p:nvSpPr>
          <p:cNvPr id="3" name="Content Placeholder 2">
            <a:extLst>
              <a:ext uri="{FF2B5EF4-FFF2-40B4-BE49-F238E27FC236}">
                <a16:creationId xmlns:a16="http://schemas.microsoft.com/office/drawing/2014/main" id="{1FF15C15-E622-BFB1-12D1-24EC33BD89A7}"/>
              </a:ext>
            </a:extLst>
          </p:cNvPr>
          <p:cNvSpPr>
            <a:spLocks noGrp="1"/>
          </p:cNvSpPr>
          <p:nvPr>
            <p:ph idx="1"/>
          </p:nvPr>
        </p:nvSpPr>
        <p:spPr/>
        <p:txBody>
          <a:bodyPr/>
          <a:lstStyle/>
          <a:p>
            <a:r>
              <a:rPr lang="en-US" sz="1800" b="0" i="0" dirty="0">
                <a:solidFill>
                  <a:srgbClr val="242021"/>
                </a:solidFill>
                <a:effectLst/>
                <a:latin typeface="NewCaledoniaLTStd"/>
              </a:rPr>
              <a:t>Conversion to 2NF occurs only when the 1NF has a composite primary key. </a:t>
            </a:r>
          </a:p>
          <a:p>
            <a:pPr marL="0" indent="0">
              <a:buNone/>
            </a:pPr>
            <a:r>
              <a:rPr lang="en-US" sz="1800" b="0" i="0" dirty="0">
                <a:solidFill>
                  <a:srgbClr val="242021"/>
                </a:solidFill>
                <a:effectLst/>
                <a:latin typeface="NewCaledoniaLTStd"/>
              </a:rPr>
              <a:t>. </a:t>
            </a:r>
            <a:br>
              <a:rPr lang="en-US" dirty="0"/>
            </a:br>
            <a:endParaRPr lang="en-US" dirty="0"/>
          </a:p>
        </p:txBody>
      </p:sp>
      <p:sp>
        <p:nvSpPr>
          <p:cNvPr id="4" name="Slide Number Placeholder 3">
            <a:extLst>
              <a:ext uri="{FF2B5EF4-FFF2-40B4-BE49-F238E27FC236}">
                <a16:creationId xmlns:a16="http://schemas.microsoft.com/office/drawing/2014/main" id="{18180190-9455-30E9-FE31-B4272388CDA6}"/>
              </a:ext>
            </a:extLst>
          </p:cNvPr>
          <p:cNvSpPr>
            <a:spLocks noGrp="1"/>
          </p:cNvSpPr>
          <p:nvPr>
            <p:ph type="sldNum" sz="quarter" idx="10"/>
          </p:nvPr>
        </p:nvSpPr>
        <p:spPr/>
        <p:txBody>
          <a:bodyPr/>
          <a:lstStyle/>
          <a:p>
            <a:pPr>
              <a:defRPr/>
            </a:pPr>
            <a:fld id="{34A84676-C444-4AC5-8B4E-405A7C81C0FB}" type="slidenum">
              <a:rPr lang="en-US" altLang="en-US" smtClean="0"/>
              <a:pPr>
                <a:defRPr/>
              </a:pPr>
              <a:t>27</a:t>
            </a:fld>
            <a:endParaRPr lang="en-US" altLang="en-US"/>
          </a:p>
        </p:txBody>
      </p:sp>
      <p:sp>
        <p:nvSpPr>
          <p:cNvPr id="5" name="Footer Placeholder 4">
            <a:extLst>
              <a:ext uri="{FF2B5EF4-FFF2-40B4-BE49-F238E27FC236}">
                <a16:creationId xmlns:a16="http://schemas.microsoft.com/office/drawing/2014/main" id="{5B84318C-E4CA-C799-3924-8F5D3AF4D7D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5AA6F3E7-6436-C7D7-3512-AAF4E2EC754A}"/>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BFADCCDC-34A7-283A-4A9F-A06C4D49A11E}"/>
              </a:ext>
            </a:extLst>
          </p:cNvPr>
          <p:cNvPicPr>
            <a:picLocks noChangeAspect="1"/>
          </p:cNvPicPr>
          <p:nvPr/>
        </p:nvPicPr>
        <p:blipFill>
          <a:blip r:embed="rId2"/>
          <a:stretch>
            <a:fillRect/>
          </a:stretch>
        </p:blipFill>
        <p:spPr>
          <a:xfrm>
            <a:off x="1762432" y="2589338"/>
            <a:ext cx="8667135" cy="3587625"/>
          </a:xfrm>
          <a:prstGeom prst="rect">
            <a:avLst/>
          </a:prstGeom>
        </p:spPr>
      </p:pic>
    </p:spTree>
    <p:extLst>
      <p:ext uri="{BB962C8B-B14F-4D97-AF65-F5344CB8AC3E}">
        <p14:creationId xmlns:p14="http://schemas.microsoft.com/office/powerpoint/2010/main" val="7485161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8D4C5D-4CFD-A7B9-160C-CEE3DB9356C3}"/>
              </a:ext>
            </a:extLst>
          </p:cNvPr>
          <p:cNvSpPr>
            <a:spLocks noGrp="1"/>
          </p:cNvSpPr>
          <p:nvPr>
            <p:ph type="title"/>
          </p:nvPr>
        </p:nvSpPr>
        <p:spPr/>
        <p:txBody>
          <a:bodyPr/>
          <a:lstStyle/>
          <a:p>
            <a:r>
              <a:rPr lang="en-US" dirty="0"/>
              <a:t>6-3b Conversion to Second Normal Form (2NF)</a:t>
            </a:r>
          </a:p>
        </p:txBody>
      </p:sp>
      <p:sp>
        <p:nvSpPr>
          <p:cNvPr id="3" name="Content Placeholder 2">
            <a:extLst>
              <a:ext uri="{FF2B5EF4-FFF2-40B4-BE49-F238E27FC236}">
                <a16:creationId xmlns:a16="http://schemas.microsoft.com/office/drawing/2014/main" id="{909FC0C0-DE44-3B4D-C4AA-1355D39C90AF}"/>
              </a:ext>
            </a:extLst>
          </p:cNvPr>
          <p:cNvSpPr>
            <a:spLocks noGrp="1"/>
          </p:cNvSpPr>
          <p:nvPr>
            <p:ph idx="1"/>
          </p:nvPr>
        </p:nvSpPr>
        <p:spPr/>
        <p:txBody>
          <a:bodyPr/>
          <a:lstStyle/>
          <a:p>
            <a:r>
              <a:rPr lang="en-US" sz="1800" b="0" i="0" dirty="0">
                <a:solidFill>
                  <a:srgbClr val="732F6A"/>
                </a:solidFill>
                <a:effectLst/>
                <a:latin typeface="MyriadPro-Semibold"/>
              </a:rPr>
              <a:t>Step 1: Make New Tables to Eliminate Partial Dependencies </a:t>
            </a:r>
            <a:r>
              <a:rPr lang="en-US" sz="1800" b="0" i="0" dirty="0">
                <a:solidFill>
                  <a:srgbClr val="242021"/>
                </a:solidFill>
                <a:effectLst/>
                <a:latin typeface="NewCaledoniaLTStd"/>
              </a:rPr>
              <a:t>For each component of the primary key that acts as a determinant in a partial dependency, create a new table with a copy of that component as the primary key.</a:t>
            </a:r>
            <a:r>
              <a:rPr lang="en-US" dirty="0"/>
              <a:t> </a:t>
            </a:r>
          </a:p>
          <a:p>
            <a:pPr lvl="1"/>
            <a:r>
              <a:rPr lang="en-US" sz="1800" b="0" i="0" dirty="0">
                <a:solidFill>
                  <a:srgbClr val="242021"/>
                </a:solidFill>
                <a:effectLst/>
                <a:latin typeface="NewCaledoniaLTStd"/>
              </a:rPr>
              <a:t>The original table is now divided into three tables (PROJECT, EMPLOYEE, and ASSIGNMENT).</a:t>
            </a:r>
            <a:r>
              <a:rPr lang="en-US" dirty="0"/>
              <a:t> </a:t>
            </a:r>
          </a:p>
          <a:p>
            <a:r>
              <a:rPr lang="en-US" sz="1800" b="0" i="0" dirty="0">
                <a:solidFill>
                  <a:srgbClr val="732F6A"/>
                </a:solidFill>
                <a:effectLst/>
                <a:latin typeface="MyriadPro-Semibold"/>
              </a:rPr>
              <a:t>Step 2: Reassign Corresponding Dependent Attributes </a:t>
            </a:r>
            <a:r>
              <a:rPr lang="en-US" sz="1800" b="0" i="0" dirty="0">
                <a:solidFill>
                  <a:srgbClr val="242021"/>
                </a:solidFill>
                <a:effectLst/>
                <a:latin typeface="NewCaledoniaLTStd"/>
              </a:rPr>
              <a:t> </a:t>
            </a:r>
          </a:p>
          <a:p>
            <a:pPr lvl="1"/>
            <a:r>
              <a:rPr lang="en-US" sz="1800" b="0" i="0" dirty="0">
                <a:solidFill>
                  <a:srgbClr val="242021"/>
                </a:solidFill>
                <a:effectLst/>
                <a:latin typeface="NewCaledoniaLTStd"/>
              </a:rPr>
              <a:t>PROJECT (</a:t>
            </a:r>
            <a:r>
              <a:rPr lang="en-US" sz="1800" b="1" i="0" dirty="0">
                <a:solidFill>
                  <a:srgbClr val="242021"/>
                </a:solidFill>
                <a:effectLst/>
                <a:latin typeface="NewCaledoniaLTStd-Bold"/>
              </a:rPr>
              <a:t>PROJ_NUM</a:t>
            </a:r>
            <a:r>
              <a:rPr lang="en-US" sz="1800" b="0" i="0" dirty="0">
                <a:solidFill>
                  <a:srgbClr val="242021"/>
                </a:solidFill>
                <a:effectLst/>
                <a:latin typeface="NewCaledoniaLTStd"/>
              </a:rPr>
              <a:t>, PROJ_NAME)</a:t>
            </a:r>
            <a:br>
              <a:rPr lang="en-US" sz="1800" b="0" i="0" dirty="0">
                <a:solidFill>
                  <a:srgbClr val="242021"/>
                </a:solidFill>
                <a:effectLst/>
                <a:latin typeface="NewCaledoniaLTStd"/>
              </a:rPr>
            </a:br>
            <a:r>
              <a:rPr lang="en-US" sz="1800" b="0" i="0" dirty="0">
                <a:solidFill>
                  <a:srgbClr val="242021"/>
                </a:solidFill>
                <a:effectLst/>
                <a:latin typeface="NewCaledoniaLTStd"/>
              </a:rPr>
              <a:t>EMPLOYEE (</a:t>
            </a:r>
            <a:r>
              <a:rPr lang="en-US" sz="1800" b="1" i="0" dirty="0">
                <a:solidFill>
                  <a:srgbClr val="242021"/>
                </a:solidFill>
                <a:effectLst/>
                <a:latin typeface="NewCaledoniaLTStd-Bold"/>
              </a:rPr>
              <a:t>EMP_NUM</a:t>
            </a:r>
            <a:r>
              <a:rPr lang="en-US" sz="1800" b="0" i="0" dirty="0">
                <a:solidFill>
                  <a:srgbClr val="242021"/>
                </a:solidFill>
                <a:effectLst/>
                <a:latin typeface="NewCaledoniaLTStd"/>
              </a:rPr>
              <a:t>, EMP_NAME, JOB_CLASS, CHG_HOUR)</a:t>
            </a:r>
            <a:br>
              <a:rPr lang="en-US" sz="1800" b="0" i="0" dirty="0">
                <a:solidFill>
                  <a:srgbClr val="242021"/>
                </a:solidFill>
                <a:effectLst/>
                <a:latin typeface="NewCaledoniaLTStd"/>
              </a:rPr>
            </a:br>
            <a:r>
              <a:rPr lang="en-US" sz="1800" b="0" i="0" dirty="0">
                <a:solidFill>
                  <a:srgbClr val="242021"/>
                </a:solidFill>
                <a:effectLst/>
                <a:latin typeface="NewCaledoniaLTStd"/>
              </a:rPr>
              <a:t>ASSIGNMENT (</a:t>
            </a:r>
            <a:r>
              <a:rPr lang="en-US" sz="1800" b="1" i="0" dirty="0">
                <a:solidFill>
                  <a:srgbClr val="242021"/>
                </a:solidFill>
                <a:effectLst/>
                <a:latin typeface="NewCaledoniaLTStd-Bold"/>
              </a:rPr>
              <a:t>PROJ_NUM, EMP_NUM</a:t>
            </a:r>
            <a:r>
              <a:rPr lang="en-US" sz="1800" b="0" i="0" dirty="0">
                <a:solidFill>
                  <a:srgbClr val="242021"/>
                </a:solidFill>
                <a:effectLst/>
                <a:latin typeface="NewCaledoniaLTStd"/>
              </a:rPr>
              <a:t>, ASSIGN_HOURS)</a:t>
            </a:r>
            <a:r>
              <a:rPr lang="en-US" dirty="0"/>
              <a:t> </a:t>
            </a:r>
            <a:br>
              <a:rPr lang="en-US" dirty="0"/>
            </a:br>
            <a:br>
              <a:rPr lang="en-US" dirty="0"/>
            </a:br>
            <a:br>
              <a:rPr lang="en-US" dirty="0"/>
            </a:br>
            <a:br>
              <a:rPr lang="en-US" dirty="0"/>
            </a:br>
            <a:endParaRPr lang="en-US" dirty="0"/>
          </a:p>
        </p:txBody>
      </p:sp>
      <p:sp>
        <p:nvSpPr>
          <p:cNvPr id="4" name="Slide Number Placeholder 3">
            <a:extLst>
              <a:ext uri="{FF2B5EF4-FFF2-40B4-BE49-F238E27FC236}">
                <a16:creationId xmlns:a16="http://schemas.microsoft.com/office/drawing/2014/main" id="{DFB14353-EEF6-B613-DB44-67ECA14282DA}"/>
              </a:ext>
            </a:extLst>
          </p:cNvPr>
          <p:cNvSpPr>
            <a:spLocks noGrp="1"/>
          </p:cNvSpPr>
          <p:nvPr>
            <p:ph type="sldNum" sz="quarter" idx="10"/>
          </p:nvPr>
        </p:nvSpPr>
        <p:spPr/>
        <p:txBody>
          <a:bodyPr/>
          <a:lstStyle/>
          <a:p>
            <a:pPr>
              <a:defRPr/>
            </a:pPr>
            <a:fld id="{34A84676-C444-4AC5-8B4E-405A7C81C0FB}" type="slidenum">
              <a:rPr lang="en-US" altLang="en-US" smtClean="0"/>
              <a:pPr>
                <a:defRPr/>
              </a:pPr>
              <a:t>28</a:t>
            </a:fld>
            <a:endParaRPr lang="en-US" altLang="en-US"/>
          </a:p>
        </p:txBody>
      </p:sp>
      <p:sp>
        <p:nvSpPr>
          <p:cNvPr id="5" name="Footer Placeholder 4">
            <a:extLst>
              <a:ext uri="{FF2B5EF4-FFF2-40B4-BE49-F238E27FC236}">
                <a16:creationId xmlns:a16="http://schemas.microsoft.com/office/drawing/2014/main" id="{5218154A-88C7-E4ED-07A4-BA78E6A99FB4}"/>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050EA70-DB15-2E48-3FCB-618FB310F471}"/>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0964352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1E76CFF-3BCF-33FC-1D04-D518EE33BE3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4BB0281F-7BFE-20C0-205C-53C51C6C4DD7}"/>
              </a:ext>
            </a:extLst>
          </p:cNvPr>
          <p:cNvSpPr>
            <a:spLocks noGrp="1"/>
          </p:cNvSpPr>
          <p:nvPr>
            <p:ph type="sldNum" sz="quarter" idx="11"/>
          </p:nvPr>
        </p:nvSpPr>
        <p:spPr/>
        <p:txBody>
          <a:bodyPr/>
          <a:lstStyle/>
          <a:p>
            <a:pPr>
              <a:defRPr/>
            </a:pPr>
            <a:fld id="{D1AD3536-327C-4937-83AF-A64971CFA6D9}" type="slidenum">
              <a:rPr lang="en-US" smtClean="0"/>
              <a:pPr>
                <a:defRPr/>
              </a:pPr>
              <a:t>29</a:t>
            </a:fld>
            <a:endParaRPr lang="en-US"/>
          </a:p>
        </p:txBody>
      </p:sp>
      <p:sp>
        <p:nvSpPr>
          <p:cNvPr id="4" name="Footer Placeholder 3">
            <a:extLst>
              <a:ext uri="{FF2B5EF4-FFF2-40B4-BE49-F238E27FC236}">
                <a16:creationId xmlns:a16="http://schemas.microsoft.com/office/drawing/2014/main" id="{3505D6BF-1ECE-215D-7789-94B3C29E955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270F58B4-08BA-DE0A-6905-F9164BB2A2E2}"/>
              </a:ext>
            </a:extLst>
          </p:cNvPr>
          <p:cNvPicPr>
            <a:picLocks noChangeAspect="1"/>
          </p:cNvPicPr>
          <p:nvPr/>
        </p:nvPicPr>
        <p:blipFill>
          <a:blip r:embed="rId2"/>
          <a:stretch>
            <a:fillRect/>
          </a:stretch>
        </p:blipFill>
        <p:spPr>
          <a:xfrm>
            <a:off x="586191" y="0"/>
            <a:ext cx="11019618" cy="6858000"/>
          </a:xfrm>
          <a:prstGeom prst="rect">
            <a:avLst/>
          </a:prstGeom>
        </p:spPr>
      </p:pic>
    </p:spTree>
    <p:extLst>
      <p:ext uri="{BB962C8B-B14F-4D97-AF65-F5344CB8AC3E}">
        <p14:creationId xmlns:p14="http://schemas.microsoft.com/office/powerpoint/2010/main" val="201258502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CD072-8839-CACA-09FB-EBEACD902845}"/>
              </a:ext>
            </a:extLst>
          </p:cNvPr>
          <p:cNvSpPr>
            <a:spLocks noGrp="1"/>
          </p:cNvSpPr>
          <p:nvPr>
            <p:ph type="title"/>
          </p:nvPr>
        </p:nvSpPr>
        <p:spPr/>
        <p:txBody>
          <a:bodyPr/>
          <a:lstStyle/>
          <a:p>
            <a:r>
              <a:rPr lang="en-US" dirty="0"/>
              <a:t>6-3c Conversion to Third Normal Form (3NF)</a:t>
            </a:r>
          </a:p>
        </p:txBody>
      </p:sp>
      <p:sp>
        <p:nvSpPr>
          <p:cNvPr id="3" name="Content Placeholder 2">
            <a:extLst>
              <a:ext uri="{FF2B5EF4-FFF2-40B4-BE49-F238E27FC236}">
                <a16:creationId xmlns:a16="http://schemas.microsoft.com/office/drawing/2014/main" id="{AB6376AA-8D1A-D086-6CCB-645F51FC1E06}"/>
              </a:ext>
            </a:extLst>
          </p:cNvPr>
          <p:cNvSpPr>
            <a:spLocks noGrp="1"/>
          </p:cNvSpPr>
          <p:nvPr>
            <p:ph idx="1"/>
          </p:nvPr>
        </p:nvSpPr>
        <p:spPr/>
        <p:txBody>
          <a:bodyPr/>
          <a:lstStyle/>
          <a:p>
            <a:r>
              <a:rPr lang="en-US" sz="1800" b="0" i="0" dirty="0">
                <a:solidFill>
                  <a:srgbClr val="242021"/>
                </a:solidFill>
                <a:effectLst/>
                <a:latin typeface="NewCaledoniaLTStd"/>
              </a:rPr>
              <a:t>A transitive dependency can generate anomalies.</a:t>
            </a:r>
          </a:p>
          <a:p>
            <a:r>
              <a:rPr lang="en-US" sz="1800" b="1" i="0" dirty="0">
                <a:solidFill>
                  <a:srgbClr val="007DAF"/>
                </a:solidFill>
                <a:effectLst/>
                <a:latin typeface="MyriadPro-BoldSemiCn"/>
              </a:rPr>
              <a:t>third normal form (3NF) </a:t>
            </a:r>
            <a:r>
              <a:rPr lang="en-US" sz="1800" b="0" i="0" dirty="0">
                <a:solidFill>
                  <a:srgbClr val="242021"/>
                </a:solidFill>
                <a:effectLst/>
                <a:latin typeface="MyriadPro-SemiCn"/>
              </a:rPr>
              <a:t>A table is in 3NF when it is in 2NF and no </a:t>
            </a:r>
            <a:r>
              <a:rPr lang="en-US" sz="1800" b="0" i="0" dirty="0" err="1">
                <a:solidFill>
                  <a:srgbClr val="242021"/>
                </a:solidFill>
                <a:effectLst/>
                <a:latin typeface="MyriadPro-SemiCn"/>
              </a:rPr>
              <a:t>nonkey</a:t>
            </a:r>
            <a:r>
              <a:rPr lang="en-US" sz="1800" b="0" i="0" dirty="0">
                <a:solidFill>
                  <a:srgbClr val="242021"/>
                </a:solidFill>
                <a:effectLst/>
                <a:latin typeface="MyriadPro-SemiCn"/>
              </a:rPr>
              <a:t> attribute is functionally dependent on another </a:t>
            </a:r>
            <a:r>
              <a:rPr lang="en-US" sz="1800" b="0" i="0" dirty="0" err="1">
                <a:solidFill>
                  <a:srgbClr val="242021"/>
                </a:solidFill>
                <a:effectLst/>
                <a:latin typeface="MyriadPro-SemiCn"/>
              </a:rPr>
              <a:t>nonkey</a:t>
            </a:r>
            <a:r>
              <a:rPr lang="en-US" sz="1800" b="0" i="0" dirty="0">
                <a:solidFill>
                  <a:srgbClr val="242021"/>
                </a:solidFill>
                <a:effectLst/>
                <a:latin typeface="MyriadPro-SemiCn"/>
              </a:rPr>
              <a:t> attribute; that is, it cannot include transitive dependencies.</a:t>
            </a:r>
            <a:r>
              <a:rPr lang="en-US" sz="1600" dirty="0"/>
              <a:t> </a:t>
            </a:r>
            <a:br>
              <a:rPr lang="en-US" sz="1600" dirty="0"/>
            </a:br>
            <a:endParaRPr lang="en-US" sz="2000" b="0" i="0" dirty="0">
              <a:solidFill>
                <a:srgbClr val="242021"/>
              </a:solidFill>
              <a:effectLst/>
              <a:latin typeface="NewCaledoniaLTStd"/>
            </a:endParaRPr>
          </a:p>
          <a:p>
            <a:pPr marL="0" indent="0">
              <a:buNone/>
            </a:pPr>
            <a:br>
              <a:rPr lang="en-US" sz="2000" dirty="0"/>
            </a:br>
            <a:endParaRPr lang="en-US" sz="2000" dirty="0"/>
          </a:p>
        </p:txBody>
      </p:sp>
      <p:sp>
        <p:nvSpPr>
          <p:cNvPr id="4" name="Slide Number Placeholder 3">
            <a:extLst>
              <a:ext uri="{FF2B5EF4-FFF2-40B4-BE49-F238E27FC236}">
                <a16:creationId xmlns:a16="http://schemas.microsoft.com/office/drawing/2014/main" id="{4AB59342-5482-BDF0-D51B-9027F981BA2E}"/>
              </a:ext>
            </a:extLst>
          </p:cNvPr>
          <p:cNvSpPr>
            <a:spLocks noGrp="1"/>
          </p:cNvSpPr>
          <p:nvPr>
            <p:ph type="sldNum" sz="quarter" idx="10"/>
          </p:nvPr>
        </p:nvSpPr>
        <p:spPr/>
        <p:txBody>
          <a:bodyPr/>
          <a:lstStyle/>
          <a:p>
            <a:pPr>
              <a:defRPr/>
            </a:pPr>
            <a:fld id="{34A84676-C444-4AC5-8B4E-405A7C81C0FB}" type="slidenum">
              <a:rPr lang="en-US" altLang="en-US" smtClean="0"/>
              <a:pPr>
                <a:defRPr/>
              </a:pPr>
              <a:t>30</a:t>
            </a:fld>
            <a:endParaRPr lang="en-US" altLang="en-US"/>
          </a:p>
        </p:txBody>
      </p:sp>
      <p:sp>
        <p:nvSpPr>
          <p:cNvPr id="5" name="Footer Placeholder 4">
            <a:extLst>
              <a:ext uri="{FF2B5EF4-FFF2-40B4-BE49-F238E27FC236}">
                <a16:creationId xmlns:a16="http://schemas.microsoft.com/office/drawing/2014/main" id="{84B0F8C9-CB3B-38A8-1550-92CB1388327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CB7B1CB-281D-9A47-4EA5-B18D7B2E9968}"/>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CFC5C980-E7C7-4EF9-6F44-2D14468D3F6E}"/>
              </a:ext>
            </a:extLst>
          </p:cNvPr>
          <p:cNvPicPr>
            <a:picLocks noChangeAspect="1"/>
          </p:cNvPicPr>
          <p:nvPr/>
        </p:nvPicPr>
        <p:blipFill>
          <a:blip r:embed="rId2"/>
          <a:stretch>
            <a:fillRect/>
          </a:stretch>
        </p:blipFill>
        <p:spPr>
          <a:xfrm>
            <a:off x="1476375" y="3429000"/>
            <a:ext cx="9239250" cy="2495550"/>
          </a:xfrm>
          <a:prstGeom prst="rect">
            <a:avLst/>
          </a:prstGeom>
        </p:spPr>
      </p:pic>
    </p:spTree>
    <p:extLst>
      <p:ext uri="{BB962C8B-B14F-4D97-AF65-F5344CB8AC3E}">
        <p14:creationId xmlns:p14="http://schemas.microsoft.com/office/powerpoint/2010/main" val="5636107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CD072-8839-CACA-09FB-EBEACD902845}"/>
              </a:ext>
            </a:extLst>
          </p:cNvPr>
          <p:cNvSpPr>
            <a:spLocks noGrp="1"/>
          </p:cNvSpPr>
          <p:nvPr>
            <p:ph type="title"/>
          </p:nvPr>
        </p:nvSpPr>
        <p:spPr/>
        <p:txBody>
          <a:bodyPr/>
          <a:lstStyle/>
          <a:p>
            <a:r>
              <a:rPr lang="en-US" dirty="0"/>
              <a:t>6-3c Conversion to Third Normal Form (3NF)</a:t>
            </a:r>
          </a:p>
        </p:txBody>
      </p:sp>
      <p:sp>
        <p:nvSpPr>
          <p:cNvPr id="3" name="Content Placeholder 2">
            <a:extLst>
              <a:ext uri="{FF2B5EF4-FFF2-40B4-BE49-F238E27FC236}">
                <a16:creationId xmlns:a16="http://schemas.microsoft.com/office/drawing/2014/main" id="{AB6376AA-8D1A-D086-6CCB-645F51FC1E06}"/>
              </a:ext>
            </a:extLst>
          </p:cNvPr>
          <p:cNvSpPr>
            <a:spLocks noGrp="1"/>
          </p:cNvSpPr>
          <p:nvPr>
            <p:ph idx="1"/>
          </p:nvPr>
        </p:nvSpPr>
        <p:spPr/>
        <p:txBody>
          <a:bodyPr/>
          <a:lstStyle/>
          <a:p>
            <a:r>
              <a:rPr lang="en-US" sz="2000" b="0" i="0" dirty="0">
                <a:solidFill>
                  <a:srgbClr val="732F6A"/>
                </a:solidFill>
                <a:effectLst/>
                <a:latin typeface="MyriadPro-Semibold"/>
              </a:rPr>
              <a:t>Step 1: Make New Tables to Eliminate Transitive Dependencies </a:t>
            </a:r>
          </a:p>
          <a:p>
            <a:pPr lvl="1"/>
            <a:r>
              <a:rPr lang="en-US" sz="1600" b="0" i="0" dirty="0">
                <a:solidFill>
                  <a:srgbClr val="242021"/>
                </a:solidFill>
                <a:effectLst/>
                <a:latin typeface="NewCaledoniaLTStd"/>
              </a:rPr>
              <a:t>For every transitive dependency, write a copy of its determinant (JOB_CLASS) as a primary key for a new table. the determinant remain in the original table to serve as a foreign key</a:t>
            </a:r>
            <a:r>
              <a:rPr lang="en-US" sz="1600" dirty="0"/>
              <a:t> </a:t>
            </a:r>
          </a:p>
          <a:p>
            <a:r>
              <a:rPr lang="en-US" sz="2000" b="0" i="0" dirty="0">
                <a:solidFill>
                  <a:srgbClr val="732F6A"/>
                </a:solidFill>
                <a:effectLst/>
                <a:latin typeface="MyriadPro-Semibold"/>
              </a:rPr>
              <a:t>Step 2: Reassign Corresponding Dependent Attributes </a:t>
            </a:r>
            <a:r>
              <a:rPr lang="en-US" sz="2000" b="0" i="0" dirty="0">
                <a:solidFill>
                  <a:srgbClr val="242021"/>
                </a:solidFill>
                <a:effectLst/>
                <a:latin typeface="NewCaledoniaLTStd"/>
              </a:rPr>
              <a:t>identify the attributes that are dependent on each determinant identified in Step 1. Place the dependent attributes in the new tables with their determinants and remove them from their original tables.</a:t>
            </a:r>
          </a:p>
          <a:p>
            <a:pPr lvl="1"/>
            <a:r>
              <a:rPr lang="en-US" sz="1600" b="0" i="0" dirty="0">
                <a:solidFill>
                  <a:srgbClr val="242021"/>
                </a:solidFill>
                <a:effectLst/>
                <a:latin typeface="NewCaledoniaLTStd"/>
              </a:rPr>
              <a:t>In this example, eliminate CHG_HOUR from the EMPLOYEE table shown in Figure 6.4 to leave the EMPLOYEE table dependency definition as: EMP_NUM </a:t>
            </a:r>
            <a:r>
              <a:rPr lang="en-US" sz="1600" b="0" i="0" dirty="0">
                <a:solidFill>
                  <a:srgbClr val="242021"/>
                </a:solidFill>
                <a:effectLst/>
                <a:latin typeface="SymbolStd"/>
              </a:rPr>
              <a:t>→ </a:t>
            </a:r>
            <a:r>
              <a:rPr lang="en-US" sz="1600" b="0" i="0" dirty="0">
                <a:solidFill>
                  <a:srgbClr val="242021"/>
                </a:solidFill>
                <a:effectLst/>
                <a:latin typeface="NewCaledoniaLTStd"/>
              </a:rPr>
              <a:t>EMP_NAME, JOB_CLASS</a:t>
            </a:r>
            <a:r>
              <a:rPr lang="en-US" sz="2000" dirty="0"/>
              <a:t> </a:t>
            </a:r>
            <a:br>
              <a:rPr lang="en-US" sz="2000" dirty="0"/>
            </a:br>
            <a:endParaRPr lang="en-US" sz="2000" dirty="0"/>
          </a:p>
        </p:txBody>
      </p:sp>
      <p:sp>
        <p:nvSpPr>
          <p:cNvPr id="4" name="Slide Number Placeholder 3">
            <a:extLst>
              <a:ext uri="{FF2B5EF4-FFF2-40B4-BE49-F238E27FC236}">
                <a16:creationId xmlns:a16="http://schemas.microsoft.com/office/drawing/2014/main" id="{4AB59342-5482-BDF0-D51B-9027F981BA2E}"/>
              </a:ext>
            </a:extLst>
          </p:cNvPr>
          <p:cNvSpPr>
            <a:spLocks noGrp="1"/>
          </p:cNvSpPr>
          <p:nvPr>
            <p:ph type="sldNum" sz="quarter" idx="10"/>
          </p:nvPr>
        </p:nvSpPr>
        <p:spPr/>
        <p:txBody>
          <a:bodyPr/>
          <a:lstStyle/>
          <a:p>
            <a:pPr>
              <a:defRPr/>
            </a:pPr>
            <a:fld id="{34A84676-C444-4AC5-8B4E-405A7C81C0FB}" type="slidenum">
              <a:rPr lang="en-US" altLang="en-US" smtClean="0"/>
              <a:pPr>
                <a:defRPr/>
              </a:pPr>
              <a:t>31</a:t>
            </a:fld>
            <a:endParaRPr lang="en-US" altLang="en-US"/>
          </a:p>
        </p:txBody>
      </p:sp>
      <p:sp>
        <p:nvSpPr>
          <p:cNvPr id="5" name="Footer Placeholder 4">
            <a:extLst>
              <a:ext uri="{FF2B5EF4-FFF2-40B4-BE49-F238E27FC236}">
                <a16:creationId xmlns:a16="http://schemas.microsoft.com/office/drawing/2014/main" id="{84B0F8C9-CB3B-38A8-1550-92CB1388327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CB7B1CB-281D-9A47-4EA5-B18D7B2E9968}"/>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9414237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CD072-8839-CACA-09FB-EBEACD902845}"/>
              </a:ext>
            </a:extLst>
          </p:cNvPr>
          <p:cNvSpPr>
            <a:spLocks noGrp="1"/>
          </p:cNvSpPr>
          <p:nvPr>
            <p:ph type="title"/>
          </p:nvPr>
        </p:nvSpPr>
        <p:spPr/>
        <p:txBody>
          <a:bodyPr/>
          <a:lstStyle/>
          <a:p>
            <a:r>
              <a:rPr lang="en-US" dirty="0"/>
              <a:t>6-3c Conversion to Third Normal Form (3NF)</a:t>
            </a:r>
          </a:p>
        </p:txBody>
      </p:sp>
      <p:sp>
        <p:nvSpPr>
          <p:cNvPr id="3" name="Content Placeholder 2">
            <a:extLst>
              <a:ext uri="{FF2B5EF4-FFF2-40B4-BE49-F238E27FC236}">
                <a16:creationId xmlns:a16="http://schemas.microsoft.com/office/drawing/2014/main" id="{AB6376AA-8D1A-D086-6CCB-645F51FC1E06}"/>
              </a:ext>
            </a:extLst>
          </p:cNvPr>
          <p:cNvSpPr>
            <a:spLocks noGrp="1"/>
          </p:cNvSpPr>
          <p:nvPr>
            <p:ph idx="1"/>
          </p:nvPr>
        </p:nvSpPr>
        <p:spPr/>
        <p:txBody>
          <a:bodyPr/>
          <a:lstStyle/>
          <a:p>
            <a:r>
              <a:rPr lang="en-US" sz="2000" b="0" i="0" dirty="0">
                <a:solidFill>
                  <a:srgbClr val="242021"/>
                </a:solidFill>
                <a:effectLst/>
                <a:latin typeface="NewCaledoniaLTStd"/>
              </a:rPr>
              <a:t>A transitive dependency can generate anomalies.</a:t>
            </a:r>
          </a:p>
          <a:p>
            <a:r>
              <a:rPr lang="en-US" sz="2400" dirty="0"/>
              <a:t> </a:t>
            </a:r>
            <a:r>
              <a:rPr lang="en-US" sz="2000" b="0" i="0" dirty="0">
                <a:solidFill>
                  <a:srgbClr val="732F6A"/>
                </a:solidFill>
                <a:effectLst/>
                <a:latin typeface="MyriadPro-Semibold"/>
              </a:rPr>
              <a:t>Step 1: Make New Tables to Eliminate Transitive Dependencies </a:t>
            </a:r>
          </a:p>
          <a:p>
            <a:pPr lvl="1"/>
            <a:r>
              <a:rPr lang="en-US" sz="1600" b="0" i="0" dirty="0">
                <a:solidFill>
                  <a:srgbClr val="242021"/>
                </a:solidFill>
                <a:effectLst/>
                <a:latin typeface="NewCaledoniaLTStd"/>
              </a:rPr>
              <a:t>For every transitive dependency, write a copy of its determinant (JOB_CLASS) as a primary key for a new table. the determinant remain in the original table to serve as a foreign key</a:t>
            </a:r>
            <a:r>
              <a:rPr lang="en-US" sz="1600" dirty="0"/>
              <a:t> </a:t>
            </a:r>
          </a:p>
          <a:p>
            <a:r>
              <a:rPr lang="en-US" sz="2000" b="0" i="0" dirty="0">
                <a:solidFill>
                  <a:srgbClr val="732F6A"/>
                </a:solidFill>
                <a:effectLst/>
                <a:latin typeface="MyriadPro-Semibold"/>
              </a:rPr>
              <a:t>Step 2: Reassign Corresponding Dependent Attributes </a:t>
            </a:r>
            <a:r>
              <a:rPr lang="en-US" sz="2000" b="0" i="0" dirty="0">
                <a:solidFill>
                  <a:srgbClr val="242021"/>
                </a:solidFill>
                <a:effectLst/>
                <a:latin typeface="NewCaledoniaLTStd"/>
              </a:rPr>
              <a:t>identify the attributes that are dependent on each determinant identified in Step 1. Place the dependent attributes in the new tables with their determinants and remove them from their original tables.</a:t>
            </a:r>
          </a:p>
          <a:p>
            <a:pPr lvl="1"/>
            <a:r>
              <a:rPr lang="en-US" sz="1600" b="0" i="0" dirty="0">
                <a:solidFill>
                  <a:srgbClr val="242021"/>
                </a:solidFill>
                <a:effectLst/>
                <a:latin typeface="NewCaledoniaLTStd"/>
              </a:rPr>
              <a:t>Eliminate CHG_HOUR from the EMPLOYEE table shown in Figure 6.4 to leave the EMPLOYEE table dependency definition as: EMP_NUM </a:t>
            </a:r>
            <a:r>
              <a:rPr lang="en-US" sz="1600" b="0" i="0" dirty="0">
                <a:solidFill>
                  <a:srgbClr val="242021"/>
                </a:solidFill>
                <a:effectLst/>
                <a:latin typeface="SymbolStd"/>
              </a:rPr>
              <a:t>→ </a:t>
            </a:r>
            <a:r>
              <a:rPr lang="en-US" sz="1600" b="0" i="0" dirty="0">
                <a:solidFill>
                  <a:srgbClr val="242021"/>
                </a:solidFill>
                <a:effectLst/>
                <a:latin typeface="NewCaledoniaLTStd"/>
              </a:rPr>
              <a:t>EMP_NAME, JOB_CLASS</a:t>
            </a:r>
            <a:r>
              <a:rPr lang="en-US" sz="2000" dirty="0"/>
              <a:t> </a:t>
            </a:r>
            <a:br>
              <a:rPr lang="en-US" sz="2000" dirty="0"/>
            </a:br>
            <a:endParaRPr lang="en-US" sz="2000" dirty="0"/>
          </a:p>
        </p:txBody>
      </p:sp>
      <p:sp>
        <p:nvSpPr>
          <p:cNvPr id="4" name="Slide Number Placeholder 3">
            <a:extLst>
              <a:ext uri="{FF2B5EF4-FFF2-40B4-BE49-F238E27FC236}">
                <a16:creationId xmlns:a16="http://schemas.microsoft.com/office/drawing/2014/main" id="{4AB59342-5482-BDF0-D51B-9027F981BA2E}"/>
              </a:ext>
            </a:extLst>
          </p:cNvPr>
          <p:cNvSpPr>
            <a:spLocks noGrp="1"/>
          </p:cNvSpPr>
          <p:nvPr>
            <p:ph type="sldNum" sz="quarter" idx="10"/>
          </p:nvPr>
        </p:nvSpPr>
        <p:spPr/>
        <p:txBody>
          <a:bodyPr/>
          <a:lstStyle/>
          <a:p>
            <a:pPr>
              <a:defRPr/>
            </a:pPr>
            <a:fld id="{34A84676-C444-4AC5-8B4E-405A7C81C0FB}" type="slidenum">
              <a:rPr lang="en-US" altLang="en-US" smtClean="0"/>
              <a:pPr>
                <a:defRPr/>
              </a:pPr>
              <a:t>32</a:t>
            </a:fld>
            <a:endParaRPr lang="en-US" altLang="en-US"/>
          </a:p>
        </p:txBody>
      </p:sp>
      <p:sp>
        <p:nvSpPr>
          <p:cNvPr id="5" name="Footer Placeholder 4">
            <a:extLst>
              <a:ext uri="{FF2B5EF4-FFF2-40B4-BE49-F238E27FC236}">
                <a16:creationId xmlns:a16="http://schemas.microsoft.com/office/drawing/2014/main" id="{84B0F8C9-CB3B-38A8-1550-92CB13883270}"/>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FCB7B1CB-281D-9A47-4EA5-B18D7B2E9968}"/>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8615015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AEEFE8-D4CE-57E6-B703-512047226F6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A5E411D1-A03E-B810-7CB6-305F4B555AAB}"/>
              </a:ext>
            </a:extLst>
          </p:cNvPr>
          <p:cNvSpPr>
            <a:spLocks noGrp="1"/>
          </p:cNvSpPr>
          <p:nvPr>
            <p:ph type="sldNum" sz="quarter" idx="11"/>
          </p:nvPr>
        </p:nvSpPr>
        <p:spPr/>
        <p:txBody>
          <a:bodyPr/>
          <a:lstStyle/>
          <a:p>
            <a:pPr>
              <a:defRPr/>
            </a:pPr>
            <a:fld id="{D1AD3536-327C-4937-83AF-A64971CFA6D9}" type="slidenum">
              <a:rPr lang="en-US" smtClean="0"/>
              <a:pPr>
                <a:defRPr/>
              </a:pPr>
              <a:t>33</a:t>
            </a:fld>
            <a:endParaRPr lang="en-US"/>
          </a:p>
        </p:txBody>
      </p:sp>
      <p:sp>
        <p:nvSpPr>
          <p:cNvPr id="4" name="Footer Placeholder 3">
            <a:extLst>
              <a:ext uri="{FF2B5EF4-FFF2-40B4-BE49-F238E27FC236}">
                <a16:creationId xmlns:a16="http://schemas.microsoft.com/office/drawing/2014/main" id="{DA88D322-1118-4E85-BECF-768CCA41E1F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DFAF011D-0C99-EB86-68A7-4451DE985BA6}"/>
              </a:ext>
            </a:extLst>
          </p:cNvPr>
          <p:cNvPicPr>
            <a:picLocks noChangeAspect="1"/>
          </p:cNvPicPr>
          <p:nvPr/>
        </p:nvPicPr>
        <p:blipFill>
          <a:blip r:embed="rId2"/>
          <a:stretch>
            <a:fillRect/>
          </a:stretch>
        </p:blipFill>
        <p:spPr>
          <a:xfrm>
            <a:off x="23812" y="447675"/>
            <a:ext cx="12144375" cy="5962650"/>
          </a:xfrm>
          <a:prstGeom prst="rect">
            <a:avLst/>
          </a:prstGeom>
        </p:spPr>
      </p:pic>
    </p:spTree>
    <p:extLst>
      <p:ext uri="{BB962C8B-B14F-4D97-AF65-F5344CB8AC3E}">
        <p14:creationId xmlns:p14="http://schemas.microsoft.com/office/powerpoint/2010/main" val="21918860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86372-B8B9-96D3-D44A-DE72E8EDB9BF}"/>
              </a:ext>
            </a:extLst>
          </p:cNvPr>
          <p:cNvSpPr>
            <a:spLocks noGrp="1"/>
          </p:cNvSpPr>
          <p:nvPr>
            <p:ph type="title"/>
          </p:nvPr>
        </p:nvSpPr>
        <p:spPr/>
        <p:txBody>
          <a:bodyPr/>
          <a:lstStyle/>
          <a:p>
            <a:r>
              <a:rPr lang="en-US" dirty="0"/>
              <a:t>6-6 Higher-Level Normal Forms</a:t>
            </a:r>
          </a:p>
        </p:txBody>
      </p:sp>
      <p:sp>
        <p:nvSpPr>
          <p:cNvPr id="3" name="Date Placeholder 2">
            <a:extLst>
              <a:ext uri="{FF2B5EF4-FFF2-40B4-BE49-F238E27FC236}">
                <a16:creationId xmlns:a16="http://schemas.microsoft.com/office/drawing/2014/main" id="{AAE6ED4A-8D9F-EB1D-74C9-CBC9A1B60EBA}"/>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AF659E1E-20DD-C74B-DD79-3BE9C4977ABD}"/>
              </a:ext>
            </a:extLst>
          </p:cNvPr>
          <p:cNvSpPr>
            <a:spLocks noGrp="1"/>
          </p:cNvSpPr>
          <p:nvPr>
            <p:ph type="sldNum" sz="quarter" idx="11"/>
          </p:nvPr>
        </p:nvSpPr>
        <p:spPr/>
        <p:txBody>
          <a:bodyPr/>
          <a:lstStyle/>
          <a:p>
            <a:pPr>
              <a:defRPr/>
            </a:pPr>
            <a:fld id="{F9126DDB-45DE-4D72-94FB-1E2D565E80AF}" type="slidenum">
              <a:rPr lang="en-US" smtClean="0"/>
              <a:pPr>
                <a:defRPr/>
              </a:pPr>
              <a:t>34</a:t>
            </a:fld>
            <a:endParaRPr lang="en-US"/>
          </a:p>
        </p:txBody>
      </p:sp>
      <p:sp>
        <p:nvSpPr>
          <p:cNvPr id="5" name="Footer Placeholder 4">
            <a:extLst>
              <a:ext uri="{FF2B5EF4-FFF2-40B4-BE49-F238E27FC236}">
                <a16:creationId xmlns:a16="http://schemas.microsoft.com/office/drawing/2014/main" id="{2B55CCD3-728E-A73F-8DBF-DACCC8A65FD6}"/>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12865188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72EAFC-A941-604D-2A0D-280763AF1A0C}"/>
              </a:ext>
            </a:extLst>
          </p:cNvPr>
          <p:cNvSpPr>
            <a:spLocks noGrp="1"/>
          </p:cNvSpPr>
          <p:nvPr>
            <p:ph type="title"/>
          </p:nvPr>
        </p:nvSpPr>
        <p:spPr/>
        <p:txBody>
          <a:bodyPr/>
          <a:lstStyle/>
          <a:p>
            <a:r>
              <a:rPr lang="en-US" dirty="0"/>
              <a:t>6-6a The Boyce-Codd Normal Form</a:t>
            </a:r>
          </a:p>
        </p:txBody>
      </p:sp>
      <p:sp>
        <p:nvSpPr>
          <p:cNvPr id="3" name="Content Placeholder 2">
            <a:extLst>
              <a:ext uri="{FF2B5EF4-FFF2-40B4-BE49-F238E27FC236}">
                <a16:creationId xmlns:a16="http://schemas.microsoft.com/office/drawing/2014/main" id="{3935A05C-8C9E-BD2C-A51C-39ED25E204E0}"/>
              </a:ext>
            </a:extLst>
          </p:cNvPr>
          <p:cNvSpPr>
            <a:spLocks noGrp="1"/>
          </p:cNvSpPr>
          <p:nvPr>
            <p:ph idx="1"/>
          </p:nvPr>
        </p:nvSpPr>
        <p:spPr/>
        <p:txBody>
          <a:bodyPr/>
          <a:lstStyle/>
          <a:p>
            <a:r>
              <a:rPr lang="en-US" sz="2400" b="1" i="0" dirty="0">
                <a:solidFill>
                  <a:srgbClr val="007DAF"/>
                </a:solidFill>
                <a:effectLst/>
                <a:latin typeface="MyriadPro-BoldSemiCn"/>
              </a:rPr>
              <a:t>Boyce-Codd normal form (BCNF) </a:t>
            </a:r>
            <a:r>
              <a:rPr lang="en-US" sz="2400" b="0" i="0" dirty="0">
                <a:solidFill>
                  <a:srgbClr val="242021"/>
                </a:solidFill>
                <a:effectLst/>
                <a:latin typeface="MyriadPro-SemiCn"/>
              </a:rPr>
              <a:t>A special type of third normal form (3NF) in which every determinant is a candidate key. A table in BCNF must be in 3NF.  </a:t>
            </a:r>
          </a:p>
          <a:p>
            <a:pPr lvl="1"/>
            <a:r>
              <a:rPr lang="en-US" sz="2400" b="0" i="0" dirty="0">
                <a:solidFill>
                  <a:srgbClr val="242021"/>
                </a:solidFill>
                <a:effectLst/>
                <a:latin typeface="NewCaledoniaLTStd"/>
              </a:rPr>
              <a:t>A candidate key has the same characteristics as a primary key, but for some reason, it was not chosen to be the primary key</a:t>
            </a:r>
            <a:r>
              <a:rPr lang="en-US" sz="2000" dirty="0"/>
              <a:t> </a:t>
            </a:r>
          </a:p>
          <a:p>
            <a:pPr lvl="1"/>
            <a:r>
              <a:rPr lang="en-US" sz="2400" b="0" i="0" dirty="0">
                <a:solidFill>
                  <a:srgbClr val="242021"/>
                </a:solidFill>
                <a:effectLst/>
                <a:latin typeface="NewCaledoniaLTStd"/>
              </a:rPr>
              <a:t>BCNF can be violated only when the table contains more than one candidate key</a:t>
            </a:r>
            <a:r>
              <a:rPr lang="en-US" sz="2000" dirty="0"/>
              <a:t> </a:t>
            </a:r>
            <a:endParaRPr lang="en-US" sz="2800" dirty="0"/>
          </a:p>
        </p:txBody>
      </p:sp>
      <p:sp>
        <p:nvSpPr>
          <p:cNvPr id="4" name="Slide Number Placeholder 3">
            <a:extLst>
              <a:ext uri="{FF2B5EF4-FFF2-40B4-BE49-F238E27FC236}">
                <a16:creationId xmlns:a16="http://schemas.microsoft.com/office/drawing/2014/main" id="{B696A086-36B8-2B23-D845-B2668532EAD9}"/>
              </a:ext>
            </a:extLst>
          </p:cNvPr>
          <p:cNvSpPr>
            <a:spLocks noGrp="1"/>
          </p:cNvSpPr>
          <p:nvPr>
            <p:ph type="sldNum" sz="quarter" idx="10"/>
          </p:nvPr>
        </p:nvSpPr>
        <p:spPr/>
        <p:txBody>
          <a:bodyPr/>
          <a:lstStyle/>
          <a:p>
            <a:pPr>
              <a:defRPr/>
            </a:pPr>
            <a:fld id="{34A84676-C444-4AC5-8B4E-405A7C81C0FB}" type="slidenum">
              <a:rPr lang="en-US" altLang="en-US" smtClean="0"/>
              <a:pPr>
                <a:defRPr/>
              </a:pPr>
              <a:t>35</a:t>
            </a:fld>
            <a:endParaRPr lang="en-US" altLang="en-US"/>
          </a:p>
        </p:txBody>
      </p:sp>
      <p:sp>
        <p:nvSpPr>
          <p:cNvPr id="5" name="Footer Placeholder 4">
            <a:extLst>
              <a:ext uri="{FF2B5EF4-FFF2-40B4-BE49-F238E27FC236}">
                <a16:creationId xmlns:a16="http://schemas.microsoft.com/office/drawing/2014/main" id="{2ECE7060-0676-E4F4-F98F-0F2BB1334E33}"/>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6E843742-5C47-F5CD-DDB7-E8740F75D051}"/>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5683010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74FB32-9439-5C8E-4C9E-A828698208F3}"/>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E58C8D1-61E3-58C7-1B48-AD11C84634B9}"/>
              </a:ext>
            </a:extLst>
          </p:cNvPr>
          <p:cNvSpPr>
            <a:spLocks noGrp="1"/>
          </p:cNvSpPr>
          <p:nvPr>
            <p:ph type="sldNum" sz="quarter" idx="11"/>
          </p:nvPr>
        </p:nvSpPr>
        <p:spPr/>
        <p:txBody>
          <a:bodyPr/>
          <a:lstStyle/>
          <a:p>
            <a:pPr>
              <a:defRPr/>
            </a:pPr>
            <a:fld id="{D1AD3536-327C-4937-83AF-A64971CFA6D9}" type="slidenum">
              <a:rPr lang="en-US" smtClean="0"/>
              <a:pPr>
                <a:defRPr/>
              </a:pPr>
              <a:t>36</a:t>
            </a:fld>
            <a:endParaRPr lang="en-US"/>
          </a:p>
        </p:txBody>
      </p:sp>
      <p:sp>
        <p:nvSpPr>
          <p:cNvPr id="4" name="Footer Placeholder 3">
            <a:extLst>
              <a:ext uri="{FF2B5EF4-FFF2-40B4-BE49-F238E27FC236}">
                <a16:creationId xmlns:a16="http://schemas.microsoft.com/office/drawing/2014/main" id="{29208189-533E-456B-D2B6-2B787A3926F3}"/>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A61A0109-8F3E-25CE-7D23-48F2DBC9AC5D}"/>
              </a:ext>
            </a:extLst>
          </p:cNvPr>
          <p:cNvPicPr>
            <a:picLocks noChangeAspect="1"/>
          </p:cNvPicPr>
          <p:nvPr/>
        </p:nvPicPr>
        <p:blipFill>
          <a:blip r:embed="rId2"/>
          <a:stretch>
            <a:fillRect/>
          </a:stretch>
        </p:blipFill>
        <p:spPr>
          <a:xfrm>
            <a:off x="0" y="914400"/>
            <a:ext cx="12192000" cy="2918425"/>
          </a:xfrm>
          <a:prstGeom prst="rect">
            <a:avLst/>
          </a:prstGeom>
        </p:spPr>
      </p:pic>
      <p:sp>
        <p:nvSpPr>
          <p:cNvPr id="8" name="TextBox 7">
            <a:extLst>
              <a:ext uri="{FF2B5EF4-FFF2-40B4-BE49-F238E27FC236}">
                <a16:creationId xmlns:a16="http://schemas.microsoft.com/office/drawing/2014/main" id="{BC9AE6A8-8F50-95C2-2CEE-B1DA90981563}"/>
              </a:ext>
            </a:extLst>
          </p:cNvPr>
          <p:cNvSpPr txBox="1"/>
          <p:nvPr/>
        </p:nvSpPr>
        <p:spPr>
          <a:xfrm>
            <a:off x="1828800" y="4419600"/>
            <a:ext cx="8991599" cy="1569660"/>
          </a:xfrm>
          <a:prstGeom prst="rect">
            <a:avLst/>
          </a:prstGeom>
          <a:noFill/>
        </p:spPr>
        <p:txBody>
          <a:bodyPr wrap="square">
            <a:spAutoFit/>
          </a:bodyPr>
          <a:lstStyle/>
          <a:p>
            <a:r>
              <a:rPr lang="en-US" sz="2400" b="0" i="0" dirty="0">
                <a:solidFill>
                  <a:srgbClr val="242021"/>
                </a:solidFill>
                <a:effectLst/>
                <a:latin typeface="NewCaledoniaLTStd"/>
              </a:rPr>
              <a:t>The CLASS table has two candidate keys:</a:t>
            </a:r>
            <a:br>
              <a:rPr lang="en-US" sz="2400" b="0" i="0" dirty="0">
                <a:solidFill>
                  <a:srgbClr val="242021"/>
                </a:solidFill>
                <a:effectLst/>
                <a:latin typeface="NewCaledoniaLTStd"/>
              </a:rPr>
            </a:br>
            <a:r>
              <a:rPr lang="en-US" sz="2400" b="0" i="0" dirty="0">
                <a:solidFill>
                  <a:srgbClr val="403F41"/>
                </a:solidFill>
                <a:effectLst/>
                <a:latin typeface="NewCaledoniaLTStd"/>
              </a:rPr>
              <a:t>• </a:t>
            </a:r>
            <a:r>
              <a:rPr lang="en-US" sz="2400" b="0" i="0" dirty="0">
                <a:solidFill>
                  <a:srgbClr val="242021"/>
                </a:solidFill>
                <a:effectLst/>
                <a:latin typeface="NewCaledoniaLTStd"/>
              </a:rPr>
              <a:t>CLASS_CODE</a:t>
            </a:r>
            <a:br>
              <a:rPr lang="en-US" sz="2400" b="0" i="0" dirty="0">
                <a:solidFill>
                  <a:srgbClr val="242021"/>
                </a:solidFill>
                <a:effectLst/>
                <a:latin typeface="NewCaledoniaLTStd"/>
              </a:rPr>
            </a:br>
            <a:r>
              <a:rPr lang="en-US" sz="2400" b="0" i="0" dirty="0">
                <a:solidFill>
                  <a:srgbClr val="403F41"/>
                </a:solidFill>
                <a:effectLst/>
                <a:latin typeface="NewCaledoniaLTStd"/>
              </a:rPr>
              <a:t>• </a:t>
            </a:r>
            <a:r>
              <a:rPr lang="en-US" sz="2400" b="0" i="0" dirty="0">
                <a:solidFill>
                  <a:srgbClr val="242021"/>
                </a:solidFill>
                <a:effectLst/>
                <a:latin typeface="NewCaledoniaLTStd"/>
              </a:rPr>
              <a:t>CRS_CODE +</a:t>
            </a:r>
            <a:r>
              <a:rPr lang="en-US" sz="2400" b="0" i="0" dirty="0">
                <a:solidFill>
                  <a:srgbClr val="242021"/>
                </a:solidFill>
                <a:effectLst/>
                <a:latin typeface="MathematicalPiLTStd-1"/>
              </a:rPr>
              <a:t> </a:t>
            </a:r>
            <a:r>
              <a:rPr lang="en-US" sz="2400" b="0" i="0" dirty="0">
                <a:solidFill>
                  <a:srgbClr val="242021"/>
                </a:solidFill>
                <a:effectLst/>
                <a:latin typeface="NewCaledoniaLTStd"/>
              </a:rPr>
              <a:t>CLASS_SECTION</a:t>
            </a:r>
            <a:r>
              <a:rPr lang="en-US" sz="2400" dirty="0"/>
              <a:t> </a:t>
            </a:r>
            <a:br>
              <a:rPr lang="en-US" sz="2400" dirty="0"/>
            </a:br>
            <a:endParaRPr lang="en-US" sz="2400" dirty="0"/>
          </a:p>
        </p:txBody>
      </p:sp>
    </p:spTree>
    <p:extLst>
      <p:ext uri="{BB962C8B-B14F-4D97-AF65-F5344CB8AC3E}">
        <p14:creationId xmlns:p14="http://schemas.microsoft.com/office/powerpoint/2010/main" val="210939552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DBB55-BEB0-6DA0-71C2-7D6F63157D38}"/>
              </a:ext>
            </a:extLst>
          </p:cNvPr>
          <p:cNvSpPr>
            <a:spLocks noGrp="1"/>
          </p:cNvSpPr>
          <p:nvPr>
            <p:ph type="title"/>
          </p:nvPr>
        </p:nvSpPr>
        <p:spPr/>
        <p:txBody>
          <a:bodyPr/>
          <a:lstStyle/>
          <a:p>
            <a:r>
              <a:rPr lang="en-US" dirty="0"/>
              <a:t>6-6a The Boyce-Codd Normal Form</a:t>
            </a:r>
          </a:p>
        </p:txBody>
      </p:sp>
      <p:sp>
        <p:nvSpPr>
          <p:cNvPr id="3" name="Content Placeholder 2">
            <a:extLst>
              <a:ext uri="{FF2B5EF4-FFF2-40B4-BE49-F238E27FC236}">
                <a16:creationId xmlns:a16="http://schemas.microsoft.com/office/drawing/2014/main" id="{63A5A56F-B7CB-F17B-A8F6-8BFB9F8AF416}"/>
              </a:ext>
            </a:extLst>
          </p:cNvPr>
          <p:cNvSpPr>
            <a:spLocks noGrp="1"/>
          </p:cNvSpPr>
          <p:nvPr>
            <p:ph idx="1"/>
          </p:nvPr>
        </p:nvSpPr>
        <p:spPr/>
        <p:txBody>
          <a:bodyPr/>
          <a:lstStyle/>
          <a:p>
            <a:r>
              <a:rPr lang="en-US" sz="2000" b="0" i="0" dirty="0">
                <a:solidFill>
                  <a:srgbClr val="242021"/>
                </a:solidFill>
                <a:effectLst/>
                <a:latin typeface="NewCaledoniaLTStd"/>
              </a:rPr>
              <a:t>The table is in 1NF because the key attributes are defined and all </a:t>
            </a:r>
            <a:r>
              <a:rPr lang="en-US" sz="2000" b="0" i="0" dirty="0" err="1">
                <a:solidFill>
                  <a:srgbClr val="242021"/>
                </a:solidFill>
                <a:effectLst/>
                <a:latin typeface="NewCaledoniaLTStd"/>
              </a:rPr>
              <a:t>nonkey</a:t>
            </a:r>
            <a:r>
              <a:rPr lang="en-US" sz="2000" b="0" i="0" dirty="0">
                <a:solidFill>
                  <a:srgbClr val="242021"/>
                </a:solidFill>
                <a:effectLst/>
                <a:latin typeface="NewCaledoniaLTStd"/>
              </a:rPr>
              <a:t> attributes are</a:t>
            </a:r>
            <a:br>
              <a:rPr lang="en-US" sz="2000" b="0" i="0" dirty="0">
                <a:solidFill>
                  <a:srgbClr val="242021"/>
                </a:solidFill>
                <a:effectLst/>
                <a:latin typeface="NewCaledoniaLTStd"/>
              </a:rPr>
            </a:br>
            <a:r>
              <a:rPr lang="en-US" sz="2000" b="0" i="0" dirty="0">
                <a:solidFill>
                  <a:srgbClr val="242021"/>
                </a:solidFill>
                <a:effectLst/>
                <a:latin typeface="NewCaledoniaLTStd"/>
              </a:rPr>
              <a:t>determined by the key. </a:t>
            </a:r>
          </a:p>
          <a:p>
            <a:r>
              <a:rPr lang="en-US" sz="2000" b="0" i="0" dirty="0">
                <a:solidFill>
                  <a:srgbClr val="242021"/>
                </a:solidFill>
                <a:effectLst/>
                <a:latin typeface="NewCaledoniaLTStd"/>
              </a:rPr>
              <a:t>The table is in 2NF because it is in 1NF and there are no partial dependencies on either candidate key.</a:t>
            </a:r>
          </a:p>
          <a:p>
            <a:r>
              <a:rPr lang="en-US" sz="2000" b="0" i="0" dirty="0">
                <a:solidFill>
                  <a:srgbClr val="242021"/>
                </a:solidFill>
                <a:effectLst/>
                <a:latin typeface="NewCaledoniaLTStd"/>
              </a:rPr>
              <a:t>The</a:t>
            </a:r>
            <a:r>
              <a:rPr lang="en-US" sz="2000" dirty="0">
                <a:solidFill>
                  <a:srgbClr val="242021"/>
                </a:solidFill>
              </a:rPr>
              <a:t> </a:t>
            </a:r>
            <a:r>
              <a:rPr lang="en-US" sz="2000" b="0" i="0" dirty="0">
                <a:solidFill>
                  <a:srgbClr val="242021"/>
                </a:solidFill>
                <a:effectLst/>
                <a:latin typeface="NewCaledoniaLTStd"/>
              </a:rPr>
              <a:t>table is in 3NF because there are no transitive dependencies.  </a:t>
            </a:r>
          </a:p>
          <a:p>
            <a:r>
              <a:rPr lang="en-US" sz="2000" b="0" i="0" dirty="0">
                <a:solidFill>
                  <a:srgbClr val="242021"/>
                </a:solidFill>
                <a:effectLst/>
                <a:latin typeface="NewCaledoniaLTStd"/>
              </a:rPr>
              <a:t>A table be in 3NF and not be in BCNF? </a:t>
            </a:r>
          </a:p>
          <a:p>
            <a:pPr lvl="1"/>
            <a:r>
              <a:rPr lang="en-US" sz="2000" b="0" i="0" dirty="0">
                <a:solidFill>
                  <a:srgbClr val="242021"/>
                </a:solidFill>
                <a:effectLst/>
                <a:latin typeface="NewCaledoniaLTStd"/>
              </a:rPr>
              <a:t>one key attribute is the determinant of another key attribute</a:t>
            </a:r>
            <a:r>
              <a:rPr lang="en-US" sz="2000" dirty="0"/>
              <a:t> </a:t>
            </a:r>
          </a:p>
          <a:p>
            <a:pPr lvl="1"/>
            <a:r>
              <a:rPr lang="en-US" sz="2000" b="0" i="0" dirty="0">
                <a:solidFill>
                  <a:srgbClr val="242021"/>
                </a:solidFill>
                <a:effectLst/>
                <a:latin typeface="NewCaledoniaLTStd"/>
              </a:rPr>
              <a:t>because BCNF requires that every determinant in the table be a candidate key</a:t>
            </a:r>
            <a:r>
              <a:rPr lang="en-US" sz="2000" dirty="0"/>
              <a:t> </a:t>
            </a:r>
          </a:p>
        </p:txBody>
      </p:sp>
      <p:sp>
        <p:nvSpPr>
          <p:cNvPr id="4" name="Slide Number Placeholder 3">
            <a:extLst>
              <a:ext uri="{FF2B5EF4-FFF2-40B4-BE49-F238E27FC236}">
                <a16:creationId xmlns:a16="http://schemas.microsoft.com/office/drawing/2014/main" id="{D8ED21DA-7450-1DCB-E139-435ADE888E0F}"/>
              </a:ext>
            </a:extLst>
          </p:cNvPr>
          <p:cNvSpPr>
            <a:spLocks noGrp="1"/>
          </p:cNvSpPr>
          <p:nvPr>
            <p:ph type="sldNum" sz="quarter" idx="10"/>
          </p:nvPr>
        </p:nvSpPr>
        <p:spPr/>
        <p:txBody>
          <a:bodyPr/>
          <a:lstStyle/>
          <a:p>
            <a:pPr>
              <a:defRPr/>
            </a:pPr>
            <a:fld id="{34A84676-C444-4AC5-8B4E-405A7C81C0FB}" type="slidenum">
              <a:rPr lang="en-US" altLang="en-US" smtClean="0"/>
              <a:pPr>
                <a:defRPr/>
              </a:pPr>
              <a:t>37</a:t>
            </a:fld>
            <a:endParaRPr lang="en-US" altLang="en-US"/>
          </a:p>
        </p:txBody>
      </p:sp>
      <p:sp>
        <p:nvSpPr>
          <p:cNvPr id="5" name="Footer Placeholder 4">
            <a:extLst>
              <a:ext uri="{FF2B5EF4-FFF2-40B4-BE49-F238E27FC236}">
                <a16:creationId xmlns:a16="http://schemas.microsoft.com/office/drawing/2014/main" id="{659E428B-593E-53AA-91D7-9C8E33075021}"/>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240638A0-D1CD-F849-AED7-DE1C3015D8BC}"/>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4462185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FA834C-6F63-4E97-5F77-FE4D9B422BB9}"/>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1CDF96BE-FB9D-DA43-6F9D-430F96BB3CD7}"/>
              </a:ext>
            </a:extLst>
          </p:cNvPr>
          <p:cNvSpPr>
            <a:spLocks noGrp="1"/>
          </p:cNvSpPr>
          <p:nvPr>
            <p:ph type="sldNum" sz="quarter" idx="11"/>
          </p:nvPr>
        </p:nvSpPr>
        <p:spPr/>
        <p:txBody>
          <a:bodyPr/>
          <a:lstStyle/>
          <a:p>
            <a:pPr>
              <a:defRPr/>
            </a:pPr>
            <a:fld id="{D1AD3536-327C-4937-83AF-A64971CFA6D9}" type="slidenum">
              <a:rPr lang="en-US" smtClean="0"/>
              <a:pPr>
                <a:defRPr/>
              </a:pPr>
              <a:t>38</a:t>
            </a:fld>
            <a:endParaRPr lang="en-US"/>
          </a:p>
        </p:txBody>
      </p:sp>
      <p:sp>
        <p:nvSpPr>
          <p:cNvPr id="4" name="Footer Placeholder 3">
            <a:extLst>
              <a:ext uri="{FF2B5EF4-FFF2-40B4-BE49-F238E27FC236}">
                <a16:creationId xmlns:a16="http://schemas.microsoft.com/office/drawing/2014/main" id="{0698707C-4E90-BBAD-EFC9-B175FAE801A6}"/>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386549A7-1ECD-2971-DCBD-CD0DB6B463EF}"/>
              </a:ext>
            </a:extLst>
          </p:cNvPr>
          <p:cNvPicPr>
            <a:picLocks noChangeAspect="1"/>
          </p:cNvPicPr>
          <p:nvPr/>
        </p:nvPicPr>
        <p:blipFill>
          <a:blip r:embed="rId2"/>
          <a:stretch>
            <a:fillRect/>
          </a:stretch>
        </p:blipFill>
        <p:spPr>
          <a:xfrm>
            <a:off x="495300" y="76200"/>
            <a:ext cx="11201400" cy="3981450"/>
          </a:xfrm>
          <a:prstGeom prst="rect">
            <a:avLst/>
          </a:prstGeom>
        </p:spPr>
      </p:pic>
      <p:sp>
        <p:nvSpPr>
          <p:cNvPr id="8" name="TextBox 7">
            <a:extLst>
              <a:ext uri="{FF2B5EF4-FFF2-40B4-BE49-F238E27FC236}">
                <a16:creationId xmlns:a16="http://schemas.microsoft.com/office/drawing/2014/main" id="{27904C0C-A8F4-60B0-F4F0-6C230064F885}"/>
              </a:ext>
            </a:extLst>
          </p:cNvPr>
          <p:cNvSpPr txBox="1"/>
          <p:nvPr/>
        </p:nvSpPr>
        <p:spPr>
          <a:xfrm>
            <a:off x="641555" y="4008694"/>
            <a:ext cx="6096000" cy="2431435"/>
          </a:xfrm>
          <a:prstGeom prst="rect">
            <a:avLst/>
          </a:prstGeom>
          <a:noFill/>
        </p:spPr>
        <p:txBody>
          <a:bodyPr wrap="square">
            <a:spAutoFit/>
          </a:bodyPr>
          <a:lstStyle/>
          <a:p>
            <a:r>
              <a:rPr lang="en-US" sz="2400" b="0" i="0" dirty="0">
                <a:solidFill>
                  <a:srgbClr val="242021"/>
                </a:solidFill>
                <a:effectLst/>
                <a:latin typeface="NewCaledoniaLTStd"/>
              </a:rPr>
              <a:t>The functional dependencies in Figure 6.8:</a:t>
            </a:r>
            <a:br>
              <a:rPr lang="en-US" sz="2400" b="0" i="0" dirty="0">
                <a:solidFill>
                  <a:srgbClr val="242021"/>
                </a:solidFill>
                <a:effectLst/>
                <a:latin typeface="NewCaledoniaLTStd"/>
              </a:rPr>
            </a:br>
            <a:r>
              <a:rPr lang="en-US" sz="2400" b="0" i="0" dirty="0">
                <a:solidFill>
                  <a:srgbClr val="242021"/>
                </a:solidFill>
                <a:effectLst/>
                <a:latin typeface="NewCaledoniaLTStd"/>
              </a:rPr>
              <a:t>A </a:t>
            </a:r>
            <a:r>
              <a:rPr lang="en-US" sz="2400" b="0" i="0" dirty="0">
                <a:solidFill>
                  <a:srgbClr val="242021"/>
                </a:solidFill>
                <a:effectLst/>
                <a:latin typeface="MathematicalPiLTStd-1"/>
              </a:rPr>
              <a:t>+ </a:t>
            </a:r>
            <a:r>
              <a:rPr lang="en-US" sz="2400" b="0" i="0" dirty="0">
                <a:solidFill>
                  <a:srgbClr val="242021"/>
                </a:solidFill>
                <a:effectLst/>
                <a:latin typeface="NewCaledoniaLTStd"/>
              </a:rPr>
              <a:t>B </a:t>
            </a:r>
            <a:r>
              <a:rPr lang="en-US" sz="2400" b="0" i="0" dirty="0">
                <a:solidFill>
                  <a:srgbClr val="242021"/>
                </a:solidFill>
                <a:effectLst/>
                <a:latin typeface="SymbolStd"/>
              </a:rPr>
              <a:t>→ </a:t>
            </a:r>
            <a:r>
              <a:rPr lang="en-US" sz="2400" b="0" i="0" dirty="0">
                <a:solidFill>
                  <a:srgbClr val="242021"/>
                </a:solidFill>
                <a:effectLst/>
                <a:latin typeface="NewCaledoniaLTStd"/>
              </a:rPr>
              <a:t>C, D</a:t>
            </a:r>
            <a:br>
              <a:rPr lang="en-US" sz="2400" b="0" i="0" dirty="0">
                <a:solidFill>
                  <a:srgbClr val="242021"/>
                </a:solidFill>
                <a:effectLst/>
                <a:latin typeface="NewCaledoniaLTStd"/>
              </a:rPr>
            </a:br>
            <a:r>
              <a:rPr lang="en-US" sz="2400" b="0" i="0" dirty="0">
                <a:solidFill>
                  <a:srgbClr val="242021"/>
                </a:solidFill>
                <a:effectLst/>
                <a:latin typeface="NewCaledoniaLTStd"/>
              </a:rPr>
              <a:t>A </a:t>
            </a:r>
            <a:r>
              <a:rPr lang="en-US" sz="2400" b="0" i="0" dirty="0">
                <a:solidFill>
                  <a:srgbClr val="242021"/>
                </a:solidFill>
                <a:effectLst/>
                <a:latin typeface="MathematicalPiLTStd-1"/>
              </a:rPr>
              <a:t>+ </a:t>
            </a:r>
            <a:r>
              <a:rPr lang="en-US" sz="2400" b="0" i="0" dirty="0">
                <a:solidFill>
                  <a:srgbClr val="242021"/>
                </a:solidFill>
                <a:effectLst/>
                <a:latin typeface="NewCaledoniaLTStd"/>
              </a:rPr>
              <a:t>C </a:t>
            </a:r>
            <a:r>
              <a:rPr lang="en-US" sz="2400" b="0" i="0" dirty="0">
                <a:solidFill>
                  <a:srgbClr val="242021"/>
                </a:solidFill>
                <a:effectLst/>
                <a:latin typeface="SymbolStd"/>
              </a:rPr>
              <a:t>→ </a:t>
            </a:r>
            <a:r>
              <a:rPr lang="en-US" sz="2400" b="0" i="0" dirty="0">
                <a:solidFill>
                  <a:srgbClr val="242021"/>
                </a:solidFill>
                <a:effectLst/>
                <a:latin typeface="NewCaledoniaLTStd"/>
              </a:rPr>
              <a:t>B, D</a:t>
            </a:r>
            <a:br>
              <a:rPr lang="en-US" sz="2400" b="0" i="0" dirty="0">
                <a:solidFill>
                  <a:srgbClr val="242021"/>
                </a:solidFill>
                <a:effectLst/>
                <a:latin typeface="NewCaledoniaLTStd"/>
              </a:rPr>
            </a:br>
            <a:r>
              <a:rPr lang="en-US" sz="2400" b="0" i="0" dirty="0">
                <a:solidFill>
                  <a:srgbClr val="242021"/>
                </a:solidFill>
                <a:effectLst/>
                <a:latin typeface="NewCaledoniaLTStd"/>
              </a:rPr>
              <a:t>C </a:t>
            </a:r>
            <a:r>
              <a:rPr lang="en-US" sz="2400" b="0" i="0" dirty="0">
                <a:solidFill>
                  <a:srgbClr val="242021"/>
                </a:solidFill>
                <a:effectLst/>
                <a:latin typeface="SymbolStd"/>
              </a:rPr>
              <a:t>→ </a:t>
            </a:r>
            <a:r>
              <a:rPr lang="en-US" sz="2400" b="0" i="0" dirty="0">
                <a:solidFill>
                  <a:srgbClr val="242021"/>
                </a:solidFill>
                <a:effectLst/>
                <a:latin typeface="NewCaledoniaLTStd"/>
              </a:rPr>
              <a:t>B</a:t>
            </a:r>
            <a:r>
              <a:rPr lang="en-US" sz="2400" dirty="0"/>
              <a:t> : </a:t>
            </a:r>
            <a:r>
              <a:rPr lang="en-US" sz="1800" b="0" i="1" dirty="0">
                <a:solidFill>
                  <a:srgbClr val="242021"/>
                </a:solidFill>
                <a:effectLst/>
                <a:latin typeface="NewCaledoniaLTStd-It"/>
              </a:rPr>
              <a:t>one key attribute determines part of the primary key</a:t>
            </a:r>
            <a:r>
              <a:rPr lang="en-US" sz="3200" dirty="0"/>
              <a:t> </a:t>
            </a:r>
            <a:br>
              <a:rPr lang="en-US" sz="3200" dirty="0"/>
            </a:br>
            <a:br>
              <a:rPr lang="en-US" sz="2400" dirty="0"/>
            </a:br>
            <a:endParaRPr lang="en-US" sz="2400" dirty="0"/>
          </a:p>
        </p:txBody>
      </p:sp>
      <p:sp>
        <p:nvSpPr>
          <p:cNvPr id="10" name="TextBox 9">
            <a:extLst>
              <a:ext uri="{FF2B5EF4-FFF2-40B4-BE49-F238E27FC236}">
                <a16:creationId xmlns:a16="http://schemas.microsoft.com/office/drawing/2014/main" id="{FE33DA87-253E-C6CB-176F-3ACDD7B7E757}"/>
              </a:ext>
            </a:extLst>
          </p:cNvPr>
          <p:cNvSpPr txBox="1"/>
          <p:nvPr/>
        </p:nvSpPr>
        <p:spPr>
          <a:xfrm>
            <a:off x="7124700" y="4495800"/>
            <a:ext cx="4648200" cy="1015663"/>
          </a:xfrm>
          <a:prstGeom prst="rect">
            <a:avLst/>
          </a:prstGeom>
          <a:noFill/>
        </p:spPr>
        <p:txBody>
          <a:bodyPr wrap="square">
            <a:spAutoFit/>
          </a:bodyPr>
          <a:lstStyle/>
          <a:p>
            <a:r>
              <a:rPr lang="en-US" sz="2000" b="0" i="0" dirty="0">
                <a:solidFill>
                  <a:srgbClr val="242021"/>
                </a:solidFill>
                <a:effectLst/>
                <a:latin typeface="NewCaledoniaLTStd"/>
              </a:rPr>
              <a:t>The condition C </a:t>
            </a:r>
            <a:r>
              <a:rPr lang="en-US" sz="2000" b="0" i="0" dirty="0">
                <a:solidFill>
                  <a:srgbClr val="242021"/>
                </a:solidFill>
                <a:effectLst/>
                <a:latin typeface="SymbolStd"/>
              </a:rPr>
              <a:t>→ </a:t>
            </a:r>
            <a:r>
              <a:rPr lang="en-US" sz="2000" b="0" i="0" dirty="0">
                <a:solidFill>
                  <a:srgbClr val="242021"/>
                </a:solidFill>
                <a:effectLst/>
                <a:latin typeface="NewCaledoniaLTStd"/>
              </a:rPr>
              <a:t>B causes the table to fail to meet the BCNF requirements.</a:t>
            </a:r>
            <a:r>
              <a:rPr lang="en-US" sz="2000" dirty="0"/>
              <a:t> </a:t>
            </a:r>
            <a:br>
              <a:rPr lang="en-US" sz="2000" dirty="0"/>
            </a:br>
            <a:endParaRPr lang="en-US" sz="2000" dirty="0"/>
          </a:p>
        </p:txBody>
      </p:sp>
      <p:sp>
        <p:nvSpPr>
          <p:cNvPr id="12" name="TextBox 11">
            <a:extLst>
              <a:ext uri="{FF2B5EF4-FFF2-40B4-BE49-F238E27FC236}">
                <a16:creationId xmlns:a16="http://schemas.microsoft.com/office/drawing/2014/main" id="{086AB825-0A7C-0613-86A6-00C573EC1F1B}"/>
              </a:ext>
            </a:extLst>
          </p:cNvPr>
          <p:cNvSpPr txBox="1"/>
          <p:nvPr/>
        </p:nvSpPr>
        <p:spPr>
          <a:xfrm>
            <a:off x="3505200" y="5793798"/>
            <a:ext cx="6096000" cy="646331"/>
          </a:xfrm>
          <a:prstGeom prst="rect">
            <a:avLst/>
          </a:prstGeom>
          <a:noFill/>
        </p:spPr>
        <p:txBody>
          <a:bodyPr wrap="square">
            <a:spAutoFit/>
          </a:bodyPr>
          <a:lstStyle/>
          <a:p>
            <a:r>
              <a:rPr lang="en-US" sz="1800" b="0" i="0" dirty="0">
                <a:solidFill>
                  <a:srgbClr val="242021"/>
                </a:solidFill>
                <a:effectLst/>
                <a:latin typeface="NewCaledoniaLTStd"/>
              </a:rPr>
              <a:t>An attribute that is a part of a key is called a </a:t>
            </a:r>
            <a:r>
              <a:rPr lang="en-US" sz="1800" b="1" i="0" dirty="0">
                <a:solidFill>
                  <a:srgbClr val="007DAF"/>
                </a:solidFill>
                <a:effectLst/>
                <a:latin typeface="MyriadPro-Bold"/>
              </a:rPr>
              <a:t>key attribute</a:t>
            </a:r>
            <a:r>
              <a:rPr lang="en-US" sz="1800" dirty="0"/>
              <a:t> </a:t>
            </a:r>
            <a:br>
              <a:rPr lang="en-US" sz="1800" dirty="0"/>
            </a:br>
            <a:endParaRPr lang="en-US" sz="1800" dirty="0"/>
          </a:p>
        </p:txBody>
      </p:sp>
    </p:spTree>
    <p:extLst>
      <p:ext uri="{BB962C8B-B14F-4D97-AF65-F5344CB8AC3E}">
        <p14:creationId xmlns:p14="http://schemas.microsoft.com/office/powerpoint/2010/main" val="38055986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AF722E9-6AAD-17B2-37DD-0EDA64B2560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BF29378F-3BE6-46BB-73D8-3B87A419B33E}"/>
              </a:ext>
            </a:extLst>
          </p:cNvPr>
          <p:cNvSpPr>
            <a:spLocks noGrp="1"/>
          </p:cNvSpPr>
          <p:nvPr>
            <p:ph type="sldNum" sz="quarter" idx="11"/>
          </p:nvPr>
        </p:nvSpPr>
        <p:spPr/>
        <p:txBody>
          <a:bodyPr/>
          <a:lstStyle/>
          <a:p>
            <a:pPr>
              <a:defRPr/>
            </a:pPr>
            <a:fld id="{D1AD3536-327C-4937-83AF-A64971CFA6D9}" type="slidenum">
              <a:rPr lang="en-US" smtClean="0"/>
              <a:pPr>
                <a:defRPr/>
              </a:pPr>
              <a:t>39</a:t>
            </a:fld>
            <a:endParaRPr lang="en-US"/>
          </a:p>
        </p:txBody>
      </p:sp>
      <p:sp>
        <p:nvSpPr>
          <p:cNvPr id="4" name="Footer Placeholder 3">
            <a:extLst>
              <a:ext uri="{FF2B5EF4-FFF2-40B4-BE49-F238E27FC236}">
                <a16:creationId xmlns:a16="http://schemas.microsoft.com/office/drawing/2014/main" id="{0070D9F2-BF0A-530D-7E57-28905CBF2A8C}"/>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4631DDA-8697-951B-7C98-7FC26B9C292A}"/>
              </a:ext>
            </a:extLst>
          </p:cNvPr>
          <p:cNvPicPr>
            <a:picLocks noChangeAspect="1"/>
          </p:cNvPicPr>
          <p:nvPr/>
        </p:nvPicPr>
        <p:blipFill>
          <a:blip r:embed="rId2"/>
          <a:stretch>
            <a:fillRect/>
          </a:stretch>
        </p:blipFill>
        <p:spPr>
          <a:xfrm>
            <a:off x="2248251" y="0"/>
            <a:ext cx="7695498" cy="6858000"/>
          </a:xfrm>
          <a:prstGeom prst="rect">
            <a:avLst/>
          </a:prstGeom>
        </p:spPr>
      </p:pic>
    </p:spTree>
    <p:extLst>
      <p:ext uri="{BB962C8B-B14F-4D97-AF65-F5344CB8AC3E}">
        <p14:creationId xmlns:p14="http://schemas.microsoft.com/office/powerpoint/2010/main" val="26080734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2495C5-B92B-DE32-B233-5899337FD4A9}"/>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907DB99D-2334-AAEE-7B1A-F06148BC3985}"/>
              </a:ext>
            </a:extLst>
          </p:cNvPr>
          <p:cNvSpPr>
            <a:spLocks noGrp="1"/>
          </p:cNvSpPr>
          <p:nvPr>
            <p:ph type="sldNum" sz="quarter" idx="11"/>
          </p:nvPr>
        </p:nvSpPr>
        <p:spPr/>
        <p:txBody>
          <a:bodyPr/>
          <a:lstStyle/>
          <a:p>
            <a:pPr>
              <a:defRPr/>
            </a:pPr>
            <a:fld id="{D1AD3536-327C-4937-83AF-A64971CFA6D9}" type="slidenum">
              <a:rPr lang="en-US" smtClean="0"/>
              <a:pPr>
                <a:defRPr/>
              </a:pPr>
              <a:t>40</a:t>
            </a:fld>
            <a:endParaRPr lang="en-US"/>
          </a:p>
        </p:txBody>
      </p:sp>
      <p:sp>
        <p:nvSpPr>
          <p:cNvPr id="4" name="Footer Placeholder 3">
            <a:extLst>
              <a:ext uri="{FF2B5EF4-FFF2-40B4-BE49-F238E27FC236}">
                <a16:creationId xmlns:a16="http://schemas.microsoft.com/office/drawing/2014/main" id="{EFCAFD57-47E3-C271-9F81-8979155E2FC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FBB719E-49BE-FA21-D7A3-E992E9FAC777}"/>
              </a:ext>
            </a:extLst>
          </p:cNvPr>
          <p:cNvPicPr>
            <a:picLocks noChangeAspect="1"/>
          </p:cNvPicPr>
          <p:nvPr/>
        </p:nvPicPr>
        <p:blipFill>
          <a:blip r:embed="rId2"/>
          <a:stretch>
            <a:fillRect/>
          </a:stretch>
        </p:blipFill>
        <p:spPr>
          <a:xfrm>
            <a:off x="1462087" y="1402317"/>
            <a:ext cx="9267825" cy="3105150"/>
          </a:xfrm>
          <a:prstGeom prst="rect">
            <a:avLst/>
          </a:prstGeom>
        </p:spPr>
      </p:pic>
      <p:sp>
        <p:nvSpPr>
          <p:cNvPr id="8" name="TextBox 7">
            <a:extLst>
              <a:ext uri="{FF2B5EF4-FFF2-40B4-BE49-F238E27FC236}">
                <a16:creationId xmlns:a16="http://schemas.microsoft.com/office/drawing/2014/main" id="{493399A2-B23E-7AE0-4112-2EE22F0C6795}"/>
              </a:ext>
            </a:extLst>
          </p:cNvPr>
          <p:cNvSpPr txBox="1"/>
          <p:nvPr/>
        </p:nvSpPr>
        <p:spPr>
          <a:xfrm>
            <a:off x="2590800" y="4835505"/>
            <a:ext cx="7543800" cy="1200329"/>
          </a:xfrm>
          <a:prstGeom prst="rect">
            <a:avLst/>
          </a:prstGeom>
          <a:noFill/>
        </p:spPr>
        <p:txBody>
          <a:bodyPr wrap="square">
            <a:spAutoFit/>
          </a:bodyPr>
          <a:lstStyle/>
          <a:p>
            <a:r>
              <a:rPr lang="en-US" sz="1800" b="0" i="0" dirty="0">
                <a:solidFill>
                  <a:srgbClr val="242021"/>
                </a:solidFill>
                <a:effectLst/>
                <a:latin typeface="NewCaledoniaLTStd"/>
              </a:rPr>
              <a:t>The structure shown in Table 6.5 is reflected in Panel A of Figure 6.10:</a:t>
            </a:r>
            <a:br>
              <a:rPr lang="en-US" sz="1800" b="0" i="0" dirty="0">
                <a:solidFill>
                  <a:srgbClr val="242021"/>
                </a:solidFill>
                <a:effectLst/>
                <a:latin typeface="NewCaledoniaLTStd"/>
              </a:rPr>
            </a:br>
            <a:r>
              <a:rPr lang="en-US" sz="1800" b="0" i="0" dirty="0">
                <a:solidFill>
                  <a:srgbClr val="242021"/>
                </a:solidFill>
                <a:effectLst/>
                <a:latin typeface="NewCaledoniaLTStd"/>
              </a:rPr>
              <a:t>STU_ID </a:t>
            </a:r>
            <a:r>
              <a:rPr lang="en-US" sz="1800" b="0" i="0" dirty="0">
                <a:solidFill>
                  <a:srgbClr val="242021"/>
                </a:solidFill>
                <a:effectLst/>
                <a:latin typeface="MathematicalPiLTStd-1"/>
              </a:rPr>
              <a:t>+ </a:t>
            </a:r>
            <a:r>
              <a:rPr lang="en-US" sz="1800" b="0" i="0" dirty="0">
                <a:solidFill>
                  <a:srgbClr val="242021"/>
                </a:solidFill>
                <a:effectLst/>
                <a:latin typeface="NewCaledoniaLTStd"/>
              </a:rPr>
              <a:t>STAFF_ID </a:t>
            </a:r>
            <a:r>
              <a:rPr lang="en-US" sz="1800" b="0" i="0" dirty="0">
                <a:solidFill>
                  <a:srgbClr val="242021"/>
                </a:solidFill>
                <a:effectLst/>
                <a:latin typeface="SymbolStd"/>
              </a:rPr>
              <a:t>→ </a:t>
            </a:r>
            <a:r>
              <a:rPr lang="en-US" sz="1800" b="0" i="0" dirty="0">
                <a:solidFill>
                  <a:srgbClr val="242021"/>
                </a:solidFill>
                <a:effectLst/>
                <a:latin typeface="NewCaledoniaLTStd"/>
              </a:rPr>
              <a:t>CLASS_CODE, ENROLL_GRADE</a:t>
            </a:r>
            <a:br>
              <a:rPr lang="en-US" sz="1800" b="0" i="0" dirty="0">
                <a:solidFill>
                  <a:srgbClr val="242021"/>
                </a:solidFill>
                <a:effectLst/>
                <a:latin typeface="NewCaledoniaLTStd"/>
              </a:rPr>
            </a:br>
            <a:r>
              <a:rPr lang="en-US" sz="1800" b="0" i="0" dirty="0">
                <a:solidFill>
                  <a:srgbClr val="242021"/>
                </a:solidFill>
                <a:effectLst/>
                <a:latin typeface="NewCaledoniaLTStd"/>
              </a:rPr>
              <a:t>CLASS_CODE </a:t>
            </a:r>
            <a:r>
              <a:rPr lang="en-US" sz="1800" b="0" i="0" dirty="0">
                <a:solidFill>
                  <a:srgbClr val="242021"/>
                </a:solidFill>
                <a:effectLst/>
                <a:latin typeface="SymbolStd"/>
              </a:rPr>
              <a:t>→ </a:t>
            </a:r>
            <a:r>
              <a:rPr lang="en-US" sz="1800" b="0" i="0" dirty="0">
                <a:solidFill>
                  <a:srgbClr val="242021"/>
                </a:solidFill>
                <a:effectLst/>
                <a:latin typeface="NewCaledoniaLTStd"/>
              </a:rPr>
              <a:t>STAFF_ID</a:t>
            </a:r>
            <a:r>
              <a:rPr lang="en-US" sz="1800" dirty="0"/>
              <a:t> </a:t>
            </a:r>
            <a:br>
              <a:rPr lang="en-US" sz="1800" dirty="0"/>
            </a:br>
            <a:endParaRPr lang="en-US" sz="1800" dirty="0"/>
          </a:p>
        </p:txBody>
      </p:sp>
    </p:spTree>
    <p:extLst>
      <p:ext uri="{BB962C8B-B14F-4D97-AF65-F5344CB8AC3E}">
        <p14:creationId xmlns:p14="http://schemas.microsoft.com/office/powerpoint/2010/main" val="9545006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D4BC9-A902-1F06-DAE2-2B6682B7B789}"/>
              </a:ext>
            </a:extLst>
          </p:cNvPr>
          <p:cNvSpPr>
            <a:spLocks noGrp="1"/>
          </p:cNvSpPr>
          <p:nvPr>
            <p:ph type="title"/>
          </p:nvPr>
        </p:nvSpPr>
        <p:spPr/>
        <p:txBody>
          <a:bodyPr/>
          <a:lstStyle/>
          <a:p>
            <a:r>
              <a:rPr lang="en-US" dirty="0"/>
              <a:t>6-6a The Boyce-Codd Normal Form</a:t>
            </a:r>
          </a:p>
        </p:txBody>
      </p:sp>
      <p:sp>
        <p:nvSpPr>
          <p:cNvPr id="3" name="Content Placeholder 2">
            <a:extLst>
              <a:ext uri="{FF2B5EF4-FFF2-40B4-BE49-F238E27FC236}">
                <a16:creationId xmlns:a16="http://schemas.microsoft.com/office/drawing/2014/main" id="{B758EB9C-878C-185D-490D-A6AE16B934AF}"/>
              </a:ext>
            </a:extLst>
          </p:cNvPr>
          <p:cNvSpPr>
            <a:spLocks noGrp="1"/>
          </p:cNvSpPr>
          <p:nvPr>
            <p:ph idx="1"/>
          </p:nvPr>
        </p:nvSpPr>
        <p:spPr/>
        <p:txBody>
          <a:bodyPr/>
          <a:lstStyle/>
          <a:p>
            <a:r>
              <a:rPr lang="en-US" sz="1800" b="0" i="0" dirty="0">
                <a:solidFill>
                  <a:srgbClr val="242021"/>
                </a:solidFill>
                <a:effectLst/>
                <a:latin typeface="NewCaledoniaLTStd"/>
              </a:rPr>
              <a:t>Each CLASS_CODE identifies a class uniquely</a:t>
            </a:r>
            <a:r>
              <a:rPr lang="en-US" sz="1800" dirty="0"/>
              <a:t> </a:t>
            </a:r>
          </a:p>
          <a:p>
            <a:pPr lvl="1"/>
            <a:r>
              <a:rPr lang="en-US" b="0" i="0" dirty="0">
                <a:solidFill>
                  <a:srgbClr val="242021"/>
                </a:solidFill>
                <a:effectLst/>
                <a:latin typeface="NewCaledoniaLTStd"/>
              </a:rPr>
              <a:t>Illustrate the case in which a course might generate many classes. </a:t>
            </a:r>
          </a:p>
          <a:p>
            <a:r>
              <a:rPr lang="en-US" sz="1800" b="0" i="0" dirty="0">
                <a:solidFill>
                  <a:srgbClr val="242021"/>
                </a:solidFill>
                <a:effectLst/>
                <a:latin typeface="NewCaledoniaLTStd"/>
              </a:rPr>
              <a:t>A student can take many classes.</a:t>
            </a:r>
            <a:r>
              <a:rPr lang="en-US" sz="1800" dirty="0"/>
              <a:t> </a:t>
            </a:r>
          </a:p>
          <a:p>
            <a:r>
              <a:rPr lang="en-US" sz="1800" b="0" i="0" dirty="0">
                <a:solidFill>
                  <a:srgbClr val="242021"/>
                </a:solidFill>
                <a:effectLst/>
                <a:latin typeface="NewCaledoniaLTStd"/>
              </a:rPr>
              <a:t>A staff member can teach many classes, but each class is taught by only one staff member</a:t>
            </a:r>
            <a:r>
              <a:rPr lang="en-US" sz="1800" dirty="0"/>
              <a:t> </a:t>
            </a:r>
          </a:p>
          <a:p>
            <a:r>
              <a:rPr lang="en-US" sz="1800" b="0" i="0" dirty="0">
                <a:solidFill>
                  <a:srgbClr val="242021"/>
                </a:solidFill>
                <a:effectLst/>
                <a:latin typeface="NewCaledoniaLTStd"/>
              </a:rPr>
              <a:t>The structure shown in Table 6.5 is reflected in Panel A of Figure 6.10:</a:t>
            </a:r>
            <a:br>
              <a:rPr lang="en-US" sz="1800" b="0" i="0" dirty="0">
                <a:solidFill>
                  <a:srgbClr val="242021"/>
                </a:solidFill>
                <a:effectLst/>
                <a:latin typeface="NewCaledoniaLTStd"/>
              </a:rPr>
            </a:br>
            <a:r>
              <a:rPr lang="en-US" sz="1800" b="0" i="0" dirty="0">
                <a:solidFill>
                  <a:srgbClr val="242021"/>
                </a:solidFill>
                <a:effectLst/>
                <a:latin typeface="NewCaledoniaLTStd"/>
              </a:rPr>
              <a:t>STU_ID </a:t>
            </a:r>
            <a:r>
              <a:rPr lang="en-US" sz="1800" b="0" i="0" dirty="0">
                <a:solidFill>
                  <a:srgbClr val="242021"/>
                </a:solidFill>
                <a:effectLst/>
                <a:latin typeface="MathematicalPiLTStd-1"/>
              </a:rPr>
              <a:t>+ </a:t>
            </a:r>
            <a:r>
              <a:rPr lang="en-US" sz="1800" b="0" i="0" dirty="0">
                <a:solidFill>
                  <a:srgbClr val="242021"/>
                </a:solidFill>
                <a:effectLst/>
                <a:latin typeface="NewCaledoniaLTStd"/>
              </a:rPr>
              <a:t>STAFF_ID </a:t>
            </a:r>
            <a:r>
              <a:rPr lang="en-US" sz="1800" b="0" i="0" dirty="0">
                <a:solidFill>
                  <a:srgbClr val="242021"/>
                </a:solidFill>
                <a:effectLst/>
                <a:latin typeface="SymbolStd"/>
              </a:rPr>
              <a:t>→ </a:t>
            </a:r>
            <a:r>
              <a:rPr lang="en-US" sz="1800" b="0" i="0" dirty="0">
                <a:solidFill>
                  <a:srgbClr val="242021"/>
                </a:solidFill>
                <a:effectLst/>
                <a:latin typeface="NewCaledoniaLTStd"/>
              </a:rPr>
              <a:t>CLASS_CODE, ENROLL_GRADE</a:t>
            </a:r>
            <a:br>
              <a:rPr lang="en-US" sz="1800" b="0" i="0" dirty="0">
                <a:solidFill>
                  <a:srgbClr val="242021"/>
                </a:solidFill>
                <a:effectLst/>
                <a:latin typeface="NewCaledoniaLTStd"/>
              </a:rPr>
            </a:br>
            <a:r>
              <a:rPr lang="en-US" sz="1800" b="0" i="0" dirty="0">
                <a:solidFill>
                  <a:srgbClr val="242021"/>
                </a:solidFill>
                <a:effectLst/>
                <a:latin typeface="NewCaledoniaLTStd"/>
              </a:rPr>
              <a:t>CLASS_CODE </a:t>
            </a:r>
            <a:r>
              <a:rPr lang="en-US" sz="1800" b="0" i="0" dirty="0">
                <a:solidFill>
                  <a:srgbClr val="242021"/>
                </a:solidFill>
                <a:effectLst/>
                <a:latin typeface="SymbolStd"/>
              </a:rPr>
              <a:t>→ </a:t>
            </a:r>
            <a:r>
              <a:rPr lang="en-US" sz="1800" b="0" i="0" dirty="0">
                <a:solidFill>
                  <a:srgbClr val="242021"/>
                </a:solidFill>
                <a:effectLst/>
                <a:latin typeface="NewCaledoniaLTStd"/>
              </a:rPr>
              <a:t>STAFF_ID</a:t>
            </a:r>
            <a:endParaRPr lang="en-US" sz="1800" dirty="0"/>
          </a:p>
        </p:txBody>
      </p:sp>
      <p:sp>
        <p:nvSpPr>
          <p:cNvPr id="4" name="Slide Number Placeholder 3">
            <a:extLst>
              <a:ext uri="{FF2B5EF4-FFF2-40B4-BE49-F238E27FC236}">
                <a16:creationId xmlns:a16="http://schemas.microsoft.com/office/drawing/2014/main" id="{CAE3DA08-5D98-3982-5309-1A93C576ECAF}"/>
              </a:ext>
            </a:extLst>
          </p:cNvPr>
          <p:cNvSpPr>
            <a:spLocks noGrp="1"/>
          </p:cNvSpPr>
          <p:nvPr>
            <p:ph type="sldNum" sz="quarter" idx="10"/>
          </p:nvPr>
        </p:nvSpPr>
        <p:spPr/>
        <p:txBody>
          <a:bodyPr/>
          <a:lstStyle/>
          <a:p>
            <a:pPr>
              <a:defRPr/>
            </a:pPr>
            <a:fld id="{34A84676-C444-4AC5-8B4E-405A7C81C0FB}" type="slidenum">
              <a:rPr lang="en-US" altLang="en-US" smtClean="0"/>
              <a:pPr>
                <a:defRPr/>
              </a:pPr>
              <a:t>41</a:t>
            </a:fld>
            <a:endParaRPr lang="en-US" altLang="en-US"/>
          </a:p>
        </p:txBody>
      </p:sp>
      <p:sp>
        <p:nvSpPr>
          <p:cNvPr id="5" name="Footer Placeholder 4">
            <a:extLst>
              <a:ext uri="{FF2B5EF4-FFF2-40B4-BE49-F238E27FC236}">
                <a16:creationId xmlns:a16="http://schemas.microsoft.com/office/drawing/2014/main" id="{2B6C9FD0-5F75-2350-29AC-5650F7540781}"/>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7F93A459-9DE9-F957-BC40-F3AD4D374509}"/>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21342121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E5599F-BFD6-BC63-2402-329DBCD69D05}"/>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E0A44C5-2D70-7FCE-868D-3FD6EE9ACDBA}"/>
              </a:ext>
            </a:extLst>
          </p:cNvPr>
          <p:cNvSpPr>
            <a:spLocks noGrp="1"/>
          </p:cNvSpPr>
          <p:nvPr>
            <p:ph type="sldNum" sz="quarter" idx="11"/>
          </p:nvPr>
        </p:nvSpPr>
        <p:spPr/>
        <p:txBody>
          <a:bodyPr/>
          <a:lstStyle/>
          <a:p>
            <a:pPr>
              <a:defRPr/>
            </a:pPr>
            <a:fld id="{D1AD3536-327C-4937-83AF-A64971CFA6D9}" type="slidenum">
              <a:rPr lang="en-US" smtClean="0"/>
              <a:pPr>
                <a:defRPr/>
              </a:pPr>
              <a:t>42</a:t>
            </a:fld>
            <a:endParaRPr lang="en-US"/>
          </a:p>
        </p:txBody>
      </p:sp>
      <p:sp>
        <p:nvSpPr>
          <p:cNvPr id="4" name="Footer Placeholder 3">
            <a:extLst>
              <a:ext uri="{FF2B5EF4-FFF2-40B4-BE49-F238E27FC236}">
                <a16:creationId xmlns:a16="http://schemas.microsoft.com/office/drawing/2014/main" id="{798EF50F-7361-EF73-06E9-D3DBED5BBE2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8A75485-7248-DD79-4434-DF32B3B452E5}"/>
              </a:ext>
            </a:extLst>
          </p:cNvPr>
          <p:cNvPicPr>
            <a:picLocks noChangeAspect="1"/>
          </p:cNvPicPr>
          <p:nvPr/>
        </p:nvPicPr>
        <p:blipFill>
          <a:blip r:embed="rId2"/>
          <a:stretch>
            <a:fillRect/>
          </a:stretch>
        </p:blipFill>
        <p:spPr>
          <a:xfrm>
            <a:off x="489299" y="0"/>
            <a:ext cx="11213401" cy="6858000"/>
          </a:xfrm>
          <a:prstGeom prst="rect">
            <a:avLst/>
          </a:prstGeom>
        </p:spPr>
      </p:pic>
    </p:spTree>
    <p:extLst>
      <p:ext uri="{BB962C8B-B14F-4D97-AF65-F5344CB8AC3E}">
        <p14:creationId xmlns:p14="http://schemas.microsoft.com/office/powerpoint/2010/main" val="869498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563BB-3FCC-E464-82C9-E2FC506A8B3F}"/>
              </a:ext>
            </a:extLst>
          </p:cNvPr>
          <p:cNvSpPr>
            <a:spLocks noGrp="1"/>
          </p:cNvSpPr>
          <p:nvPr>
            <p:ph type="title"/>
          </p:nvPr>
        </p:nvSpPr>
        <p:spPr/>
        <p:txBody>
          <a:bodyPr/>
          <a:lstStyle/>
          <a:p>
            <a:r>
              <a:rPr lang="en-US" dirty="0"/>
              <a:t>6-6b Fourth Normal Form (4NF)</a:t>
            </a:r>
          </a:p>
        </p:txBody>
      </p:sp>
      <p:sp>
        <p:nvSpPr>
          <p:cNvPr id="3" name="Content Placeholder 2">
            <a:extLst>
              <a:ext uri="{FF2B5EF4-FFF2-40B4-BE49-F238E27FC236}">
                <a16:creationId xmlns:a16="http://schemas.microsoft.com/office/drawing/2014/main" id="{B7B98199-AE3C-E1D2-AF17-DB3222D1E419}"/>
              </a:ext>
            </a:extLst>
          </p:cNvPr>
          <p:cNvSpPr>
            <a:spLocks noGrp="1"/>
          </p:cNvSpPr>
          <p:nvPr>
            <p:ph idx="1"/>
          </p:nvPr>
        </p:nvSpPr>
        <p:spPr/>
        <p:txBody>
          <a:bodyPr/>
          <a:lstStyle/>
          <a:p>
            <a:r>
              <a:rPr lang="en-US" sz="1800" b="1" i="0" dirty="0">
                <a:solidFill>
                  <a:srgbClr val="007DAF"/>
                </a:solidFill>
                <a:effectLst/>
                <a:latin typeface="MyriadPro-BoldSemiCn"/>
              </a:rPr>
              <a:t>fourth normal form (4NF) </a:t>
            </a:r>
            <a:r>
              <a:rPr lang="en-US" sz="1800" b="0" i="0" dirty="0">
                <a:solidFill>
                  <a:srgbClr val="242021"/>
                </a:solidFill>
                <a:effectLst/>
                <a:latin typeface="MyriadPro-SemiCn"/>
              </a:rPr>
              <a:t>A table is in 4NF if it is in BCNF and contains no multiple independent sets of multivalued dependencies.</a:t>
            </a:r>
            <a:r>
              <a:rPr lang="en-US" dirty="0"/>
              <a:t> </a:t>
            </a:r>
          </a:p>
          <a:p>
            <a:r>
              <a:rPr lang="en-US" sz="1800" b="0" i="0" dirty="0">
                <a:solidFill>
                  <a:srgbClr val="242021"/>
                </a:solidFill>
                <a:effectLst/>
                <a:latin typeface="NewCaledoniaLTStd"/>
              </a:rPr>
              <a:t>Creating new tables for the components of the multivalued dependency. </a:t>
            </a:r>
            <a:br>
              <a:rPr lang="en-US" dirty="0"/>
            </a:br>
            <a:endParaRPr lang="en-US" dirty="0"/>
          </a:p>
          <a:p>
            <a:pPr marL="0" indent="0">
              <a:buNone/>
            </a:pPr>
            <a:br>
              <a:rPr lang="en-US" dirty="0"/>
            </a:br>
            <a:endParaRPr lang="en-US" dirty="0"/>
          </a:p>
        </p:txBody>
      </p:sp>
      <p:sp>
        <p:nvSpPr>
          <p:cNvPr id="4" name="Slide Number Placeholder 3">
            <a:extLst>
              <a:ext uri="{FF2B5EF4-FFF2-40B4-BE49-F238E27FC236}">
                <a16:creationId xmlns:a16="http://schemas.microsoft.com/office/drawing/2014/main" id="{4677784C-D238-B451-86B8-DBC3619E1543}"/>
              </a:ext>
            </a:extLst>
          </p:cNvPr>
          <p:cNvSpPr>
            <a:spLocks noGrp="1"/>
          </p:cNvSpPr>
          <p:nvPr>
            <p:ph type="sldNum" sz="quarter" idx="10"/>
          </p:nvPr>
        </p:nvSpPr>
        <p:spPr/>
        <p:txBody>
          <a:bodyPr/>
          <a:lstStyle/>
          <a:p>
            <a:pPr>
              <a:defRPr/>
            </a:pPr>
            <a:fld id="{34A84676-C444-4AC5-8B4E-405A7C81C0FB}" type="slidenum">
              <a:rPr lang="en-US" altLang="en-US" smtClean="0"/>
              <a:pPr>
                <a:defRPr/>
              </a:pPr>
              <a:t>43</a:t>
            </a:fld>
            <a:endParaRPr lang="en-US" altLang="en-US"/>
          </a:p>
        </p:txBody>
      </p:sp>
      <p:sp>
        <p:nvSpPr>
          <p:cNvPr id="5" name="Footer Placeholder 4">
            <a:extLst>
              <a:ext uri="{FF2B5EF4-FFF2-40B4-BE49-F238E27FC236}">
                <a16:creationId xmlns:a16="http://schemas.microsoft.com/office/drawing/2014/main" id="{D636E992-494B-D9EA-5354-A30822D94286}"/>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983F2992-C36B-6303-7114-482F3574CF67}"/>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8" name="Picture 7">
            <a:extLst>
              <a:ext uri="{FF2B5EF4-FFF2-40B4-BE49-F238E27FC236}">
                <a16:creationId xmlns:a16="http://schemas.microsoft.com/office/drawing/2014/main" id="{2E7C1557-197E-341F-13DE-ED6849543EC4}"/>
              </a:ext>
            </a:extLst>
          </p:cNvPr>
          <p:cNvPicPr>
            <a:picLocks noChangeAspect="1"/>
          </p:cNvPicPr>
          <p:nvPr/>
        </p:nvPicPr>
        <p:blipFill>
          <a:blip r:embed="rId2"/>
          <a:stretch>
            <a:fillRect/>
          </a:stretch>
        </p:blipFill>
        <p:spPr>
          <a:xfrm>
            <a:off x="1462087" y="3505200"/>
            <a:ext cx="9267825" cy="1552575"/>
          </a:xfrm>
          <a:prstGeom prst="rect">
            <a:avLst/>
          </a:prstGeom>
        </p:spPr>
      </p:pic>
    </p:spTree>
    <p:extLst>
      <p:ext uri="{BB962C8B-B14F-4D97-AF65-F5344CB8AC3E}">
        <p14:creationId xmlns:p14="http://schemas.microsoft.com/office/powerpoint/2010/main" val="290588509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3F629C-D813-B9EC-E1FE-E36E64E127F8}"/>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BBCDC10-B639-7F41-52CC-E0A532FBBDA1}"/>
              </a:ext>
            </a:extLst>
          </p:cNvPr>
          <p:cNvSpPr>
            <a:spLocks noGrp="1"/>
          </p:cNvSpPr>
          <p:nvPr>
            <p:ph type="sldNum" sz="quarter" idx="11"/>
          </p:nvPr>
        </p:nvSpPr>
        <p:spPr/>
        <p:txBody>
          <a:bodyPr/>
          <a:lstStyle/>
          <a:p>
            <a:pPr>
              <a:defRPr/>
            </a:pPr>
            <a:fld id="{D1AD3536-327C-4937-83AF-A64971CFA6D9}" type="slidenum">
              <a:rPr lang="en-US" smtClean="0"/>
              <a:pPr>
                <a:defRPr/>
              </a:pPr>
              <a:t>44</a:t>
            </a:fld>
            <a:endParaRPr lang="en-US"/>
          </a:p>
        </p:txBody>
      </p:sp>
      <p:sp>
        <p:nvSpPr>
          <p:cNvPr id="4" name="Footer Placeholder 3">
            <a:extLst>
              <a:ext uri="{FF2B5EF4-FFF2-40B4-BE49-F238E27FC236}">
                <a16:creationId xmlns:a16="http://schemas.microsoft.com/office/drawing/2014/main" id="{1E72FA0C-2F34-39B6-2CB1-D5D5ADBC4D4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F363120-2737-2E9A-8383-656D24C94396}"/>
              </a:ext>
            </a:extLst>
          </p:cNvPr>
          <p:cNvPicPr>
            <a:picLocks noChangeAspect="1"/>
          </p:cNvPicPr>
          <p:nvPr/>
        </p:nvPicPr>
        <p:blipFill>
          <a:blip r:embed="rId2"/>
          <a:stretch>
            <a:fillRect/>
          </a:stretch>
        </p:blipFill>
        <p:spPr>
          <a:xfrm>
            <a:off x="409575" y="533618"/>
            <a:ext cx="11782425" cy="4248150"/>
          </a:xfrm>
          <a:prstGeom prst="rect">
            <a:avLst/>
          </a:prstGeom>
        </p:spPr>
      </p:pic>
      <p:sp>
        <p:nvSpPr>
          <p:cNvPr id="8" name="TextBox 7">
            <a:extLst>
              <a:ext uri="{FF2B5EF4-FFF2-40B4-BE49-F238E27FC236}">
                <a16:creationId xmlns:a16="http://schemas.microsoft.com/office/drawing/2014/main" id="{9AD6F6B0-8EB2-FA46-DC22-3084B8475E12}"/>
              </a:ext>
            </a:extLst>
          </p:cNvPr>
          <p:cNvSpPr txBox="1"/>
          <p:nvPr/>
        </p:nvSpPr>
        <p:spPr>
          <a:xfrm>
            <a:off x="2438400" y="4784943"/>
            <a:ext cx="8153400" cy="1754326"/>
          </a:xfrm>
          <a:prstGeom prst="rect">
            <a:avLst/>
          </a:prstGeom>
          <a:noFill/>
        </p:spPr>
        <p:txBody>
          <a:bodyPr wrap="square">
            <a:spAutoFit/>
          </a:bodyPr>
          <a:lstStyle/>
          <a:p>
            <a:r>
              <a:rPr lang="en-US" sz="1800" b="0" i="0" dirty="0">
                <a:solidFill>
                  <a:srgbClr val="242021"/>
                </a:solidFill>
                <a:effectLst/>
                <a:latin typeface="NewCaledoniaLTStd"/>
              </a:rPr>
              <a:t>An employee can have multiple assignments and can also be involved in multiple service organizations. Employee 10123 volunteers for the Red Cross and United Way. </a:t>
            </a:r>
            <a:br>
              <a:rPr lang="en-US" sz="1800" b="0" i="0" dirty="0">
                <a:solidFill>
                  <a:srgbClr val="242021"/>
                </a:solidFill>
                <a:effectLst/>
                <a:latin typeface="NewCaledoniaLTStd"/>
              </a:rPr>
            </a:br>
            <a:r>
              <a:rPr lang="en-US" sz="1800" b="0" i="0" dirty="0">
                <a:solidFill>
                  <a:srgbClr val="242021"/>
                </a:solidFill>
                <a:effectLst/>
                <a:latin typeface="NewCaledoniaLTStd"/>
              </a:rPr>
              <a:t>In addition, the same employee might be assigned to work on three projects: 1, 3, and 4.</a:t>
            </a:r>
            <a:br>
              <a:rPr lang="en-US" sz="1800" b="0" i="0" dirty="0">
                <a:solidFill>
                  <a:srgbClr val="242021"/>
                </a:solidFill>
                <a:effectLst/>
                <a:latin typeface="NewCaledoniaLTStd"/>
              </a:rPr>
            </a:br>
            <a:r>
              <a:rPr lang="en-US" sz="1800" b="0" i="0" dirty="0">
                <a:solidFill>
                  <a:srgbClr val="242021"/>
                </a:solidFill>
                <a:effectLst/>
                <a:latin typeface="NewCaledoniaLTStd"/>
              </a:rPr>
              <a:t>Figure 6.11 illustrates how that set of facts can be recorded in very different ways.</a:t>
            </a:r>
            <a:r>
              <a:rPr lang="en-US" sz="1800" dirty="0"/>
              <a:t> </a:t>
            </a:r>
            <a:br>
              <a:rPr lang="en-US" sz="1800" dirty="0"/>
            </a:br>
            <a:endParaRPr lang="en-US" sz="1800" dirty="0"/>
          </a:p>
        </p:txBody>
      </p:sp>
    </p:spTree>
    <p:extLst>
      <p:ext uri="{BB962C8B-B14F-4D97-AF65-F5344CB8AC3E}">
        <p14:creationId xmlns:p14="http://schemas.microsoft.com/office/powerpoint/2010/main" val="40651078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A2B29F-2ABB-0711-E335-EC0257CD4E5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18EFEFF-986B-02A3-B344-8D74CC304F72}"/>
              </a:ext>
            </a:extLst>
          </p:cNvPr>
          <p:cNvSpPr>
            <a:spLocks noGrp="1"/>
          </p:cNvSpPr>
          <p:nvPr>
            <p:ph type="sldNum" sz="quarter" idx="11"/>
          </p:nvPr>
        </p:nvSpPr>
        <p:spPr/>
        <p:txBody>
          <a:bodyPr/>
          <a:lstStyle/>
          <a:p>
            <a:pPr>
              <a:defRPr/>
            </a:pPr>
            <a:fld id="{D1AD3536-327C-4937-83AF-A64971CFA6D9}" type="slidenum">
              <a:rPr lang="en-US" smtClean="0"/>
              <a:pPr>
                <a:defRPr/>
              </a:pPr>
              <a:t>45</a:t>
            </a:fld>
            <a:endParaRPr lang="en-US"/>
          </a:p>
        </p:txBody>
      </p:sp>
      <p:sp>
        <p:nvSpPr>
          <p:cNvPr id="4" name="Footer Placeholder 3">
            <a:extLst>
              <a:ext uri="{FF2B5EF4-FFF2-40B4-BE49-F238E27FC236}">
                <a16:creationId xmlns:a16="http://schemas.microsoft.com/office/drawing/2014/main" id="{A3DDEA00-B415-5E5C-73E6-E80D129CD234}"/>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166D917-109E-204F-7D36-66D25F153AF2}"/>
              </a:ext>
            </a:extLst>
          </p:cNvPr>
          <p:cNvPicPr>
            <a:picLocks noChangeAspect="1"/>
          </p:cNvPicPr>
          <p:nvPr/>
        </p:nvPicPr>
        <p:blipFill>
          <a:blip r:embed="rId2"/>
          <a:stretch>
            <a:fillRect/>
          </a:stretch>
        </p:blipFill>
        <p:spPr>
          <a:xfrm>
            <a:off x="2826736" y="1017061"/>
            <a:ext cx="6538527" cy="4823878"/>
          </a:xfrm>
          <a:prstGeom prst="rect">
            <a:avLst/>
          </a:prstGeom>
        </p:spPr>
      </p:pic>
    </p:spTree>
    <p:extLst>
      <p:ext uri="{BB962C8B-B14F-4D97-AF65-F5344CB8AC3E}">
        <p14:creationId xmlns:p14="http://schemas.microsoft.com/office/powerpoint/2010/main" val="2752645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AA571-2FF5-6EE6-A49E-EC961416453B}"/>
              </a:ext>
            </a:extLst>
          </p:cNvPr>
          <p:cNvSpPr>
            <a:spLocks noGrp="1"/>
          </p:cNvSpPr>
          <p:nvPr>
            <p:ph type="title"/>
          </p:nvPr>
        </p:nvSpPr>
        <p:spPr/>
        <p:txBody>
          <a:bodyPr/>
          <a:lstStyle/>
          <a:p>
            <a:r>
              <a:rPr lang="en-US" dirty="0"/>
              <a:t>6-6c Fifth Normal Form (5NF)</a:t>
            </a:r>
          </a:p>
        </p:txBody>
      </p:sp>
      <p:sp>
        <p:nvSpPr>
          <p:cNvPr id="3" name="Content Placeholder 2">
            <a:extLst>
              <a:ext uri="{FF2B5EF4-FFF2-40B4-BE49-F238E27FC236}">
                <a16:creationId xmlns:a16="http://schemas.microsoft.com/office/drawing/2014/main" id="{1D4DCB8E-B267-E868-8F07-F0CA6E44CE3C}"/>
              </a:ext>
            </a:extLst>
          </p:cNvPr>
          <p:cNvSpPr>
            <a:spLocks noGrp="1"/>
          </p:cNvSpPr>
          <p:nvPr>
            <p:ph idx="1"/>
          </p:nvPr>
        </p:nvSpPr>
        <p:spPr>
          <a:xfrm>
            <a:off x="816077" y="1690688"/>
            <a:ext cx="10515600" cy="4351338"/>
          </a:xfrm>
        </p:spPr>
        <p:txBody>
          <a:bodyPr/>
          <a:lstStyle/>
          <a:p>
            <a:r>
              <a:rPr lang="en-US" sz="1800" b="0" i="0" dirty="0">
                <a:solidFill>
                  <a:srgbClr val="242021"/>
                </a:solidFill>
                <a:effectLst/>
                <a:latin typeface="NewCaledoniaLTStd"/>
              </a:rPr>
              <a:t>Fifth normal form, also known as </a:t>
            </a:r>
            <a:r>
              <a:rPr lang="en-US" sz="1800" b="1" i="0" dirty="0">
                <a:solidFill>
                  <a:srgbClr val="007DAF"/>
                </a:solidFill>
                <a:effectLst/>
                <a:latin typeface="MyriadPro-Bold"/>
              </a:rPr>
              <a:t>project join normal form (PJNF)</a:t>
            </a:r>
            <a:r>
              <a:rPr lang="en-US" sz="1800" b="0" i="0" dirty="0">
                <a:solidFill>
                  <a:srgbClr val="242021"/>
                </a:solidFill>
                <a:effectLst/>
                <a:latin typeface="NewCaledoniaLTStd"/>
              </a:rPr>
              <a:t>, addresses the issue in which a table cannot be decomposed anymore without losing data or creating incorrect information</a:t>
            </a:r>
            <a:r>
              <a:rPr lang="en-US" dirty="0"/>
              <a:t> </a:t>
            </a:r>
          </a:p>
          <a:p>
            <a:r>
              <a:rPr lang="en-US" sz="1800" b="1" i="0" dirty="0">
                <a:solidFill>
                  <a:srgbClr val="007DAF"/>
                </a:solidFill>
                <a:effectLst/>
                <a:latin typeface="MyriadPro-BoldSemiCn"/>
              </a:rPr>
              <a:t>project join normal form (PJNF) </a:t>
            </a:r>
            <a:r>
              <a:rPr lang="en-US" sz="1800" b="0" i="0" dirty="0">
                <a:solidFill>
                  <a:srgbClr val="242021"/>
                </a:solidFill>
                <a:effectLst/>
                <a:latin typeface="MyriadPro-SemiCn"/>
              </a:rPr>
              <a:t>Another term for fifth normal form (5NF). A state in which a table is already</a:t>
            </a:r>
            <a:br>
              <a:rPr lang="en-US" sz="1800" b="0" i="0" dirty="0">
                <a:solidFill>
                  <a:srgbClr val="242021"/>
                </a:solidFill>
                <a:effectLst/>
                <a:latin typeface="MyriadPro-SemiCn"/>
              </a:rPr>
            </a:br>
            <a:r>
              <a:rPr lang="en-US" sz="1800" b="0" i="0" dirty="0">
                <a:solidFill>
                  <a:srgbClr val="242021"/>
                </a:solidFill>
                <a:effectLst/>
                <a:latin typeface="MyriadPro-SemiCn"/>
              </a:rPr>
              <a:t>in 4NF and has no lossless decompositions</a:t>
            </a:r>
            <a:r>
              <a:rPr lang="en-US" dirty="0"/>
              <a:t> </a:t>
            </a:r>
            <a:br>
              <a:rPr lang="en-US" dirty="0"/>
            </a:br>
            <a:br>
              <a:rPr lang="en-US" dirty="0"/>
            </a:br>
            <a:endParaRPr lang="en-US" dirty="0"/>
          </a:p>
        </p:txBody>
      </p:sp>
      <p:sp>
        <p:nvSpPr>
          <p:cNvPr id="4" name="Slide Number Placeholder 3">
            <a:extLst>
              <a:ext uri="{FF2B5EF4-FFF2-40B4-BE49-F238E27FC236}">
                <a16:creationId xmlns:a16="http://schemas.microsoft.com/office/drawing/2014/main" id="{074F3497-CBD0-73E9-CB56-21ABAFBED13B}"/>
              </a:ext>
            </a:extLst>
          </p:cNvPr>
          <p:cNvSpPr>
            <a:spLocks noGrp="1"/>
          </p:cNvSpPr>
          <p:nvPr>
            <p:ph type="sldNum" sz="quarter" idx="10"/>
          </p:nvPr>
        </p:nvSpPr>
        <p:spPr/>
        <p:txBody>
          <a:bodyPr/>
          <a:lstStyle/>
          <a:p>
            <a:pPr>
              <a:defRPr/>
            </a:pPr>
            <a:fld id="{34A84676-C444-4AC5-8B4E-405A7C81C0FB}" type="slidenum">
              <a:rPr lang="en-US" altLang="en-US" smtClean="0"/>
              <a:pPr>
                <a:defRPr/>
              </a:pPr>
              <a:t>46</a:t>
            </a:fld>
            <a:endParaRPr lang="en-US" altLang="en-US"/>
          </a:p>
        </p:txBody>
      </p:sp>
      <p:sp>
        <p:nvSpPr>
          <p:cNvPr id="5" name="Footer Placeholder 4">
            <a:extLst>
              <a:ext uri="{FF2B5EF4-FFF2-40B4-BE49-F238E27FC236}">
                <a16:creationId xmlns:a16="http://schemas.microsoft.com/office/drawing/2014/main" id="{3D11ACF7-DD48-3DA2-2979-7FF1E7419952}"/>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B989AF72-D0F0-E67D-ED54-A9A14160253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pic>
        <p:nvPicPr>
          <p:cNvPr id="12" name="Picture 11">
            <a:extLst>
              <a:ext uri="{FF2B5EF4-FFF2-40B4-BE49-F238E27FC236}">
                <a16:creationId xmlns:a16="http://schemas.microsoft.com/office/drawing/2014/main" id="{06074272-BE17-7BF5-A5F8-F7365A05EC81}"/>
              </a:ext>
            </a:extLst>
          </p:cNvPr>
          <p:cNvPicPr>
            <a:picLocks noChangeAspect="1"/>
          </p:cNvPicPr>
          <p:nvPr/>
        </p:nvPicPr>
        <p:blipFill>
          <a:blip r:embed="rId2"/>
          <a:stretch>
            <a:fillRect/>
          </a:stretch>
        </p:blipFill>
        <p:spPr>
          <a:xfrm>
            <a:off x="1600200" y="3617226"/>
            <a:ext cx="8798719" cy="2983599"/>
          </a:xfrm>
          <a:prstGeom prst="rect">
            <a:avLst/>
          </a:prstGeom>
        </p:spPr>
      </p:pic>
    </p:spTree>
    <p:extLst>
      <p:ext uri="{BB962C8B-B14F-4D97-AF65-F5344CB8AC3E}">
        <p14:creationId xmlns:p14="http://schemas.microsoft.com/office/powerpoint/2010/main" val="419805429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08F74-319B-763C-25C3-764FE2B5858E}"/>
              </a:ext>
            </a:extLst>
          </p:cNvPr>
          <p:cNvSpPr>
            <a:spLocks noGrp="1"/>
          </p:cNvSpPr>
          <p:nvPr>
            <p:ph type="title"/>
          </p:nvPr>
        </p:nvSpPr>
        <p:spPr/>
        <p:txBody>
          <a:bodyPr/>
          <a:lstStyle/>
          <a:p>
            <a:r>
              <a:rPr lang="en-US" dirty="0"/>
              <a:t>6-7 Normalization and Database Design</a:t>
            </a:r>
          </a:p>
        </p:txBody>
      </p:sp>
      <p:sp>
        <p:nvSpPr>
          <p:cNvPr id="3" name="Date Placeholder 2">
            <a:extLst>
              <a:ext uri="{FF2B5EF4-FFF2-40B4-BE49-F238E27FC236}">
                <a16:creationId xmlns:a16="http://schemas.microsoft.com/office/drawing/2014/main" id="{EC7BEC7A-B096-4E4F-26E1-CFBFAA52E0A5}"/>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F0802732-1BA4-618C-885E-250EF5FDC382}"/>
              </a:ext>
            </a:extLst>
          </p:cNvPr>
          <p:cNvSpPr>
            <a:spLocks noGrp="1"/>
          </p:cNvSpPr>
          <p:nvPr>
            <p:ph type="sldNum" sz="quarter" idx="11"/>
          </p:nvPr>
        </p:nvSpPr>
        <p:spPr/>
        <p:txBody>
          <a:bodyPr/>
          <a:lstStyle/>
          <a:p>
            <a:pPr>
              <a:defRPr/>
            </a:pPr>
            <a:fld id="{F9126DDB-45DE-4D72-94FB-1E2D565E80AF}" type="slidenum">
              <a:rPr lang="en-US" smtClean="0"/>
              <a:pPr>
                <a:defRPr/>
              </a:pPr>
              <a:t>47</a:t>
            </a:fld>
            <a:endParaRPr lang="en-US"/>
          </a:p>
        </p:txBody>
      </p:sp>
      <p:sp>
        <p:nvSpPr>
          <p:cNvPr id="5" name="Footer Placeholder 4">
            <a:extLst>
              <a:ext uri="{FF2B5EF4-FFF2-40B4-BE49-F238E27FC236}">
                <a16:creationId xmlns:a16="http://schemas.microsoft.com/office/drawing/2014/main" id="{DED05340-92C8-DA1F-8D5E-E1E5AB94F7A9}"/>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9785971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835F-F089-8901-90E8-1A35D57D64D4}"/>
              </a:ext>
            </a:extLst>
          </p:cNvPr>
          <p:cNvSpPr>
            <a:spLocks noGrp="1"/>
          </p:cNvSpPr>
          <p:nvPr>
            <p:ph type="title"/>
          </p:nvPr>
        </p:nvSpPr>
        <p:spPr/>
        <p:txBody>
          <a:bodyPr/>
          <a:lstStyle/>
          <a:p>
            <a:r>
              <a:rPr lang="en-US" dirty="0"/>
              <a:t>6-7 Normalization and Database Design</a:t>
            </a:r>
          </a:p>
        </p:txBody>
      </p:sp>
      <p:sp>
        <p:nvSpPr>
          <p:cNvPr id="3" name="Content Placeholder 2">
            <a:extLst>
              <a:ext uri="{FF2B5EF4-FFF2-40B4-BE49-F238E27FC236}">
                <a16:creationId xmlns:a16="http://schemas.microsoft.com/office/drawing/2014/main" id="{F5B74BC4-87F1-3281-2895-DA4642D6B62E}"/>
              </a:ext>
            </a:extLst>
          </p:cNvPr>
          <p:cNvSpPr>
            <a:spLocks noGrp="1"/>
          </p:cNvSpPr>
          <p:nvPr>
            <p:ph idx="1"/>
          </p:nvPr>
        </p:nvSpPr>
        <p:spPr/>
        <p:txBody>
          <a:bodyPr/>
          <a:lstStyle/>
          <a:p>
            <a:endParaRPr lang="en-US" dirty="0"/>
          </a:p>
          <a:p>
            <a:r>
              <a:rPr lang="en-US" dirty="0"/>
              <a:t>Normalization should be part of the design process.</a:t>
            </a:r>
          </a:p>
          <a:p>
            <a:r>
              <a:rPr lang="en-US" dirty="0"/>
              <a:t>Make sure that proposed entities meet the required normal form before the table structures are created</a:t>
            </a:r>
          </a:p>
          <a:p>
            <a:r>
              <a:rPr lang="en-US" dirty="0"/>
              <a:t>Second, normalization focuses on the characteristics of specific entities; that is, normalization represents a micro view of the entities within the ERD</a:t>
            </a:r>
          </a:p>
        </p:txBody>
      </p:sp>
      <p:sp>
        <p:nvSpPr>
          <p:cNvPr id="4" name="Slide Number Placeholder 3">
            <a:extLst>
              <a:ext uri="{FF2B5EF4-FFF2-40B4-BE49-F238E27FC236}">
                <a16:creationId xmlns:a16="http://schemas.microsoft.com/office/drawing/2014/main" id="{CE31FE4C-4E50-0305-0EC6-6A1C1DF1F2D7}"/>
              </a:ext>
            </a:extLst>
          </p:cNvPr>
          <p:cNvSpPr>
            <a:spLocks noGrp="1"/>
          </p:cNvSpPr>
          <p:nvPr>
            <p:ph type="sldNum" sz="quarter" idx="10"/>
          </p:nvPr>
        </p:nvSpPr>
        <p:spPr/>
        <p:txBody>
          <a:bodyPr/>
          <a:lstStyle/>
          <a:p>
            <a:pPr>
              <a:defRPr/>
            </a:pPr>
            <a:fld id="{34A84676-C444-4AC5-8B4E-405A7C81C0FB}" type="slidenum">
              <a:rPr lang="en-US" altLang="en-US" smtClean="0"/>
              <a:pPr>
                <a:defRPr/>
              </a:pPr>
              <a:t>48</a:t>
            </a:fld>
            <a:endParaRPr lang="en-US" altLang="en-US"/>
          </a:p>
        </p:txBody>
      </p:sp>
      <p:sp>
        <p:nvSpPr>
          <p:cNvPr id="5" name="Footer Placeholder 4">
            <a:extLst>
              <a:ext uri="{FF2B5EF4-FFF2-40B4-BE49-F238E27FC236}">
                <a16:creationId xmlns:a16="http://schemas.microsoft.com/office/drawing/2014/main" id="{F7D89D8C-FDD7-DC03-B6CD-41948B8C45F9}"/>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32E9C0E5-0C20-D3DA-7D0D-497EFA491531}"/>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35868625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4F2129-D6DC-4B03-303F-91165FC8ED0F}"/>
              </a:ext>
            </a:extLst>
          </p:cNvPr>
          <p:cNvSpPr>
            <a:spLocks noGrp="1"/>
          </p:cNvSpPr>
          <p:nvPr>
            <p:ph type="title"/>
          </p:nvPr>
        </p:nvSpPr>
        <p:spPr/>
        <p:txBody>
          <a:bodyPr/>
          <a:lstStyle/>
          <a:p>
            <a:r>
              <a:rPr lang="en-US" dirty="0"/>
              <a:t>Operations of the contracting company </a:t>
            </a:r>
          </a:p>
        </p:txBody>
      </p:sp>
      <p:sp>
        <p:nvSpPr>
          <p:cNvPr id="3" name="Content Placeholder 2">
            <a:extLst>
              <a:ext uri="{FF2B5EF4-FFF2-40B4-BE49-F238E27FC236}">
                <a16:creationId xmlns:a16="http://schemas.microsoft.com/office/drawing/2014/main" id="{48C022B3-2ECE-81AB-731A-C8BFA0193F7A}"/>
              </a:ext>
            </a:extLst>
          </p:cNvPr>
          <p:cNvSpPr>
            <a:spLocks noGrp="1"/>
          </p:cNvSpPr>
          <p:nvPr>
            <p:ph idx="1"/>
          </p:nvPr>
        </p:nvSpPr>
        <p:spPr>
          <a:xfrm>
            <a:off x="914400" y="1447800"/>
            <a:ext cx="11277600" cy="4351338"/>
          </a:xfrm>
        </p:spPr>
        <p:txBody>
          <a:bodyPr/>
          <a:lstStyle/>
          <a:p>
            <a:r>
              <a:rPr lang="en-US" dirty="0"/>
              <a:t>The company manages many projects.</a:t>
            </a:r>
          </a:p>
          <a:p>
            <a:r>
              <a:rPr lang="en-US" dirty="0"/>
              <a:t>Each project requires the services of many employees.</a:t>
            </a:r>
          </a:p>
          <a:p>
            <a:r>
              <a:rPr lang="en-US" dirty="0"/>
              <a:t>An employee may be assigned to several different projects.</a:t>
            </a:r>
          </a:p>
          <a:p>
            <a:r>
              <a:rPr lang="en-US" dirty="0"/>
              <a:t>Some employees are not assigned to a project and perform duties not specifically related to a project. Some employees are part of a labor pool, to be shared by all project teams. For example, the company’s executive secretary would not be assigned to any one particular project.</a:t>
            </a:r>
          </a:p>
          <a:p>
            <a:r>
              <a:rPr lang="en-US" dirty="0"/>
              <a:t>Each employee has a single primary job classification, which determines the hourly billing rate.</a:t>
            </a:r>
          </a:p>
          <a:p>
            <a:r>
              <a:rPr lang="en-US" dirty="0"/>
              <a:t>Many employees can have the same job classification. For example, the company employs more than one electrical engineer.</a:t>
            </a:r>
          </a:p>
        </p:txBody>
      </p:sp>
      <p:sp>
        <p:nvSpPr>
          <p:cNvPr id="4" name="Slide Number Placeholder 3">
            <a:extLst>
              <a:ext uri="{FF2B5EF4-FFF2-40B4-BE49-F238E27FC236}">
                <a16:creationId xmlns:a16="http://schemas.microsoft.com/office/drawing/2014/main" id="{CFDA0DE4-12FA-092B-2F60-18ACF24941AC}"/>
              </a:ext>
            </a:extLst>
          </p:cNvPr>
          <p:cNvSpPr>
            <a:spLocks noGrp="1"/>
          </p:cNvSpPr>
          <p:nvPr>
            <p:ph type="sldNum" sz="quarter" idx="10"/>
          </p:nvPr>
        </p:nvSpPr>
        <p:spPr/>
        <p:txBody>
          <a:bodyPr/>
          <a:lstStyle/>
          <a:p>
            <a:pPr>
              <a:defRPr/>
            </a:pPr>
            <a:fld id="{34A84676-C444-4AC5-8B4E-405A7C81C0FB}" type="slidenum">
              <a:rPr lang="en-US" altLang="en-US" smtClean="0"/>
              <a:pPr>
                <a:defRPr/>
              </a:pPr>
              <a:t>49</a:t>
            </a:fld>
            <a:endParaRPr lang="en-US" altLang="en-US"/>
          </a:p>
        </p:txBody>
      </p:sp>
      <p:sp>
        <p:nvSpPr>
          <p:cNvPr id="5" name="Footer Placeholder 4">
            <a:extLst>
              <a:ext uri="{FF2B5EF4-FFF2-40B4-BE49-F238E27FC236}">
                <a16:creationId xmlns:a16="http://schemas.microsoft.com/office/drawing/2014/main" id="{EF3917BF-B734-C7F9-2BF7-C2BAEBA45C32}"/>
              </a:ext>
            </a:extLst>
          </p:cNvPr>
          <p:cNvSpPr>
            <a:spLocks noGrp="1"/>
          </p:cNvSpPr>
          <p:nvPr>
            <p:ph type="ftr" sz="quarter" idx="11"/>
          </p:nvPr>
        </p:nvSpPr>
        <p:spPr/>
        <p:txBody>
          <a:bodyPr/>
          <a:lstStyle/>
          <a:p>
            <a:pPr>
              <a:defRPr/>
            </a:pPr>
            <a:r>
              <a:rPr lang="en-US"/>
              <a:t>Database System Design, Implementation And Management </a:t>
            </a:r>
          </a:p>
        </p:txBody>
      </p:sp>
      <p:sp>
        <p:nvSpPr>
          <p:cNvPr id="6" name="Date Placeholder 5">
            <a:extLst>
              <a:ext uri="{FF2B5EF4-FFF2-40B4-BE49-F238E27FC236}">
                <a16:creationId xmlns:a16="http://schemas.microsoft.com/office/drawing/2014/main" id="{83CB540D-E706-FAF3-02C1-2DA48E04C7AB}"/>
              </a:ext>
            </a:extLst>
          </p:cNvPr>
          <p:cNvSpPr>
            <a:spLocks noGrp="1"/>
          </p:cNvSpPr>
          <p:nvPr>
            <p:ph type="dt" sz="half" idx="12"/>
          </p:nvPr>
        </p:nvSpPr>
        <p:spPr/>
        <p:txBody>
          <a:bodyPr/>
          <a:lstStyle/>
          <a:p>
            <a:pPr>
              <a:defRPr/>
            </a:pPr>
            <a:fld id="{6D947E3C-0B49-413F-8928-2C02ECEF5B61}" type="datetime1">
              <a:rPr lang="en-US" smtClean="0"/>
              <a:pPr>
                <a:defRPr/>
              </a:pPr>
              <a:t>12/19/2024</a:t>
            </a:fld>
            <a:endParaRPr lang="en-US"/>
          </a:p>
        </p:txBody>
      </p:sp>
    </p:spTree>
    <p:extLst>
      <p:ext uri="{BB962C8B-B14F-4D97-AF65-F5344CB8AC3E}">
        <p14:creationId xmlns:p14="http://schemas.microsoft.com/office/powerpoint/2010/main" val="13833184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5A5BAF9-EAF0-931B-AB43-60B81954E40B}"/>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2C03423-E2A6-C668-AAD7-4B005FE5E608}"/>
              </a:ext>
            </a:extLst>
          </p:cNvPr>
          <p:cNvSpPr>
            <a:spLocks noGrp="1"/>
          </p:cNvSpPr>
          <p:nvPr>
            <p:ph type="sldNum" sz="quarter" idx="11"/>
          </p:nvPr>
        </p:nvSpPr>
        <p:spPr/>
        <p:txBody>
          <a:bodyPr/>
          <a:lstStyle/>
          <a:p>
            <a:pPr>
              <a:defRPr/>
            </a:pPr>
            <a:fld id="{D1AD3536-327C-4937-83AF-A64971CFA6D9}" type="slidenum">
              <a:rPr lang="en-US" smtClean="0"/>
              <a:pPr>
                <a:defRPr/>
              </a:pPr>
              <a:t>50</a:t>
            </a:fld>
            <a:endParaRPr lang="en-US"/>
          </a:p>
        </p:txBody>
      </p:sp>
      <p:sp>
        <p:nvSpPr>
          <p:cNvPr id="4" name="Footer Placeholder 3">
            <a:extLst>
              <a:ext uri="{FF2B5EF4-FFF2-40B4-BE49-F238E27FC236}">
                <a16:creationId xmlns:a16="http://schemas.microsoft.com/office/drawing/2014/main" id="{53BD4E92-6B83-CD37-EE9B-47A87D3EC4F5}"/>
              </a:ext>
            </a:extLst>
          </p:cNvPr>
          <p:cNvSpPr>
            <a:spLocks noGrp="1"/>
          </p:cNvSpPr>
          <p:nvPr>
            <p:ph type="ftr" sz="quarter" idx="12"/>
          </p:nvPr>
        </p:nvSpPr>
        <p:spPr/>
        <p:txBody>
          <a:bodyPr/>
          <a:lstStyle/>
          <a:p>
            <a:pPr>
              <a:defRPr/>
            </a:pPr>
            <a:r>
              <a:rPr lang="en-US"/>
              <a:t>Database System Design, Implementation And Management </a:t>
            </a:r>
          </a:p>
        </p:txBody>
      </p:sp>
      <p:pic>
        <p:nvPicPr>
          <p:cNvPr id="8" name="Picture 7">
            <a:extLst>
              <a:ext uri="{FF2B5EF4-FFF2-40B4-BE49-F238E27FC236}">
                <a16:creationId xmlns:a16="http://schemas.microsoft.com/office/drawing/2014/main" id="{A1C531E9-753F-5A92-1A66-73B160E6FA54}"/>
              </a:ext>
            </a:extLst>
          </p:cNvPr>
          <p:cNvPicPr>
            <a:picLocks noChangeAspect="1"/>
          </p:cNvPicPr>
          <p:nvPr/>
        </p:nvPicPr>
        <p:blipFill>
          <a:blip r:embed="rId2"/>
          <a:stretch>
            <a:fillRect/>
          </a:stretch>
        </p:blipFill>
        <p:spPr>
          <a:xfrm>
            <a:off x="147637" y="2266950"/>
            <a:ext cx="11896725" cy="2324100"/>
          </a:xfrm>
          <a:prstGeom prst="rect">
            <a:avLst/>
          </a:prstGeom>
        </p:spPr>
      </p:pic>
    </p:spTree>
    <p:extLst>
      <p:ext uri="{BB962C8B-B14F-4D97-AF65-F5344CB8AC3E}">
        <p14:creationId xmlns:p14="http://schemas.microsoft.com/office/powerpoint/2010/main" val="249595042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1818484-C906-416A-6D44-F51310AAEE35}"/>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23C3E8C7-8695-3C77-6DDF-577A3FACAB86}"/>
              </a:ext>
            </a:extLst>
          </p:cNvPr>
          <p:cNvSpPr>
            <a:spLocks noGrp="1"/>
          </p:cNvSpPr>
          <p:nvPr>
            <p:ph type="sldNum" sz="quarter" idx="11"/>
          </p:nvPr>
        </p:nvSpPr>
        <p:spPr/>
        <p:txBody>
          <a:bodyPr/>
          <a:lstStyle/>
          <a:p>
            <a:pPr>
              <a:defRPr/>
            </a:pPr>
            <a:fld id="{D1AD3536-327C-4937-83AF-A64971CFA6D9}" type="slidenum">
              <a:rPr lang="en-US" smtClean="0"/>
              <a:pPr>
                <a:defRPr/>
              </a:pPr>
              <a:t>51</a:t>
            </a:fld>
            <a:endParaRPr lang="en-US"/>
          </a:p>
        </p:txBody>
      </p:sp>
      <p:sp>
        <p:nvSpPr>
          <p:cNvPr id="4" name="Footer Placeholder 3">
            <a:extLst>
              <a:ext uri="{FF2B5EF4-FFF2-40B4-BE49-F238E27FC236}">
                <a16:creationId xmlns:a16="http://schemas.microsoft.com/office/drawing/2014/main" id="{7665DE75-3644-BCF5-13D4-48F187E01BA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1BC7DEA3-7B57-73AA-CB99-BD7471157DA0}"/>
              </a:ext>
            </a:extLst>
          </p:cNvPr>
          <p:cNvPicPr>
            <a:picLocks noChangeAspect="1"/>
          </p:cNvPicPr>
          <p:nvPr/>
        </p:nvPicPr>
        <p:blipFill>
          <a:blip r:embed="rId2"/>
          <a:stretch>
            <a:fillRect/>
          </a:stretch>
        </p:blipFill>
        <p:spPr>
          <a:xfrm>
            <a:off x="180975" y="1257300"/>
            <a:ext cx="11830050" cy="4343400"/>
          </a:xfrm>
          <a:prstGeom prst="rect">
            <a:avLst/>
          </a:prstGeom>
        </p:spPr>
      </p:pic>
    </p:spTree>
    <p:extLst>
      <p:ext uri="{BB962C8B-B14F-4D97-AF65-F5344CB8AC3E}">
        <p14:creationId xmlns:p14="http://schemas.microsoft.com/office/powerpoint/2010/main" val="16353691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E01C2D9-E174-1012-EE77-D2E619EAD24B}"/>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2E13DD9-2897-ACD9-9465-CEF8D64C55F9}"/>
              </a:ext>
            </a:extLst>
          </p:cNvPr>
          <p:cNvSpPr>
            <a:spLocks noGrp="1"/>
          </p:cNvSpPr>
          <p:nvPr>
            <p:ph type="sldNum" sz="quarter" idx="11"/>
          </p:nvPr>
        </p:nvSpPr>
        <p:spPr/>
        <p:txBody>
          <a:bodyPr/>
          <a:lstStyle/>
          <a:p>
            <a:pPr>
              <a:defRPr/>
            </a:pPr>
            <a:fld id="{D1AD3536-327C-4937-83AF-A64971CFA6D9}" type="slidenum">
              <a:rPr lang="en-US" smtClean="0"/>
              <a:pPr>
                <a:defRPr/>
              </a:pPr>
              <a:t>52</a:t>
            </a:fld>
            <a:endParaRPr lang="en-US"/>
          </a:p>
        </p:txBody>
      </p:sp>
      <p:sp>
        <p:nvSpPr>
          <p:cNvPr id="4" name="Footer Placeholder 3">
            <a:extLst>
              <a:ext uri="{FF2B5EF4-FFF2-40B4-BE49-F238E27FC236}">
                <a16:creationId xmlns:a16="http://schemas.microsoft.com/office/drawing/2014/main" id="{D2B8AA3E-A601-1780-91A6-ADAB49FD6D7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1EE141B-A659-9B41-BB03-11979C402B9D}"/>
              </a:ext>
            </a:extLst>
          </p:cNvPr>
          <p:cNvPicPr>
            <a:picLocks noChangeAspect="1"/>
          </p:cNvPicPr>
          <p:nvPr/>
        </p:nvPicPr>
        <p:blipFill>
          <a:blip r:embed="rId2"/>
          <a:stretch>
            <a:fillRect/>
          </a:stretch>
        </p:blipFill>
        <p:spPr>
          <a:xfrm>
            <a:off x="166687" y="2066925"/>
            <a:ext cx="11858625" cy="2724150"/>
          </a:xfrm>
          <a:prstGeom prst="rect">
            <a:avLst/>
          </a:prstGeom>
        </p:spPr>
      </p:pic>
    </p:spTree>
    <p:extLst>
      <p:ext uri="{BB962C8B-B14F-4D97-AF65-F5344CB8AC3E}">
        <p14:creationId xmlns:p14="http://schemas.microsoft.com/office/powerpoint/2010/main" val="8977352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7D7E5B-F59A-5651-81EE-C6036505751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FA6B7C63-CBE9-3585-1D6C-3A448229F575}"/>
              </a:ext>
            </a:extLst>
          </p:cNvPr>
          <p:cNvSpPr>
            <a:spLocks noGrp="1"/>
          </p:cNvSpPr>
          <p:nvPr>
            <p:ph type="sldNum" sz="quarter" idx="11"/>
          </p:nvPr>
        </p:nvSpPr>
        <p:spPr/>
        <p:txBody>
          <a:bodyPr/>
          <a:lstStyle/>
          <a:p>
            <a:pPr>
              <a:defRPr/>
            </a:pPr>
            <a:fld id="{D1AD3536-327C-4937-83AF-A64971CFA6D9}" type="slidenum">
              <a:rPr lang="en-US" smtClean="0"/>
              <a:pPr>
                <a:defRPr/>
              </a:pPr>
              <a:t>53</a:t>
            </a:fld>
            <a:endParaRPr lang="en-US"/>
          </a:p>
        </p:txBody>
      </p:sp>
      <p:sp>
        <p:nvSpPr>
          <p:cNvPr id="4" name="Footer Placeholder 3">
            <a:extLst>
              <a:ext uri="{FF2B5EF4-FFF2-40B4-BE49-F238E27FC236}">
                <a16:creationId xmlns:a16="http://schemas.microsoft.com/office/drawing/2014/main" id="{00F8C6B8-4D18-965E-DBE2-8FB6196F35B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53F2F942-1CA1-04D5-4D2A-29FA8449C85B}"/>
              </a:ext>
            </a:extLst>
          </p:cNvPr>
          <p:cNvPicPr>
            <a:picLocks noChangeAspect="1"/>
          </p:cNvPicPr>
          <p:nvPr/>
        </p:nvPicPr>
        <p:blipFill>
          <a:blip r:embed="rId2"/>
          <a:stretch>
            <a:fillRect/>
          </a:stretch>
        </p:blipFill>
        <p:spPr>
          <a:xfrm>
            <a:off x="0" y="2177440"/>
            <a:ext cx="12192000" cy="2503119"/>
          </a:xfrm>
          <a:prstGeom prst="rect">
            <a:avLst/>
          </a:prstGeom>
        </p:spPr>
      </p:pic>
    </p:spTree>
    <p:extLst>
      <p:ext uri="{BB962C8B-B14F-4D97-AF65-F5344CB8AC3E}">
        <p14:creationId xmlns:p14="http://schemas.microsoft.com/office/powerpoint/2010/main" val="8606264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0AED63A-F49D-8528-4753-61C19B3445CA}"/>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B1C89877-8CEE-02DB-7E8A-3ED4E9F96AC6}"/>
              </a:ext>
            </a:extLst>
          </p:cNvPr>
          <p:cNvSpPr>
            <a:spLocks noGrp="1"/>
          </p:cNvSpPr>
          <p:nvPr>
            <p:ph type="sldNum" sz="quarter" idx="11"/>
          </p:nvPr>
        </p:nvSpPr>
        <p:spPr/>
        <p:txBody>
          <a:bodyPr/>
          <a:lstStyle/>
          <a:p>
            <a:pPr>
              <a:defRPr/>
            </a:pPr>
            <a:fld id="{D1AD3536-327C-4937-83AF-A64971CFA6D9}" type="slidenum">
              <a:rPr lang="en-US" smtClean="0"/>
              <a:pPr>
                <a:defRPr/>
              </a:pPr>
              <a:t>54</a:t>
            </a:fld>
            <a:endParaRPr lang="en-US"/>
          </a:p>
        </p:txBody>
      </p:sp>
      <p:sp>
        <p:nvSpPr>
          <p:cNvPr id="4" name="Footer Placeholder 3">
            <a:extLst>
              <a:ext uri="{FF2B5EF4-FFF2-40B4-BE49-F238E27FC236}">
                <a16:creationId xmlns:a16="http://schemas.microsoft.com/office/drawing/2014/main" id="{A7A9C2C7-F76D-4703-130C-1282553766D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03E8CEB5-B768-9FF8-2409-48CA63A19EDE}"/>
              </a:ext>
            </a:extLst>
          </p:cNvPr>
          <p:cNvPicPr>
            <a:picLocks noChangeAspect="1"/>
          </p:cNvPicPr>
          <p:nvPr/>
        </p:nvPicPr>
        <p:blipFill>
          <a:blip r:embed="rId2"/>
          <a:stretch>
            <a:fillRect/>
          </a:stretch>
        </p:blipFill>
        <p:spPr>
          <a:xfrm>
            <a:off x="0" y="58670"/>
            <a:ext cx="12192000" cy="6740660"/>
          </a:xfrm>
          <a:prstGeom prst="rect">
            <a:avLst/>
          </a:prstGeom>
        </p:spPr>
      </p:pic>
    </p:spTree>
    <p:extLst>
      <p:ext uri="{BB962C8B-B14F-4D97-AF65-F5344CB8AC3E}">
        <p14:creationId xmlns:p14="http://schemas.microsoft.com/office/powerpoint/2010/main" val="33374936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5973A1-CE68-5C4B-9CB6-59753E5C3063}"/>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6E3C4F7A-6BC1-B019-829D-265B85DC61EC}"/>
              </a:ext>
            </a:extLst>
          </p:cNvPr>
          <p:cNvSpPr>
            <a:spLocks noGrp="1"/>
          </p:cNvSpPr>
          <p:nvPr>
            <p:ph type="sldNum" sz="quarter" idx="11"/>
          </p:nvPr>
        </p:nvSpPr>
        <p:spPr/>
        <p:txBody>
          <a:bodyPr/>
          <a:lstStyle/>
          <a:p>
            <a:pPr>
              <a:defRPr/>
            </a:pPr>
            <a:fld id="{D1AD3536-327C-4937-83AF-A64971CFA6D9}" type="slidenum">
              <a:rPr lang="en-US" smtClean="0"/>
              <a:pPr>
                <a:defRPr/>
              </a:pPr>
              <a:t>55</a:t>
            </a:fld>
            <a:endParaRPr lang="en-US"/>
          </a:p>
        </p:txBody>
      </p:sp>
      <p:sp>
        <p:nvSpPr>
          <p:cNvPr id="4" name="Footer Placeholder 3">
            <a:extLst>
              <a:ext uri="{FF2B5EF4-FFF2-40B4-BE49-F238E27FC236}">
                <a16:creationId xmlns:a16="http://schemas.microsoft.com/office/drawing/2014/main" id="{B30FBE78-B0D7-2106-296B-E8A36B969A6B}"/>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543A30A-AFD6-A12E-93B6-03D8F6EFE8E6}"/>
              </a:ext>
            </a:extLst>
          </p:cNvPr>
          <p:cNvPicPr>
            <a:picLocks noChangeAspect="1"/>
          </p:cNvPicPr>
          <p:nvPr/>
        </p:nvPicPr>
        <p:blipFill>
          <a:blip r:embed="rId2"/>
          <a:stretch>
            <a:fillRect/>
          </a:stretch>
        </p:blipFill>
        <p:spPr>
          <a:xfrm>
            <a:off x="0" y="337806"/>
            <a:ext cx="12192000" cy="6182388"/>
          </a:xfrm>
          <a:prstGeom prst="rect">
            <a:avLst/>
          </a:prstGeom>
        </p:spPr>
      </p:pic>
    </p:spTree>
    <p:extLst>
      <p:ext uri="{BB962C8B-B14F-4D97-AF65-F5344CB8AC3E}">
        <p14:creationId xmlns:p14="http://schemas.microsoft.com/office/powerpoint/2010/main" val="85701275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D85D3D-0235-B7C2-30D7-282C40AE5059}"/>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0526250D-AE2A-868E-19C0-69349E217B55}"/>
              </a:ext>
            </a:extLst>
          </p:cNvPr>
          <p:cNvSpPr>
            <a:spLocks noGrp="1"/>
          </p:cNvSpPr>
          <p:nvPr>
            <p:ph type="sldNum" sz="quarter" idx="11"/>
          </p:nvPr>
        </p:nvSpPr>
        <p:spPr/>
        <p:txBody>
          <a:bodyPr/>
          <a:lstStyle/>
          <a:p>
            <a:pPr>
              <a:defRPr/>
            </a:pPr>
            <a:fld id="{D1AD3536-327C-4937-83AF-A64971CFA6D9}" type="slidenum">
              <a:rPr lang="en-US" smtClean="0"/>
              <a:pPr>
                <a:defRPr/>
              </a:pPr>
              <a:t>56</a:t>
            </a:fld>
            <a:endParaRPr lang="en-US"/>
          </a:p>
        </p:txBody>
      </p:sp>
      <p:sp>
        <p:nvSpPr>
          <p:cNvPr id="4" name="Footer Placeholder 3">
            <a:extLst>
              <a:ext uri="{FF2B5EF4-FFF2-40B4-BE49-F238E27FC236}">
                <a16:creationId xmlns:a16="http://schemas.microsoft.com/office/drawing/2014/main" id="{CF469AEF-1D72-55A0-7B61-24D03C94B26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AD05ADE3-7882-1161-D8A3-5F8C13C7DFAF}"/>
              </a:ext>
            </a:extLst>
          </p:cNvPr>
          <p:cNvPicPr>
            <a:picLocks noChangeAspect="1"/>
          </p:cNvPicPr>
          <p:nvPr/>
        </p:nvPicPr>
        <p:blipFill>
          <a:blip r:embed="rId2"/>
          <a:stretch>
            <a:fillRect/>
          </a:stretch>
        </p:blipFill>
        <p:spPr>
          <a:xfrm>
            <a:off x="0" y="360136"/>
            <a:ext cx="12192000" cy="6137727"/>
          </a:xfrm>
          <a:prstGeom prst="rect">
            <a:avLst/>
          </a:prstGeom>
        </p:spPr>
      </p:pic>
    </p:spTree>
    <p:extLst>
      <p:ext uri="{BB962C8B-B14F-4D97-AF65-F5344CB8AC3E}">
        <p14:creationId xmlns:p14="http://schemas.microsoft.com/office/powerpoint/2010/main" val="36627423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2AF39A6-E390-A185-CDE3-906E5E11C438}"/>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1B42016-F644-7853-B728-888855BF5892}"/>
              </a:ext>
            </a:extLst>
          </p:cNvPr>
          <p:cNvSpPr>
            <a:spLocks noGrp="1"/>
          </p:cNvSpPr>
          <p:nvPr>
            <p:ph type="sldNum" sz="quarter" idx="11"/>
          </p:nvPr>
        </p:nvSpPr>
        <p:spPr/>
        <p:txBody>
          <a:bodyPr/>
          <a:lstStyle/>
          <a:p>
            <a:pPr>
              <a:defRPr/>
            </a:pPr>
            <a:fld id="{D1AD3536-327C-4937-83AF-A64971CFA6D9}" type="slidenum">
              <a:rPr lang="en-US" smtClean="0"/>
              <a:pPr>
                <a:defRPr/>
              </a:pPr>
              <a:t>57</a:t>
            </a:fld>
            <a:endParaRPr lang="en-US"/>
          </a:p>
        </p:txBody>
      </p:sp>
      <p:sp>
        <p:nvSpPr>
          <p:cNvPr id="4" name="Footer Placeholder 3">
            <a:extLst>
              <a:ext uri="{FF2B5EF4-FFF2-40B4-BE49-F238E27FC236}">
                <a16:creationId xmlns:a16="http://schemas.microsoft.com/office/drawing/2014/main" id="{F1AD6F7A-46E6-4FDB-8163-0A6D571AA3A1}"/>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F6AAD515-17B3-F8A1-5698-A84A3580277D}"/>
              </a:ext>
            </a:extLst>
          </p:cNvPr>
          <p:cNvPicPr>
            <a:picLocks noChangeAspect="1"/>
          </p:cNvPicPr>
          <p:nvPr/>
        </p:nvPicPr>
        <p:blipFill>
          <a:blip r:embed="rId2"/>
          <a:stretch>
            <a:fillRect/>
          </a:stretch>
        </p:blipFill>
        <p:spPr>
          <a:xfrm>
            <a:off x="128587" y="1976437"/>
            <a:ext cx="11934825" cy="2905125"/>
          </a:xfrm>
          <a:prstGeom prst="rect">
            <a:avLst/>
          </a:prstGeom>
        </p:spPr>
      </p:pic>
    </p:spTree>
    <p:extLst>
      <p:ext uri="{BB962C8B-B14F-4D97-AF65-F5344CB8AC3E}">
        <p14:creationId xmlns:p14="http://schemas.microsoft.com/office/powerpoint/2010/main" val="39762892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73E98-299B-C233-811E-7C005A2E451C}"/>
              </a:ext>
            </a:extLst>
          </p:cNvPr>
          <p:cNvSpPr>
            <a:spLocks noGrp="1"/>
          </p:cNvSpPr>
          <p:nvPr>
            <p:ph type="title"/>
          </p:nvPr>
        </p:nvSpPr>
        <p:spPr/>
        <p:txBody>
          <a:bodyPr/>
          <a:lstStyle/>
          <a:p>
            <a:r>
              <a:rPr lang="en-US" dirty="0"/>
              <a:t>6-8 Denormalization</a:t>
            </a:r>
          </a:p>
        </p:txBody>
      </p:sp>
      <p:sp>
        <p:nvSpPr>
          <p:cNvPr id="3" name="Date Placeholder 2">
            <a:extLst>
              <a:ext uri="{FF2B5EF4-FFF2-40B4-BE49-F238E27FC236}">
                <a16:creationId xmlns:a16="http://schemas.microsoft.com/office/drawing/2014/main" id="{FC5FEF2C-25AE-0258-2707-25551A1D7FF8}"/>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28EEF13E-9D46-FF1B-EBBE-FFB714D4EA43}"/>
              </a:ext>
            </a:extLst>
          </p:cNvPr>
          <p:cNvSpPr>
            <a:spLocks noGrp="1"/>
          </p:cNvSpPr>
          <p:nvPr>
            <p:ph type="sldNum" sz="quarter" idx="11"/>
          </p:nvPr>
        </p:nvSpPr>
        <p:spPr/>
        <p:txBody>
          <a:bodyPr/>
          <a:lstStyle/>
          <a:p>
            <a:pPr>
              <a:defRPr/>
            </a:pPr>
            <a:fld id="{F9126DDB-45DE-4D72-94FB-1E2D565E80AF}" type="slidenum">
              <a:rPr lang="en-US" smtClean="0"/>
              <a:pPr>
                <a:defRPr/>
              </a:pPr>
              <a:t>58</a:t>
            </a:fld>
            <a:endParaRPr lang="en-US"/>
          </a:p>
        </p:txBody>
      </p:sp>
      <p:sp>
        <p:nvSpPr>
          <p:cNvPr id="5" name="Footer Placeholder 4">
            <a:extLst>
              <a:ext uri="{FF2B5EF4-FFF2-40B4-BE49-F238E27FC236}">
                <a16:creationId xmlns:a16="http://schemas.microsoft.com/office/drawing/2014/main" id="{739A5E9B-CE8B-8AEE-72DC-0EE4FF57E6D3}"/>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261395643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D57DF4C-E087-B738-581D-66BF632C4EC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1C883BDC-2306-D324-F289-4C5F8446DE36}"/>
              </a:ext>
            </a:extLst>
          </p:cNvPr>
          <p:cNvSpPr>
            <a:spLocks noGrp="1"/>
          </p:cNvSpPr>
          <p:nvPr>
            <p:ph type="sldNum" sz="quarter" idx="11"/>
          </p:nvPr>
        </p:nvSpPr>
        <p:spPr/>
        <p:txBody>
          <a:bodyPr/>
          <a:lstStyle/>
          <a:p>
            <a:pPr>
              <a:defRPr/>
            </a:pPr>
            <a:fld id="{D1AD3536-327C-4937-83AF-A64971CFA6D9}" type="slidenum">
              <a:rPr lang="en-US" smtClean="0"/>
              <a:pPr>
                <a:defRPr/>
              </a:pPr>
              <a:t>59</a:t>
            </a:fld>
            <a:endParaRPr lang="en-US"/>
          </a:p>
        </p:txBody>
      </p:sp>
      <p:sp>
        <p:nvSpPr>
          <p:cNvPr id="4" name="Footer Placeholder 3">
            <a:extLst>
              <a:ext uri="{FF2B5EF4-FFF2-40B4-BE49-F238E27FC236}">
                <a16:creationId xmlns:a16="http://schemas.microsoft.com/office/drawing/2014/main" id="{C9364D7A-B18C-2C54-9051-9194D9B91483}"/>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63DA5925-5F2F-FE34-7F3E-84EF8792DB7E}"/>
              </a:ext>
            </a:extLst>
          </p:cNvPr>
          <p:cNvPicPr>
            <a:picLocks noChangeAspect="1"/>
          </p:cNvPicPr>
          <p:nvPr/>
        </p:nvPicPr>
        <p:blipFill>
          <a:blip r:embed="rId2"/>
          <a:stretch>
            <a:fillRect/>
          </a:stretch>
        </p:blipFill>
        <p:spPr>
          <a:xfrm>
            <a:off x="0" y="799279"/>
            <a:ext cx="12192000" cy="5259441"/>
          </a:xfrm>
          <a:prstGeom prst="rect">
            <a:avLst/>
          </a:prstGeom>
        </p:spPr>
      </p:pic>
    </p:spTree>
    <p:extLst>
      <p:ext uri="{BB962C8B-B14F-4D97-AF65-F5344CB8AC3E}">
        <p14:creationId xmlns:p14="http://schemas.microsoft.com/office/powerpoint/2010/main" val="374113657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DEAA1-1331-A432-56B6-F3CBA546F23B}"/>
              </a:ext>
            </a:extLst>
          </p:cNvPr>
          <p:cNvSpPr>
            <a:spLocks noGrp="1"/>
          </p:cNvSpPr>
          <p:nvPr>
            <p:ph type="title"/>
          </p:nvPr>
        </p:nvSpPr>
        <p:spPr/>
        <p:txBody>
          <a:bodyPr/>
          <a:lstStyle/>
          <a:p>
            <a:r>
              <a:rPr lang="en-US" dirty="0"/>
              <a:t>6-9 Data-Modeling Checklist</a:t>
            </a:r>
          </a:p>
        </p:txBody>
      </p:sp>
      <p:sp>
        <p:nvSpPr>
          <p:cNvPr id="3" name="Date Placeholder 2">
            <a:extLst>
              <a:ext uri="{FF2B5EF4-FFF2-40B4-BE49-F238E27FC236}">
                <a16:creationId xmlns:a16="http://schemas.microsoft.com/office/drawing/2014/main" id="{CBC430C5-2590-2806-9F5D-1AD557CBB3B7}"/>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DB424517-9AFD-5784-5907-9CCA0FE5936E}"/>
              </a:ext>
            </a:extLst>
          </p:cNvPr>
          <p:cNvSpPr>
            <a:spLocks noGrp="1"/>
          </p:cNvSpPr>
          <p:nvPr>
            <p:ph type="sldNum" sz="quarter" idx="11"/>
          </p:nvPr>
        </p:nvSpPr>
        <p:spPr/>
        <p:txBody>
          <a:bodyPr/>
          <a:lstStyle/>
          <a:p>
            <a:pPr>
              <a:defRPr/>
            </a:pPr>
            <a:fld id="{F9126DDB-45DE-4D72-94FB-1E2D565E80AF}" type="slidenum">
              <a:rPr lang="en-US" smtClean="0"/>
              <a:pPr>
                <a:defRPr/>
              </a:pPr>
              <a:t>60</a:t>
            </a:fld>
            <a:endParaRPr lang="en-US"/>
          </a:p>
        </p:txBody>
      </p:sp>
      <p:sp>
        <p:nvSpPr>
          <p:cNvPr id="5" name="Footer Placeholder 4">
            <a:extLst>
              <a:ext uri="{FF2B5EF4-FFF2-40B4-BE49-F238E27FC236}">
                <a16:creationId xmlns:a16="http://schemas.microsoft.com/office/drawing/2014/main" id="{57A6762D-E802-3E1C-DE0E-755EFCC7E265}"/>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280049892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C390901-23D6-CCC1-7075-21B4C4E829BE}"/>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B4E9A5D4-8A68-F9E7-2D99-7E3398B686C8}"/>
              </a:ext>
            </a:extLst>
          </p:cNvPr>
          <p:cNvSpPr>
            <a:spLocks noGrp="1"/>
          </p:cNvSpPr>
          <p:nvPr>
            <p:ph type="sldNum" sz="quarter" idx="11"/>
          </p:nvPr>
        </p:nvSpPr>
        <p:spPr/>
        <p:txBody>
          <a:bodyPr/>
          <a:lstStyle/>
          <a:p>
            <a:pPr>
              <a:defRPr/>
            </a:pPr>
            <a:fld id="{D1AD3536-327C-4937-83AF-A64971CFA6D9}" type="slidenum">
              <a:rPr lang="en-US" smtClean="0"/>
              <a:pPr>
                <a:defRPr/>
              </a:pPr>
              <a:t>61</a:t>
            </a:fld>
            <a:endParaRPr lang="en-US"/>
          </a:p>
        </p:txBody>
      </p:sp>
      <p:sp>
        <p:nvSpPr>
          <p:cNvPr id="4" name="Footer Placeholder 3">
            <a:extLst>
              <a:ext uri="{FF2B5EF4-FFF2-40B4-BE49-F238E27FC236}">
                <a16:creationId xmlns:a16="http://schemas.microsoft.com/office/drawing/2014/main" id="{454A9C60-4242-4EAD-105B-5832A06A6729}"/>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7971A328-D938-3696-C565-415A63C5681F}"/>
              </a:ext>
            </a:extLst>
          </p:cNvPr>
          <p:cNvPicPr>
            <a:picLocks noChangeAspect="1"/>
          </p:cNvPicPr>
          <p:nvPr/>
        </p:nvPicPr>
        <p:blipFill>
          <a:blip r:embed="rId2"/>
          <a:stretch>
            <a:fillRect/>
          </a:stretch>
        </p:blipFill>
        <p:spPr>
          <a:xfrm>
            <a:off x="567891" y="0"/>
            <a:ext cx="11056217" cy="6858000"/>
          </a:xfrm>
          <a:prstGeom prst="rect">
            <a:avLst/>
          </a:prstGeom>
        </p:spPr>
      </p:pic>
    </p:spTree>
    <p:extLst>
      <p:ext uri="{BB962C8B-B14F-4D97-AF65-F5344CB8AC3E}">
        <p14:creationId xmlns:p14="http://schemas.microsoft.com/office/powerpoint/2010/main" val="18973997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6A3748-2CDB-4119-93F2-BAB11A91AA4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D755D2DF-5E03-E7FE-EE62-14CA9786BEF3}"/>
              </a:ext>
            </a:extLst>
          </p:cNvPr>
          <p:cNvSpPr>
            <a:spLocks noGrp="1"/>
          </p:cNvSpPr>
          <p:nvPr>
            <p:ph type="sldNum" sz="quarter" idx="11"/>
          </p:nvPr>
        </p:nvSpPr>
        <p:spPr/>
        <p:txBody>
          <a:bodyPr/>
          <a:lstStyle/>
          <a:p>
            <a:pPr>
              <a:defRPr/>
            </a:pPr>
            <a:fld id="{D1AD3536-327C-4937-83AF-A64971CFA6D9}" type="slidenum">
              <a:rPr lang="en-US" smtClean="0"/>
              <a:pPr>
                <a:defRPr/>
              </a:pPr>
              <a:t>62</a:t>
            </a:fld>
            <a:endParaRPr lang="en-US"/>
          </a:p>
        </p:txBody>
      </p:sp>
      <p:sp>
        <p:nvSpPr>
          <p:cNvPr id="4" name="Footer Placeholder 3">
            <a:extLst>
              <a:ext uri="{FF2B5EF4-FFF2-40B4-BE49-F238E27FC236}">
                <a16:creationId xmlns:a16="http://schemas.microsoft.com/office/drawing/2014/main" id="{05502678-DA2A-4215-13EC-798D479077CF}"/>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20016F6D-C826-6902-6AD0-4C416B12E6CB}"/>
              </a:ext>
            </a:extLst>
          </p:cNvPr>
          <p:cNvPicPr>
            <a:picLocks noChangeAspect="1"/>
          </p:cNvPicPr>
          <p:nvPr/>
        </p:nvPicPr>
        <p:blipFill>
          <a:blip r:embed="rId2"/>
          <a:stretch>
            <a:fillRect/>
          </a:stretch>
        </p:blipFill>
        <p:spPr>
          <a:xfrm>
            <a:off x="0" y="153254"/>
            <a:ext cx="12192000" cy="6551492"/>
          </a:xfrm>
          <a:prstGeom prst="rect">
            <a:avLst/>
          </a:prstGeom>
        </p:spPr>
      </p:pic>
    </p:spTree>
    <p:extLst>
      <p:ext uri="{BB962C8B-B14F-4D97-AF65-F5344CB8AC3E}">
        <p14:creationId xmlns:p14="http://schemas.microsoft.com/office/powerpoint/2010/main" val="38944845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316E9-F2D3-5965-2C6D-D8A572DF7E1F}"/>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0E02ADA-6BB6-6190-4974-2D5A9F963A0D}"/>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22B7EA4-2B9A-5D7C-28B6-06717A7015E5}"/>
              </a:ext>
            </a:extLst>
          </p:cNvPr>
          <p:cNvSpPr>
            <a:spLocks noGrp="1"/>
          </p:cNvSpPr>
          <p:nvPr>
            <p:ph type="sldNum" sz="quarter" idx="11"/>
          </p:nvPr>
        </p:nvSpPr>
        <p:spPr/>
        <p:txBody>
          <a:bodyPr/>
          <a:lstStyle/>
          <a:p>
            <a:pPr>
              <a:defRPr/>
            </a:pPr>
            <a:fld id="{D1AD3536-327C-4937-83AF-A64971CFA6D9}" type="slidenum">
              <a:rPr lang="en-US" smtClean="0"/>
              <a:pPr>
                <a:defRPr/>
              </a:pPr>
              <a:t>63</a:t>
            </a:fld>
            <a:endParaRPr lang="en-US"/>
          </a:p>
        </p:txBody>
      </p:sp>
      <p:sp>
        <p:nvSpPr>
          <p:cNvPr id="4" name="Footer Placeholder 3">
            <a:extLst>
              <a:ext uri="{FF2B5EF4-FFF2-40B4-BE49-F238E27FC236}">
                <a16:creationId xmlns:a16="http://schemas.microsoft.com/office/drawing/2014/main" id="{2816DA04-369D-2110-4FF9-852056543759}"/>
              </a:ext>
            </a:extLst>
          </p:cNvPr>
          <p:cNvSpPr>
            <a:spLocks noGrp="1"/>
          </p:cNvSpPr>
          <p:nvPr>
            <p:ph type="ftr" sz="quarter" idx="12"/>
          </p:nvPr>
        </p:nvSpPr>
        <p:spPr/>
        <p:txBody>
          <a:bodyPr/>
          <a:lstStyle/>
          <a:p>
            <a:pPr>
              <a:defRPr/>
            </a:pPr>
            <a:r>
              <a:rPr lang="en-US"/>
              <a:t>Database System Design, Implementation And Management </a:t>
            </a:r>
          </a:p>
        </p:txBody>
      </p:sp>
      <p:pic>
        <p:nvPicPr>
          <p:cNvPr id="8" name="Picture 7">
            <a:extLst>
              <a:ext uri="{FF2B5EF4-FFF2-40B4-BE49-F238E27FC236}">
                <a16:creationId xmlns:a16="http://schemas.microsoft.com/office/drawing/2014/main" id="{73D2B7AE-CF34-E5BE-558D-6F41B690388C}"/>
              </a:ext>
            </a:extLst>
          </p:cNvPr>
          <p:cNvPicPr>
            <a:picLocks noChangeAspect="1"/>
          </p:cNvPicPr>
          <p:nvPr/>
        </p:nvPicPr>
        <p:blipFill>
          <a:blip r:embed="rId2"/>
          <a:stretch>
            <a:fillRect/>
          </a:stretch>
        </p:blipFill>
        <p:spPr>
          <a:xfrm>
            <a:off x="2014537" y="338137"/>
            <a:ext cx="8162925" cy="6181725"/>
          </a:xfrm>
          <a:prstGeom prst="rect">
            <a:avLst/>
          </a:prstGeom>
        </p:spPr>
      </p:pic>
    </p:spTree>
    <p:extLst>
      <p:ext uri="{BB962C8B-B14F-4D97-AF65-F5344CB8AC3E}">
        <p14:creationId xmlns:p14="http://schemas.microsoft.com/office/powerpoint/2010/main" val="175194131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1FC205-7D48-7094-4CD4-F6E06C0339E9}"/>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CE0A6241-1A9F-F0CF-F136-54508A045D03}"/>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8144DCA-C7D5-558F-D506-3369921F241E}"/>
              </a:ext>
            </a:extLst>
          </p:cNvPr>
          <p:cNvSpPr>
            <a:spLocks noGrp="1"/>
          </p:cNvSpPr>
          <p:nvPr>
            <p:ph type="sldNum" sz="quarter" idx="11"/>
          </p:nvPr>
        </p:nvSpPr>
        <p:spPr/>
        <p:txBody>
          <a:bodyPr/>
          <a:lstStyle/>
          <a:p>
            <a:pPr>
              <a:defRPr/>
            </a:pPr>
            <a:fld id="{D1AD3536-327C-4937-83AF-A64971CFA6D9}" type="slidenum">
              <a:rPr lang="en-US" smtClean="0"/>
              <a:pPr>
                <a:defRPr/>
              </a:pPr>
              <a:t>64</a:t>
            </a:fld>
            <a:endParaRPr lang="en-US"/>
          </a:p>
        </p:txBody>
      </p:sp>
      <p:sp>
        <p:nvSpPr>
          <p:cNvPr id="4" name="Footer Placeholder 3">
            <a:extLst>
              <a:ext uri="{FF2B5EF4-FFF2-40B4-BE49-F238E27FC236}">
                <a16:creationId xmlns:a16="http://schemas.microsoft.com/office/drawing/2014/main" id="{9A477715-DB6B-08AA-B319-AE2D3E4A30F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E8C3AA6E-6FFF-A44B-09F7-3F74505D5079}"/>
              </a:ext>
            </a:extLst>
          </p:cNvPr>
          <p:cNvPicPr>
            <a:picLocks noChangeAspect="1"/>
          </p:cNvPicPr>
          <p:nvPr/>
        </p:nvPicPr>
        <p:blipFill>
          <a:blip r:embed="rId2"/>
          <a:stretch>
            <a:fillRect/>
          </a:stretch>
        </p:blipFill>
        <p:spPr>
          <a:xfrm>
            <a:off x="1938337" y="809625"/>
            <a:ext cx="8315325" cy="5238750"/>
          </a:xfrm>
          <a:prstGeom prst="rect">
            <a:avLst/>
          </a:prstGeom>
        </p:spPr>
      </p:pic>
    </p:spTree>
    <p:extLst>
      <p:ext uri="{BB962C8B-B14F-4D97-AF65-F5344CB8AC3E}">
        <p14:creationId xmlns:p14="http://schemas.microsoft.com/office/powerpoint/2010/main" val="217835808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EC0B0-847E-BCEC-7B36-2458C2BCBDFE}"/>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FB2AEA56-2DD5-B844-16AD-14E5847FD23B}"/>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B11EDC7-EB39-FE2A-B45F-A6F583E5486F}"/>
              </a:ext>
            </a:extLst>
          </p:cNvPr>
          <p:cNvSpPr>
            <a:spLocks noGrp="1"/>
          </p:cNvSpPr>
          <p:nvPr>
            <p:ph type="sldNum" sz="quarter" idx="11"/>
          </p:nvPr>
        </p:nvSpPr>
        <p:spPr/>
        <p:txBody>
          <a:bodyPr/>
          <a:lstStyle/>
          <a:p>
            <a:pPr>
              <a:defRPr/>
            </a:pPr>
            <a:fld id="{D1AD3536-327C-4937-83AF-A64971CFA6D9}" type="slidenum">
              <a:rPr lang="en-US" smtClean="0"/>
              <a:pPr>
                <a:defRPr/>
              </a:pPr>
              <a:t>65</a:t>
            </a:fld>
            <a:endParaRPr lang="en-US"/>
          </a:p>
        </p:txBody>
      </p:sp>
      <p:sp>
        <p:nvSpPr>
          <p:cNvPr id="4" name="Footer Placeholder 3">
            <a:extLst>
              <a:ext uri="{FF2B5EF4-FFF2-40B4-BE49-F238E27FC236}">
                <a16:creationId xmlns:a16="http://schemas.microsoft.com/office/drawing/2014/main" id="{0545693B-E267-B54D-787A-DB99FEB32396}"/>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B171FB6-44F9-3C89-26AF-F655C482B043}"/>
              </a:ext>
            </a:extLst>
          </p:cNvPr>
          <p:cNvPicPr>
            <a:picLocks noChangeAspect="1"/>
          </p:cNvPicPr>
          <p:nvPr/>
        </p:nvPicPr>
        <p:blipFill>
          <a:blip r:embed="rId2"/>
          <a:stretch>
            <a:fillRect/>
          </a:stretch>
        </p:blipFill>
        <p:spPr>
          <a:xfrm>
            <a:off x="2028825" y="719137"/>
            <a:ext cx="8134350" cy="5419725"/>
          </a:xfrm>
          <a:prstGeom prst="rect">
            <a:avLst/>
          </a:prstGeom>
        </p:spPr>
      </p:pic>
    </p:spTree>
    <p:extLst>
      <p:ext uri="{BB962C8B-B14F-4D97-AF65-F5344CB8AC3E}">
        <p14:creationId xmlns:p14="http://schemas.microsoft.com/office/powerpoint/2010/main" val="24370667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A9424C-E287-459F-2011-705B1409EDD4}"/>
              </a:ext>
            </a:extLst>
          </p:cNvPr>
          <p:cNvSpPr>
            <a:spLocks noGrp="1"/>
          </p:cNvSpPr>
          <p:nvPr>
            <p:ph type="title"/>
          </p:nvPr>
        </p:nvSpPr>
        <p:spPr/>
        <p:txBody>
          <a:bodyPr/>
          <a:lstStyle/>
          <a:p>
            <a:r>
              <a:rPr lang="en-US" dirty="0"/>
              <a:t>Problems</a:t>
            </a:r>
          </a:p>
        </p:txBody>
      </p:sp>
      <p:sp>
        <p:nvSpPr>
          <p:cNvPr id="3" name="Date Placeholder 2">
            <a:extLst>
              <a:ext uri="{FF2B5EF4-FFF2-40B4-BE49-F238E27FC236}">
                <a16:creationId xmlns:a16="http://schemas.microsoft.com/office/drawing/2014/main" id="{DF4E202B-61EA-58B0-C03D-DE4CE5E47968}"/>
              </a:ext>
            </a:extLst>
          </p:cNvPr>
          <p:cNvSpPr>
            <a:spLocks noGrp="1"/>
          </p:cNvSpPr>
          <p:nvPr>
            <p:ph type="dt" sz="half" idx="10"/>
          </p:nvPr>
        </p:nvSpPr>
        <p:spPr/>
        <p:txBody>
          <a:bodyPr/>
          <a:lstStyle/>
          <a:p>
            <a:pPr>
              <a:defRPr/>
            </a:pPr>
            <a:fld id="{7F53EECD-5EF2-4F97-996E-6CBAC1BF3011}" type="datetime1">
              <a:rPr lang="en-US" smtClean="0"/>
              <a:pPr>
                <a:defRPr/>
              </a:pPr>
              <a:t>12/19/2024</a:t>
            </a:fld>
            <a:endParaRPr lang="en-US"/>
          </a:p>
        </p:txBody>
      </p:sp>
      <p:sp>
        <p:nvSpPr>
          <p:cNvPr id="4" name="Slide Number Placeholder 3">
            <a:extLst>
              <a:ext uri="{FF2B5EF4-FFF2-40B4-BE49-F238E27FC236}">
                <a16:creationId xmlns:a16="http://schemas.microsoft.com/office/drawing/2014/main" id="{68D4001D-D8DC-DC91-17DB-1806562EAD3C}"/>
              </a:ext>
            </a:extLst>
          </p:cNvPr>
          <p:cNvSpPr>
            <a:spLocks noGrp="1"/>
          </p:cNvSpPr>
          <p:nvPr>
            <p:ph type="sldNum" sz="quarter" idx="11"/>
          </p:nvPr>
        </p:nvSpPr>
        <p:spPr/>
        <p:txBody>
          <a:bodyPr/>
          <a:lstStyle/>
          <a:p>
            <a:pPr>
              <a:defRPr/>
            </a:pPr>
            <a:fld id="{F9126DDB-45DE-4D72-94FB-1E2D565E80AF}" type="slidenum">
              <a:rPr lang="en-US" smtClean="0"/>
              <a:pPr>
                <a:defRPr/>
              </a:pPr>
              <a:t>66</a:t>
            </a:fld>
            <a:endParaRPr lang="en-US"/>
          </a:p>
        </p:txBody>
      </p:sp>
      <p:sp>
        <p:nvSpPr>
          <p:cNvPr id="5" name="Footer Placeholder 4">
            <a:extLst>
              <a:ext uri="{FF2B5EF4-FFF2-40B4-BE49-F238E27FC236}">
                <a16:creationId xmlns:a16="http://schemas.microsoft.com/office/drawing/2014/main" id="{60A6E1AE-97A7-C64E-733D-524C6DE43F96}"/>
              </a:ext>
            </a:extLst>
          </p:cNvPr>
          <p:cNvSpPr>
            <a:spLocks noGrp="1"/>
          </p:cNvSpPr>
          <p:nvPr>
            <p:ph type="ftr" sz="quarter" idx="12"/>
          </p:nvPr>
        </p:nvSpPr>
        <p:spPr/>
        <p:txBody>
          <a:bodyPr/>
          <a:lstStyle/>
          <a:p>
            <a:pPr>
              <a:defRPr/>
            </a:pPr>
            <a:r>
              <a:rPr lang="en-US"/>
              <a:t>Database System Design, Implementation And Management </a:t>
            </a:r>
          </a:p>
        </p:txBody>
      </p:sp>
    </p:spTree>
    <p:extLst>
      <p:ext uri="{BB962C8B-B14F-4D97-AF65-F5344CB8AC3E}">
        <p14:creationId xmlns:p14="http://schemas.microsoft.com/office/powerpoint/2010/main" val="6588393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EE6549-7789-B40F-6D24-76E0AA281B41}"/>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79F88914-E654-21C8-B3F8-37B342677E52}"/>
              </a:ext>
            </a:extLst>
          </p:cNvPr>
          <p:cNvSpPr>
            <a:spLocks noGrp="1"/>
          </p:cNvSpPr>
          <p:nvPr>
            <p:ph type="sldNum" sz="quarter" idx="11"/>
          </p:nvPr>
        </p:nvSpPr>
        <p:spPr/>
        <p:txBody>
          <a:bodyPr/>
          <a:lstStyle/>
          <a:p>
            <a:pPr>
              <a:defRPr/>
            </a:pPr>
            <a:fld id="{D1AD3536-327C-4937-83AF-A64971CFA6D9}" type="slidenum">
              <a:rPr lang="en-US" smtClean="0"/>
              <a:pPr>
                <a:defRPr/>
              </a:pPr>
              <a:t>67</a:t>
            </a:fld>
            <a:endParaRPr lang="en-US"/>
          </a:p>
        </p:txBody>
      </p:sp>
      <p:sp>
        <p:nvSpPr>
          <p:cNvPr id="4" name="Footer Placeholder 3">
            <a:extLst>
              <a:ext uri="{FF2B5EF4-FFF2-40B4-BE49-F238E27FC236}">
                <a16:creationId xmlns:a16="http://schemas.microsoft.com/office/drawing/2014/main" id="{0FF617C8-ADCC-48FC-CEA5-B395F37C139B}"/>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C2A1FE65-7D97-A031-5975-BE8EC0B45E83}"/>
              </a:ext>
            </a:extLst>
          </p:cNvPr>
          <p:cNvPicPr>
            <a:picLocks noChangeAspect="1"/>
          </p:cNvPicPr>
          <p:nvPr/>
        </p:nvPicPr>
        <p:blipFill>
          <a:blip r:embed="rId2"/>
          <a:stretch>
            <a:fillRect/>
          </a:stretch>
        </p:blipFill>
        <p:spPr>
          <a:xfrm>
            <a:off x="1028700" y="257175"/>
            <a:ext cx="10134600" cy="6343650"/>
          </a:xfrm>
          <a:prstGeom prst="rect">
            <a:avLst/>
          </a:prstGeom>
        </p:spPr>
      </p:pic>
    </p:spTree>
    <p:extLst>
      <p:ext uri="{BB962C8B-B14F-4D97-AF65-F5344CB8AC3E}">
        <p14:creationId xmlns:p14="http://schemas.microsoft.com/office/powerpoint/2010/main" val="42872432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050994-7618-B65F-3F6A-2756D5D9B75C}"/>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8803FDBD-2951-766A-B291-79D887553816}"/>
              </a:ext>
            </a:extLst>
          </p:cNvPr>
          <p:cNvSpPr>
            <a:spLocks noGrp="1"/>
          </p:cNvSpPr>
          <p:nvPr>
            <p:ph type="sldNum" sz="quarter" idx="11"/>
          </p:nvPr>
        </p:nvSpPr>
        <p:spPr/>
        <p:txBody>
          <a:bodyPr/>
          <a:lstStyle/>
          <a:p>
            <a:pPr>
              <a:defRPr/>
            </a:pPr>
            <a:fld id="{D1AD3536-327C-4937-83AF-A64971CFA6D9}" type="slidenum">
              <a:rPr lang="en-US" smtClean="0"/>
              <a:pPr>
                <a:defRPr/>
              </a:pPr>
              <a:t>68</a:t>
            </a:fld>
            <a:endParaRPr lang="en-US"/>
          </a:p>
        </p:txBody>
      </p:sp>
      <p:sp>
        <p:nvSpPr>
          <p:cNvPr id="4" name="Footer Placeholder 3">
            <a:extLst>
              <a:ext uri="{FF2B5EF4-FFF2-40B4-BE49-F238E27FC236}">
                <a16:creationId xmlns:a16="http://schemas.microsoft.com/office/drawing/2014/main" id="{36A74F76-1FF9-8777-75A9-B70C7E7B6CFD}"/>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BB682C83-9300-7714-7DA1-896180E0B7EC}"/>
              </a:ext>
            </a:extLst>
          </p:cNvPr>
          <p:cNvPicPr>
            <a:picLocks noChangeAspect="1"/>
          </p:cNvPicPr>
          <p:nvPr/>
        </p:nvPicPr>
        <p:blipFill>
          <a:blip r:embed="rId2"/>
          <a:stretch>
            <a:fillRect/>
          </a:stretch>
        </p:blipFill>
        <p:spPr>
          <a:xfrm>
            <a:off x="914400" y="681037"/>
            <a:ext cx="10363200" cy="5495925"/>
          </a:xfrm>
          <a:prstGeom prst="rect">
            <a:avLst/>
          </a:prstGeom>
        </p:spPr>
      </p:pic>
    </p:spTree>
    <p:extLst>
      <p:ext uri="{BB962C8B-B14F-4D97-AF65-F5344CB8AC3E}">
        <p14:creationId xmlns:p14="http://schemas.microsoft.com/office/powerpoint/2010/main" val="159217360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BE32F11-E60B-5D28-269D-D1AD5FBFF698}"/>
              </a:ext>
            </a:extLst>
          </p:cNvPr>
          <p:cNvSpPr>
            <a:spLocks noGrp="1"/>
          </p:cNvSpPr>
          <p:nvPr>
            <p:ph type="dt" sz="half" idx="10"/>
          </p:nvPr>
        </p:nvSpPr>
        <p:spPr/>
        <p:txBody>
          <a:bodyPr/>
          <a:lstStyle/>
          <a:p>
            <a:pPr>
              <a:defRPr/>
            </a:pPr>
            <a:fld id="{0135270F-5CE6-4EF5-9A71-BDCE233B4E76}" type="datetime1">
              <a:rPr lang="en-US" smtClean="0"/>
              <a:pPr>
                <a:defRPr/>
              </a:pPr>
              <a:t>12/19/2024</a:t>
            </a:fld>
            <a:endParaRPr lang="en-US"/>
          </a:p>
        </p:txBody>
      </p:sp>
      <p:sp>
        <p:nvSpPr>
          <p:cNvPr id="3" name="Slide Number Placeholder 2">
            <a:extLst>
              <a:ext uri="{FF2B5EF4-FFF2-40B4-BE49-F238E27FC236}">
                <a16:creationId xmlns:a16="http://schemas.microsoft.com/office/drawing/2014/main" id="{3A814D35-C2CE-A718-B71C-F68B5FEC87C5}"/>
              </a:ext>
            </a:extLst>
          </p:cNvPr>
          <p:cNvSpPr>
            <a:spLocks noGrp="1"/>
          </p:cNvSpPr>
          <p:nvPr>
            <p:ph type="sldNum" sz="quarter" idx="11"/>
          </p:nvPr>
        </p:nvSpPr>
        <p:spPr/>
        <p:txBody>
          <a:bodyPr/>
          <a:lstStyle/>
          <a:p>
            <a:pPr>
              <a:defRPr/>
            </a:pPr>
            <a:fld id="{D1AD3536-327C-4937-83AF-A64971CFA6D9}" type="slidenum">
              <a:rPr lang="en-US" smtClean="0"/>
              <a:pPr>
                <a:defRPr/>
              </a:pPr>
              <a:t>69</a:t>
            </a:fld>
            <a:endParaRPr lang="en-US"/>
          </a:p>
        </p:txBody>
      </p:sp>
      <p:sp>
        <p:nvSpPr>
          <p:cNvPr id="4" name="Footer Placeholder 3">
            <a:extLst>
              <a:ext uri="{FF2B5EF4-FFF2-40B4-BE49-F238E27FC236}">
                <a16:creationId xmlns:a16="http://schemas.microsoft.com/office/drawing/2014/main" id="{6585BA0C-9CEC-6B11-5810-AE9E726B070E}"/>
              </a:ext>
            </a:extLst>
          </p:cNvPr>
          <p:cNvSpPr>
            <a:spLocks noGrp="1"/>
          </p:cNvSpPr>
          <p:nvPr>
            <p:ph type="ftr" sz="quarter" idx="12"/>
          </p:nvPr>
        </p:nvSpPr>
        <p:spPr/>
        <p:txBody>
          <a:bodyPr/>
          <a:lstStyle/>
          <a:p>
            <a:pPr>
              <a:defRPr/>
            </a:pPr>
            <a:r>
              <a:rPr lang="en-US"/>
              <a:t>Database System Design, Implementation And Management </a:t>
            </a:r>
          </a:p>
        </p:txBody>
      </p:sp>
      <p:pic>
        <p:nvPicPr>
          <p:cNvPr id="6" name="Picture 5">
            <a:extLst>
              <a:ext uri="{FF2B5EF4-FFF2-40B4-BE49-F238E27FC236}">
                <a16:creationId xmlns:a16="http://schemas.microsoft.com/office/drawing/2014/main" id="{9D782806-7C0A-2276-E9AF-9CE2AC8B747C}"/>
              </a:ext>
            </a:extLst>
          </p:cNvPr>
          <p:cNvPicPr>
            <a:picLocks noChangeAspect="1"/>
          </p:cNvPicPr>
          <p:nvPr/>
        </p:nvPicPr>
        <p:blipFill>
          <a:blip r:embed="rId2"/>
          <a:stretch>
            <a:fillRect/>
          </a:stretch>
        </p:blipFill>
        <p:spPr>
          <a:xfrm>
            <a:off x="1014412" y="619125"/>
            <a:ext cx="10163175" cy="5619750"/>
          </a:xfrm>
          <a:prstGeom prst="rect">
            <a:avLst/>
          </a:prstGeom>
        </p:spPr>
      </p:pic>
    </p:spTree>
    <p:extLst>
      <p:ext uri="{BB962C8B-B14F-4D97-AF65-F5344CB8AC3E}">
        <p14:creationId xmlns:p14="http://schemas.microsoft.com/office/powerpoint/2010/main" val="2341280486"/>
      </p:ext>
    </p:extLst>
  </p:cSld>
  <p:clrMapOvr>
    <a:masterClrMapping/>
  </p:clrMapOvr>
</p:sld>
</file>

<file path=ppt/theme/theme1.xml><?xml version="1.0" encoding="utf-8"?>
<a:theme xmlns:a="http://schemas.openxmlformats.org/drawingml/2006/main" name="Vicostone Templat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au thuyet trình cong ty Vicostone" id="{123813FF-2186-4307-88AB-E52DC4E764C5}" vid="{7A2E833A-1ED4-4E30-9CFE-D6481D7B3B54}"/>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3519</Words>
  <Application>Microsoft Office PowerPoint</Application>
  <PresentationFormat>Widescreen</PresentationFormat>
  <Paragraphs>385</Paragraphs>
  <Slides>69</Slides>
  <Notes>1</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69</vt:i4>
      </vt:variant>
    </vt:vector>
  </HeadingPairs>
  <TitlesOfParts>
    <vt:vector size="87" baseType="lpstr">
      <vt:lpstr>Arial</vt:lpstr>
      <vt:lpstr>Calibri</vt:lpstr>
      <vt:lpstr>Calibri Light</vt:lpstr>
      <vt:lpstr>Courier New</vt:lpstr>
      <vt:lpstr>MathematicalPiLTStd-1</vt:lpstr>
      <vt:lpstr>MyriadPro-Black</vt:lpstr>
      <vt:lpstr>MyriadPro-Bold</vt:lpstr>
      <vt:lpstr>MyriadPro-BoldSemiCn</vt:lpstr>
      <vt:lpstr>MyriadPro-Semibold</vt:lpstr>
      <vt:lpstr>MyriadPro-SemiboldSemiCn</vt:lpstr>
      <vt:lpstr>MyriadPro-SemiCn</vt:lpstr>
      <vt:lpstr>NewCaledoniaLTStd</vt:lpstr>
      <vt:lpstr>NewCaledoniaLTStd-Bold</vt:lpstr>
      <vt:lpstr>NewCaledoniaLTStd-It</vt:lpstr>
      <vt:lpstr>SymbolStd</vt:lpstr>
      <vt:lpstr>Times New Roman</vt:lpstr>
      <vt:lpstr>Wingdings</vt:lpstr>
      <vt:lpstr>Vicostone Template</vt:lpstr>
      <vt:lpstr>Learning Objectives</vt:lpstr>
      <vt:lpstr>National Economics University Faculty of Data Science &amp; Artificial Intelligence</vt:lpstr>
      <vt:lpstr>Learning Objectives</vt:lpstr>
      <vt:lpstr>6-1 Database Tables and Normalization</vt:lpstr>
      <vt:lpstr>6-1 Database Tables and Normalization</vt:lpstr>
      <vt:lpstr>6-1 Database Tables and Normalization</vt:lpstr>
      <vt:lpstr>6-2 The Need for Normalization</vt:lpstr>
      <vt:lpstr>6-2 The Need for Normalization</vt:lpstr>
      <vt:lpstr>Reporting activities of a construction</vt:lpstr>
      <vt:lpstr>PowerPoint Presentation</vt:lpstr>
      <vt:lpstr>PowerPoint Presentation</vt:lpstr>
      <vt:lpstr>Deficiencies</vt:lpstr>
      <vt:lpstr>6-3 The Normalization Process</vt:lpstr>
      <vt:lpstr>6-3 The Normalization Process</vt:lpstr>
      <vt:lpstr>PowerPoint Presentation</vt:lpstr>
      <vt:lpstr>Functional Dependence Concepts</vt:lpstr>
      <vt:lpstr>PowerPoint Presentation</vt:lpstr>
      <vt:lpstr>PowerPoint Presentation</vt:lpstr>
      <vt:lpstr>6-3a Conversion to First Normal Form (1NF)</vt:lpstr>
      <vt:lpstr>6-3a Conversion to First Normal Form (1NF)</vt:lpstr>
      <vt:lpstr>PowerPoint Presentation</vt:lpstr>
      <vt:lpstr>6-3a Conversion to First Normal Form (1NF)</vt:lpstr>
      <vt:lpstr>6-3a Conversion to First Normal Form (1NF)</vt:lpstr>
      <vt:lpstr>6-3a Conversion to First Normal Form (1NF)</vt:lpstr>
      <vt:lpstr>Dependency diagram</vt:lpstr>
      <vt:lpstr>Anomalies</vt:lpstr>
      <vt:lpstr>6-3b Conversion to Second Normal Form (2NF)</vt:lpstr>
      <vt:lpstr>6-3b Conversion to Second Normal Form (2NF)</vt:lpstr>
      <vt:lpstr>PowerPoint Presentation</vt:lpstr>
      <vt:lpstr>6-3c Conversion to Third Normal Form (3NF)</vt:lpstr>
      <vt:lpstr>6-3c Conversion to Third Normal Form (3NF)</vt:lpstr>
      <vt:lpstr>6-3c Conversion to Third Normal Form (3NF)</vt:lpstr>
      <vt:lpstr>PowerPoint Presentation</vt:lpstr>
      <vt:lpstr>6-6 Higher-Level Normal Forms</vt:lpstr>
      <vt:lpstr>6-6a The Boyce-Codd Normal Form</vt:lpstr>
      <vt:lpstr>PowerPoint Presentation</vt:lpstr>
      <vt:lpstr>6-6a The Boyce-Codd Normal Form</vt:lpstr>
      <vt:lpstr>PowerPoint Presentation</vt:lpstr>
      <vt:lpstr>PowerPoint Presentation</vt:lpstr>
      <vt:lpstr>PowerPoint Presentation</vt:lpstr>
      <vt:lpstr>6-6a The Boyce-Codd Normal Form</vt:lpstr>
      <vt:lpstr>PowerPoint Presentation</vt:lpstr>
      <vt:lpstr>6-6b Fourth Normal Form (4NF)</vt:lpstr>
      <vt:lpstr>PowerPoint Presentation</vt:lpstr>
      <vt:lpstr>PowerPoint Presentation</vt:lpstr>
      <vt:lpstr>6-6c Fifth Normal Form (5NF)</vt:lpstr>
      <vt:lpstr>6-7 Normalization and Database Design</vt:lpstr>
      <vt:lpstr>6-7 Normalization and Database Design</vt:lpstr>
      <vt:lpstr>Operations of the contracting company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6-8 Denormalization</vt:lpstr>
      <vt:lpstr>PowerPoint Presentation</vt:lpstr>
      <vt:lpstr>6-9 Data-Modeling Checklist</vt:lpstr>
      <vt:lpstr>PowerPoint Presentation</vt:lpstr>
      <vt:lpstr>PowerPoint Presentation</vt:lpstr>
      <vt:lpstr>PowerPoint Presentation</vt:lpstr>
      <vt:lpstr>PowerPoint Presentation</vt:lpstr>
      <vt:lpstr>PowerPoint Presentation</vt:lpstr>
      <vt:lpstr>Problems</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subject/>
  <dc:creator/>
  <cp:lastModifiedBy/>
  <cp:revision>462</cp:revision>
  <dcterms:created xsi:type="dcterms:W3CDTF">2009-09-28T17:47:54Z</dcterms:created>
  <dcterms:modified xsi:type="dcterms:W3CDTF">2024-12-19T10:58:05Z</dcterms:modified>
</cp:coreProperties>
</file>