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35"/>
  </p:notesMasterIdLst>
  <p:handoutMasterIdLst>
    <p:handoutMasterId r:id="rId36"/>
  </p:handoutMasterIdLst>
  <p:sldIdLst>
    <p:sldId id="349" r:id="rId2"/>
    <p:sldId id="477" r:id="rId3"/>
    <p:sldId id="257" r:id="rId4"/>
    <p:sldId id="385" r:id="rId5"/>
    <p:sldId id="412" r:id="rId6"/>
    <p:sldId id="386" r:id="rId7"/>
    <p:sldId id="387" r:id="rId8"/>
    <p:sldId id="413" r:id="rId9"/>
    <p:sldId id="388" r:id="rId10"/>
    <p:sldId id="414" r:id="rId11"/>
    <p:sldId id="415" r:id="rId12"/>
    <p:sldId id="416" r:id="rId13"/>
    <p:sldId id="389" r:id="rId14"/>
    <p:sldId id="417" r:id="rId15"/>
    <p:sldId id="391" r:id="rId16"/>
    <p:sldId id="418" r:id="rId17"/>
    <p:sldId id="394" r:id="rId18"/>
    <p:sldId id="419" r:id="rId19"/>
    <p:sldId id="420" r:id="rId20"/>
    <p:sldId id="395" r:id="rId21"/>
    <p:sldId id="421" r:id="rId22"/>
    <p:sldId id="398" r:id="rId23"/>
    <p:sldId id="422" r:id="rId24"/>
    <p:sldId id="396" r:id="rId25"/>
    <p:sldId id="423" r:id="rId26"/>
    <p:sldId id="424" r:id="rId27"/>
    <p:sldId id="425" r:id="rId28"/>
    <p:sldId id="426" r:id="rId29"/>
    <p:sldId id="427" r:id="rId30"/>
    <p:sldId id="428" r:id="rId31"/>
    <p:sldId id="429" r:id="rId32"/>
    <p:sldId id="430" r:id="rId33"/>
    <p:sldId id="431" r:id="rId34"/>
  </p:sldIdLst>
  <p:sldSz cx="12192000" cy="6858000"/>
  <p:notesSz cx="7102475" cy="9388475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3:57:30.05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6272.02734"/>
      <inkml:brushProperty name="anchorY" value="-36668.1875"/>
      <inkml:brushProperty name="scaleFactor" value="0.5"/>
    </inkml:brush>
  </inkml:definitions>
  <inkml:trace contextRef="#ctx0" brushRef="#br0">0 9 24575,'0'0'0,"0"-3"0,0-2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863" y="704850"/>
            <a:ext cx="62547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1000" smtClean="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0AB240B4-1A2E-4C00-9336-DA12AFA09EBD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00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90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 algn="ctr"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83F9286B-6EB0-415E-9FD7-53754A124BCC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 algn="ctr"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C1CF96D5-A543-45D5-8992-B94C1177E4C6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DF507722-439B-4523-9CE9-B70AFEB2097E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3F34B5DD-F4AF-4694-A8F2-2077CF15276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D956F7ED-D063-4ECE-9B57-E455597CA49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92E5D540-A172-47D4-6805-9B492CBB4B8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6670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4000" b="1"/>
              <a:t>Database Systems: </a:t>
            </a:r>
            <a:br>
              <a:rPr lang="en-US" altLang="en-US" sz="4000" b="1"/>
            </a:br>
            <a:r>
              <a:rPr lang="en-US" altLang="en-US" sz="4000" b="1"/>
              <a:t>Design, Implementation, and Management</a:t>
            </a:r>
            <a:br>
              <a:rPr lang="en-US" altLang="en-US" sz="4000" b="1"/>
            </a:br>
            <a:r>
              <a:rPr lang="en-US" altLang="en-US" sz="4000" b="1"/>
              <a:t>14</a:t>
            </a:r>
            <a:r>
              <a:rPr lang="en-US" altLang="en-US" sz="2800" b="1"/>
              <a:t>th Edition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8246-CEB8-0971-5EF9-56854AD436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63D60C-B233-4073-9E4F-853A6F50270F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 Structures and Algorithms in Python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FF61F-2683-08B0-9745-3DDA87C7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"/>
            <a:ext cx="12192000" cy="6654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sz="3200" dirty="0"/>
              <a:t>National Economics University</a:t>
            </a:r>
            <a:br>
              <a:rPr lang="en-US" altLang="en-US" sz="3200" dirty="0"/>
            </a:br>
            <a:r>
              <a:rPr lang="en-US" altLang="en-US" sz="3200" dirty="0"/>
              <a:t>Faculty of Data Science &amp; Artificial Intelligence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DATA STRUCTURES AND ALGORITHMS: Queue</a:t>
            </a:r>
          </a:p>
          <a:p>
            <a:pPr eaLnBrk="1" hangingPunct="1">
              <a:buNone/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(FDA – SLSCM Lab)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76F99BE-16D2-D698-B84F-294467AC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034" y="204634"/>
            <a:ext cx="1243166" cy="12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>
              <a:buNone/>
            </a:pPr>
            <a:r>
              <a:rPr lang="en-US" altLang="en-US" sz="1000" dirty="0">
                <a:solidFill>
                  <a:schemeClr val="bg1"/>
                </a:solidFill>
              </a:rPr>
              <a:t>Data Structures and Algorithms in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1910D4C-A8E1-69FA-9253-D7771B26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0955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queue and the operations on it 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Choose a queue implementation based on its performance characteristics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applications where it is appropriate to use a  queue</a:t>
            </a:r>
            <a:r>
              <a:rPr lang="en-US" dirty="0">
                <a:latin typeface="NewsGothicStd"/>
              </a:rPr>
              <a:t> 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Explain the difference between a queue and a priority queue</a:t>
            </a:r>
            <a:endParaRPr lang="en-US" dirty="0">
              <a:latin typeface="NewsGothicStd"/>
            </a:endParaRP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applications where it is appropriate to use a priority queue</a:t>
            </a:r>
            <a:r>
              <a:rPr lang="en-US" sz="3200" dirty="0"/>
              <a:t> 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7C4DE-CC03-B7D4-1ECF-F374CDF3F5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ABE9123-2607-4938-9511-9CCBFBB1BFEF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Queues are linear collections in which insertions are restricted to one end, called the </a:t>
            </a:r>
            <a:r>
              <a:rPr lang="en-US" b="1" dirty="0"/>
              <a:t>rear</a:t>
            </a:r>
            <a:r>
              <a:rPr lang="en-US" dirty="0"/>
              <a:t>, and removals to the other end, called the </a:t>
            </a:r>
            <a:r>
              <a:rPr lang="en-US" b="1" dirty="0"/>
              <a:t>front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Insert an element to a collection – this new element becomes rear.</a:t>
            </a:r>
          </a:p>
          <a:p>
            <a:pPr lvl="1"/>
            <a:r>
              <a:rPr lang="en-US" dirty="0"/>
              <a:t>Remove the oldest element in the collection (the front), the next oldest one becomes front </a:t>
            </a:r>
          </a:p>
          <a:p>
            <a:r>
              <a:rPr lang="en-US" dirty="0"/>
              <a:t>Adhere to a </a:t>
            </a:r>
            <a:r>
              <a:rPr lang="en-US" b="1" dirty="0"/>
              <a:t>first-in first-out (FIFO) protocol</a:t>
            </a:r>
            <a:r>
              <a:rPr lang="en-US" dirty="0"/>
              <a:t>. </a:t>
            </a:r>
          </a:p>
          <a:p>
            <a:r>
              <a:rPr lang="en-US" dirty="0"/>
              <a:t>The operations for putting items on and removing items from a queue are called </a:t>
            </a:r>
            <a:r>
              <a:rPr lang="en-US" b="1" dirty="0"/>
              <a:t>push/add/enqueue </a:t>
            </a:r>
            <a:r>
              <a:rPr lang="en-US" dirty="0"/>
              <a:t>and </a:t>
            </a:r>
            <a:r>
              <a:rPr lang="en-US" b="1" dirty="0"/>
              <a:t>pop/dequeue.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5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7A6C5-898A-5E69-A8D9-17B6FDEB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0166B8-92CF-21D5-EB8E-9BFFFB6D80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DFC4F-1B02-FD42-DB16-8706CEF941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A4502-7256-2BBF-3A8E-59D326DC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60" y="-117398"/>
            <a:ext cx="4081303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295826-5082-EFEE-AA3D-866FAFD59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295400"/>
            <a:ext cx="5895975" cy="638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19DF46-0900-68BF-40F7-11A78E86E837}"/>
              </a:ext>
            </a:extLst>
          </p:cNvPr>
          <p:cNvSpPr txBox="1"/>
          <p:nvPr/>
        </p:nvSpPr>
        <p:spPr>
          <a:xfrm>
            <a:off x="5462587" y="2362200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Initially, the queue is empty. Then an item called </a:t>
            </a:r>
            <a:r>
              <a:rPr lang="en-US" b="1" i="0" dirty="0">
                <a:solidFill>
                  <a:srgbClr val="242021"/>
                </a:solidFill>
                <a:effectLst/>
                <a:latin typeface="LucidaSansTypewriterStd-Bd"/>
              </a:rPr>
              <a:t>a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is added. Next, three more items called </a:t>
            </a:r>
            <a:r>
              <a:rPr lang="en-US" b="1" i="0" dirty="0">
                <a:solidFill>
                  <a:srgbClr val="242021"/>
                </a:solidFill>
                <a:effectLst/>
                <a:latin typeface="LucidaSansTypewriterStd-Bd"/>
              </a:rPr>
              <a:t>b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, </a:t>
            </a:r>
            <a:r>
              <a:rPr lang="en-US" b="1" i="0" dirty="0">
                <a:solidFill>
                  <a:srgbClr val="242021"/>
                </a:solidFill>
                <a:effectLst/>
                <a:latin typeface="LucidaSansTypewriterStd-Bd"/>
              </a:rPr>
              <a:t>c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, and </a:t>
            </a:r>
            <a:r>
              <a:rPr lang="en-US" b="1" i="0" dirty="0">
                <a:solidFill>
                  <a:srgbClr val="242021"/>
                </a:solidFill>
                <a:effectLst/>
                <a:latin typeface="LucidaSansTypewriterStd-Bd"/>
              </a:rPr>
              <a:t>d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are added, after which an item is popped, and so forth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98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Translating infix expressions to postfix form and evaluating postfix expressions. </a:t>
            </a:r>
          </a:p>
          <a:p>
            <a:r>
              <a:rPr lang="en-US" sz="2000" dirty="0"/>
              <a:t>CPU access—Processes are queued for access to a shared CPU.</a:t>
            </a:r>
          </a:p>
          <a:p>
            <a:r>
              <a:rPr lang="en-US" sz="2000" dirty="0"/>
              <a:t>Disk access—Processes are queued for access to a shared secondary storage device.</a:t>
            </a:r>
          </a:p>
          <a:p>
            <a:r>
              <a:rPr lang="en-US" sz="2000" dirty="0"/>
              <a:t>Printer access—Print jobs are queued for access to a shared laser printer.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43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Queue Interface and Its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610600" cy="4351338"/>
          </a:xfrm>
        </p:spPr>
        <p:txBody>
          <a:bodyPr/>
          <a:lstStyle/>
          <a:p>
            <a:r>
              <a:rPr lang="en-US" dirty="0"/>
              <a:t>The Queue Interface </a:t>
            </a:r>
          </a:p>
          <a:p>
            <a:pPr lvl="1"/>
            <a:r>
              <a:rPr lang="en-US" dirty="0"/>
              <a:t>push/add, pop, peek and other basic methods</a:t>
            </a:r>
          </a:p>
          <a:p>
            <a:pPr lvl="2"/>
            <a:r>
              <a:rPr lang="en-US" dirty="0"/>
              <a:t>peek = examine the top element but not pop</a:t>
            </a:r>
          </a:p>
          <a:p>
            <a:r>
              <a:rPr lang="en-US" dirty="0"/>
              <a:t>Instantiating a Queue</a:t>
            </a:r>
          </a:p>
          <a:p>
            <a:pPr lvl="1"/>
            <a:r>
              <a:rPr lang="en-US" dirty="0"/>
              <a:t>q1 = </a:t>
            </a:r>
            <a:r>
              <a:rPr lang="en-US" dirty="0" err="1"/>
              <a:t>ArrayQueue</a:t>
            </a:r>
            <a:r>
              <a:rPr lang="en-US" dirty="0"/>
              <a:t>() # Create empty array queue</a:t>
            </a:r>
          </a:p>
          <a:p>
            <a:pPr lvl="1"/>
            <a:r>
              <a:rPr lang="en-US" dirty="0"/>
              <a:t>q2 = </a:t>
            </a:r>
            <a:r>
              <a:rPr lang="en-US" dirty="0" err="1"/>
              <a:t>LinkedQueue</a:t>
            </a:r>
            <a:r>
              <a:rPr lang="en-US" dirty="0"/>
              <a:t>([3, 6, 0]) # Create linked queue with given items</a:t>
            </a:r>
          </a:p>
          <a:p>
            <a:pPr marL="257175" lvl="1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02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037AA-8D5A-80EC-04D2-1E4FC8A21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A265CD-6B3F-D3D5-254E-E02F376ED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E36C2-BD0C-62CE-2333-9A98FAEE3E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4C43F-E0A1-A590-5BBB-C70F28F7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43" y="0"/>
            <a:ext cx="8237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7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79F4F8-9DBE-5E76-7A69-81EF38ED4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1666875"/>
            <a:ext cx="96869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32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C5BB5-07F9-C24C-AC2D-A41DC43F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386C30-41C3-68B4-EEDA-438C4A8125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8BE9F-56B9-913A-D173-E4896E0B31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B56682-F2DD-18FC-F376-C706ABC99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76225"/>
            <a:ext cx="96774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A4D47-7346-C8A5-3561-C014C17E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0F784-04A9-7EA9-440B-92587CBB0D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DB9F6-55D7-2D05-022C-3D90D150D0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13FBC-1D48-4200-333E-1F8B10A71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733550"/>
            <a:ext cx="96393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9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11650-ADC9-8327-BED1-E5EA76EDF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1F797-D848-A6C4-D9F7-06C8565650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B7DA73-80EB-539B-DC70-29F4B03AFA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99E19-8A1B-C30F-E37C-F8083B865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966787"/>
            <a:ext cx="85725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40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Linked Implementation of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operation push adds a node at the head of the sequence, whereas add adds a node at the tai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BB144A-1335-39CD-9C65-24A9AB7A9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2895600"/>
            <a:ext cx="717232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80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F2D1E-2E3E-6C7B-06AA-3A74F863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1352C-4C15-5CCD-A557-559CACFF97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AF60D-A633-5234-6FE6-6FB2EB9E9F8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D1B09-69A7-0E5D-FD25-45436A222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0"/>
            <a:ext cx="636373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B6DFAF-D971-459E-9840-9600958ED2A7}"/>
              </a:ext>
            </a:extLst>
          </p:cNvPr>
          <p:cNvSpPr txBox="1"/>
          <p:nvPr/>
        </p:nvSpPr>
        <p:spPr>
          <a:xfrm>
            <a:off x="8229600" y="1228397"/>
            <a:ext cx="3352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dirty="0">
                <a:solidFill>
                  <a:srgbClr val="242021"/>
                </a:solidFill>
                <a:effectLst/>
                <a:latin typeface="WarnockPro-Light"/>
              </a:rPr>
              <a:t>During an </a:t>
            </a:r>
            <a:r>
              <a:rPr lang="en-US" sz="2200" b="1" i="0" dirty="0">
                <a:solidFill>
                  <a:srgbClr val="242021"/>
                </a:solidFill>
                <a:effectLst/>
                <a:latin typeface="LucidaSansTypewriterStd-Bd"/>
              </a:rPr>
              <a:t>add 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WarnockPro-Light"/>
              </a:rPr>
              <a:t>operation, create a new node, set the next pointer of the last node to the new node, and set the variable </a:t>
            </a:r>
            <a:r>
              <a:rPr lang="en-US" sz="2200" b="1" i="0" dirty="0">
                <a:solidFill>
                  <a:srgbClr val="242021"/>
                </a:solidFill>
                <a:effectLst/>
                <a:latin typeface="LucidaSansTypewriterStd-Bd"/>
              </a:rPr>
              <a:t>rear </a:t>
            </a:r>
            <a:r>
              <a:rPr lang="en-US" sz="2200" b="0" i="0" dirty="0">
                <a:solidFill>
                  <a:srgbClr val="242021"/>
                </a:solidFill>
                <a:effectLst/>
                <a:latin typeface="WarnockPro-Light"/>
              </a:rPr>
              <a:t>to the new node, as shown in Figure 8-4.</a:t>
            </a:r>
            <a:r>
              <a:rPr lang="en-US" sz="2200" dirty="0"/>
              <a:t> </a:t>
            </a:r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29597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B9CDC5-07A6-11C3-98C6-BB84D85F5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1843087"/>
            <a:ext cx="77438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70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8C980-2F5B-A020-AA39-75F042A1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FCA2E3-405E-6410-0F92-BDCAA17730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F2FF-778A-ECEC-5A3D-8E5C44B8A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146E17-9459-0FB8-03A6-9D015129D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1728787"/>
            <a:ext cx="90582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37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Array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11701"/>
            <a:ext cx="10515600" cy="4351338"/>
          </a:xfrm>
        </p:spPr>
        <p:txBody>
          <a:bodyPr/>
          <a:lstStyle/>
          <a:p>
            <a:r>
              <a:rPr lang="en-US" dirty="0"/>
              <a:t> The first attempt at implementing a queue fixes the front of the queue at index position 0 and maintains an index variable, called rear, that points to the last item at position n - 1 where n is the number of items in the queue.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5920C4-DA4C-B4A8-3B8B-C003DF556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882" y="3687370"/>
            <a:ext cx="6991350" cy="280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271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Array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11701"/>
            <a:ext cx="10515600" cy="4351338"/>
          </a:xfrm>
        </p:spPr>
        <p:txBody>
          <a:bodyPr/>
          <a:lstStyle/>
          <a:p>
            <a:r>
              <a:rPr lang="en-US" dirty="0"/>
              <a:t> The first attempt at implementing a queue fixes the front of the queue at index position 0 and maintains an index variable, called rear, that points to the last item at position n - 1 where n is the number of items in the queue.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369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Array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11701"/>
            <a:ext cx="10515600" cy="4351338"/>
          </a:xfrm>
        </p:spPr>
        <p:txBody>
          <a:bodyPr/>
          <a:lstStyle/>
          <a:p>
            <a:r>
              <a:rPr lang="en-US" dirty="0"/>
              <a:t> Second Attempt:  The front pointer starts at 0 and advances through the array as items are popped. 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572BB9-8661-C7A1-CEFD-982EE2EFB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3276600"/>
            <a:ext cx="78867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58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Array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351338"/>
          </a:xfrm>
        </p:spPr>
        <p:txBody>
          <a:bodyPr/>
          <a:lstStyle/>
          <a:p>
            <a:r>
              <a:rPr lang="en-US" dirty="0"/>
              <a:t>Third Attempt: By using a circular array implementation, you can simultaneously achieve good running times for both add and pop.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9D85DA-F4C3-F93A-1E81-AD3B38F43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43200"/>
            <a:ext cx="114300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27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E5A2-5340-5A92-4462-4C0C3B98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and Space Analysis for the Two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E178-E15A-D1C5-1727-9980C5D1C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solidFill>
                  <a:srgbClr val="242021"/>
                </a:solidFill>
                <a:effectLst/>
                <a:latin typeface="WarnockPro-Light"/>
              </a:rPr>
              <a:t>Linked implementation of queues</a:t>
            </a:r>
            <a:r>
              <a:rPr lang="en-US" sz="2800" dirty="0"/>
              <a:t> 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The running time of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__str__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,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__add__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, and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__eq__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methods is O(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WarnockPro-LightIt"/>
              </a:rPr>
              <a:t>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)</a:t>
            </a:r>
            <a:r>
              <a:rPr lang="en-US" sz="1800" dirty="0"/>
              <a:t> 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Running time of all the other methods is O(1)</a:t>
            </a:r>
            <a:r>
              <a:rPr lang="en-US" sz="1800" dirty="0"/>
              <a:t> </a:t>
            </a:r>
          </a:p>
          <a:p>
            <a:r>
              <a:rPr lang="en-US" sz="2000" b="0" i="0" dirty="0">
                <a:solidFill>
                  <a:srgbClr val="242021"/>
                </a:solidFill>
                <a:effectLst/>
                <a:latin typeface="WarnockPro-Light"/>
              </a:rPr>
              <a:t>Circular array implementation of queues: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If the array is static, the maximum running time of all methods other than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__str__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,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__add__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, and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__eq__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is O(1)</a:t>
            </a:r>
            <a:r>
              <a:rPr lang="en-US" sz="1800" dirty="0"/>
              <a:t> </a:t>
            </a:r>
          </a:p>
          <a:p>
            <a:pPr lvl="1"/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If the array is dynamic,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add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and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LucidaSansTypewriterStd-Bd"/>
              </a:rPr>
              <a:t>pop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jump to O(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WarnockPro-LightIt"/>
              </a:rPr>
              <a:t>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) anytime the array is resized but retain an average running time of O(1)</a:t>
            </a:r>
            <a:r>
              <a:rPr lang="en-US" sz="1800" dirty="0"/>
              <a:t>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4801C-B50E-A8B6-104C-1763C262C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A5C2C-927F-5EBD-227A-B22E6A46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EC42F04-FF04-0541-4B17-6AE980E3160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750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31556" y="5020151"/>
            <a:ext cx="6481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Complexity: O(n) for postfix evaluation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191F7B-E515-99C3-0BB7-019397CCC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123950"/>
            <a:ext cx="119824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2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D403-5C22-E28A-5E65-C1B653D6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559DC-6547-D0B7-1376-23DD60ED2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specialized type of queue.</a:t>
            </a:r>
          </a:p>
          <a:p>
            <a:r>
              <a:rPr lang="en-US" dirty="0"/>
              <a:t>When items are added to a priority queue, they are assigned an order of rank.</a:t>
            </a:r>
          </a:p>
          <a:p>
            <a:r>
              <a:rPr lang="en-US" dirty="0"/>
              <a:t>When they are removed, items of higher priority are removed before those of lower priority.</a:t>
            </a:r>
          </a:p>
          <a:p>
            <a:r>
              <a:rPr lang="en-US" dirty="0"/>
              <a:t>Queue and Priority Queue have the same interface or set of operations (see Table 8-1)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8CD4B-F9BA-CE0B-28E1-2D9224A55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8D4C-7D8E-3F75-412A-4F250282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289A4E-39F5-1640-8C6A-70EEC0ABFB3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954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26F93-4E41-1B8A-55BC-9377372E7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14" y="0"/>
            <a:ext cx="10332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42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D1375-FC6E-7BF4-BFEB-12DC3622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B1F2EE-4321-0D79-3A61-7CE54F750A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05A97-52CA-168D-915F-5FACB1470B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60B0B7-48F4-4E0E-B6FB-FF3FEF1B5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514350"/>
            <a:ext cx="11601450" cy="5829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155BB7-79C0-96E4-2C6C-5563D03321ED}"/>
              </a:ext>
            </a:extLst>
          </p:cNvPr>
          <p:cNvSpPr txBox="1"/>
          <p:nvPr/>
        </p:nvSpPr>
        <p:spPr>
          <a:xfrm>
            <a:off x="9601200" y="1066800"/>
            <a:ext cx="2133600" cy="349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E.g. we want to rank complex numbers by its  magnitude/absolute value </a:t>
            </a:r>
          </a:p>
          <a:p>
            <a:r>
              <a:rPr lang="en-US" sz="2400" dirty="0"/>
              <a:t>Priority = those values</a:t>
            </a:r>
          </a:p>
        </p:txBody>
      </p:sp>
    </p:spTree>
    <p:extLst>
      <p:ext uri="{BB962C8B-B14F-4D97-AF65-F5344CB8AC3E}">
        <p14:creationId xmlns:p14="http://schemas.microsoft.com/office/powerpoint/2010/main" val="2369600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AD6EC-3070-29D4-D762-4241DFE9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F62B7-8C15-BBEC-4B13-C4561CAD65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AF6F6-7970-2DCE-2C2D-0FFCCEB253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72422B-B90E-2B93-5334-20376CFB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533400"/>
            <a:ext cx="1006792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44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E94E5E-C850-CD2E-B7E2-4745F953A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57ACED-4297-E895-157E-6BA0A9C98A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38B4D-F039-2808-C667-A8B1DA3EED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5868-998E-B365-CA9D-0768EF2FE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2390775"/>
            <a:ext cx="503872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54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99F0AF-4559-2D83-9D2B-C2573817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1C1A14-E6DC-5C82-983C-A192CF1DB6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70640-5679-E0DF-CB5C-C6688F619A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0B401-C09F-D392-6FAA-AD1A07180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37" y="481012"/>
            <a:ext cx="4657725" cy="5895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0BF7A6-E0DF-CDE5-9AE0-721531AADDD1}"/>
                  </a:ext>
                </a:extLst>
              </p14:cNvPr>
              <p14:cNvContentPartPr/>
              <p14:nvPr/>
            </p14:nvContentPartPr>
            <p14:xfrm>
              <a:off x="10553640" y="2290320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0BF7A6-E0DF-CDE5-9AE0-721531AADD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35640" y="2272680"/>
                <a:ext cx="36000" cy="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1072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35F0C-BD1A-0E8A-698B-0B38A76D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50789-CEA8-5023-91F4-9D5D433624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CC682-71F6-546A-E6F2-FB72C28C03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847AE-F8EF-C4BF-162B-9687C2F0C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200025"/>
            <a:ext cx="616267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1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B44FB-B01D-E770-1129-B8E8FE5B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B942FD-6AC4-F8E5-6A8E-74C072D11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C4F21-F21E-92DD-BDC2-2838533849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1943B-2D49-9248-57E0-57D8974CF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667000"/>
            <a:ext cx="9846723" cy="180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3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993150-62DC-F211-38B9-791445DC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B8108-610D-EF22-E47E-2C41F9F535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C8A88-3F3B-2580-43FA-8FDB050CDBE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B2A05-FEF2-23DF-C0DA-9977552E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609600"/>
            <a:ext cx="7690320" cy="540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48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16613-05CE-4C85-A7F6-74B95D59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5BCBB6-C38A-673D-A344-D8CA1AE58A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554C3-4F0A-5D43-5880-CA0CD4937B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5F588-8955-5E01-B491-EF2CDDBFF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54" y="1752600"/>
            <a:ext cx="7753291" cy="293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6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6C4EC-7918-BC9C-6C89-C71D3F2F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D0843D-4AC8-DB49-041F-3999FCD1B9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5EB20-776D-B0CF-3FFB-E3EA17A9BFA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7463F-363C-EDA9-5769-583CBD80A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52" y="2219325"/>
            <a:ext cx="8686496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53963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18541</TotalTime>
  <Words>1061</Words>
  <Application>Microsoft Office PowerPoint</Application>
  <PresentationFormat>Widescreen</PresentationFormat>
  <Paragraphs>163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ＭＳ Ｐゴシック</vt:lpstr>
      <vt:lpstr>Arial</vt:lpstr>
      <vt:lpstr>Calibri</vt:lpstr>
      <vt:lpstr>Courier New</vt:lpstr>
      <vt:lpstr>LucidaSansTypewriterStd-Bd</vt:lpstr>
      <vt:lpstr>Monotype Sorts</vt:lpstr>
      <vt:lpstr>NewsGothicStd</vt:lpstr>
      <vt:lpstr>Times New Roman</vt:lpstr>
      <vt:lpstr>WarnockPro-Light</vt:lpstr>
      <vt:lpstr>WarnockPro-LightIt</vt:lpstr>
      <vt:lpstr>Wingdings</vt:lpstr>
      <vt:lpstr>Vicostone Template</vt:lpstr>
      <vt:lpstr>Database Systems:  Design, Implementation, and Management 14th Edition</vt:lpstr>
      <vt:lpstr>National Economics University Faculty of Data Science &amp; Artificial Intelligence</vt:lpstr>
      <vt:lpstr>Learning Objectives</vt:lpstr>
      <vt:lpstr>Overview of Queues</vt:lpstr>
      <vt:lpstr>PowerPoint Presentation</vt:lpstr>
      <vt:lpstr>Some applications</vt:lpstr>
      <vt:lpstr>The Queue Interface and Its 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Linked Implementation of Queues</vt:lpstr>
      <vt:lpstr>PowerPoint Presentation</vt:lpstr>
      <vt:lpstr>PowerPoint Presentation</vt:lpstr>
      <vt:lpstr>PowerPoint Presentation</vt:lpstr>
      <vt:lpstr>An Array Implementation</vt:lpstr>
      <vt:lpstr>An Array Implementation</vt:lpstr>
      <vt:lpstr>An Array Implementation</vt:lpstr>
      <vt:lpstr>An Array Implementation</vt:lpstr>
      <vt:lpstr>Time and Space Analysis for the Two Implementations</vt:lpstr>
      <vt:lpstr>PowerPoint Presentation</vt:lpstr>
      <vt:lpstr>Priority Queues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296</cp:revision>
  <cp:lastPrinted>2024-12-19T14:48:28Z</cp:lastPrinted>
  <dcterms:created xsi:type="dcterms:W3CDTF">2009-10-12T20:16:00Z</dcterms:created>
  <dcterms:modified xsi:type="dcterms:W3CDTF">2024-12-19T14:49:08Z</dcterms:modified>
</cp:coreProperties>
</file>