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p:sldMasterIdLst>
    <p:sldMasterId id="2147483648" r:id="rId1"/>
  </p:sldMasterIdLst>
  <p:notesMasterIdLst>
    <p:notesMasterId r:id="rId44"/>
  </p:notesMasterIdLst>
  <p:handoutMasterIdLst>
    <p:handoutMasterId r:id="rId45"/>
  </p:handoutMasterIdLst>
  <p:sldIdLst>
    <p:sldId id="392" r:id="rId2"/>
    <p:sldId id="433" r:id="rId3"/>
    <p:sldId id="393" r:id="rId4"/>
    <p:sldId id="395" r:id="rId5"/>
    <p:sldId id="394" r:id="rId6"/>
    <p:sldId id="397" r:id="rId7"/>
    <p:sldId id="396" r:id="rId8"/>
    <p:sldId id="398" r:id="rId9"/>
    <p:sldId id="399" r:id="rId10"/>
    <p:sldId id="400" r:id="rId11"/>
    <p:sldId id="401" r:id="rId12"/>
    <p:sldId id="402" r:id="rId13"/>
    <p:sldId id="403" r:id="rId14"/>
    <p:sldId id="404" r:id="rId15"/>
    <p:sldId id="405" r:id="rId16"/>
    <p:sldId id="406" r:id="rId17"/>
    <p:sldId id="407" r:id="rId18"/>
    <p:sldId id="408" r:id="rId19"/>
    <p:sldId id="409" r:id="rId20"/>
    <p:sldId id="410" r:id="rId21"/>
    <p:sldId id="411" r:id="rId22"/>
    <p:sldId id="412" r:id="rId23"/>
    <p:sldId id="413" r:id="rId24"/>
    <p:sldId id="414" r:id="rId25"/>
    <p:sldId id="415" r:id="rId26"/>
    <p:sldId id="416" r:id="rId27"/>
    <p:sldId id="417" r:id="rId28"/>
    <p:sldId id="418" r:id="rId29"/>
    <p:sldId id="419" r:id="rId30"/>
    <p:sldId id="420" r:id="rId31"/>
    <p:sldId id="421" r:id="rId32"/>
    <p:sldId id="422" r:id="rId33"/>
    <p:sldId id="423" r:id="rId34"/>
    <p:sldId id="424" r:id="rId35"/>
    <p:sldId id="425" r:id="rId36"/>
    <p:sldId id="426" r:id="rId37"/>
    <p:sldId id="427" r:id="rId38"/>
    <p:sldId id="428" r:id="rId39"/>
    <p:sldId id="429" r:id="rId40"/>
    <p:sldId id="430" r:id="rId41"/>
    <p:sldId id="431" r:id="rId42"/>
    <p:sldId id="432" r:id="rId43"/>
  </p:sldIdLst>
  <p:sldSz cx="12192000" cy="6858000"/>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howGuides="1">
      <p:cViewPr varScale="1">
        <p:scale>
          <a:sx n="105" d="100"/>
          <a:sy n="105" d="100"/>
        </p:scale>
        <p:origin x="798" y="96"/>
      </p:cViewPr>
      <p:guideLst>
        <p:guide orient="horz" pos="2160"/>
        <p:guide pos="3840"/>
      </p:guideLst>
    </p:cSldViewPr>
  </p:slideViewPr>
  <p:outlineViewPr>
    <p:cViewPr>
      <p:scale>
        <a:sx n="33" d="100"/>
        <a:sy n="33" d="100"/>
      </p:scale>
      <p:origin x="0" y="-2724"/>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pPr>
              <a:defRPr/>
            </a:pPr>
            <a:fld id="{FAC33DE4-4784-45D4-BD47-64193262C564}"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solidFill>
                  <a:schemeClr val="tx1"/>
                </a:solidFill>
                <a:latin typeface="Times New Roman" panose="02020603050405020304" pitchFamily="18" charset="0"/>
                <a:ea typeface="+mn-ea"/>
              </a:defRPr>
            </a:lvl1pPr>
          </a:lstStyle>
          <a:p>
            <a:pPr>
              <a:defRPr/>
            </a:pPr>
            <a:endParaRPr lang="en-US"/>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pPr>
              <a:defRPr/>
            </a:pPr>
            <a:fld id="{94FC1F20-5EAB-41FB-B210-370B9C2C46B1}" type="slidenum">
              <a:rPr lang="en-US" altLang="en-US"/>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MS PGothic" panose="020B0600070205080204" pitchFamily="34" charset="-128"/>
              </a:defRPr>
            </a:lvl1pPr>
            <a:lvl2pPr marL="742950" indent="-285750">
              <a:defRPr sz="1400">
                <a:solidFill>
                  <a:schemeClr val="tx1"/>
                </a:solidFill>
                <a:latin typeface="Arial" panose="020B0604020202020204" pitchFamily="34" charset="0"/>
                <a:ea typeface="MS PGothic" panose="020B0600070205080204" pitchFamily="34" charset="-128"/>
              </a:defRPr>
            </a:lvl2pPr>
            <a:lvl3pPr marL="1143000" indent="-228600">
              <a:defRPr sz="1400">
                <a:solidFill>
                  <a:schemeClr val="tx1"/>
                </a:solidFill>
                <a:latin typeface="Arial" panose="020B0604020202020204" pitchFamily="34" charset="0"/>
                <a:ea typeface="MS PGothic" panose="020B0600070205080204" pitchFamily="34" charset="-128"/>
              </a:defRPr>
            </a:lvl3pPr>
            <a:lvl4pPr marL="1600200" indent="-228600">
              <a:defRPr sz="1400">
                <a:solidFill>
                  <a:schemeClr val="tx1"/>
                </a:solidFill>
                <a:latin typeface="Arial" panose="020B0604020202020204" pitchFamily="34" charset="0"/>
                <a:ea typeface="MS PGothic" panose="020B0600070205080204" pitchFamily="34" charset="-128"/>
              </a:defRPr>
            </a:lvl4pPr>
            <a:lvl5pPr marL="2057400" indent="-228600">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9pPr>
          </a:lstStyle>
          <a:p>
            <a:fld id="{6DD6BCF7-8E9F-41C5-A608-0D41664076BA}" type="slidenum">
              <a:rPr lang="en-US" altLang="en-US" sz="1200" smtClean="0">
                <a:latin typeface="Times New Roman" panose="02020603050405020304" pitchFamily="18" charset="0"/>
              </a:rPr>
              <a:t>1</a:t>
            </a:fld>
            <a:endParaRPr lang="en-US" altLang="en-US" sz="1200">
              <a:latin typeface="Times New Roman" panose="02020603050405020304" pitchFamily="18" charset="0"/>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741219" y="3243264"/>
            <a:ext cx="10515600" cy="1325563"/>
          </a:xfrm>
          <a:prstGeom prst="rect">
            <a:avLst/>
          </a:prstGeom>
        </p:spPr>
        <p:txBody>
          <a:bodyPr/>
          <a:lstStyle>
            <a:lvl1pPr>
              <a:defRPr>
                <a:solidFill>
                  <a:schemeClr val="bg1"/>
                </a:solidFill>
              </a:defRPr>
            </a:lvl1pPr>
          </a:lstStyle>
          <a:p>
            <a:r>
              <a:rPr lang="en-US"/>
              <a:t>Click to edit Master title style</a:t>
            </a:r>
          </a:p>
        </p:txBody>
      </p:sp>
      <p:sp>
        <p:nvSpPr>
          <p:cNvPr id="3" name="Date Placeholder 7"/>
          <p:cNvSpPr>
            <a:spLocks noGrp="1"/>
          </p:cNvSpPr>
          <p:nvPr>
            <p:ph type="dt" sz="half" idx="10"/>
          </p:nvPr>
        </p:nvSpPr>
        <p:spPr>
          <a:xfrm>
            <a:off x="0" y="6538913"/>
            <a:ext cx="2743200" cy="365125"/>
          </a:xfrm>
        </p:spPr>
        <p:txBody>
          <a:bodyPr/>
          <a:lstStyle>
            <a:lvl1pPr>
              <a:defRPr smtClean="0"/>
            </a:lvl1pPr>
          </a:lstStyle>
          <a:p>
            <a:pPr>
              <a:defRPr/>
            </a:pPr>
            <a:fld id="{04BF734D-FA21-46CC-B337-08991588F7D2}" type="datetime1">
              <a:rPr lang="en-US"/>
              <a:t>12/19/2024</a:t>
            </a:fld>
            <a:endParaRPr lang="en-US"/>
          </a:p>
        </p:txBody>
      </p:sp>
      <p:sp>
        <p:nvSpPr>
          <p:cNvPr id="4" name="Slide Number Placeholder 11"/>
          <p:cNvSpPr>
            <a:spLocks noGrp="1"/>
          </p:cNvSpPr>
          <p:nvPr>
            <p:ph type="sldNum" sz="quarter" idx="11"/>
          </p:nvPr>
        </p:nvSpPr>
        <p:spPr>
          <a:xfrm>
            <a:off x="9448800" y="6538913"/>
            <a:ext cx="2743200" cy="365125"/>
          </a:xfrm>
        </p:spPr>
        <p:txBody>
          <a:bodyPr/>
          <a:lstStyle>
            <a:lvl1pPr>
              <a:defRPr>
                <a:solidFill>
                  <a:prstClr val="white"/>
                </a:solidFill>
              </a:defRPr>
            </a:lvl1pPr>
          </a:lstStyle>
          <a:p>
            <a:pPr>
              <a:defRPr/>
            </a:pPr>
            <a:fld id="{775A0816-9807-4CA3-A3C5-68577B5C9559}" type="slidenum">
              <a:rPr lang="en-US"/>
              <a:t>‹#›</a:t>
            </a:fld>
            <a:endParaRPr lang="en-US"/>
          </a:p>
        </p:txBody>
      </p:sp>
      <p:sp>
        <p:nvSpPr>
          <p:cNvPr id="5" name="Rectangle 3"/>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3" name="Title 1"/>
          <p:cNvSpPr>
            <a:spLocks noGrp="1"/>
          </p:cNvSpPr>
          <p:nvPr>
            <p:ph type="title"/>
          </p:nvPr>
        </p:nvSpPr>
        <p:spPr>
          <a:xfrm>
            <a:off x="482252" y="277962"/>
            <a:ext cx="7928429"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4" name="Date Placeholder 3"/>
          <p:cNvSpPr>
            <a:spLocks noGrp="1"/>
          </p:cNvSpPr>
          <p:nvPr>
            <p:ph type="dt" sz="half" idx="10"/>
          </p:nvPr>
        </p:nvSpPr>
        <p:spPr>
          <a:xfrm>
            <a:off x="0" y="6580188"/>
            <a:ext cx="2743200" cy="277812"/>
          </a:xfrm>
        </p:spPr>
        <p:txBody>
          <a:bodyPr/>
          <a:lstStyle>
            <a:lvl1pPr>
              <a:defRPr smtClean="0"/>
            </a:lvl1pPr>
          </a:lstStyle>
          <a:p>
            <a:pPr>
              <a:defRPr/>
            </a:pPr>
            <a:fld id="{619230D7-F585-4615-8690-EE47007A6E78}" type="datetime1">
              <a:rPr lang="en-US"/>
              <a:t>12/19/2024</a:t>
            </a:fld>
            <a:endParaRPr lang="en-US"/>
          </a:p>
        </p:txBody>
      </p:sp>
      <p:sp>
        <p:nvSpPr>
          <p:cNvPr id="5" name="Slide Number Placeholder 5"/>
          <p:cNvSpPr>
            <a:spLocks noGrp="1"/>
          </p:cNvSpPr>
          <p:nvPr>
            <p:ph type="sldNum" sz="quarter" idx="11"/>
          </p:nvPr>
        </p:nvSpPr>
        <p:spPr>
          <a:xfrm>
            <a:off x="9412288" y="6623050"/>
            <a:ext cx="2743200" cy="234950"/>
          </a:xfrm>
        </p:spPr>
        <p:txBody>
          <a:bodyPr/>
          <a:lstStyle>
            <a:lvl1pPr>
              <a:defRPr sz="1000"/>
            </a:lvl1pPr>
          </a:lstStyle>
          <a:p>
            <a:pPr>
              <a:defRPr/>
            </a:pPr>
            <a:fld id="{3668E2E4-C289-40FA-803B-52DC86338CE3}" type="slidenum">
              <a:rPr lang="en-US" smtClean="0"/>
              <a:pPr>
                <a:defRPr/>
              </a:pPr>
              <a:t>‹#›</a:t>
            </a:fld>
            <a:endParaRPr lang="en-US"/>
          </a:p>
        </p:txBody>
      </p:sp>
      <p:sp>
        <p:nvSpPr>
          <p:cNvPr id="6" name="Rectangle 3"/>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487476" y="2949386"/>
            <a:ext cx="10515600" cy="1325563"/>
          </a:xfrm>
          <a:prstGeom prst="rect">
            <a:avLst/>
          </a:prstGeom>
        </p:spPr>
        <p:txBody>
          <a:bodyPr/>
          <a:lstStyle>
            <a:lvl1pPr>
              <a:defRPr sz="4500">
                <a:solidFill>
                  <a:schemeClr val="accent5"/>
                </a:solidFill>
              </a:defRPr>
            </a:lvl1pPr>
          </a:lstStyle>
          <a:p>
            <a:r>
              <a:rPr lang="en-US" dirty="0"/>
              <a:t>Click to edit Master title style</a:t>
            </a:r>
          </a:p>
        </p:txBody>
      </p:sp>
      <p:sp>
        <p:nvSpPr>
          <p:cNvPr id="4" name="Date Placeholder 3"/>
          <p:cNvSpPr>
            <a:spLocks noGrp="1"/>
          </p:cNvSpPr>
          <p:nvPr>
            <p:ph type="dt" sz="half" idx="10"/>
          </p:nvPr>
        </p:nvSpPr>
        <p:spPr>
          <a:xfrm>
            <a:off x="0" y="6592888"/>
            <a:ext cx="2743200" cy="268287"/>
          </a:xfrm>
        </p:spPr>
        <p:txBody>
          <a:bodyPr/>
          <a:lstStyle>
            <a:lvl1pPr>
              <a:defRPr smtClean="0"/>
            </a:lvl1pPr>
          </a:lstStyle>
          <a:p>
            <a:pPr>
              <a:defRPr/>
            </a:pPr>
            <a:fld id="{7F53EECD-5EF2-4F97-996E-6CBAC1BF3011}" type="datetime1">
              <a:rPr lang="en-US"/>
              <a:t>12/19/2024</a:t>
            </a:fld>
            <a:endParaRPr lang="en-US"/>
          </a:p>
        </p:txBody>
      </p:sp>
      <p:sp>
        <p:nvSpPr>
          <p:cNvPr id="5" name="Slide Number Placeholder 5"/>
          <p:cNvSpPr>
            <a:spLocks noGrp="1"/>
          </p:cNvSpPr>
          <p:nvPr>
            <p:ph type="sldNum" sz="quarter" idx="11"/>
          </p:nvPr>
        </p:nvSpPr>
        <p:spPr>
          <a:xfrm>
            <a:off x="9366250" y="6589713"/>
            <a:ext cx="2743200" cy="314325"/>
          </a:xfrm>
        </p:spPr>
        <p:txBody>
          <a:bodyPr/>
          <a:lstStyle>
            <a:lvl1pPr>
              <a:defRPr/>
            </a:lvl1pPr>
          </a:lstStyle>
          <a:p>
            <a:pPr>
              <a:defRPr/>
            </a:pPr>
            <a:fld id="{F9126DDB-45DE-4D72-94FB-1E2D565E80AF}" type="slidenum">
              <a:rPr lang="en-US"/>
              <a:t>‹#›</a:t>
            </a:fld>
            <a:endParaRPr lang="en-US"/>
          </a:p>
        </p:txBody>
      </p:sp>
      <p:sp>
        <p:nvSpPr>
          <p:cNvPr id="6" name="Rectangle 3"/>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2" name="Title 1"/>
          <p:cNvSpPr>
            <a:spLocks noGrp="1"/>
          </p:cNvSpPr>
          <p:nvPr>
            <p:ph type="title"/>
          </p:nvPr>
        </p:nvSpPr>
        <p:spPr>
          <a:xfrm>
            <a:off x="340858" y="243491"/>
            <a:ext cx="8061101"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0" y="1169082"/>
            <a:ext cx="11551617" cy="495413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4"/>
          </p:nvPr>
        </p:nvSpPr>
        <p:spPr/>
        <p:txBody>
          <a:bodyPr/>
          <a:lstStyle>
            <a:lvl1pPr>
              <a:defRPr smtClean="0"/>
            </a:lvl1pPr>
          </a:lstStyle>
          <a:p>
            <a:pPr>
              <a:defRPr/>
            </a:pPr>
            <a:fld id="{2953D200-00AA-42A7-802D-F180C1D57E6B}" type="datetime1">
              <a:rPr lang="en-US"/>
              <a:t>12/19/2024</a:t>
            </a:fld>
            <a:endParaRPr lang="en-US"/>
          </a:p>
        </p:txBody>
      </p:sp>
      <p:sp>
        <p:nvSpPr>
          <p:cNvPr id="5" name="Slide Number Placeholder 5"/>
          <p:cNvSpPr>
            <a:spLocks noGrp="1"/>
          </p:cNvSpPr>
          <p:nvPr>
            <p:ph type="sldNum" sz="quarter" idx="15"/>
          </p:nvPr>
        </p:nvSpPr>
        <p:spPr>
          <a:xfrm>
            <a:off x="9421813" y="6600825"/>
            <a:ext cx="2743200" cy="274638"/>
          </a:xfrm>
        </p:spPr>
        <p:txBody>
          <a:bodyPr/>
          <a:lstStyle>
            <a:lvl1pPr>
              <a:defRPr sz="1000"/>
            </a:lvl1pPr>
          </a:lstStyle>
          <a:p>
            <a:pPr>
              <a:defRPr/>
            </a:pPr>
            <a:fld id="{BC9EDAA9-37F3-4614-95D5-5B7FFAB71D04}" type="slidenum">
              <a:rPr lang="en-US" smtClean="0"/>
              <a:pPr>
                <a:defRPr/>
              </a:pPr>
              <a:t>‹#›</a:t>
            </a:fld>
            <a:endParaRPr lang="en-US"/>
          </a:p>
        </p:txBody>
      </p:sp>
      <p:sp>
        <p:nvSpPr>
          <p:cNvPr id="6" name="Rectangle 3"/>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6" y="2846231"/>
            <a:ext cx="4417452" cy="1460428"/>
          </a:xfrm>
          <a:prstGeom prst="rect">
            <a:avLst/>
          </a:prstGeom>
        </p:spPr>
        <p:txBody>
          <a:bodyPr anchor="b">
            <a:normAutofit/>
          </a:bodyPr>
          <a:lstStyle>
            <a:lvl1pPr algn="r">
              <a:defRPr sz="420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6" y="4429523"/>
            <a:ext cx="4417452" cy="750072"/>
          </a:xfrm>
          <a:prstGeom prst="rect">
            <a:avLst/>
          </a:prstGeom>
        </p:spPr>
        <p:txBody>
          <a:bodyPr/>
          <a:lstStyle>
            <a:lvl1pPr marL="0" indent="0" algn="r">
              <a:buNone/>
              <a:defRPr sz="18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1" name="Content Placeholder 2"/>
          <p:cNvSpPr>
            <a:spLocks noGrp="1"/>
          </p:cNvSpPr>
          <p:nvPr>
            <p:ph idx="13"/>
          </p:nvPr>
        </p:nvSpPr>
        <p:spPr>
          <a:xfrm>
            <a:off x="1" y="862151"/>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p:cNvSpPr>
            <a:spLocks noGrp="1"/>
          </p:cNvSpPr>
          <p:nvPr>
            <p:ph type="dt" sz="half" idx="14"/>
          </p:nvPr>
        </p:nvSpPr>
        <p:spPr/>
        <p:txBody>
          <a:bodyPr/>
          <a:lstStyle>
            <a:lvl1pPr>
              <a:defRPr smtClean="0"/>
            </a:lvl1pPr>
          </a:lstStyle>
          <a:p>
            <a:pPr>
              <a:defRPr/>
            </a:pPr>
            <a:fld id="{7A147622-DF6C-4AD4-B05B-A94F62E38A86}" type="datetime1">
              <a:rPr lang="en-US"/>
              <a:t>12/19/2024</a:t>
            </a:fld>
            <a:endParaRPr lang="en-US"/>
          </a:p>
        </p:txBody>
      </p:sp>
      <p:sp>
        <p:nvSpPr>
          <p:cNvPr id="6" name="Footer Placeholder 4"/>
          <p:cNvSpPr>
            <a:spLocks noGrp="1"/>
          </p:cNvSpPr>
          <p:nvPr>
            <p:ph type="ftr" sz="quarter" idx="15"/>
          </p:nvPr>
        </p:nvSpPr>
        <p:spPr>
          <a:xfrm>
            <a:off x="3871913" y="6604000"/>
            <a:ext cx="4114800" cy="254000"/>
          </a:xfrm>
        </p:spPr>
        <p:txBody>
          <a:bodyPr/>
          <a:lstStyle>
            <a:lvl1pPr defTabSz="342900" eaLnBrk="1" fontAlgn="auto" hangingPunct="1">
              <a:spcBef>
                <a:spcPts val="0"/>
              </a:spcBef>
              <a:spcAft>
                <a:spcPts val="0"/>
              </a:spcAft>
              <a:defRPr>
                <a:solidFill>
                  <a:prstClr val="white"/>
                </a:solidFill>
                <a:latin typeface="Calibri" panose="020F0502020204030204"/>
                <a:ea typeface="+mn-ea"/>
              </a:defRPr>
            </a:lvl1pPr>
          </a:lstStyle>
          <a:p>
            <a:pPr>
              <a:defRPr/>
            </a:pPr>
            <a:r>
              <a:rPr lang="en-US"/>
              <a:t>Database System Design, Implementation And Management </a:t>
            </a:r>
          </a:p>
        </p:txBody>
      </p:sp>
      <p:sp>
        <p:nvSpPr>
          <p:cNvPr id="7" name="Slide Number Placeholder 5"/>
          <p:cNvSpPr>
            <a:spLocks noGrp="1"/>
          </p:cNvSpPr>
          <p:nvPr>
            <p:ph type="sldNum" sz="quarter" idx="16"/>
          </p:nvPr>
        </p:nvSpPr>
        <p:spPr/>
        <p:txBody>
          <a:bodyPr/>
          <a:lstStyle>
            <a:lvl1pPr>
              <a:defRPr sz="1000"/>
            </a:lvl1pPr>
          </a:lstStyle>
          <a:p>
            <a:pPr>
              <a:defRPr/>
            </a:pPr>
            <a:fld id="{4FC3DE7D-4EEA-43B2-9617-70FD3CFD639D}"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6" y="278800"/>
            <a:ext cx="5813199" cy="457200"/>
          </a:xfrm>
          <a:prstGeom prst="rect">
            <a:avLst/>
          </a:prstGeom>
        </p:spPr>
        <p:txBody>
          <a:bodyPr/>
          <a:lstStyle>
            <a:lvl1pPr>
              <a:defRPr lang="en-US" sz="2475" b="1" baseline="0" dirty="0">
                <a:solidFill>
                  <a:srgbClr val="223771"/>
                </a:solidFill>
                <a:ea typeface="+mj-ea"/>
              </a:defRPr>
            </a:lvl1pPr>
          </a:lstStyle>
          <a:p>
            <a:pPr lvl="0"/>
            <a:r>
              <a:rPr lang="en-US"/>
              <a:t>Click to edit Master text styles</a:t>
            </a:r>
          </a:p>
        </p:txBody>
      </p:sp>
      <p:sp>
        <p:nvSpPr>
          <p:cNvPr id="6" name="Date Placeholder 3"/>
          <p:cNvSpPr>
            <a:spLocks noGrp="1"/>
          </p:cNvSpPr>
          <p:nvPr>
            <p:ph type="dt" sz="half" idx="14"/>
          </p:nvPr>
        </p:nvSpPr>
        <p:spPr/>
        <p:txBody>
          <a:bodyPr/>
          <a:lstStyle>
            <a:lvl1pPr>
              <a:defRPr smtClean="0"/>
            </a:lvl1pPr>
          </a:lstStyle>
          <a:p>
            <a:pPr>
              <a:defRPr/>
            </a:pPr>
            <a:fld id="{591607DA-A9BC-4664-80C0-A8EF5A98972C}" type="datetime1">
              <a:rPr lang="en-US"/>
              <a:t>12/19/2024</a:t>
            </a:fld>
            <a:endParaRPr lang="en-US"/>
          </a:p>
        </p:txBody>
      </p:sp>
      <p:sp>
        <p:nvSpPr>
          <p:cNvPr id="7" name="Slide Number Placeholder 5"/>
          <p:cNvSpPr>
            <a:spLocks noGrp="1"/>
          </p:cNvSpPr>
          <p:nvPr>
            <p:ph type="sldNum" sz="quarter" idx="15"/>
          </p:nvPr>
        </p:nvSpPr>
        <p:spPr/>
        <p:txBody>
          <a:bodyPr/>
          <a:lstStyle>
            <a:lvl1pPr>
              <a:defRPr sz="1000"/>
            </a:lvl1pPr>
          </a:lstStyle>
          <a:p>
            <a:pPr>
              <a:defRPr/>
            </a:pPr>
            <a:fld id="{B9B03C63-2273-46E4-B7DF-3CCA315B6CB6}" type="slidenum">
              <a:rPr lang="en-US" smtClean="0"/>
              <a:pPr>
                <a:defRPr/>
              </a:pPr>
              <a:t>‹#›</a:t>
            </a:fld>
            <a:endParaRPr lang="en-US"/>
          </a:p>
        </p:txBody>
      </p:sp>
      <p:sp>
        <p:nvSpPr>
          <p:cNvPr id="8" name="Rectangle 3"/>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p:cNvSpPr/>
          <p:nvPr userDrawn="1"/>
        </p:nvSpPr>
        <p:spPr>
          <a:xfrm>
            <a:off x="701899"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2250"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899"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4"/>
          </p:nvPr>
        </p:nvSpPr>
        <p:spPr/>
        <p:txBody>
          <a:bodyPr/>
          <a:lstStyle>
            <a:lvl1pPr>
              <a:defRPr smtClean="0"/>
            </a:lvl1pPr>
          </a:lstStyle>
          <a:p>
            <a:pPr>
              <a:defRPr/>
            </a:pPr>
            <a:fld id="{C90A3BB5-049D-4035-BBD7-C54E04C91C61}" type="datetime1">
              <a:rPr lang="en-US"/>
              <a:t>12/19/2024</a:t>
            </a:fld>
            <a:endParaRPr lang="en-US"/>
          </a:p>
        </p:txBody>
      </p:sp>
      <p:sp>
        <p:nvSpPr>
          <p:cNvPr id="8" name="Slide Number Placeholder 6"/>
          <p:cNvSpPr>
            <a:spLocks noGrp="1"/>
          </p:cNvSpPr>
          <p:nvPr>
            <p:ph type="sldNum" sz="quarter" idx="15"/>
          </p:nvPr>
        </p:nvSpPr>
        <p:spPr/>
        <p:txBody>
          <a:bodyPr/>
          <a:lstStyle>
            <a:lvl1pPr>
              <a:defRPr sz="1000"/>
            </a:lvl1pPr>
          </a:lstStyle>
          <a:p>
            <a:pPr>
              <a:defRPr/>
            </a:pPr>
            <a:fld id="{FE967A2B-7DC3-460F-82C1-37366D5A5F1B}" type="slidenum">
              <a:rPr lang="en-US" smtClean="0"/>
              <a:pPr>
                <a:defRPr/>
              </a:pPr>
              <a:t>‹#›</a:t>
            </a:fld>
            <a:endParaRPr lang="en-US"/>
          </a:p>
        </p:txBody>
      </p:sp>
      <p:sp>
        <p:nvSpPr>
          <p:cNvPr id="10" name="Rectangle 3"/>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lvl1pPr>
              <a:defRPr smtClean="0"/>
            </a:lvl1pPr>
          </a:lstStyle>
          <a:p>
            <a:pPr>
              <a:defRPr/>
            </a:pPr>
            <a:fld id="{0135270F-5CE6-4EF5-9A71-BDCE233B4E76}" type="datetime1">
              <a:rPr lang="en-US"/>
              <a:t>12/19/2024</a:t>
            </a:fld>
            <a:endParaRPr lang="en-US"/>
          </a:p>
        </p:txBody>
      </p:sp>
      <p:sp>
        <p:nvSpPr>
          <p:cNvPr id="4" name="Slide Number Placeholder 3"/>
          <p:cNvSpPr>
            <a:spLocks noGrp="1"/>
          </p:cNvSpPr>
          <p:nvPr>
            <p:ph type="sldNum" sz="quarter" idx="11"/>
          </p:nvPr>
        </p:nvSpPr>
        <p:spPr/>
        <p:txBody>
          <a:bodyPr/>
          <a:lstStyle>
            <a:lvl1pPr>
              <a:defRPr sz="1000"/>
            </a:lvl1pPr>
          </a:lstStyle>
          <a:p>
            <a:pPr>
              <a:defRPr/>
            </a:pPr>
            <a:fld id="{D1AD3536-327C-4937-83AF-A64971CFA6D9}" type="slidenum">
              <a:rPr lang="en-US" smtClean="0"/>
              <a:pPr>
                <a:defRPr/>
              </a:pPr>
              <a:t>‹#›</a:t>
            </a:fld>
            <a:endParaRPr lang="en-US"/>
          </a:p>
        </p:txBody>
      </p:sp>
      <p:sp>
        <p:nvSpPr>
          <p:cNvPr id="5" name="Rectangle 3"/>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28"/>
            <a:ext cx="8061101" cy="553289"/>
          </a:xfrm>
          <a:prstGeom prst="rect">
            <a:avLst/>
          </a:prstGeom>
        </p:spPr>
        <p:txBody>
          <a:bodyPr>
            <a:normAutofit/>
          </a:bodyPr>
          <a:lstStyle>
            <a:lvl1pPr>
              <a:defRPr sz="1875" b="1" baseline="0">
                <a:solidFill>
                  <a:srgbClr val="223771"/>
                </a:solidFill>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smtClean="0"/>
            </a:lvl1pPr>
          </a:lstStyle>
          <a:p>
            <a:pPr>
              <a:defRPr/>
            </a:pPr>
            <a:fld id="{42F541BA-B8B3-45BF-9568-D96FA3A28EA4}" type="datetime1">
              <a:rPr lang="en-US"/>
              <a:t>12/19/2024</a:t>
            </a:fld>
            <a:endParaRPr lang="en-US" dirty="0"/>
          </a:p>
        </p:txBody>
      </p:sp>
      <p:sp>
        <p:nvSpPr>
          <p:cNvPr id="4" name="Slide Number Placeholder 5"/>
          <p:cNvSpPr>
            <a:spLocks noGrp="1"/>
          </p:cNvSpPr>
          <p:nvPr>
            <p:ph type="sldNum" sz="quarter" idx="11"/>
          </p:nvPr>
        </p:nvSpPr>
        <p:spPr/>
        <p:txBody>
          <a:bodyPr/>
          <a:lstStyle>
            <a:lvl1pPr>
              <a:defRPr sz="1000"/>
            </a:lvl1pPr>
          </a:lstStyle>
          <a:p>
            <a:pPr>
              <a:defRPr/>
            </a:pPr>
            <a:fld id="{2BE77ECF-F060-4D46-A3D9-128B9B0DFB4A}" type="slidenum">
              <a:rPr lang="en-US" smtClean="0"/>
              <a:pPr>
                <a:defRPr/>
              </a:pPr>
              <a:t>‹#›</a:t>
            </a:fld>
            <a:endParaRPr lang="en-US"/>
          </a:p>
        </p:txBody>
      </p:sp>
      <p:sp>
        <p:nvSpPr>
          <p:cNvPr id="5" name="Rectangle 3"/>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5" name="Freeform 13"/>
          <p:cNvSpPr/>
          <p:nvPr userDrawn="1"/>
        </p:nvSpPr>
        <p:spPr>
          <a:xfrm>
            <a:off x="851140"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lnSpc>
                <a:spcPct val="150000"/>
              </a:lnSpc>
              <a:buClr>
                <a:schemeClr val="accent2"/>
              </a:buClr>
              <a:buFont typeface="Wingdings" panose="05000000000000000000" pitchFamily="2" charset="2"/>
              <a:buChar char="q"/>
              <a:defRPr>
                <a:latin typeface="NewCaledoniaLTStd"/>
              </a:defRPr>
            </a:lvl1pPr>
            <a:lvl2pPr marL="514350" indent="-171450">
              <a:lnSpc>
                <a:spcPct val="150000"/>
              </a:lnSpc>
              <a:buClr>
                <a:schemeClr val="accent2"/>
              </a:buClr>
              <a:buFont typeface="Wingdings" panose="05000000000000000000" pitchFamily="2" charset="2"/>
              <a:buChar char="Ø"/>
              <a:defRPr>
                <a:latin typeface="NewCaledoniaLTStd"/>
              </a:defRPr>
            </a:lvl2pPr>
            <a:lvl3pPr marL="857250" indent="-171450">
              <a:lnSpc>
                <a:spcPct val="150000"/>
              </a:lnSpc>
              <a:buClr>
                <a:schemeClr val="accent2"/>
              </a:buClr>
              <a:buFont typeface="Wingdings" panose="05000000000000000000" pitchFamily="2" charset="2"/>
              <a:buChar char="ü"/>
              <a:defRPr>
                <a:latin typeface="NewCaledoniaLTStd"/>
              </a:defRPr>
            </a:lvl3pPr>
            <a:lvl4pPr marL="1200150" indent="-171450">
              <a:lnSpc>
                <a:spcPct val="150000"/>
              </a:lnSpc>
              <a:buClr>
                <a:schemeClr val="accent2"/>
              </a:buClr>
              <a:buFont typeface="Courier New" panose="02070309020205020404" pitchFamily="49" charset="0"/>
              <a:buChar char="o"/>
              <a:defRPr>
                <a:latin typeface="NewCaledoniaLTStd"/>
              </a:defRPr>
            </a:lvl4pPr>
            <a:lvl5pPr marL="1543050" indent="-171450">
              <a:lnSpc>
                <a:spcPct val="150000"/>
              </a:lnSpc>
              <a:buClr>
                <a:schemeClr val="accent2"/>
              </a:buClr>
              <a:buFont typeface="Arial" panose="020B0604020202020204" pitchFamily="34" charset="0"/>
              <a:buChar char="•"/>
              <a:defRPr>
                <a:latin typeface="NewCaledoniaLTSt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p:cNvSpPr>
            <a:spLocks noGrp="1" noChangeArrowheads="1"/>
          </p:cNvSpPr>
          <p:nvPr>
            <p:ph type="sldNum" sz="quarter" idx="10"/>
          </p:nvPr>
        </p:nvSpPr>
        <p:spPr/>
        <p:txBody>
          <a:bodyPr/>
          <a:lstStyle>
            <a:lvl1pPr defTabSz="914400" eaLnBrk="0" fontAlgn="base" hangingPunct="0">
              <a:spcBef>
                <a:spcPct val="0"/>
              </a:spcBef>
              <a:spcAft>
                <a:spcPct val="0"/>
              </a:spcAft>
              <a:defRPr sz="1000">
                <a:solidFill>
                  <a:schemeClr val="bg1"/>
                </a:solidFill>
                <a:latin typeface="Arial" panose="020B0604020202020204" pitchFamily="34" charset="0"/>
                <a:ea typeface="MS PGothic" panose="020B0600070205080204" pitchFamily="34" charset="-128"/>
              </a:defRPr>
            </a:lvl1pPr>
          </a:lstStyle>
          <a:p>
            <a:pPr>
              <a:defRPr/>
            </a:pPr>
            <a:fld id="{34A84676-C444-4AC5-8B4E-405A7C81C0FB}" type="slidenum">
              <a:rPr lang="en-US" altLang="en-US" smtClean="0"/>
              <a:pPr>
                <a:defRPr/>
              </a:pPr>
              <a:t>‹#›</a:t>
            </a:fld>
            <a:endParaRPr lang="en-US" altLang="en-US"/>
          </a:p>
        </p:txBody>
      </p:sp>
      <p:sp>
        <p:nvSpPr>
          <p:cNvPr id="7" name="Rectangle 3"/>
          <p:cNvSpPr>
            <a:spLocks noGrp="1" noChangeArrowheads="1"/>
          </p:cNvSpPr>
          <p:nvPr>
            <p:ph type="ftr" sz="quarter" idx="11"/>
          </p:nvPr>
        </p:nvSpPr>
        <p:spPr/>
        <p:txBody>
          <a:bodyPr/>
          <a:lstStyle>
            <a:lvl1pPr>
              <a:defRPr/>
            </a:lvl1pPr>
          </a:lstStyle>
          <a:p>
            <a:pPr>
              <a:defRPr/>
            </a:pPr>
            <a:r>
              <a:rPr lang="en-US"/>
              <a:t>Database System Design, Implementation And Management </a:t>
            </a:r>
          </a:p>
        </p:txBody>
      </p:sp>
      <p:sp>
        <p:nvSpPr>
          <p:cNvPr id="8" name="Date Placeholder 1"/>
          <p:cNvSpPr>
            <a:spLocks noGrp="1"/>
          </p:cNvSpPr>
          <p:nvPr>
            <p:ph type="dt" sz="half" idx="12"/>
          </p:nvPr>
        </p:nvSpPr>
        <p:spPr/>
        <p:txBody>
          <a:bodyPr/>
          <a:lstStyle>
            <a:lvl1pPr>
              <a:defRPr smtClean="0"/>
            </a:lvl1pPr>
          </a:lstStyle>
          <a:p>
            <a:pPr>
              <a:defRPr/>
            </a:pPr>
            <a:fld id="{6D947E3C-0B49-413F-8928-2C02ECEF5B61}" type="datetime1">
              <a:rPr lang="en-US"/>
              <a:t>12/19/2024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p:cNvGrpSpPr/>
          <p:nvPr/>
        </p:nvGrpSpPr>
        <p:grpSpPr bwMode="auto">
          <a:xfrm>
            <a:off x="0" y="6494463"/>
            <a:ext cx="12192000" cy="373062"/>
            <a:chOff x="0" y="1661375"/>
            <a:chExt cx="12192000" cy="373091"/>
          </a:xfrm>
        </p:grpSpPr>
        <p:sp>
          <p:nvSpPr>
            <p:cNvPr id="8" name="Rectangle 7"/>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9" name="Rectangle 8"/>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grpSp>
      <p:sp>
        <p:nvSpPr>
          <p:cNvPr id="6" name="Slide Number Placeholder 5"/>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342900" eaLnBrk="1" fontAlgn="auto" hangingPunct="1">
              <a:spcBef>
                <a:spcPts val="0"/>
              </a:spcBef>
              <a:spcAft>
                <a:spcPts val="0"/>
              </a:spcAft>
              <a:defRPr sz="1000">
                <a:solidFill>
                  <a:prstClr val="white"/>
                </a:solidFill>
                <a:latin typeface="Calibri" panose="020F0502020204030204"/>
                <a:ea typeface="+mn-ea"/>
              </a:defRPr>
            </a:lvl1pPr>
          </a:lstStyle>
          <a:p>
            <a:pPr>
              <a:defRPr/>
            </a:pPr>
            <a:fld id="{B77A7909-E221-4E66-A5EF-13497EA60DDF}" type="slidenum">
              <a:rPr lang="en-US" smtClean="0"/>
              <a:pPr>
                <a:defRPr/>
              </a:pPr>
              <a:t>‹#›</a:t>
            </a:fld>
            <a:endParaRPr lang="en-US" dirty="0"/>
          </a:p>
        </p:txBody>
      </p:sp>
      <p:sp>
        <p:nvSpPr>
          <p:cNvPr id="4" name="Date Placeholder 3"/>
          <p:cNvSpPr>
            <a:spLocks noGrp="1"/>
          </p:cNvSpPr>
          <p:nvPr>
            <p:ph type="dt" sz="half" idx="2"/>
          </p:nvPr>
        </p:nvSpPr>
        <p:spPr>
          <a:xfrm>
            <a:off x="0" y="6600825"/>
            <a:ext cx="2743200" cy="257175"/>
          </a:xfrm>
          <a:prstGeom prst="rect">
            <a:avLst/>
          </a:prstGeom>
        </p:spPr>
        <p:txBody>
          <a:bodyPr vert="horz" lIns="91440" tIns="45720" rIns="91440" bIns="45720" rtlCol="0" anchor="ctr"/>
          <a:lstStyle>
            <a:lvl1pPr algn="l" defTabSz="342900" eaLnBrk="1" fontAlgn="auto" hangingPunct="1">
              <a:spcBef>
                <a:spcPts val="0"/>
              </a:spcBef>
              <a:spcAft>
                <a:spcPts val="0"/>
              </a:spcAft>
              <a:defRPr sz="1000" smtClean="0">
                <a:solidFill>
                  <a:prstClr val="white"/>
                </a:solidFill>
                <a:latin typeface="Calibri" panose="020F0502020204030204"/>
                <a:ea typeface="+mn-ea"/>
              </a:defRPr>
            </a:lvl1pPr>
          </a:lstStyle>
          <a:p>
            <a:pPr>
              <a:defRPr/>
            </a:pPr>
            <a:fld id="{AE5C34FE-8DBA-47D2-B92C-42DE287139A6}" type="datetime1">
              <a:rPr lang="en-US" smtClean="0"/>
              <a:pPr>
                <a:defRPr/>
              </a:pPr>
              <a:t>12/19/2024</a:t>
            </a:fld>
            <a:endParaRPr lang="en-US" dirty="0"/>
          </a:p>
        </p:txBody>
      </p:sp>
      <p:sp>
        <p:nvSpPr>
          <p:cNvPr id="1029"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30"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p:cNvSpPr>
            <a:spLocks noGrp="1" noChangeArrowheads="1"/>
          </p:cNvSpPr>
          <p:nvPr>
            <p:ph type="ftr" sz="quarter" idx="3"/>
          </p:nvPr>
        </p:nvSpPr>
        <p:spPr>
          <a:xfrm>
            <a:off x="3871913" y="6604000"/>
            <a:ext cx="4967287" cy="254000"/>
          </a:xfrm>
          <a:prstGeom prst="rect">
            <a:avLst/>
          </a:prstGeom>
        </p:spPr>
        <p:txBody>
          <a:bodyPr/>
          <a:lstStyle>
            <a:lvl1pPr>
              <a:defRPr sz="1000">
                <a:solidFill>
                  <a:schemeClr val="bg1"/>
                </a:solidFill>
              </a:defRPr>
            </a:lvl1pPr>
          </a:lstStyle>
          <a:p>
            <a:pPr>
              <a:defRPr/>
            </a:pPr>
            <a:r>
              <a:rPr lang="en-US" dirty="0"/>
              <a:t>Database System Design, Implementation And Management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Arial" panose="020B0604020202020204" pitchFamily="34" charset="0"/>
          <a:ea typeface="+mj-ea"/>
          <a:cs typeface="Arial" panose="020B0604020202020204" pitchFamily="34" charset="0"/>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Learning Objectives</a:t>
            </a:r>
          </a:p>
        </p:txBody>
      </p:sp>
      <p:sp>
        <p:nvSpPr>
          <p:cNvPr id="18435" name="Rectangle 3"/>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altLang="en-US" sz="1800" dirty="0"/>
              <a:t>Define the difference between data and information</a:t>
            </a:r>
          </a:p>
          <a:p>
            <a:pPr marL="457200" indent="-457200" eaLnBrk="1" hangingPunct="1">
              <a:lnSpc>
                <a:spcPct val="150000"/>
              </a:lnSpc>
              <a:buFont typeface="Calibri Light" panose="020F0302020204030204" pitchFamily="34" charset="0"/>
              <a:buAutoNum type="arabicPeriod"/>
            </a:pPr>
            <a:r>
              <a:rPr lang="en-US" altLang="en-US" sz="1800" dirty="0"/>
              <a:t>Describe what a database is, the various types of databases, and why they are valuable assets for decision making</a:t>
            </a:r>
          </a:p>
          <a:p>
            <a:pPr marL="457200" indent="-457200" eaLnBrk="1" hangingPunct="1">
              <a:lnSpc>
                <a:spcPct val="150000"/>
              </a:lnSpc>
              <a:buFont typeface="Calibri Light" panose="020F0302020204030204" pitchFamily="34" charset="0"/>
              <a:buAutoNum type="arabicPeriod"/>
            </a:pPr>
            <a:r>
              <a:rPr lang="en-US" altLang="en-US" sz="1800" dirty="0"/>
              <a:t>Explain the importance of database design</a:t>
            </a:r>
          </a:p>
          <a:p>
            <a:pPr marL="457200" indent="-457200" eaLnBrk="1" hangingPunct="1">
              <a:lnSpc>
                <a:spcPct val="150000"/>
              </a:lnSpc>
              <a:buFont typeface="Calibri Light" panose="020F0302020204030204" pitchFamily="34" charset="0"/>
              <a:buAutoNum type="arabicPeriod"/>
            </a:pPr>
            <a:r>
              <a:rPr lang="en-US" altLang="en-US" sz="1800" dirty="0"/>
              <a:t>Outline how modern databases evolved from file systems</a:t>
            </a:r>
          </a:p>
          <a:p>
            <a:pPr marL="457200" indent="-457200" eaLnBrk="1" hangingPunct="1">
              <a:lnSpc>
                <a:spcPct val="150000"/>
              </a:lnSpc>
              <a:buFont typeface="Calibri Light" panose="020F0302020204030204" pitchFamily="34" charset="0"/>
              <a:buAutoNum type="arabicPeriod"/>
            </a:pPr>
            <a:r>
              <a:rPr lang="en-US" altLang="en-US" sz="1800" dirty="0"/>
              <a:t>Identify flaws in file system data management</a:t>
            </a:r>
          </a:p>
          <a:p>
            <a:pPr marL="457200" indent="-457200" eaLnBrk="1" hangingPunct="1">
              <a:lnSpc>
                <a:spcPct val="150000"/>
              </a:lnSpc>
              <a:buFont typeface="Calibri Light" panose="020F0302020204030204" pitchFamily="34" charset="0"/>
              <a:buAutoNum type="arabicPeriod"/>
            </a:pPr>
            <a:r>
              <a:rPr lang="en-US" altLang="en-US" sz="1800" dirty="0"/>
              <a:t>Outline the main components of the database system</a:t>
            </a:r>
          </a:p>
          <a:p>
            <a:pPr marL="457200" indent="-457200" eaLnBrk="1" hangingPunct="1">
              <a:lnSpc>
                <a:spcPct val="150000"/>
              </a:lnSpc>
              <a:buFont typeface="Calibri Light" panose="020F0302020204030204" pitchFamily="34" charset="0"/>
              <a:buAutoNum type="arabicPeriod"/>
            </a:pPr>
            <a:r>
              <a:rPr lang="en-US" altLang="en-US" sz="1800" dirty="0"/>
              <a:t>Describe the main functions of a database management system (DBMS)</a:t>
            </a:r>
          </a:p>
        </p:txBody>
      </p:sp>
      <p:sp>
        <p:nvSpPr>
          <p:cNvPr id="2" name="Date Placeholder 1"/>
          <p:cNvSpPr>
            <a:spLocks noGrp="1"/>
          </p:cNvSpPr>
          <p:nvPr>
            <p:ph type="dt" sz="quarter" idx="12"/>
          </p:nvPr>
        </p:nvSpPr>
        <p:spPr/>
        <p:txBody>
          <a:bodyPr/>
          <a:lstStyle/>
          <a:p>
            <a:pPr>
              <a:defRPr/>
            </a:pPr>
            <a:fld id="{70935733-0070-4FC4-AA67-45D4DA740129}" type="datetime1">
              <a:rPr lang="en-US"/>
              <a:t>12/19/2024</a:t>
            </a:fld>
            <a:endParaRPr lang="en-US"/>
          </a:p>
        </p:txBody>
      </p:sp>
      <p:sp>
        <p:nvSpPr>
          <p:cNvPr id="18437" name="Footer Placeholder 5"/>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solidFill>
                  <a:schemeClr val="tx1"/>
                </a:solidFill>
                <a:latin typeface="Arial" panose="020B0604020202020204" pitchFamily="34" charset="0"/>
                <a:ea typeface="MS PGothic" panose="020B0600070205080204" pitchFamily="34" charset="-128"/>
              </a:defRPr>
            </a:lvl1pPr>
            <a:lvl2pPr marL="742950" indent="-285750">
              <a:defRPr sz="1400">
                <a:solidFill>
                  <a:schemeClr val="tx1"/>
                </a:solidFill>
                <a:latin typeface="Arial" panose="020B0604020202020204" pitchFamily="34" charset="0"/>
                <a:ea typeface="MS PGothic" panose="020B0600070205080204" pitchFamily="34" charset="-128"/>
              </a:defRPr>
            </a:lvl2pPr>
            <a:lvl3pPr marL="1143000" indent="-228600">
              <a:defRPr sz="1400">
                <a:solidFill>
                  <a:schemeClr val="tx1"/>
                </a:solidFill>
                <a:latin typeface="Arial" panose="020B0604020202020204" pitchFamily="34" charset="0"/>
                <a:ea typeface="MS PGothic" panose="020B0600070205080204" pitchFamily="34" charset="-128"/>
              </a:defRPr>
            </a:lvl3pPr>
            <a:lvl4pPr marL="1600200" indent="-228600">
              <a:defRPr sz="1400">
                <a:solidFill>
                  <a:schemeClr val="tx1"/>
                </a:solidFill>
                <a:latin typeface="Arial" panose="020B0604020202020204" pitchFamily="34" charset="0"/>
                <a:ea typeface="MS PGothic" panose="020B0600070205080204" pitchFamily="34" charset="-128"/>
              </a:defRPr>
            </a:lvl4pPr>
            <a:lvl5pPr marL="2057400" indent="-228600">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9pPr>
          </a:lstStyle>
          <a:p>
            <a:r>
              <a:rPr lang="en-US" altLang="en-US" sz="1000">
                <a:solidFill>
                  <a:schemeClr val="bg1"/>
                </a:solidFill>
              </a:rPr>
              <a:t>Database System Design, Implementation And Management </a:t>
            </a:r>
          </a:p>
        </p:txBody>
      </p:sp>
      <p:sp>
        <p:nvSpPr>
          <p:cNvPr id="18438" name="Slide Number Placeholder 6"/>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sz="1400">
                <a:solidFill>
                  <a:schemeClr val="tx1"/>
                </a:solidFill>
                <a:latin typeface="Arial" panose="020B0604020202020204" pitchFamily="34" charset="0"/>
                <a:ea typeface="MS PGothic" panose="020B0600070205080204" pitchFamily="34" charset="-128"/>
              </a:defRPr>
            </a:lvl1pPr>
            <a:lvl2pPr marL="742950" indent="-285750">
              <a:defRPr sz="1400">
                <a:solidFill>
                  <a:schemeClr val="tx1"/>
                </a:solidFill>
                <a:latin typeface="Arial" panose="020B0604020202020204" pitchFamily="34" charset="0"/>
                <a:ea typeface="MS PGothic" panose="020B0600070205080204" pitchFamily="34" charset="-128"/>
              </a:defRPr>
            </a:lvl2pPr>
            <a:lvl3pPr marL="1143000" indent="-228600">
              <a:defRPr sz="1400">
                <a:solidFill>
                  <a:schemeClr val="tx1"/>
                </a:solidFill>
                <a:latin typeface="Arial" panose="020B0604020202020204" pitchFamily="34" charset="0"/>
                <a:ea typeface="MS PGothic" panose="020B0600070205080204" pitchFamily="34" charset="-128"/>
              </a:defRPr>
            </a:lvl3pPr>
            <a:lvl4pPr marL="1600200" indent="-228600">
              <a:defRPr sz="1400">
                <a:solidFill>
                  <a:schemeClr val="tx1"/>
                </a:solidFill>
                <a:latin typeface="Arial" panose="020B0604020202020204" pitchFamily="34" charset="0"/>
                <a:ea typeface="MS PGothic" panose="020B0600070205080204" pitchFamily="34" charset="-128"/>
              </a:defRPr>
            </a:lvl4pPr>
            <a:lvl5pPr marL="2057400" indent="-228600">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anose="020B0600070205080204" pitchFamily="34" charset="-128"/>
              </a:defRPr>
            </a:lvl9pPr>
          </a:lstStyle>
          <a:p>
            <a:fld id="{25E4E02F-8D0B-4F73-B3DD-858F1DB63CB0}" type="slidenum">
              <a:rPr lang="en-US" altLang="en-US" sz="900" smtClean="0">
                <a:solidFill>
                  <a:schemeClr val="bg1"/>
                </a:solidFill>
              </a:rPr>
              <a:t>1</a:t>
            </a:fld>
            <a:endParaRPr lang="en-US" altLang="en-US" sz="900" dirty="0">
              <a:solidFill>
                <a:schemeClr val="bg1"/>
              </a:solidFill>
            </a:endParaRPr>
          </a:p>
        </p:txBody>
      </p:sp>
      <p:pic>
        <p:nvPicPr>
          <p:cNvPr id="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10" y="76200"/>
            <a:ext cx="11904379" cy="623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dirty="0"/>
              <a:t>National Economics University</a:t>
            </a:r>
            <a:br>
              <a:rPr lang="en-US" altLang="en-US" dirty="0"/>
            </a:br>
            <a:r>
              <a:rPr lang="en-US" altLang="en-US"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defRPr/>
            </a:pPr>
            <a:r>
              <a:rPr lang="en-US" dirty="0"/>
              <a:t>Database System Design, Implementation And Management Course – Database Performance</a:t>
            </a:r>
          </a:p>
          <a:p>
            <a:pPr eaLnBrk="1" hangingPunct="1">
              <a:defRPr/>
            </a:pPr>
            <a:r>
              <a:rPr lang="en-US" dirty="0"/>
              <a:t>Tuning and Query Optimization</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10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sz="2000" i="0" dirty="0">
                <a:solidFill>
                  <a:srgbClr val="474A9E"/>
                </a:solidFill>
                <a:effectLst/>
                <a:latin typeface="MyriadPro-Black"/>
              </a:rPr>
              <a:t>11-1 Identify the procedures involved in database performance tuning</a:t>
            </a:r>
          </a:p>
          <a:p>
            <a:r>
              <a:rPr lang="en-US" sz="2000" i="0" dirty="0">
                <a:solidFill>
                  <a:srgbClr val="474A9E"/>
                </a:solidFill>
                <a:effectLst/>
                <a:latin typeface="MyriadPro-Black"/>
              </a:rPr>
              <a:t>11-2 Describe how a DBMS processes SQL queries in each of its three phases</a:t>
            </a:r>
          </a:p>
          <a:p>
            <a:r>
              <a:rPr lang="en-US" sz="2000" i="0" dirty="0">
                <a:solidFill>
                  <a:srgbClr val="474A9E"/>
                </a:solidFill>
                <a:effectLst/>
                <a:latin typeface="MyriadPro-Black"/>
              </a:rPr>
              <a:t>11-3 Explain the role of indexes in speeding up data access</a:t>
            </a:r>
          </a:p>
          <a:p>
            <a:r>
              <a:rPr lang="en-US" sz="2000" i="0" dirty="0">
                <a:solidFill>
                  <a:srgbClr val="474A9E"/>
                </a:solidFill>
                <a:effectLst/>
                <a:latin typeface="MyriadPro-Black"/>
              </a:rPr>
              <a:t>11-4 Differentiate between a rule-based optimizer and a cost-based optimizer</a:t>
            </a:r>
          </a:p>
          <a:p>
            <a:r>
              <a:rPr lang="en-US" sz="2000" i="0" dirty="0">
                <a:solidFill>
                  <a:srgbClr val="474A9E"/>
                </a:solidFill>
                <a:effectLst/>
                <a:latin typeface="MyriadPro-Black"/>
              </a:rPr>
              <a:t>11-5 Describe some common practices used to write efficient SQL code</a:t>
            </a:r>
          </a:p>
          <a:p>
            <a:r>
              <a:rPr lang="en-US" sz="2000" i="0" dirty="0">
                <a:solidFill>
                  <a:srgbClr val="474A9E"/>
                </a:solidFill>
                <a:effectLst/>
                <a:latin typeface="MyriadPro-Black"/>
              </a:rPr>
              <a:t>11-6 Explain how to formulate queries and tune the DBMS for optimal performance</a:t>
            </a:r>
            <a:endParaRPr lang="en-US" sz="3200" dirty="0"/>
          </a:p>
        </p:txBody>
      </p:sp>
      <p:sp>
        <p:nvSpPr>
          <p:cNvPr id="4" name="Slide Number Placeholder 3"/>
          <p:cNvSpPr>
            <a:spLocks noGrp="1"/>
          </p:cNvSpPr>
          <p:nvPr>
            <p:ph type="sldNum" sz="quarter" idx="10"/>
          </p:nvPr>
        </p:nvSpPr>
        <p:spPr/>
        <p:txBody>
          <a:bodyPr/>
          <a:lstStyle/>
          <a:p>
            <a:pPr>
              <a:defRPr/>
            </a:pPr>
            <a:fld id="{34A84676-C444-4AC5-8B4E-405A7C81C0FB}" type="slidenum">
              <a:rPr lang="en-US" altLang="en-US" smtClean="0"/>
              <a:t>3</a:t>
            </a:fld>
            <a:endParaRPr lang="en-US" altLang="en-US"/>
          </a:p>
        </p:txBody>
      </p:sp>
      <p:sp>
        <p:nvSpPr>
          <p:cNvPr id="5" name="Footer Placeholder 4"/>
          <p:cNvSpPr>
            <a:spLocks noGrp="1"/>
          </p:cNvSpPr>
          <p:nvPr>
            <p:ph type="ftr" sz="quarter" idx="11"/>
          </p:nvPr>
        </p:nvSpPr>
        <p:spPr/>
        <p:txBody>
          <a:bodyPr/>
          <a:lstStyle/>
          <a:p>
            <a:pPr>
              <a:defRPr/>
            </a:pPr>
            <a:r>
              <a:rPr lang="en-US"/>
              <a:t>Database System Design, Implementation And Management </a:t>
            </a:r>
          </a:p>
        </p:txBody>
      </p:sp>
      <p:sp>
        <p:nvSpPr>
          <p:cNvPr id="6" name="Date Placeholder 5"/>
          <p:cNvSpPr>
            <a:spLocks noGrp="1"/>
          </p:cNvSpPr>
          <p:nvPr>
            <p:ph type="dt" sz="half" idx="12"/>
          </p:nvPr>
        </p:nvSpPr>
        <p:spPr/>
        <p:txBody>
          <a:bodyPr/>
          <a:lstStyle/>
          <a:p>
            <a:pPr>
              <a:defRPr/>
            </a:pPr>
            <a:fld id="{6D947E3C-0B49-413F-8928-2C02ECEF5B61}" type="datetime1">
              <a:rPr lang="en-US" smtClean="0"/>
              <a:t>12/19/2024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CC94-53AA-0B59-21CB-A81B108957E9}"/>
              </a:ext>
            </a:extLst>
          </p:cNvPr>
          <p:cNvSpPr>
            <a:spLocks noGrp="1"/>
          </p:cNvSpPr>
          <p:nvPr>
            <p:ph type="title"/>
          </p:nvPr>
        </p:nvSpPr>
        <p:spPr/>
        <p:txBody>
          <a:bodyPr/>
          <a:lstStyle/>
          <a:p>
            <a:r>
              <a:rPr lang="en-US" dirty="0"/>
              <a:t>11-1 Database Performance-Tuning Concepts</a:t>
            </a:r>
          </a:p>
        </p:txBody>
      </p:sp>
      <p:sp>
        <p:nvSpPr>
          <p:cNvPr id="3" name="Date Placeholder 2">
            <a:extLst>
              <a:ext uri="{FF2B5EF4-FFF2-40B4-BE49-F238E27FC236}">
                <a16:creationId xmlns:a16="http://schemas.microsoft.com/office/drawing/2014/main" id="{AF5DF998-229E-1F84-B676-4812C79B8254}"/>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98B447CE-5D87-FD90-C130-8E94F6B3EF3F}"/>
              </a:ext>
            </a:extLst>
          </p:cNvPr>
          <p:cNvSpPr>
            <a:spLocks noGrp="1"/>
          </p:cNvSpPr>
          <p:nvPr>
            <p:ph type="sldNum" sz="quarter" idx="11"/>
          </p:nvPr>
        </p:nvSpPr>
        <p:spPr/>
        <p:txBody>
          <a:bodyPr/>
          <a:lstStyle/>
          <a:p>
            <a:pPr>
              <a:defRPr/>
            </a:pPr>
            <a:fld id="{F9126DDB-45DE-4D72-94FB-1E2D565E80AF}" type="slidenum">
              <a:rPr lang="en-US" smtClean="0"/>
              <a:t>4</a:t>
            </a:fld>
            <a:endParaRPr lang="en-US"/>
          </a:p>
        </p:txBody>
      </p:sp>
      <p:sp>
        <p:nvSpPr>
          <p:cNvPr id="5" name="Footer Placeholder 4">
            <a:extLst>
              <a:ext uri="{FF2B5EF4-FFF2-40B4-BE49-F238E27FC236}">
                <a16:creationId xmlns:a16="http://schemas.microsoft.com/office/drawing/2014/main" id="{3461D549-9EAC-B4B8-EE3E-BA98C7E9EE3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832637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96F8-B7E2-D7EC-DDF8-B0124C9CABF4}"/>
              </a:ext>
            </a:extLst>
          </p:cNvPr>
          <p:cNvSpPr>
            <a:spLocks noGrp="1"/>
          </p:cNvSpPr>
          <p:nvPr>
            <p:ph type="title"/>
          </p:nvPr>
        </p:nvSpPr>
        <p:spPr/>
        <p:txBody>
          <a:bodyPr/>
          <a:lstStyle/>
          <a:p>
            <a:r>
              <a:rPr lang="en-US" dirty="0"/>
              <a:t>11-1 Database Performance-Tuning Concepts</a:t>
            </a:r>
          </a:p>
        </p:txBody>
      </p:sp>
      <p:sp>
        <p:nvSpPr>
          <p:cNvPr id="3" name="Content Placeholder 2">
            <a:extLst>
              <a:ext uri="{FF2B5EF4-FFF2-40B4-BE49-F238E27FC236}">
                <a16:creationId xmlns:a16="http://schemas.microsoft.com/office/drawing/2014/main" id="{AB10D1CE-C0EF-3380-60F8-4E503BF5802A}"/>
              </a:ext>
            </a:extLst>
          </p:cNvPr>
          <p:cNvSpPr>
            <a:spLocks noGrp="1"/>
          </p:cNvSpPr>
          <p:nvPr>
            <p:ph idx="1"/>
          </p:nvPr>
        </p:nvSpPr>
        <p:spPr/>
        <p:txBody>
          <a:bodyPr/>
          <a:lstStyle/>
          <a:p>
            <a:r>
              <a:rPr lang="en-US" sz="2400" b="1" i="0" dirty="0">
                <a:solidFill>
                  <a:srgbClr val="007DAF"/>
                </a:solidFill>
                <a:effectLst/>
                <a:latin typeface="MyriadPro-BoldSemiCn"/>
              </a:rPr>
              <a:t>End user requests and expectation: </a:t>
            </a:r>
            <a:endParaRPr lang="en-US" sz="2400" b="1" dirty="0">
              <a:solidFill>
                <a:srgbClr val="007DAF"/>
              </a:solidFill>
              <a:latin typeface="MyriadPro-BoldSemiCn"/>
            </a:endParaRPr>
          </a:p>
          <a:p>
            <a:endParaRPr lang="en-US" sz="2400" b="1" i="0" dirty="0">
              <a:solidFill>
                <a:srgbClr val="007DAF"/>
              </a:solidFill>
              <a:effectLst/>
              <a:latin typeface="MyriadPro-BoldSemiCn"/>
            </a:endParaRPr>
          </a:p>
          <a:p>
            <a:endParaRPr lang="en-US" sz="2400" b="1" i="0" dirty="0">
              <a:solidFill>
                <a:srgbClr val="007DAF"/>
              </a:solidFill>
              <a:effectLst/>
              <a:latin typeface="MyriadPro-BoldSemiCn"/>
            </a:endParaRPr>
          </a:p>
          <a:p>
            <a:r>
              <a:rPr lang="en-US" sz="2400" b="1" i="0" dirty="0">
                <a:solidFill>
                  <a:srgbClr val="007DAF"/>
                </a:solidFill>
                <a:effectLst/>
                <a:latin typeface="MyriadPro-BoldSemiCn"/>
              </a:rPr>
              <a:t>database performance tuning</a:t>
            </a:r>
            <a:r>
              <a:rPr lang="en-US" sz="2400" b="1" dirty="0">
                <a:solidFill>
                  <a:srgbClr val="007DAF"/>
                </a:solidFill>
                <a:latin typeface="MyriadPro-BoldSemiCn"/>
              </a:rPr>
              <a:t> </a:t>
            </a:r>
            <a:r>
              <a:rPr lang="en-US" sz="2000" b="0" i="0" dirty="0">
                <a:solidFill>
                  <a:srgbClr val="242021"/>
                </a:solidFill>
                <a:effectLst/>
                <a:latin typeface="MyriadPro-SemiCn"/>
              </a:rPr>
              <a:t>A set of activities and procedures designed to reduce the response time of a database system—that is, to ensure that an end user query is processed by the DBMS in the minimum amount of time.</a:t>
            </a:r>
            <a:r>
              <a:rPr lang="en-US" sz="2000" dirty="0"/>
              <a:t> </a:t>
            </a:r>
          </a:p>
          <a:p>
            <a:r>
              <a:rPr lang="en-US" sz="2000" b="1" i="0" dirty="0">
                <a:solidFill>
                  <a:srgbClr val="242021"/>
                </a:solidFill>
                <a:effectLst/>
                <a:latin typeface="NewCaledoniaLTStd-Bold"/>
              </a:rPr>
              <a:t>Good database performance starts with good database design</a:t>
            </a:r>
            <a:r>
              <a:rPr lang="en-US" sz="1600" dirty="0"/>
              <a:t> </a:t>
            </a:r>
            <a:br>
              <a:rPr lang="en-US" sz="1600" dirty="0"/>
            </a:br>
            <a:br>
              <a:rPr lang="en-US" sz="2000" dirty="0"/>
            </a:br>
            <a:endParaRPr lang="en-US" sz="2000" dirty="0"/>
          </a:p>
        </p:txBody>
      </p:sp>
      <p:sp>
        <p:nvSpPr>
          <p:cNvPr id="4" name="Slide Number Placeholder 3">
            <a:extLst>
              <a:ext uri="{FF2B5EF4-FFF2-40B4-BE49-F238E27FC236}">
                <a16:creationId xmlns:a16="http://schemas.microsoft.com/office/drawing/2014/main" id="{94D96286-B799-2BB1-5600-2F006E2A5F53}"/>
              </a:ext>
            </a:extLst>
          </p:cNvPr>
          <p:cNvSpPr>
            <a:spLocks noGrp="1"/>
          </p:cNvSpPr>
          <p:nvPr>
            <p:ph type="sldNum" sz="quarter" idx="10"/>
          </p:nvPr>
        </p:nvSpPr>
        <p:spPr/>
        <p:txBody>
          <a:bodyPr/>
          <a:lstStyle/>
          <a:p>
            <a:pPr>
              <a:defRPr/>
            </a:pPr>
            <a:fld id="{34A84676-C444-4AC5-8B4E-405A7C81C0FB}" type="slidenum">
              <a:rPr lang="en-US" altLang="en-US" smtClean="0"/>
              <a:t>5</a:t>
            </a:fld>
            <a:endParaRPr lang="en-US" altLang="en-US"/>
          </a:p>
        </p:txBody>
      </p:sp>
      <p:sp>
        <p:nvSpPr>
          <p:cNvPr id="5" name="Footer Placeholder 4">
            <a:extLst>
              <a:ext uri="{FF2B5EF4-FFF2-40B4-BE49-F238E27FC236}">
                <a16:creationId xmlns:a16="http://schemas.microsoft.com/office/drawing/2014/main" id="{352DFE20-6E57-4269-5D64-EDADB665BCC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4A6DA94-B3CC-2B1D-06A9-5442AA1983B2}"/>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pic>
        <p:nvPicPr>
          <p:cNvPr id="8" name="Picture 7">
            <a:extLst>
              <a:ext uri="{FF2B5EF4-FFF2-40B4-BE49-F238E27FC236}">
                <a16:creationId xmlns:a16="http://schemas.microsoft.com/office/drawing/2014/main" id="{DFD5BD7F-8AFE-26B2-3D89-0110E3B30BF6}"/>
              </a:ext>
            </a:extLst>
          </p:cNvPr>
          <p:cNvPicPr>
            <a:picLocks noChangeAspect="1"/>
          </p:cNvPicPr>
          <p:nvPr/>
        </p:nvPicPr>
        <p:blipFill>
          <a:blip r:embed="rId2"/>
          <a:stretch>
            <a:fillRect/>
          </a:stretch>
        </p:blipFill>
        <p:spPr>
          <a:xfrm>
            <a:off x="1769806" y="2514600"/>
            <a:ext cx="7696200" cy="1412335"/>
          </a:xfrm>
          <a:prstGeom prst="rect">
            <a:avLst/>
          </a:prstGeom>
        </p:spPr>
      </p:pic>
    </p:spTree>
    <p:extLst>
      <p:ext uri="{BB962C8B-B14F-4D97-AF65-F5344CB8AC3E}">
        <p14:creationId xmlns:p14="http://schemas.microsoft.com/office/powerpoint/2010/main" val="17894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3FC3A-61A0-F59D-BE44-B1E1CE13CEF2}"/>
              </a:ext>
            </a:extLst>
          </p:cNvPr>
          <p:cNvSpPr>
            <a:spLocks noGrp="1"/>
          </p:cNvSpPr>
          <p:nvPr>
            <p:ph type="title"/>
          </p:nvPr>
        </p:nvSpPr>
        <p:spPr/>
        <p:txBody>
          <a:bodyPr/>
          <a:lstStyle/>
          <a:p>
            <a:r>
              <a:rPr lang="en-US" dirty="0"/>
              <a:t>11-1a Performance Tuning: Client and Server</a:t>
            </a:r>
          </a:p>
        </p:txBody>
      </p:sp>
      <p:sp>
        <p:nvSpPr>
          <p:cNvPr id="3" name="Content Placeholder 2">
            <a:extLst>
              <a:ext uri="{FF2B5EF4-FFF2-40B4-BE49-F238E27FC236}">
                <a16:creationId xmlns:a16="http://schemas.microsoft.com/office/drawing/2014/main" id="{10F01CA9-CD47-4FFA-7A11-D7216E861C95}"/>
              </a:ext>
            </a:extLst>
          </p:cNvPr>
          <p:cNvSpPr>
            <a:spLocks noGrp="1"/>
          </p:cNvSpPr>
          <p:nvPr>
            <p:ph idx="1"/>
          </p:nvPr>
        </p:nvSpPr>
        <p:spPr/>
        <p:txBody>
          <a:bodyPr/>
          <a:lstStyle/>
          <a:p>
            <a:r>
              <a:rPr lang="en-US" sz="2400" b="0" i="0" dirty="0">
                <a:solidFill>
                  <a:srgbClr val="242021"/>
                </a:solidFill>
                <a:effectLst/>
                <a:latin typeface="NewCaledoniaLTStd"/>
              </a:rPr>
              <a:t>Database performance-tuning activities can be divided into those on the client side and those on the server side.</a:t>
            </a:r>
            <a:r>
              <a:rPr lang="en-US" sz="1800" dirty="0"/>
              <a:t> </a:t>
            </a:r>
          </a:p>
          <a:p>
            <a:r>
              <a:rPr lang="en-US" sz="2400" b="1" i="0" dirty="0">
                <a:solidFill>
                  <a:srgbClr val="007DAF"/>
                </a:solidFill>
                <a:effectLst/>
                <a:latin typeface="MyriadPro-BoldSemiCn"/>
              </a:rPr>
              <a:t>SQL performance tuning </a:t>
            </a:r>
            <a:r>
              <a:rPr lang="en-US" sz="2000" b="0" i="0" dirty="0">
                <a:solidFill>
                  <a:srgbClr val="242021"/>
                </a:solidFill>
                <a:effectLst/>
                <a:latin typeface="MyriadPro-SemiCn"/>
              </a:rPr>
              <a:t>Activities to help generate a SQL query that returns the correct answer in the least amount of time, using the minimum amount of resources at the server end</a:t>
            </a:r>
            <a:r>
              <a:rPr lang="en-US" sz="2000" dirty="0"/>
              <a:t> </a:t>
            </a:r>
          </a:p>
          <a:p>
            <a:r>
              <a:rPr lang="en-US" sz="2400" b="1" i="0" dirty="0">
                <a:solidFill>
                  <a:srgbClr val="007DAF"/>
                </a:solidFill>
                <a:effectLst/>
                <a:latin typeface="MyriadPro-BoldSemiCn"/>
              </a:rPr>
              <a:t>DBMS performance tuning </a:t>
            </a:r>
            <a:r>
              <a:rPr lang="en-US" sz="2000" b="0" i="0" dirty="0">
                <a:solidFill>
                  <a:srgbClr val="242021"/>
                </a:solidFill>
                <a:effectLst/>
                <a:latin typeface="MyriadPro-SemiCn"/>
              </a:rPr>
              <a:t>Activities to ensure that clients’ requests are addressed as quickly as possible while making optimum use of existing resources</a:t>
            </a:r>
            <a:r>
              <a:rPr lang="en-US" sz="2000" dirty="0"/>
              <a:t> </a:t>
            </a:r>
            <a:br>
              <a:rPr lang="en-US" sz="2000" dirty="0"/>
            </a:br>
            <a:br>
              <a:rPr lang="en-US" sz="2000" dirty="0"/>
            </a:br>
            <a:endParaRPr lang="en-US" sz="2000" dirty="0"/>
          </a:p>
        </p:txBody>
      </p:sp>
      <p:sp>
        <p:nvSpPr>
          <p:cNvPr id="4" name="Slide Number Placeholder 3">
            <a:extLst>
              <a:ext uri="{FF2B5EF4-FFF2-40B4-BE49-F238E27FC236}">
                <a16:creationId xmlns:a16="http://schemas.microsoft.com/office/drawing/2014/main" id="{772DD299-1E31-BEC2-C6F5-A7B5991977C6}"/>
              </a:ext>
            </a:extLst>
          </p:cNvPr>
          <p:cNvSpPr>
            <a:spLocks noGrp="1"/>
          </p:cNvSpPr>
          <p:nvPr>
            <p:ph type="sldNum" sz="quarter" idx="10"/>
          </p:nvPr>
        </p:nvSpPr>
        <p:spPr/>
        <p:txBody>
          <a:bodyPr/>
          <a:lstStyle/>
          <a:p>
            <a:pPr>
              <a:defRPr/>
            </a:pPr>
            <a:fld id="{34A84676-C444-4AC5-8B4E-405A7C81C0FB}" type="slidenum">
              <a:rPr lang="en-US" altLang="en-US" smtClean="0"/>
              <a:t>6</a:t>
            </a:fld>
            <a:endParaRPr lang="en-US" altLang="en-US"/>
          </a:p>
        </p:txBody>
      </p:sp>
      <p:sp>
        <p:nvSpPr>
          <p:cNvPr id="5" name="Footer Placeholder 4">
            <a:extLst>
              <a:ext uri="{FF2B5EF4-FFF2-40B4-BE49-F238E27FC236}">
                <a16:creationId xmlns:a16="http://schemas.microsoft.com/office/drawing/2014/main" id="{B70964FD-86B3-1F98-DAB1-515ADA0087A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B705943-90F3-DB04-3338-428BDE592E2A}"/>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034435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DE135A-2B56-FBDA-99C3-6C54E23FC888}"/>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64BCE4EA-017D-7D83-29D0-77B576F68143}"/>
              </a:ext>
            </a:extLst>
          </p:cNvPr>
          <p:cNvSpPr>
            <a:spLocks noGrp="1"/>
          </p:cNvSpPr>
          <p:nvPr>
            <p:ph type="sldNum" sz="quarter" idx="11"/>
          </p:nvPr>
        </p:nvSpPr>
        <p:spPr/>
        <p:txBody>
          <a:bodyPr/>
          <a:lstStyle/>
          <a:p>
            <a:pPr>
              <a:defRPr/>
            </a:pPr>
            <a:fld id="{D1AD3536-327C-4937-83AF-A64971CFA6D9}" type="slidenum">
              <a:rPr lang="en-US" smtClean="0"/>
              <a:t>7</a:t>
            </a:fld>
            <a:endParaRPr lang="en-US"/>
          </a:p>
        </p:txBody>
      </p:sp>
      <p:sp>
        <p:nvSpPr>
          <p:cNvPr id="4" name="Footer Placeholder 3">
            <a:extLst>
              <a:ext uri="{FF2B5EF4-FFF2-40B4-BE49-F238E27FC236}">
                <a16:creationId xmlns:a16="http://schemas.microsoft.com/office/drawing/2014/main" id="{32ECD8C7-C008-A528-0627-B57725128D40}"/>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5A57403-74DB-C0B8-189A-7B42B0EF877F}"/>
              </a:ext>
            </a:extLst>
          </p:cNvPr>
          <p:cNvPicPr>
            <a:picLocks noChangeAspect="1"/>
          </p:cNvPicPr>
          <p:nvPr/>
        </p:nvPicPr>
        <p:blipFill>
          <a:blip r:embed="rId2"/>
          <a:stretch>
            <a:fillRect/>
          </a:stretch>
        </p:blipFill>
        <p:spPr>
          <a:xfrm>
            <a:off x="0" y="434864"/>
            <a:ext cx="12192000" cy="5988271"/>
          </a:xfrm>
          <a:prstGeom prst="rect">
            <a:avLst/>
          </a:prstGeom>
        </p:spPr>
      </p:pic>
    </p:spTree>
    <p:extLst>
      <p:ext uri="{BB962C8B-B14F-4D97-AF65-F5344CB8AC3E}">
        <p14:creationId xmlns:p14="http://schemas.microsoft.com/office/powerpoint/2010/main" val="2950370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31E9-EFBA-76E7-BAA8-5151DB372554}"/>
              </a:ext>
            </a:extLst>
          </p:cNvPr>
          <p:cNvSpPr>
            <a:spLocks noGrp="1"/>
          </p:cNvSpPr>
          <p:nvPr>
            <p:ph type="title"/>
          </p:nvPr>
        </p:nvSpPr>
        <p:spPr/>
        <p:txBody>
          <a:bodyPr/>
          <a:lstStyle/>
          <a:p>
            <a:r>
              <a:rPr lang="en-US" dirty="0"/>
              <a:t>11-1b DBMS Architecture</a:t>
            </a:r>
          </a:p>
        </p:txBody>
      </p:sp>
      <p:sp>
        <p:nvSpPr>
          <p:cNvPr id="3" name="Content Placeholder 2">
            <a:extLst>
              <a:ext uri="{FF2B5EF4-FFF2-40B4-BE49-F238E27FC236}">
                <a16:creationId xmlns:a16="http://schemas.microsoft.com/office/drawing/2014/main" id="{841FE149-960E-ED84-0B70-79856D378E19}"/>
              </a:ext>
            </a:extLst>
          </p:cNvPr>
          <p:cNvSpPr>
            <a:spLocks noGrp="1"/>
          </p:cNvSpPr>
          <p:nvPr>
            <p:ph idx="1"/>
          </p:nvPr>
        </p:nvSpPr>
        <p:spPr/>
        <p:txBody>
          <a:bodyPr/>
          <a:lstStyle/>
          <a:p>
            <a:r>
              <a:rPr lang="en-US" sz="1800" b="0" i="0" dirty="0">
                <a:solidFill>
                  <a:srgbClr val="242021"/>
                </a:solidFill>
                <a:effectLst/>
                <a:latin typeface="NewCaledoniaLTStd"/>
              </a:rPr>
              <a:t>The architecture of a DBMS is represented by the processes and structures (in memory and permanent storage) used to manage a database. </a:t>
            </a:r>
          </a:p>
          <a:p>
            <a:r>
              <a:rPr lang="en-US" sz="1800" b="1" i="0" dirty="0">
                <a:solidFill>
                  <a:srgbClr val="007DAF"/>
                </a:solidFill>
                <a:effectLst/>
                <a:latin typeface="MyriadPro-BoldSemiCn"/>
              </a:rPr>
              <a:t>data file </a:t>
            </a:r>
            <a:r>
              <a:rPr lang="en-US" sz="1800" b="0" i="0" dirty="0">
                <a:solidFill>
                  <a:srgbClr val="242021"/>
                </a:solidFill>
                <a:effectLst/>
                <a:latin typeface="MyriadPro-SemiCn"/>
              </a:rPr>
              <a:t>A named physical storage space that stores a database’s data. It can reside in a different directory on one or more storage locations. All data in a database is stored in data files. A typical enterprise database is normally composed of several data files. A data file can contain rows from one or more tables.</a:t>
            </a:r>
            <a:r>
              <a:rPr lang="en-US" sz="1800" dirty="0"/>
              <a:t> </a:t>
            </a:r>
          </a:p>
          <a:p>
            <a:r>
              <a:rPr lang="en-US" sz="1800" b="1" i="0" dirty="0">
                <a:solidFill>
                  <a:srgbClr val="007DAF"/>
                </a:solidFill>
                <a:effectLst/>
                <a:latin typeface="MyriadPro-BoldSemiCn"/>
              </a:rPr>
              <a:t>data block </a:t>
            </a:r>
            <a:r>
              <a:rPr lang="en-US" sz="1800" b="0" i="0" dirty="0">
                <a:solidFill>
                  <a:srgbClr val="242021"/>
                </a:solidFill>
                <a:effectLst/>
                <a:latin typeface="MyriadPro-SemiCn"/>
              </a:rPr>
              <a:t>The smallest logical unit of assignable storage space in  the database. Also known as a page.</a:t>
            </a:r>
            <a:r>
              <a:rPr lang="en-US" sz="1800" dirty="0"/>
              <a:t> </a:t>
            </a:r>
          </a:p>
          <a:p>
            <a:r>
              <a:rPr lang="en-US" sz="1800" b="1" i="0" dirty="0">
                <a:solidFill>
                  <a:srgbClr val="007DAF"/>
                </a:solidFill>
                <a:effectLst/>
                <a:latin typeface="MyriadPro-BoldSemiCn"/>
              </a:rPr>
              <a:t>table space </a:t>
            </a:r>
            <a:r>
              <a:rPr lang="en-US" sz="1800" b="0" i="0" dirty="0">
                <a:solidFill>
                  <a:srgbClr val="242021"/>
                </a:solidFill>
                <a:effectLst/>
                <a:latin typeface="MyriadPro-SemiCn"/>
              </a:rPr>
              <a:t>In a DBMS, a logical storage space composed of one or more data files used to group</a:t>
            </a:r>
            <a:br>
              <a:rPr lang="en-US" sz="1800" b="0" i="0" dirty="0">
                <a:solidFill>
                  <a:srgbClr val="242021"/>
                </a:solidFill>
                <a:effectLst/>
                <a:latin typeface="MyriadPro-SemiCn"/>
              </a:rPr>
            </a:br>
            <a:r>
              <a:rPr lang="en-US" sz="1800" b="0" i="0" dirty="0">
                <a:solidFill>
                  <a:srgbClr val="242021"/>
                </a:solidFill>
                <a:effectLst/>
                <a:latin typeface="MyriadPro-SemiCn"/>
              </a:rPr>
              <a:t>related data. Also known as a </a:t>
            </a:r>
            <a:r>
              <a:rPr lang="en-US" sz="1800" b="0" i="1" dirty="0">
                <a:solidFill>
                  <a:srgbClr val="242021"/>
                </a:solidFill>
                <a:effectLst/>
                <a:latin typeface="MyriadPro-SemiCnIt"/>
              </a:rPr>
              <a:t>file group.</a:t>
            </a:r>
          </a:p>
          <a:p>
            <a:r>
              <a:rPr lang="en-US" sz="1800" b="1" i="0" dirty="0">
                <a:solidFill>
                  <a:srgbClr val="007DAF"/>
                </a:solidFill>
                <a:effectLst/>
                <a:latin typeface="MyriadPro-BoldSemiCn"/>
              </a:rPr>
              <a:t>data cache </a:t>
            </a:r>
            <a:r>
              <a:rPr lang="en-US" sz="1800" b="0" i="0" dirty="0">
                <a:solidFill>
                  <a:srgbClr val="242021"/>
                </a:solidFill>
                <a:effectLst/>
                <a:latin typeface="MyriadPro-SemiCn"/>
              </a:rPr>
              <a:t>A shared, reserved memory area that stores the most recently accessed data blocks in RAM. Also called </a:t>
            </a:r>
            <a:r>
              <a:rPr lang="en-US" sz="1800" b="0" i="1" dirty="0">
                <a:solidFill>
                  <a:srgbClr val="242021"/>
                </a:solidFill>
                <a:effectLst/>
                <a:latin typeface="MyriadPro-SemiCnIt"/>
              </a:rPr>
              <a:t>buffer cache</a:t>
            </a:r>
            <a:r>
              <a:rPr lang="en-US" sz="1800" b="0" i="0" dirty="0">
                <a:solidFill>
                  <a:srgbClr val="242021"/>
                </a:solidFill>
                <a:effectLst/>
                <a:latin typeface="MyriadPro-SemiCn"/>
              </a:rPr>
              <a:t>.</a:t>
            </a:r>
            <a:r>
              <a:rPr lang="en-US" sz="1800" dirty="0"/>
              <a:t> </a:t>
            </a:r>
          </a:p>
        </p:txBody>
      </p:sp>
      <p:sp>
        <p:nvSpPr>
          <p:cNvPr id="4" name="Slide Number Placeholder 3">
            <a:extLst>
              <a:ext uri="{FF2B5EF4-FFF2-40B4-BE49-F238E27FC236}">
                <a16:creationId xmlns:a16="http://schemas.microsoft.com/office/drawing/2014/main" id="{FAC1B44C-B4F6-64D3-9855-2A3EBFC7EB77}"/>
              </a:ext>
            </a:extLst>
          </p:cNvPr>
          <p:cNvSpPr>
            <a:spLocks noGrp="1"/>
          </p:cNvSpPr>
          <p:nvPr>
            <p:ph type="sldNum" sz="quarter" idx="10"/>
          </p:nvPr>
        </p:nvSpPr>
        <p:spPr/>
        <p:txBody>
          <a:bodyPr/>
          <a:lstStyle/>
          <a:p>
            <a:pPr>
              <a:defRPr/>
            </a:pPr>
            <a:fld id="{34A84676-C444-4AC5-8B4E-405A7C81C0FB}" type="slidenum">
              <a:rPr lang="en-US" altLang="en-US" smtClean="0"/>
              <a:t>8</a:t>
            </a:fld>
            <a:endParaRPr lang="en-US" altLang="en-US"/>
          </a:p>
        </p:txBody>
      </p:sp>
      <p:sp>
        <p:nvSpPr>
          <p:cNvPr id="5" name="Footer Placeholder 4">
            <a:extLst>
              <a:ext uri="{FF2B5EF4-FFF2-40B4-BE49-F238E27FC236}">
                <a16:creationId xmlns:a16="http://schemas.microsoft.com/office/drawing/2014/main" id="{CAFB6B72-C945-BF44-3389-5A1ECE755B2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5E1BABF-746F-5D14-572B-71571B22342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86449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31E9-EFBA-76E7-BAA8-5151DB372554}"/>
              </a:ext>
            </a:extLst>
          </p:cNvPr>
          <p:cNvSpPr>
            <a:spLocks noGrp="1"/>
          </p:cNvSpPr>
          <p:nvPr>
            <p:ph type="title"/>
          </p:nvPr>
        </p:nvSpPr>
        <p:spPr/>
        <p:txBody>
          <a:bodyPr/>
          <a:lstStyle/>
          <a:p>
            <a:r>
              <a:rPr lang="en-US" dirty="0"/>
              <a:t>11-1b DBMS Architecture</a:t>
            </a:r>
          </a:p>
        </p:txBody>
      </p:sp>
      <p:sp>
        <p:nvSpPr>
          <p:cNvPr id="3" name="Content Placeholder 2">
            <a:extLst>
              <a:ext uri="{FF2B5EF4-FFF2-40B4-BE49-F238E27FC236}">
                <a16:creationId xmlns:a16="http://schemas.microsoft.com/office/drawing/2014/main" id="{841FE149-960E-ED84-0B70-79856D378E19}"/>
              </a:ext>
            </a:extLst>
          </p:cNvPr>
          <p:cNvSpPr>
            <a:spLocks noGrp="1"/>
          </p:cNvSpPr>
          <p:nvPr>
            <p:ph idx="1"/>
          </p:nvPr>
        </p:nvSpPr>
        <p:spPr/>
        <p:txBody>
          <a:bodyPr/>
          <a:lstStyle/>
          <a:p>
            <a:r>
              <a:rPr lang="en-US" sz="1800" b="0" i="0" dirty="0">
                <a:solidFill>
                  <a:srgbClr val="242021"/>
                </a:solidFill>
                <a:effectLst/>
                <a:latin typeface="NewCaledoniaLTStd"/>
              </a:rPr>
              <a:t>The architecture of a DBMS is represented by the processes and structures (in memory and permanent storage) used to manage a database. </a:t>
            </a:r>
          </a:p>
          <a:p>
            <a:r>
              <a:rPr lang="en-US" sz="2000" b="1" i="0" dirty="0">
                <a:solidFill>
                  <a:srgbClr val="007DAF"/>
                </a:solidFill>
                <a:effectLst/>
                <a:latin typeface="MyriadPro-BoldSemiCn"/>
              </a:rPr>
              <a:t>SQL cache </a:t>
            </a:r>
            <a:r>
              <a:rPr lang="en-US" sz="1800" b="0" i="0" dirty="0">
                <a:solidFill>
                  <a:srgbClr val="242021"/>
                </a:solidFill>
                <a:effectLst/>
                <a:latin typeface="MyriadPro-SemiCn"/>
              </a:rPr>
              <a:t>A shared, reserved memory area that stores the most recently executed SQL</a:t>
            </a:r>
            <a:br>
              <a:rPr lang="en-US" sz="1800" b="0" i="0" dirty="0">
                <a:solidFill>
                  <a:srgbClr val="242021"/>
                </a:solidFill>
                <a:effectLst/>
                <a:latin typeface="MyriadPro-SemiCn"/>
              </a:rPr>
            </a:br>
            <a:r>
              <a:rPr lang="en-US" sz="1800" b="0" i="0" dirty="0">
                <a:solidFill>
                  <a:srgbClr val="242021"/>
                </a:solidFill>
                <a:effectLst/>
                <a:latin typeface="MyriadPro-SemiCn"/>
              </a:rPr>
              <a:t>statements or PL/SQL procedures, including triggers and functions. Also called </a:t>
            </a:r>
            <a:r>
              <a:rPr lang="en-US" sz="1800" b="0" i="1" dirty="0">
                <a:solidFill>
                  <a:srgbClr val="242021"/>
                </a:solidFill>
                <a:effectLst/>
                <a:latin typeface="MyriadPro-SemiCnIt"/>
              </a:rPr>
              <a:t>procedure cache</a:t>
            </a:r>
            <a:r>
              <a:rPr lang="en-US" sz="1400" dirty="0"/>
              <a:t> </a:t>
            </a:r>
          </a:p>
          <a:p>
            <a:r>
              <a:rPr lang="en-US" sz="2000" b="1" i="0" dirty="0">
                <a:solidFill>
                  <a:srgbClr val="007DAF"/>
                </a:solidFill>
                <a:effectLst/>
                <a:latin typeface="MyriadPro-BoldSemiCn"/>
              </a:rPr>
              <a:t>input/output (I/O) request </a:t>
            </a:r>
            <a:r>
              <a:rPr lang="en-US" sz="1800" b="0" i="0" dirty="0">
                <a:solidFill>
                  <a:srgbClr val="242021"/>
                </a:solidFill>
                <a:effectLst/>
                <a:latin typeface="MyriadPro-SemiCn"/>
              </a:rPr>
              <a:t>A low-level data access operation that reads or writes data to and from computer devices.</a:t>
            </a:r>
            <a:r>
              <a:rPr lang="en-US" sz="1400" dirty="0"/>
              <a:t> </a:t>
            </a:r>
          </a:p>
        </p:txBody>
      </p:sp>
      <p:sp>
        <p:nvSpPr>
          <p:cNvPr id="4" name="Slide Number Placeholder 3">
            <a:extLst>
              <a:ext uri="{FF2B5EF4-FFF2-40B4-BE49-F238E27FC236}">
                <a16:creationId xmlns:a16="http://schemas.microsoft.com/office/drawing/2014/main" id="{FAC1B44C-B4F6-64D3-9855-2A3EBFC7EB77}"/>
              </a:ext>
            </a:extLst>
          </p:cNvPr>
          <p:cNvSpPr>
            <a:spLocks noGrp="1"/>
          </p:cNvSpPr>
          <p:nvPr>
            <p:ph type="sldNum" sz="quarter" idx="10"/>
          </p:nvPr>
        </p:nvSpPr>
        <p:spPr/>
        <p:txBody>
          <a:bodyPr/>
          <a:lstStyle/>
          <a:p>
            <a:pPr>
              <a:defRPr/>
            </a:pPr>
            <a:fld id="{34A84676-C444-4AC5-8B4E-405A7C81C0FB}" type="slidenum">
              <a:rPr lang="en-US" altLang="en-US" smtClean="0"/>
              <a:t>9</a:t>
            </a:fld>
            <a:endParaRPr lang="en-US" altLang="en-US"/>
          </a:p>
        </p:txBody>
      </p:sp>
      <p:sp>
        <p:nvSpPr>
          <p:cNvPr id="5" name="Footer Placeholder 4">
            <a:extLst>
              <a:ext uri="{FF2B5EF4-FFF2-40B4-BE49-F238E27FC236}">
                <a16:creationId xmlns:a16="http://schemas.microsoft.com/office/drawing/2014/main" id="{CAFB6B72-C945-BF44-3389-5A1ECE755B2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5E1BABF-746F-5D14-572B-71571B22342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76394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31E9-EFBA-76E7-BAA8-5151DB372554}"/>
              </a:ext>
            </a:extLst>
          </p:cNvPr>
          <p:cNvSpPr>
            <a:spLocks noGrp="1"/>
          </p:cNvSpPr>
          <p:nvPr>
            <p:ph type="title"/>
          </p:nvPr>
        </p:nvSpPr>
        <p:spPr/>
        <p:txBody>
          <a:bodyPr/>
          <a:lstStyle/>
          <a:p>
            <a:r>
              <a:rPr lang="en-US" dirty="0"/>
              <a:t>11-1b DBMS Architecture</a:t>
            </a:r>
          </a:p>
        </p:txBody>
      </p:sp>
      <p:sp>
        <p:nvSpPr>
          <p:cNvPr id="3" name="Content Placeholder 2">
            <a:extLst>
              <a:ext uri="{FF2B5EF4-FFF2-40B4-BE49-F238E27FC236}">
                <a16:creationId xmlns:a16="http://schemas.microsoft.com/office/drawing/2014/main" id="{841FE149-960E-ED84-0B70-79856D378E19}"/>
              </a:ext>
            </a:extLst>
          </p:cNvPr>
          <p:cNvSpPr>
            <a:spLocks noGrp="1"/>
          </p:cNvSpPr>
          <p:nvPr>
            <p:ph idx="1"/>
          </p:nvPr>
        </p:nvSpPr>
        <p:spPr/>
        <p:txBody>
          <a:bodyPr/>
          <a:lstStyle/>
          <a:p>
            <a:r>
              <a:rPr lang="en-US" sz="1800" b="0" i="0" dirty="0">
                <a:solidFill>
                  <a:srgbClr val="242021"/>
                </a:solidFill>
                <a:effectLst/>
                <a:latin typeface="NewCaledoniaLTStd"/>
              </a:rPr>
              <a:t>The architecture of a DBMS is represented by the processes and structures (in memory and permanent storage) used to manage a database. </a:t>
            </a:r>
          </a:p>
          <a:p>
            <a:r>
              <a:rPr lang="en-US" sz="2000" b="0" i="0" dirty="0">
                <a:solidFill>
                  <a:srgbClr val="242021"/>
                </a:solidFill>
                <a:effectLst/>
                <a:latin typeface="NewCaledoniaLTStd"/>
              </a:rPr>
              <a:t>Working with data in the data cache is many times faster than working with data in the</a:t>
            </a:r>
            <a:br>
              <a:rPr lang="en-US" sz="2000" b="0" i="0" dirty="0">
                <a:solidFill>
                  <a:srgbClr val="242021"/>
                </a:solidFill>
                <a:effectLst/>
                <a:latin typeface="NewCaledoniaLTStd"/>
              </a:rPr>
            </a:br>
            <a:r>
              <a:rPr lang="en-US" sz="2000" b="0" i="0" dirty="0">
                <a:solidFill>
                  <a:srgbClr val="242021"/>
                </a:solidFill>
                <a:effectLst/>
                <a:latin typeface="NewCaledoniaLTStd"/>
              </a:rPr>
              <a:t>data files</a:t>
            </a:r>
            <a:r>
              <a:rPr lang="en-US" sz="1600" dirty="0"/>
              <a:t> </a:t>
            </a:r>
          </a:p>
          <a:p>
            <a:r>
              <a:rPr lang="en-US" sz="2000" b="0" i="0" dirty="0">
                <a:solidFill>
                  <a:srgbClr val="242021"/>
                </a:solidFill>
                <a:effectLst/>
                <a:latin typeface="NewCaledoniaLTStd"/>
              </a:rPr>
              <a:t>Most performance-tuning activities focus on minimizing the number of I/O operations because</a:t>
            </a:r>
            <a:br>
              <a:rPr lang="en-US" sz="2000" b="0" i="0" dirty="0">
                <a:solidFill>
                  <a:srgbClr val="242021"/>
                </a:solidFill>
                <a:effectLst/>
                <a:latin typeface="NewCaledoniaLTStd"/>
              </a:rPr>
            </a:br>
            <a:r>
              <a:rPr lang="en-US" sz="2000" b="0" i="0" dirty="0">
                <a:solidFill>
                  <a:srgbClr val="242021"/>
                </a:solidFill>
                <a:effectLst/>
                <a:latin typeface="NewCaledoniaLTStd"/>
              </a:rPr>
              <a:t>using I/O operations is many times slower than reading data from the data cach</a:t>
            </a:r>
            <a:r>
              <a:rPr lang="en-US" sz="1600" b="0" i="0" dirty="0">
                <a:solidFill>
                  <a:srgbClr val="242021"/>
                </a:solidFill>
                <a:effectLst/>
                <a:latin typeface="NewCaledoniaLTStd"/>
              </a:rPr>
              <a:t>e.</a:t>
            </a:r>
          </a:p>
          <a:p>
            <a:endParaRPr lang="en-US" sz="1800" dirty="0"/>
          </a:p>
        </p:txBody>
      </p:sp>
      <p:sp>
        <p:nvSpPr>
          <p:cNvPr id="4" name="Slide Number Placeholder 3">
            <a:extLst>
              <a:ext uri="{FF2B5EF4-FFF2-40B4-BE49-F238E27FC236}">
                <a16:creationId xmlns:a16="http://schemas.microsoft.com/office/drawing/2014/main" id="{FAC1B44C-B4F6-64D3-9855-2A3EBFC7EB77}"/>
              </a:ext>
            </a:extLst>
          </p:cNvPr>
          <p:cNvSpPr>
            <a:spLocks noGrp="1"/>
          </p:cNvSpPr>
          <p:nvPr>
            <p:ph type="sldNum" sz="quarter" idx="10"/>
          </p:nvPr>
        </p:nvSpPr>
        <p:spPr/>
        <p:txBody>
          <a:bodyPr/>
          <a:lstStyle/>
          <a:p>
            <a:pPr>
              <a:defRPr/>
            </a:pPr>
            <a:fld id="{34A84676-C444-4AC5-8B4E-405A7C81C0FB}" type="slidenum">
              <a:rPr lang="en-US" altLang="en-US" smtClean="0"/>
              <a:t>10</a:t>
            </a:fld>
            <a:endParaRPr lang="en-US" altLang="en-US"/>
          </a:p>
        </p:txBody>
      </p:sp>
      <p:sp>
        <p:nvSpPr>
          <p:cNvPr id="5" name="Footer Placeholder 4">
            <a:extLst>
              <a:ext uri="{FF2B5EF4-FFF2-40B4-BE49-F238E27FC236}">
                <a16:creationId xmlns:a16="http://schemas.microsoft.com/office/drawing/2014/main" id="{CAFB6B72-C945-BF44-3389-5A1ECE755B2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5E1BABF-746F-5D14-572B-71571B22342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2126251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2A64A6-269E-80DC-DADD-ECFF836FBEAF}"/>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B3760DC6-0ACA-9259-CB17-DA6BD1145689}"/>
              </a:ext>
            </a:extLst>
          </p:cNvPr>
          <p:cNvSpPr>
            <a:spLocks noGrp="1"/>
          </p:cNvSpPr>
          <p:nvPr>
            <p:ph type="sldNum" sz="quarter" idx="11"/>
          </p:nvPr>
        </p:nvSpPr>
        <p:spPr/>
        <p:txBody>
          <a:bodyPr/>
          <a:lstStyle/>
          <a:p>
            <a:pPr>
              <a:defRPr/>
            </a:pPr>
            <a:fld id="{D1AD3536-327C-4937-83AF-A64971CFA6D9}" type="slidenum">
              <a:rPr lang="en-US" smtClean="0"/>
              <a:t>11</a:t>
            </a:fld>
            <a:endParaRPr lang="en-US"/>
          </a:p>
        </p:txBody>
      </p:sp>
      <p:sp>
        <p:nvSpPr>
          <p:cNvPr id="4" name="Footer Placeholder 3">
            <a:extLst>
              <a:ext uri="{FF2B5EF4-FFF2-40B4-BE49-F238E27FC236}">
                <a16:creationId xmlns:a16="http://schemas.microsoft.com/office/drawing/2014/main" id="{F62D640F-81E3-7259-4DFC-5DC7EC67B180}"/>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BAF081E-C42B-3AF1-6A8F-72110FD936C8}"/>
              </a:ext>
            </a:extLst>
          </p:cNvPr>
          <p:cNvPicPr>
            <a:picLocks noChangeAspect="1"/>
          </p:cNvPicPr>
          <p:nvPr/>
        </p:nvPicPr>
        <p:blipFill>
          <a:blip r:embed="rId2"/>
          <a:stretch>
            <a:fillRect/>
          </a:stretch>
        </p:blipFill>
        <p:spPr>
          <a:xfrm>
            <a:off x="61254" y="0"/>
            <a:ext cx="12069492" cy="6858000"/>
          </a:xfrm>
          <a:prstGeom prst="rect">
            <a:avLst/>
          </a:prstGeom>
        </p:spPr>
      </p:pic>
    </p:spTree>
    <p:extLst>
      <p:ext uri="{BB962C8B-B14F-4D97-AF65-F5344CB8AC3E}">
        <p14:creationId xmlns:p14="http://schemas.microsoft.com/office/powerpoint/2010/main" val="373810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27496-2C99-9FC6-E323-6D71E3FAECB4}"/>
              </a:ext>
            </a:extLst>
          </p:cNvPr>
          <p:cNvSpPr>
            <a:spLocks noGrp="1"/>
          </p:cNvSpPr>
          <p:nvPr>
            <p:ph type="title"/>
          </p:nvPr>
        </p:nvSpPr>
        <p:spPr/>
        <p:txBody>
          <a:bodyPr/>
          <a:lstStyle/>
          <a:p>
            <a:r>
              <a:rPr lang="en-US" dirty="0"/>
              <a:t>11-1c Database Query Optimization Modes</a:t>
            </a:r>
          </a:p>
        </p:txBody>
      </p:sp>
      <p:sp>
        <p:nvSpPr>
          <p:cNvPr id="3" name="Content Placeholder 2">
            <a:extLst>
              <a:ext uri="{FF2B5EF4-FFF2-40B4-BE49-F238E27FC236}">
                <a16:creationId xmlns:a16="http://schemas.microsoft.com/office/drawing/2014/main" id="{F4608C12-1F9F-6C9D-A91A-2707F7D51CD0}"/>
              </a:ext>
            </a:extLst>
          </p:cNvPr>
          <p:cNvSpPr>
            <a:spLocks noGrp="1"/>
          </p:cNvSpPr>
          <p:nvPr>
            <p:ph idx="1"/>
          </p:nvPr>
        </p:nvSpPr>
        <p:spPr/>
        <p:txBody>
          <a:bodyPr/>
          <a:lstStyle/>
          <a:p>
            <a:r>
              <a:rPr lang="en-US" sz="1800" b="0" i="0" dirty="0">
                <a:solidFill>
                  <a:srgbClr val="242021"/>
                </a:solidFill>
                <a:effectLst/>
                <a:latin typeface="NewCaledoniaLTStd"/>
              </a:rPr>
              <a:t>Most of the algorithms proposed for query optimization are based on two principles:</a:t>
            </a:r>
            <a:br>
              <a:rPr lang="en-US" sz="1800" b="0" i="0" dirty="0">
                <a:solidFill>
                  <a:srgbClr val="242021"/>
                </a:solidFill>
                <a:effectLst/>
                <a:latin typeface="NewCaledoniaLTStd"/>
              </a:rPr>
            </a:br>
            <a:r>
              <a:rPr lang="en-US" sz="1800" b="0" i="0" dirty="0">
                <a:solidFill>
                  <a:srgbClr val="403F41"/>
                </a:solidFill>
                <a:effectLst/>
                <a:latin typeface="NewCaledoniaLTStd"/>
              </a:rPr>
              <a:t>• </a:t>
            </a:r>
            <a:r>
              <a:rPr lang="en-US" sz="1800" b="0" i="0" dirty="0">
                <a:solidFill>
                  <a:srgbClr val="242021"/>
                </a:solidFill>
                <a:effectLst/>
                <a:latin typeface="NewCaledoniaLTStd"/>
              </a:rPr>
              <a:t>The selection of the optimum execution order to achieve the fastest execution time</a:t>
            </a:r>
            <a:br>
              <a:rPr lang="en-US" sz="1800" b="0" i="0" dirty="0">
                <a:solidFill>
                  <a:srgbClr val="242021"/>
                </a:solidFill>
                <a:effectLst/>
                <a:latin typeface="NewCaledoniaLTStd"/>
              </a:rPr>
            </a:br>
            <a:r>
              <a:rPr lang="en-US" sz="1800" b="0" i="0" dirty="0">
                <a:solidFill>
                  <a:srgbClr val="403F41"/>
                </a:solidFill>
                <a:effectLst/>
                <a:latin typeface="NewCaledoniaLTStd"/>
              </a:rPr>
              <a:t>• </a:t>
            </a:r>
            <a:r>
              <a:rPr lang="en-US" sz="1800" b="0" i="0" dirty="0">
                <a:solidFill>
                  <a:srgbClr val="242021"/>
                </a:solidFill>
                <a:effectLst/>
                <a:latin typeface="NewCaledoniaLTStd"/>
              </a:rPr>
              <a:t>The selection of sites to be accessed to minimize communication costs</a:t>
            </a:r>
            <a:r>
              <a:rPr lang="en-US" sz="1800" dirty="0"/>
              <a:t> </a:t>
            </a:r>
          </a:p>
          <a:p>
            <a:r>
              <a:rPr lang="en-US" sz="1800" b="1" i="0" dirty="0">
                <a:solidFill>
                  <a:srgbClr val="007DAF"/>
                </a:solidFill>
                <a:effectLst/>
                <a:latin typeface="MyriadPro-BoldSemiCn"/>
              </a:rPr>
              <a:t>automatic query optimization</a:t>
            </a:r>
            <a:r>
              <a:rPr lang="en-US" sz="1800" b="1" dirty="0">
                <a:solidFill>
                  <a:srgbClr val="007DAF"/>
                </a:solidFill>
                <a:latin typeface="MyriadPro-BoldSemiCn"/>
              </a:rPr>
              <a:t> </a:t>
            </a:r>
            <a:r>
              <a:rPr lang="en-US" sz="1800" b="0" i="0" dirty="0">
                <a:solidFill>
                  <a:srgbClr val="242021"/>
                </a:solidFill>
                <a:effectLst/>
                <a:latin typeface="MyriadPro-SemiCn"/>
              </a:rPr>
              <a:t>A method by which a DBMS finds the most efficient access path for the execution of a query.</a:t>
            </a:r>
            <a:r>
              <a:rPr lang="en-US" sz="1800" dirty="0"/>
              <a:t> </a:t>
            </a:r>
          </a:p>
          <a:p>
            <a:r>
              <a:rPr lang="en-US" sz="1800" b="1" i="0" dirty="0">
                <a:solidFill>
                  <a:srgbClr val="007DAF"/>
                </a:solidFill>
                <a:effectLst/>
                <a:latin typeface="MyriadPro-BoldSemiCn"/>
              </a:rPr>
              <a:t>manual query optimization </a:t>
            </a:r>
            <a:r>
              <a:rPr lang="en-US" sz="1800" b="0" i="0" dirty="0">
                <a:solidFill>
                  <a:srgbClr val="242021"/>
                </a:solidFill>
                <a:effectLst/>
                <a:latin typeface="MyriadPro-SemiCn"/>
              </a:rPr>
              <a:t>An operation mode that requires the end user or programmer to define the access path for the execution of a query.</a:t>
            </a:r>
            <a:r>
              <a:rPr lang="en-US" sz="1800" dirty="0"/>
              <a:t> </a:t>
            </a:r>
          </a:p>
        </p:txBody>
      </p:sp>
      <p:sp>
        <p:nvSpPr>
          <p:cNvPr id="4" name="Slide Number Placeholder 3">
            <a:extLst>
              <a:ext uri="{FF2B5EF4-FFF2-40B4-BE49-F238E27FC236}">
                <a16:creationId xmlns:a16="http://schemas.microsoft.com/office/drawing/2014/main" id="{3CD1E77F-A340-621F-7729-667C4BD4BFDB}"/>
              </a:ext>
            </a:extLst>
          </p:cNvPr>
          <p:cNvSpPr>
            <a:spLocks noGrp="1"/>
          </p:cNvSpPr>
          <p:nvPr>
            <p:ph type="sldNum" sz="quarter" idx="10"/>
          </p:nvPr>
        </p:nvSpPr>
        <p:spPr/>
        <p:txBody>
          <a:bodyPr/>
          <a:lstStyle/>
          <a:p>
            <a:pPr>
              <a:defRPr/>
            </a:pPr>
            <a:fld id="{34A84676-C444-4AC5-8B4E-405A7C81C0FB}" type="slidenum">
              <a:rPr lang="en-US" altLang="en-US" smtClean="0"/>
              <a:t>12</a:t>
            </a:fld>
            <a:endParaRPr lang="en-US" altLang="en-US"/>
          </a:p>
        </p:txBody>
      </p:sp>
      <p:sp>
        <p:nvSpPr>
          <p:cNvPr id="5" name="Footer Placeholder 4">
            <a:extLst>
              <a:ext uri="{FF2B5EF4-FFF2-40B4-BE49-F238E27FC236}">
                <a16:creationId xmlns:a16="http://schemas.microsoft.com/office/drawing/2014/main" id="{CF5D3A6D-4083-5EEE-7722-E02B2320034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A10F357-6817-F79F-1217-3D0534C800B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3752240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27496-2C99-9FC6-E323-6D71E3FAECB4}"/>
              </a:ext>
            </a:extLst>
          </p:cNvPr>
          <p:cNvSpPr>
            <a:spLocks noGrp="1"/>
          </p:cNvSpPr>
          <p:nvPr>
            <p:ph type="title"/>
          </p:nvPr>
        </p:nvSpPr>
        <p:spPr/>
        <p:txBody>
          <a:bodyPr/>
          <a:lstStyle/>
          <a:p>
            <a:r>
              <a:rPr lang="en-US" dirty="0"/>
              <a:t>11-1c Database Query Optimization Modes</a:t>
            </a:r>
          </a:p>
        </p:txBody>
      </p:sp>
      <p:sp>
        <p:nvSpPr>
          <p:cNvPr id="3" name="Content Placeholder 2">
            <a:extLst>
              <a:ext uri="{FF2B5EF4-FFF2-40B4-BE49-F238E27FC236}">
                <a16:creationId xmlns:a16="http://schemas.microsoft.com/office/drawing/2014/main" id="{F4608C12-1F9F-6C9D-A91A-2707F7D51CD0}"/>
              </a:ext>
            </a:extLst>
          </p:cNvPr>
          <p:cNvSpPr>
            <a:spLocks noGrp="1"/>
          </p:cNvSpPr>
          <p:nvPr>
            <p:ph idx="1"/>
          </p:nvPr>
        </p:nvSpPr>
        <p:spPr/>
        <p:txBody>
          <a:bodyPr/>
          <a:lstStyle/>
          <a:p>
            <a:r>
              <a:rPr lang="en-US" sz="1800" b="0" i="0" dirty="0">
                <a:solidFill>
                  <a:srgbClr val="242021"/>
                </a:solidFill>
                <a:effectLst/>
                <a:latin typeface="NewCaledoniaLTStd"/>
              </a:rPr>
              <a:t>Query optimization algorithms can also be classified according to when the optimization is</a:t>
            </a:r>
            <a:br>
              <a:rPr lang="en-US" sz="1800" b="0" i="0" dirty="0">
                <a:solidFill>
                  <a:srgbClr val="242021"/>
                </a:solidFill>
                <a:effectLst/>
                <a:latin typeface="NewCaledoniaLTStd"/>
              </a:rPr>
            </a:br>
            <a:r>
              <a:rPr lang="en-US" sz="1800" b="0" i="0" dirty="0">
                <a:solidFill>
                  <a:srgbClr val="242021"/>
                </a:solidFill>
                <a:effectLst/>
                <a:latin typeface="NewCaledoniaLTStd"/>
              </a:rPr>
              <a:t>done. </a:t>
            </a:r>
            <a:endParaRPr lang="en-US" sz="1400" b="0" i="0" dirty="0">
              <a:solidFill>
                <a:srgbClr val="242021"/>
              </a:solidFill>
              <a:effectLst/>
              <a:latin typeface="NewCaledoniaLTStd"/>
            </a:endParaRPr>
          </a:p>
          <a:p>
            <a:r>
              <a:rPr lang="en-US" sz="1800" b="1" i="0" dirty="0">
                <a:solidFill>
                  <a:srgbClr val="007DAF"/>
                </a:solidFill>
                <a:effectLst/>
                <a:latin typeface="MyriadPro-Bold"/>
              </a:rPr>
              <a:t>Static query optimization </a:t>
            </a:r>
            <a:r>
              <a:rPr lang="en-US" sz="1800" b="0" i="0" dirty="0">
                <a:solidFill>
                  <a:srgbClr val="242021"/>
                </a:solidFill>
                <a:effectLst/>
                <a:latin typeface="NewCaledoniaLTStd"/>
              </a:rPr>
              <a:t>takes place at compilation time. In other words, the best optimization strategy is selected when the query is compiled by the DBMS</a:t>
            </a:r>
            <a:r>
              <a:rPr lang="en-US" sz="1400" b="0" i="0" dirty="0">
                <a:solidFill>
                  <a:srgbClr val="242021"/>
                </a:solidFill>
                <a:effectLst/>
                <a:latin typeface="NewCaledoniaLTStd"/>
              </a:rPr>
              <a:t>.</a:t>
            </a:r>
          </a:p>
          <a:p>
            <a:r>
              <a:rPr lang="en-US" sz="1800" b="1" i="0" dirty="0">
                <a:solidFill>
                  <a:srgbClr val="007DAF"/>
                </a:solidFill>
                <a:effectLst/>
                <a:latin typeface="MyriadPro-Bold"/>
              </a:rPr>
              <a:t>Dynamic query optimization </a:t>
            </a:r>
            <a:r>
              <a:rPr lang="en-US" sz="1800" b="0" i="0" dirty="0">
                <a:solidFill>
                  <a:srgbClr val="242021"/>
                </a:solidFill>
                <a:effectLst/>
                <a:latin typeface="NewCaledoniaLTStd"/>
              </a:rPr>
              <a:t>takes place at execution time. Database access strategy is defined when the program is executed. Therefore, access strategy is dynamically determined by the DBMS at run time, using the most up-to-date information about the database. </a:t>
            </a:r>
          </a:p>
          <a:p>
            <a:pPr marL="0" indent="0">
              <a:buNone/>
            </a:pPr>
            <a:br>
              <a:rPr lang="en-US" sz="1400" dirty="0"/>
            </a:br>
            <a:endParaRPr lang="en-US" sz="1800" dirty="0"/>
          </a:p>
        </p:txBody>
      </p:sp>
      <p:sp>
        <p:nvSpPr>
          <p:cNvPr id="4" name="Slide Number Placeholder 3">
            <a:extLst>
              <a:ext uri="{FF2B5EF4-FFF2-40B4-BE49-F238E27FC236}">
                <a16:creationId xmlns:a16="http://schemas.microsoft.com/office/drawing/2014/main" id="{3CD1E77F-A340-621F-7729-667C4BD4BFDB}"/>
              </a:ext>
            </a:extLst>
          </p:cNvPr>
          <p:cNvSpPr>
            <a:spLocks noGrp="1"/>
          </p:cNvSpPr>
          <p:nvPr>
            <p:ph type="sldNum" sz="quarter" idx="10"/>
          </p:nvPr>
        </p:nvSpPr>
        <p:spPr/>
        <p:txBody>
          <a:bodyPr/>
          <a:lstStyle/>
          <a:p>
            <a:pPr>
              <a:defRPr/>
            </a:pPr>
            <a:fld id="{34A84676-C444-4AC5-8B4E-405A7C81C0FB}" type="slidenum">
              <a:rPr lang="en-US" altLang="en-US" smtClean="0"/>
              <a:t>13</a:t>
            </a:fld>
            <a:endParaRPr lang="en-US" altLang="en-US"/>
          </a:p>
        </p:txBody>
      </p:sp>
      <p:sp>
        <p:nvSpPr>
          <p:cNvPr id="5" name="Footer Placeholder 4">
            <a:extLst>
              <a:ext uri="{FF2B5EF4-FFF2-40B4-BE49-F238E27FC236}">
                <a16:creationId xmlns:a16="http://schemas.microsoft.com/office/drawing/2014/main" id="{CF5D3A6D-4083-5EEE-7722-E02B2320034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A10F357-6817-F79F-1217-3D0534C800B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352910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27496-2C99-9FC6-E323-6D71E3FAECB4}"/>
              </a:ext>
            </a:extLst>
          </p:cNvPr>
          <p:cNvSpPr>
            <a:spLocks noGrp="1"/>
          </p:cNvSpPr>
          <p:nvPr>
            <p:ph type="title"/>
          </p:nvPr>
        </p:nvSpPr>
        <p:spPr/>
        <p:txBody>
          <a:bodyPr/>
          <a:lstStyle/>
          <a:p>
            <a:r>
              <a:rPr lang="en-US" dirty="0"/>
              <a:t>11-1c Database Query Optimization Modes</a:t>
            </a:r>
          </a:p>
        </p:txBody>
      </p:sp>
      <p:sp>
        <p:nvSpPr>
          <p:cNvPr id="3" name="Content Placeholder 2">
            <a:extLst>
              <a:ext uri="{FF2B5EF4-FFF2-40B4-BE49-F238E27FC236}">
                <a16:creationId xmlns:a16="http://schemas.microsoft.com/office/drawing/2014/main" id="{F4608C12-1F9F-6C9D-A91A-2707F7D51CD0}"/>
              </a:ext>
            </a:extLst>
          </p:cNvPr>
          <p:cNvSpPr>
            <a:spLocks noGrp="1"/>
          </p:cNvSpPr>
          <p:nvPr>
            <p:ph idx="1"/>
          </p:nvPr>
        </p:nvSpPr>
        <p:spPr/>
        <p:txBody>
          <a:bodyPr/>
          <a:lstStyle/>
          <a:p>
            <a:r>
              <a:rPr lang="en-US" sz="1800" b="0" i="0" dirty="0">
                <a:solidFill>
                  <a:srgbClr val="242021"/>
                </a:solidFill>
                <a:effectLst/>
                <a:latin typeface="NewCaledoniaLTStd"/>
              </a:rPr>
              <a:t>Query optimization techniques can be classified according to the type of information that is used to optimize the query</a:t>
            </a:r>
            <a:r>
              <a:rPr lang="en-US" sz="1400" dirty="0"/>
              <a:t> </a:t>
            </a:r>
          </a:p>
          <a:p>
            <a:r>
              <a:rPr lang="en-US" sz="1800" b="0" i="0" dirty="0">
                <a:solidFill>
                  <a:srgbClr val="242021"/>
                </a:solidFill>
                <a:effectLst/>
                <a:latin typeface="NewCaledoniaLTStd"/>
              </a:rPr>
              <a:t>A </a:t>
            </a:r>
            <a:r>
              <a:rPr lang="en-US" sz="1800" b="1" i="0" dirty="0">
                <a:solidFill>
                  <a:srgbClr val="007DAF"/>
                </a:solidFill>
                <a:effectLst/>
                <a:latin typeface="MyriadPro-Bold"/>
              </a:rPr>
              <a:t>statistically based query optimization algorithm </a:t>
            </a:r>
            <a:r>
              <a:rPr lang="en-US" sz="1800" b="0" i="0" dirty="0">
                <a:solidFill>
                  <a:srgbClr val="242021"/>
                </a:solidFill>
                <a:effectLst/>
                <a:latin typeface="NewCaledoniaLTStd"/>
              </a:rPr>
              <a:t>uses statistical information about the database. The statistics provide information about database characteristics such as size, number of records, average access time, number of requests serviced, and number of users with access rights. These statistics are then used by the DBMS to determine the best access strategy.</a:t>
            </a:r>
            <a:r>
              <a:rPr lang="en-US" sz="1400" dirty="0"/>
              <a:t> </a:t>
            </a:r>
          </a:p>
          <a:p>
            <a:r>
              <a:rPr lang="en-US" sz="1800" b="0" i="0" dirty="0">
                <a:solidFill>
                  <a:srgbClr val="242021"/>
                </a:solidFill>
                <a:effectLst/>
                <a:latin typeface="NewCaledoniaLTStd"/>
              </a:rPr>
              <a:t>A </a:t>
            </a:r>
            <a:r>
              <a:rPr lang="en-US" sz="1800" b="1" i="0" dirty="0">
                <a:solidFill>
                  <a:srgbClr val="007DAF"/>
                </a:solidFill>
                <a:effectLst/>
                <a:latin typeface="MyriadPro-Bold"/>
              </a:rPr>
              <a:t>rule-based query optimization algorithm </a:t>
            </a:r>
            <a:r>
              <a:rPr lang="en-US" sz="1800" b="0" i="0" dirty="0">
                <a:solidFill>
                  <a:srgbClr val="242021"/>
                </a:solidFill>
                <a:effectLst/>
                <a:latin typeface="NewCaledoniaLTStd"/>
              </a:rPr>
              <a:t>is based on a set of user-defined rules to determine the best query access strategy. The rules are entered by the end user or database administrator, and they are typically general in nature.</a:t>
            </a:r>
            <a:r>
              <a:rPr lang="en-US" sz="1400" dirty="0"/>
              <a:t> </a:t>
            </a:r>
            <a:br>
              <a:rPr lang="en-US" sz="1400" dirty="0"/>
            </a:br>
            <a:br>
              <a:rPr lang="en-US" sz="1400" dirty="0"/>
            </a:br>
            <a:endParaRPr lang="en-US" sz="1800" dirty="0"/>
          </a:p>
        </p:txBody>
      </p:sp>
      <p:sp>
        <p:nvSpPr>
          <p:cNvPr id="4" name="Slide Number Placeholder 3">
            <a:extLst>
              <a:ext uri="{FF2B5EF4-FFF2-40B4-BE49-F238E27FC236}">
                <a16:creationId xmlns:a16="http://schemas.microsoft.com/office/drawing/2014/main" id="{3CD1E77F-A340-621F-7729-667C4BD4BFDB}"/>
              </a:ext>
            </a:extLst>
          </p:cNvPr>
          <p:cNvSpPr>
            <a:spLocks noGrp="1"/>
          </p:cNvSpPr>
          <p:nvPr>
            <p:ph type="sldNum" sz="quarter" idx="10"/>
          </p:nvPr>
        </p:nvSpPr>
        <p:spPr/>
        <p:txBody>
          <a:bodyPr/>
          <a:lstStyle/>
          <a:p>
            <a:pPr>
              <a:defRPr/>
            </a:pPr>
            <a:fld id="{34A84676-C444-4AC5-8B4E-405A7C81C0FB}" type="slidenum">
              <a:rPr lang="en-US" altLang="en-US" smtClean="0"/>
              <a:t>14</a:t>
            </a:fld>
            <a:endParaRPr lang="en-US" altLang="en-US"/>
          </a:p>
        </p:txBody>
      </p:sp>
      <p:sp>
        <p:nvSpPr>
          <p:cNvPr id="5" name="Footer Placeholder 4">
            <a:extLst>
              <a:ext uri="{FF2B5EF4-FFF2-40B4-BE49-F238E27FC236}">
                <a16:creationId xmlns:a16="http://schemas.microsoft.com/office/drawing/2014/main" id="{CF5D3A6D-4083-5EEE-7722-E02B2320034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A10F357-6817-F79F-1217-3D0534C800B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4038555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A290-AB2D-5382-5F12-5F76D8109BB7}"/>
              </a:ext>
            </a:extLst>
          </p:cNvPr>
          <p:cNvSpPr>
            <a:spLocks noGrp="1"/>
          </p:cNvSpPr>
          <p:nvPr>
            <p:ph type="title"/>
          </p:nvPr>
        </p:nvSpPr>
        <p:spPr/>
        <p:txBody>
          <a:bodyPr/>
          <a:lstStyle/>
          <a:p>
            <a:r>
              <a:rPr lang="en-US" dirty="0"/>
              <a:t>11-1d Database Statistics</a:t>
            </a:r>
          </a:p>
        </p:txBody>
      </p:sp>
      <p:sp>
        <p:nvSpPr>
          <p:cNvPr id="3" name="Content Placeholder 2">
            <a:extLst>
              <a:ext uri="{FF2B5EF4-FFF2-40B4-BE49-F238E27FC236}">
                <a16:creationId xmlns:a16="http://schemas.microsoft.com/office/drawing/2014/main" id="{0E28D279-B910-2C30-3A65-CA74C1B5DD18}"/>
              </a:ext>
            </a:extLst>
          </p:cNvPr>
          <p:cNvSpPr>
            <a:spLocks noGrp="1"/>
          </p:cNvSpPr>
          <p:nvPr>
            <p:ph idx="1"/>
          </p:nvPr>
        </p:nvSpPr>
        <p:spPr/>
        <p:txBody>
          <a:bodyPr/>
          <a:lstStyle/>
          <a:p>
            <a:r>
              <a:rPr lang="en-US" sz="2400" b="1" i="0" dirty="0">
                <a:solidFill>
                  <a:srgbClr val="007DAF"/>
                </a:solidFill>
                <a:effectLst/>
                <a:latin typeface="MyriadPro-BoldSemiCn"/>
              </a:rPr>
              <a:t>database statistics </a:t>
            </a:r>
            <a:r>
              <a:rPr lang="en-US" sz="2000" b="0" i="0" dirty="0">
                <a:solidFill>
                  <a:srgbClr val="242021"/>
                </a:solidFill>
                <a:effectLst/>
                <a:latin typeface="MyriadPro-SemiCn"/>
              </a:rPr>
              <a:t>In query optimization, measurements about database objects, such as the number of rows in a table, number of disk blocks used, maximum and average row length, number of columns in each row, and number of distinct values in each column. Such statistics provide a snapshot of database characteristics.</a:t>
            </a:r>
          </a:p>
          <a:p>
            <a:pPr marL="0" indent="0">
              <a:buNone/>
            </a:pPr>
            <a:r>
              <a:rPr lang="en-US" sz="2000" dirty="0"/>
              <a:t> </a:t>
            </a:r>
            <a:br>
              <a:rPr lang="en-US" sz="2000" dirty="0"/>
            </a:br>
            <a:endParaRPr lang="en-US" sz="2000" dirty="0"/>
          </a:p>
        </p:txBody>
      </p:sp>
      <p:sp>
        <p:nvSpPr>
          <p:cNvPr id="4" name="Slide Number Placeholder 3">
            <a:extLst>
              <a:ext uri="{FF2B5EF4-FFF2-40B4-BE49-F238E27FC236}">
                <a16:creationId xmlns:a16="http://schemas.microsoft.com/office/drawing/2014/main" id="{365678F2-5148-7A02-246E-985E13E06FF1}"/>
              </a:ext>
            </a:extLst>
          </p:cNvPr>
          <p:cNvSpPr>
            <a:spLocks noGrp="1"/>
          </p:cNvSpPr>
          <p:nvPr>
            <p:ph type="sldNum" sz="quarter" idx="10"/>
          </p:nvPr>
        </p:nvSpPr>
        <p:spPr/>
        <p:txBody>
          <a:bodyPr/>
          <a:lstStyle/>
          <a:p>
            <a:pPr>
              <a:defRPr/>
            </a:pPr>
            <a:fld id="{34A84676-C444-4AC5-8B4E-405A7C81C0FB}" type="slidenum">
              <a:rPr lang="en-US" altLang="en-US" smtClean="0"/>
              <a:t>15</a:t>
            </a:fld>
            <a:endParaRPr lang="en-US" altLang="en-US"/>
          </a:p>
        </p:txBody>
      </p:sp>
      <p:sp>
        <p:nvSpPr>
          <p:cNvPr id="5" name="Footer Placeholder 4">
            <a:extLst>
              <a:ext uri="{FF2B5EF4-FFF2-40B4-BE49-F238E27FC236}">
                <a16:creationId xmlns:a16="http://schemas.microsoft.com/office/drawing/2014/main" id="{74523187-98ED-3C7F-B8DD-05AB0AC49A1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B44F100-B4DB-2578-9153-F30DBA4FAD7C}"/>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pic>
        <p:nvPicPr>
          <p:cNvPr id="8" name="Picture 7">
            <a:extLst>
              <a:ext uri="{FF2B5EF4-FFF2-40B4-BE49-F238E27FC236}">
                <a16:creationId xmlns:a16="http://schemas.microsoft.com/office/drawing/2014/main" id="{1AE2B6D7-E1DD-2489-0B6C-09DA8D3D0236}"/>
              </a:ext>
            </a:extLst>
          </p:cNvPr>
          <p:cNvPicPr>
            <a:picLocks noChangeAspect="1"/>
          </p:cNvPicPr>
          <p:nvPr/>
        </p:nvPicPr>
        <p:blipFill>
          <a:blip r:embed="rId2"/>
          <a:stretch>
            <a:fillRect/>
          </a:stretch>
        </p:blipFill>
        <p:spPr>
          <a:xfrm>
            <a:off x="62911" y="3818213"/>
            <a:ext cx="12192000" cy="2674662"/>
          </a:xfrm>
          <a:prstGeom prst="rect">
            <a:avLst/>
          </a:prstGeom>
        </p:spPr>
      </p:pic>
    </p:spTree>
    <p:extLst>
      <p:ext uri="{BB962C8B-B14F-4D97-AF65-F5344CB8AC3E}">
        <p14:creationId xmlns:p14="http://schemas.microsoft.com/office/powerpoint/2010/main" val="16571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920C-9459-A34A-30FF-C1C2E0D786A4}"/>
              </a:ext>
            </a:extLst>
          </p:cNvPr>
          <p:cNvSpPr>
            <a:spLocks noGrp="1"/>
          </p:cNvSpPr>
          <p:nvPr>
            <p:ph type="title"/>
          </p:nvPr>
        </p:nvSpPr>
        <p:spPr/>
        <p:txBody>
          <a:bodyPr/>
          <a:lstStyle/>
          <a:p>
            <a:r>
              <a:rPr lang="en-US" sz="4800" b="1" i="0" dirty="0">
                <a:solidFill>
                  <a:srgbClr val="242021"/>
                </a:solidFill>
                <a:effectLst/>
                <a:latin typeface="MyriadPro-BlackCond"/>
              </a:rPr>
              <a:t>11-2 </a:t>
            </a:r>
            <a:r>
              <a:rPr lang="en-US" sz="4800" b="0" i="0" dirty="0">
                <a:solidFill>
                  <a:srgbClr val="242021"/>
                </a:solidFill>
                <a:effectLst/>
                <a:latin typeface="MyriadPro-SemiboldCond"/>
              </a:rPr>
              <a:t>Query Processing</a:t>
            </a:r>
            <a:endParaRPr lang="en-US" dirty="0"/>
          </a:p>
        </p:txBody>
      </p:sp>
      <p:sp>
        <p:nvSpPr>
          <p:cNvPr id="3" name="Date Placeholder 2">
            <a:extLst>
              <a:ext uri="{FF2B5EF4-FFF2-40B4-BE49-F238E27FC236}">
                <a16:creationId xmlns:a16="http://schemas.microsoft.com/office/drawing/2014/main" id="{AA89EB2E-71F5-0FBD-3875-369EBAED19DB}"/>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7750314D-620A-2A0C-6485-64B2D2B6F524}"/>
              </a:ext>
            </a:extLst>
          </p:cNvPr>
          <p:cNvSpPr>
            <a:spLocks noGrp="1"/>
          </p:cNvSpPr>
          <p:nvPr>
            <p:ph type="sldNum" sz="quarter" idx="11"/>
          </p:nvPr>
        </p:nvSpPr>
        <p:spPr/>
        <p:txBody>
          <a:bodyPr/>
          <a:lstStyle/>
          <a:p>
            <a:pPr>
              <a:defRPr/>
            </a:pPr>
            <a:fld id="{F9126DDB-45DE-4D72-94FB-1E2D565E80AF}" type="slidenum">
              <a:rPr lang="en-US" smtClean="0"/>
              <a:t>16</a:t>
            </a:fld>
            <a:endParaRPr lang="en-US"/>
          </a:p>
        </p:txBody>
      </p:sp>
      <p:sp>
        <p:nvSpPr>
          <p:cNvPr id="5" name="Footer Placeholder 4">
            <a:extLst>
              <a:ext uri="{FF2B5EF4-FFF2-40B4-BE49-F238E27FC236}">
                <a16:creationId xmlns:a16="http://schemas.microsoft.com/office/drawing/2014/main" id="{EED49309-D8F1-C97B-3C9E-CBC0E013EB00}"/>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214018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0CF33-1A89-394D-49DE-53C4DF633233}"/>
              </a:ext>
            </a:extLst>
          </p:cNvPr>
          <p:cNvSpPr>
            <a:spLocks noGrp="1"/>
          </p:cNvSpPr>
          <p:nvPr>
            <p:ph type="title"/>
          </p:nvPr>
        </p:nvSpPr>
        <p:spPr/>
        <p:txBody>
          <a:bodyPr/>
          <a:lstStyle/>
          <a:p>
            <a:r>
              <a:rPr lang="en-US" sz="3600" b="1" i="0" dirty="0">
                <a:solidFill>
                  <a:srgbClr val="242021"/>
                </a:solidFill>
                <a:effectLst/>
                <a:latin typeface="MyriadPro-BlackCond"/>
              </a:rPr>
              <a:t>11-2 </a:t>
            </a:r>
            <a:r>
              <a:rPr lang="en-US" sz="3600" b="0" i="0" dirty="0">
                <a:solidFill>
                  <a:srgbClr val="242021"/>
                </a:solidFill>
                <a:effectLst/>
                <a:latin typeface="MyriadPro-SemiboldCond"/>
              </a:rPr>
              <a:t>Query Processing</a:t>
            </a:r>
            <a:endParaRPr lang="en-US" dirty="0"/>
          </a:p>
        </p:txBody>
      </p:sp>
      <p:sp>
        <p:nvSpPr>
          <p:cNvPr id="3" name="Content Placeholder 2">
            <a:extLst>
              <a:ext uri="{FF2B5EF4-FFF2-40B4-BE49-F238E27FC236}">
                <a16:creationId xmlns:a16="http://schemas.microsoft.com/office/drawing/2014/main" id="{9589D1D3-C3C4-C86C-31E5-DE8E8B7C3479}"/>
              </a:ext>
            </a:extLst>
          </p:cNvPr>
          <p:cNvSpPr>
            <a:spLocks noGrp="1"/>
          </p:cNvSpPr>
          <p:nvPr>
            <p:ph idx="1"/>
          </p:nvPr>
        </p:nvSpPr>
        <p:spPr/>
        <p:txBody>
          <a:bodyPr/>
          <a:lstStyle/>
          <a:p>
            <a:r>
              <a:rPr lang="en-US" sz="2400" b="0" i="0" dirty="0">
                <a:solidFill>
                  <a:srgbClr val="242021"/>
                </a:solidFill>
                <a:effectLst/>
                <a:latin typeface="NewCaledoniaLTStd"/>
              </a:rPr>
              <a:t>What happens at the DBMS server end when the client’s SQL statement is received? In simple terms, the DBMS processes a query in three phases:</a:t>
            </a:r>
            <a:r>
              <a:rPr lang="en-US" dirty="0"/>
              <a:t> </a:t>
            </a:r>
          </a:p>
          <a:p>
            <a:pPr lvl="1"/>
            <a:r>
              <a:rPr lang="en-US" sz="1800" b="1" i="0" dirty="0">
                <a:solidFill>
                  <a:srgbClr val="242021"/>
                </a:solidFill>
                <a:effectLst/>
                <a:latin typeface="NewCaledoniaLTStd-Bold"/>
              </a:rPr>
              <a:t>1. </a:t>
            </a:r>
            <a:r>
              <a:rPr lang="en-US" sz="1800" b="0" i="1" dirty="0">
                <a:solidFill>
                  <a:srgbClr val="242021"/>
                </a:solidFill>
                <a:effectLst/>
                <a:latin typeface="NewCaledoniaLTStd-It"/>
              </a:rPr>
              <a:t>Parsing</a:t>
            </a:r>
            <a:r>
              <a:rPr lang="en-US" sz="1800" b="0" i="0" dirty="0">
                <a:solidFill>
                  <a:srgbClr val="242021"/>
                </a:solidFill>
                <a:effectLst/>
                <a:latin typeface="NewCaledoniaLTStd"/>
              </a:rPr>
              <a:t>. The DBMS parses the SQL query and chooses the most efficient access/execution plan.</a:t>
            </a:r>
            <a:br>
              <a:rPr lang="en-US" sz="1800" b="0" i="0" dirty="0">
                <a:solidFill>
                  <a:srgbClr val="242021"/>
                </a:solidFill>
                <a:effectLst/>
                <a:latin typeface="NewCaledoniaLTStd"/>
              </a:rPr>
            </a:br>
            <a:r>
              <a:rPr lang="en-US" sz="1800" b="1" i="0" dirty="0">
                <a:solidFill>
                  <a:srgbClr val="242021"/>
                </a:solidFill>
                <a:effectLst/>
                <a:latin typeface="NewCaledoniaLTStd-Bold"/>
              </a:rPr>
              <a:t>2. </a:t>
            </a:r>
            <a:r>
              <a:rPr lang="en-US" sz="1800" b="0" i="1" dirty="0">
                <a:solidFill>
                  <a:srgbClr val="242021"/>
                </a:solidFill>
                <a:effectLst/>
                <a:latin typeface="NewCaledoniaLTStd-It"/>
              </a:rPr>
              <a:t>Execution</a:t>
            </a:r>
            <a:r>
              <a:rPr lang="en-US" sz="1800" b="0" i="0" dirty="0">
                <a:solidFill>
                  <a:srgbClr val="242021"/>
                </a:solidFill>
                <a:effectLst/>
                <a:latin typeface="NewCaledoniaLTStd"/>
              </a:rPr>
              <a:t>. The DBMS executes the SQL query using the chosen execution plan.</a:t>
            </a:r>
            <a:br>
              <a:rPr lang="en-US" sz="1800" b="0" i="0" dirty="0">
                <a:solidFill>
                  <a:srgbClr val="242021"/>
                </a:solidFill>
                <a:effectLst/>
                <a:latin typeface="NewCaledoniaLTStd"/>
              </a:rPr>
            </a:br>
            <a:r>
              <a:rPr lang="en-US" sz="1800" b="1" i="0" dirty="0">
                <a:solidFill>
                  <a:srgbClr val="242021"/>
                </a:solidFill>
                <a:effectLst/>
                <a:latin typeface="NewCaledoniaLTStd-Bold"/>
              </a:rPr>
              <a:t>3. </a:t>
            </a:r>
            <a:r>
              <a:rPr lang="en-US" sz="1800" b="0" i="1" dirty="0">
                <a:solidFill>
                  <a:srgbClr val="242021"/>
                </a:solidFill>
                <a:effectLst/>
                <a:latin typeface="NewCaledoniaLTStd-It"/>
              </a:rPr>
              <a:t>Fetching</a:t>
            </a:r>
            <a:r>
              <a:rPr lang="en-US" sz="1800" b="0" i="0" dirty="0">
                <a:solidFill>
                  <a:srgbClr val="242021"/>
                </a:solidFill>
                <a:effectLst/>
                <a:latin typeface="NewCaledoniaLTStd"/>
              </a:rPr>
              <a:t>. The DBMS fetches the data and sends the result set back to the client.</a:t>
            </a:r>
            <a:r>
              <a:rPr lang="en-US" dirty="0"/>
              <a:t> </a:t>
            </a: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CB4E2702-524C-5FDD-3772-30833459A2BE}"/>
              </a:ext>
            </a:extLst>
          </p:cNvPr>
          <p:cNvSpPr>
            <a:spLocks noGrp="1"/>
          </p:cNvSpPr>
          <p:nvPr>
            <p:ph type="sldNum" sz="quarter" idx="10"/>
          </p:nvPr>
        </p:nvSpPr>
        <p:spPr/>
        <p:txBody>
          <a:bodyPr/>
          <a:lstStyle/>
          <a:p>
            <a:pPr>
              <a:defRPr/>
            </a:pPr>
            <a:fld id="{34A84676-C444-4AC5-8B4E-405A7C81C0FB}" type="slidenum">
              <a:rPr lang="en-US" altLang="en-US" smtClean="0"/>
              <a:t>17</a:t>
            </a:fld>
            <a:endParaRPr lang="en-US" altLang="en-US"/>
          </a:p>
        </p:txBody>
      </p:sp>
      <p:sp>
        <p:nvSpPr>
          <p:cNvPr id="5" name="Footer Placeholder 4">
            <a:extLst>
              <a:ext uri="{FF2B5EF4-FFF2-40B4-BE49-F238E27FC236}">
                <a16:creationId xmlns:a16="http://schemas.microsoft.com/office/drawing/2014/main" id="{BE5A1106-E775-AD19-2902-7132EE2175D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BC06D2D-D17D-5B4B-6FF6-ED6CE6DE564A}"/>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4212453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2B7153-4C35-A98D-C167-E885140E40CF}"/>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80554355-0051-C3FC-266A-25FCACED8771}"/>
              </a:ext>
            </a:extLst>
          </p:cNvPr>
          <p:cNvSpPr>
            <a:spLocks noGrp="1"/>
          </p:cNvSpPr>
          <p:nvPr>
            <p:ph type="sldNum" sz="quarter" idx="11"/>
          </p:nvPr>
        </p:nvSpPr>
        <p:spPr/>
        <p:txBody>
          <a:bodyPr/>
          <a:lstStyle/>
          <a:p>
            <a:pPr>
              <a:defRPr/>
            </a:pPr>
            <a:fld id="{D1AD3536-327C-4937-83AF-A64971CFA6D9}" type="slidenum">
              <a:rPr lang="en-US" smtClean="0"/>
              <a:t>18</a:t>
            </a:fld>
            <a:endParaRPr lang="en-US"/>
          </a:p>
        </p:txBody>
      </p:sp>
      <p:sp>
        <p:nvSpPr>
          <p:cNvPr id="4" name="Footer Placeholder 3">
            <a:extLst>
              <a:ext uri="{FF2B5EF4-FFF2-40B4-BE49-F238E27FC236}">
                <a16:creationId xmlns:a16="http://schemas.microsoft.com/office/drawing/2014/main" id="{B3B6ED2D-67FC-6F10-0ACA-D61AA46F468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8EBC2B7-3947-DC17-31B6-8FA06BD22A11}"/>
              </a:ext>
            </a:extLst>
          </p:cNvPr>
          <p:cNvPicPr>
            <a:picLocks noChangeAspect="1"/>
          </p:cNvPicPr>
          <p:nvPr/>
        </p:nvPicPr>
        <p:blipFill>
          <a:blip r:embed="rId2"/>
          <a:stretch>
            <a:fillRect/>
          </a:stretch>
        </p:blipFill>
        <p:spPr>
          <a:xfrm>
            <a:off x="992558" y="0"/>
            <a:ext cx="10206883" cy="6858000"/>
          </a:xfrm>
          <a:prstGeom prst="rect">
            <a:avLst/>
          </a:prstGeom>
        </p:spPr>
      </p:pic>
    </p:spTree>
    <p:extLst>
      <p:ext uri="{BB962C8B-B14F-4D97-AF65-F5344CB8AC3E}">
        <p14:creationId xmlns:p14="http://schemas.microsoft.com/office/powerpoint/2010/main" val="420617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0FE8-AF26-9DE5-32EE-B9E1E021992B}"/>
              </a:ext>
            </a:extLst>
          </p:cNvPr>
          <p:cNvSpPr>
            <a:spLocks noGrp="1"/>
          </p:cNvSpPr>
          <p:nvPr>
            <p:ph type="title"/>
          </p:nvPr>
        </p:nvSpPr>
        <p:spPr/>
        <p:txBody>
          <a:bodyPr/>
          <a:lstStyle/>
          <a:p>
            <a:r>
              <a:rPr lang="en-US" dirty="0"/>
              <a:t>11-2a SQL Parsing Phase</a:t>
            </a:r>
          </a:p>
        </p:txBody>
      </p:sp>
      <p:sp>
        <p:nvSpPr>
          <p:cNvPr id="3" name="Content Placeholder 2">
            <a:extLst>
              <a:ext uri="{FF2B5EF4-FFF2-40B4-BE49-F238E27FC236}">
                <a16:creationId xmlns:a16="http://schemas.microsoft.com/office/drawing/2014/main" id="{2D345277-2976-828D-E40C-2C24D94B7795}"/>
              </a:ext>
            </a:extLst>
          </p:cNvPr>
          <p:cNvSpPr>
            <a:spLocks noGrp="1"/>
          </p:cNvSpPr>
          <p:nvPr>
            <p:ph idx="1"/>
          </p:nvPr>
        </p:nvSpPr>
        <p:spPr/>
        <p:txBody>
          <a:bodyPr/>
          <a:lstStyle/>
          <a:p>
            <a:r>
              <a:rPr lang="en-US" sz="2400" b="1" i="0" dirty="0">
                <a:solidFill>
                  <a:srgbClr val="007DAF"/>
                </a:solidFill>
                <a:effectLst/>
                <a:latin typeface="MyriadPro-BoldSemiCn"/>
              </a:rPr>
              <a:t>query optimizer </a:t>
            </a:r>
            <a:r>
              <a:rPr lang="en-US" sz="2000" b="0" i="0" dirty="0">
                <a:solidFill>
                  <a:srgbClr val="242021"/>
                </a:solidFill>
                <a:effectLst/>
                <a:latin typeface="MyriadPro-SemiCn"/>
              </a:rPr>
              <a:t>A DBMS process that analyzes SQL queries and finds the most efficient way to access the data. The query optimizer generates the access or execution plan for the query.</a:t>
            </a:r>
            <a:r>
              <a:rPr lang="en-US" sz="2000" dirty="0"/>
              <a:t> </a:t>
            </a:r>
          </a:p>
          <a:p>
            <a:r>
              <a:rPr lang="en-US" sz="2400" b="1" i="0" dirty="0">
                <a:solidFill>
                  <a:srgbClr val="007DAF"/>
                </a:solidFill>
                <a:effectLst/>
                <a:latin typeface="MyriadPro-BoldSemiCn"/>
              </a:rPr>
              <a:t>access plan </a:t>
            </a:r>
            <a:r>
              <a:rPr lang="en-US" sz="2000" b="0" i="0" dirty="0">
                <a:solidFill>
                  <a:srgbClr val="242021"/>
                </a:solidFill>
                <a:effectLst/>
                <a:latin typeface="MyriadPro-SemiCn"/>
              </a:rPr>
              <a:t>A set of instructions generated at application compilation time that is created and managed by a DBMS. The access plan predetermines how an application’s query will access the database at run time</a:t>
            </a:r>
            <a:r>
              <a:rPr lang="en-US" sz="2000" dirty="0"/>
              <a:t> </a:t>
            </a:r>
          </a:p>
        </p:txBody>
      </p:sp>
      <p:sp>
        <p:nvSpPr>
          <p:cNvPr id="4" name="Slide Number Placeholder 3">
            <a:extLst>
              <a:ext uri="{FF2B5EF4-FFF2-40B4-BE49-F238E27FC236}">
                <a16:creationId xmlns:a16="http://schemas.microsoft.com/office/drawing/2014/main" id="{FC15AB73-708D-7C3C-AF1D-485AD7F9331C}"/>
              </a:ext>
            </a:extLst>
          </p:cNvPr>
          <p:cNvSpPr>
            <a:spLocks noGrp="1"/>
          </p:cNvSpPr>
          <p:nvPr>
            <p:ph type="sldNum" sz="quarter" idx="10"/>
          </p:nvPr>
        </p:nvSpPr>
        <p:spPr/>
        <p:txBody>
          <a:bodyPr/>
          <a:lstStyle/>
          <a:p>
            <a:pPr>
              <a:defRPr/>
            </a:pPr>
            <a:fld id="{34A84676-C444-4AC5-8B4E-405A7C81C0FB}" type="slidenum">
              <a:rPr lang="en-US" altLang="en-US" smtClean="0"/>
              <a:t>19</a:t>
            </a:fld>
            <a:endParaRPr lang="en-US" altLang="en-US"/>
          </a:p>
        </p:txBody>
      </p:sp>
      <p:sp>
        <p:nvSpPr>
          <p:cNvPr id="5" name="Footer Placeholder 4">
            <a:extLst>
              <a:ext uri="{FF2B5EF4-FFF2-40B4-BE49-F238E27FC236}">
                <a16:creationId xmlns:a16="http://schemas.microsoft.com/office/drawing/2014/main" id="{8AF2CC14-D522-99CB-03EF-8294FEB3926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EDEAA464-7544-CF00-ABE3-AFE16865AFDA}"/>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14043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5D9F3D-79A5-0E7E-B722-E7AB476D42E1}"/>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0250E43E-A8C3-E60B-4019-C787B5D5E8BA}"/>
              </a:ext>
            </a:extLst>
          </p:cNvPr>
          <p:cNvSpPr>
            <a:spLocks noGrp="1"/>
          </p:cNvSpPr>
          <p:nvPr>
            <p:ph type="sldNum" sz="quarter" idx="11"/>
          </p:nvPr>
        </p:nvSpPr>
        <p:spPr/>
        <p:txBody>
          <a:bodyPr/>
          <a:lstStyle/>
          <a:p>
            <a:pPr>
              <a:defRPr/>
            </a:pPr>
            <a:fld id="{D1AD3536-327C-4937-83AF-A64971CFA6D9}" type="slidenum">
              <a:rPr lang="en-US" smtClean="0"/>
              <a:t>20</a:t>
            </a:fld>
            <a:endParaRPr lang="en-US"/>
          </a:p>
        </p:txBody>
      </p:sp>
      <p:sp>
        <p:nvSpPr>
          <p:cNvPr id="4" name="Footer Placeholder 3">
            <a:extLst>
              <a:ext uri="{FF2B5EF4-FFF2-40B4-BE49-F238E27FC236}">
                <a16:creationId xmlns:a16="http://schemas.microsoft.com/office/drawing/2014/main" id="{AF4771A7-0490-7956-3D44-56F801E4DBB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8767133-7A86-06F7-44BA-FB88E4BD8965}"/>
              </a:ext>
            </a:extLst>
          </p:cNvPr>
          <p:cNvPicPr>
            <a:picLocks noChangeAspect="1"/>
          </p:cNvPicPr>
          <p:nvPr/>
        </p:nvPicPr>
        <p:blipFill>
          <a:blip r:embed="rId2"/>
          <a:stretch>
            <a:fillRect/>
          </a:stretch>
        </p:blipFill>
        <p:spPr>
          <a:xfrm>
            <a:off x="0" y="1593084"/>
            <a:ext cx="12192000" cy="3671832"/>
          </a:xfrm>
          <a:prstGeom prst="rect">
            <a:avLst/>
          </a:prstGeom>
        </p:spPr>
      </p:pic>
    </p:spTree>
    <p:extLst>
      <p:ext uri="{BB962C8B-B14F-4D97-AF65-F5344CB8AC3E}">
        <p14:creationId xmlns:p14="http://schemas.microsoft.com/office/powerpoint/2010/main" val="226646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7DD3-3B01-A605-D9C2-02C55EE91E90}"/>
              </a:ext>
            </a:extLst>
          </p:cNvPr>
          <p:cNvSpPr>
            <a:spLocks noGrp="1"/>
          </p:cNvSpPr>
          <p:nvPr>
            <p:ph type="title"/>
          </p:nvPr>
        </p:nvSpPr>
        <p:spPr/>
        <p:txBody>
          <a:bodyPr/>
          <a:lstStyle/>
          <a:p>
            <a:r>
              <a:rPr lang="en-US" dirty="0"/>
              <a:t>11-2 Query Processing</a:t>
            </a:r>
          </a:p>
        </p:txBody>
      </p:sp>
      <p:sp>
        <p:nvSpPr>
          <p:cNvPr id="3" name="Content Placeholder 2">
            <a:extLst>
              <a:ext uri="{FF2B5EF4-FFF2-40B4-BE49-F238E27FC236}">
                <a16:creationId xmlns:a16="http://schemas.microsoft.com/office/drawing/2014/main" id="{D880ACE1-A55E-24E3-0E23-447795C8B624}"/>
              </a:ext>
            </a:extLst>
          </p:cNvPr>
          <p:cNvSpPr>
            <a:spLocks noGrp="1"/>
          </p:cNvSpPr>
          <p:nvPr>
            <p:ph idx="1"/>
          </p:nvPr>
        </p:nvSpPr>
        <p:spPr/>
        <p:txBody>
          <a:bodyPr/>
          <a:lstStyle/>
          <a:p>
            <a:r>
              <a:rPr lang="en-US" sz="2400" b="1" i="0" dirty="0">
                <a:solidFill>
                  <a:srgbClr val="242021"/>
                </a:solidFill>
                <a:effectLst/>
                <a:latin typeface="MyriadPro-BoldCond"/>
              </a:rPr>
              <a:t>11-2b </a:t>
            </a:r>
            <a:r>
              <a:rPr lang="en-US" sz="2400" b="1" i="0" dirty="0">
                <a:solidFill>
                  <a:srgbClr val="004D8D"/>
                </a:solidFill>
                <a:effectLst/>
                <a:latin typeface="MyriadPro-BoldCond"/>
              </a:rPr>
              <a:t>SQL Execution Phase</a:t>
            </a:r>
            <a:endParaRPr lang="en-US" sz="2400" b="1" i="0" dirty="0">
              <a:solidFill>
                <a:srgbClr val="242021"/>
              </a:solidFill>
              <a:effectLst/>
              <a:latin typeface="MyriadPro-BoldCond"/>
            </a:endParaRPr>
          </a:p>
          <a:p>
            <a:r>
              <a:rPr lang="en-US" sz="2400" b="1" i="0" dirty="0">
                <a:solidFill>
                  <a:srgbClr val="242021"/>
                </a:solidFill>
                <a:effectLst/>
                <a:latin typeface="MyriadPro-BoldCond"/>
              </a:rPr>
              <a:t>11-2c </a:t>
            </a:r>
            <a:r>
              <a:rPr lang="en-US" sz="2400" b="1" i="0" dirty="0">
                <a:solidFill>
                  <a:srgbClr val="004D8D"/>
                </a:solidFill>
                <a:effectLst/>
                <a:latin typeface="MyriadPro-BoldCond"/>
              </a:rPr>
              <a:t>SQL Fetching Phase</a:t>
            </a:r>
          </a:p>
          <a:p>
            <a:r>
              <a:rPr lang="en-US" sz="2400" b="1" i="0" dirty="0">
                <a:solidFill>
                  <a:srgbClr val="242021"/>
                </a:solidFill>
                <a:effectLst/>
                <a:latin typeface="MyriadPro-BoldCond"/>
              </a:rPr>
              <a:t>11-2d </a:t>
            </a:r>
            <a:r>
              <a:rPr lang="en-US" sz="2400" b="1" i="0" dirty="0">
                <a:solidFill>
                  <a:srgbClr val="004D8D"/>
                </a:solidFill>
                <a:effectLst/>
                <a:latin typeface="MyriadPro-BoldCond"/>
              </a:rPr>
              <a:t>Query Processing Bottlenecks</a:t>
            </a:r>
          </a:p>
          <a:p>
            <a:r>
              <a:rPr lang="en-US" sz="2800" b="1" i="0" dirty="0">
                <a:solidFill>
                  <a:srgbClr val="007DAF"/>
                </a:solidFill>
                <a:effectLst/>
                <a:latin typeface="MyriadPro-BoldSemiCn"/>
              </a:rPr>
              <a:t>query processing bottleneck </a:t>
            </a:r>
            <a:r>
              <a:rPr lang="en-US" sz="2400" b="0" i="0" dirty="0">
                <a:solidFill>
                  <a:srgbClr val="242021"/>
                </a:solidFill>
                <a:effectLst/>
                <a:latin typeface="MyriadPro-SemiCn"/>
              </a:rPr>
              <a:t>In query optimization, a delay introduced in</a:t>
            </a:r>
            <a:br>
              <a:rPr lang="en-US" sz="2400" b="0" i="0" dirty="0">
                <a:solidFill>
                  <a:srgbClr val="242021"/>
                </a:solidFill>
                <a:effectLst/>
                <a:latin typeface="MyriadPro-SemiCn"/>
              </a:rPr>
            </a:br>
            <a:r>
              <a:rPr lang="en-US" sz="2400" b="0" i="0" dirty="0">
                <a:solidFill>
                  <a:srgbClr val="242021"/>
                </a:solidFill>
                <a:effectLst/>
                <a:latin typeface="MyriadPro-SemiCn"/>
              </a:rPr>
              <a:t>the processing of an I/O operation that causes the overall system to slow down</a:t>
            </a:r>
            <a:br>
              <a:rPr lang="en-US" sz="2000" dirty="0"/>
            </a:br>
            <a:br>
              <a:rPr lang="en-US" sz="2400" b="1" i="0" dirty="0">
                <a:solidFill>
                  <a:srgbClr val="004D8D"/>
                </a:solidFill>
                <a:effectLst/>
                <a:latin typeface="MyriadPro-BoldCond"/>
              </a:rPr>
            </a:br>
            <a:br>
              <a:rPr lang="en-US" dirty="0"/>
            </a:br>
            <a:endParaRPr lang="en-US" dirty="0"/>
          </a:p>
        </p:txBody>
      </p:sp>
      <p:sp>
        <p:nvSpPr>
          <p:cNvPr id="4" name="Slide Number Placeholder 3">
            <a:extLst>
              <a:ext uri="{FF2B5EF4-FFF2-40B4-BE49-F238E27FC236}">
                <a16:creationId xmlns:a16="http://schemas.microsoft.com/office/drawing/2014/main" id="{0467CFE5-4C07-B8EF-4143-E955FA048FED}"/>
              </a:ext>
            </a:extLst>
          </p:cNvPr>
          <p:cNvSpPr>
            <a:spLocks noGrp="1"/>
          </p:cNvSpPr>
          <p:nvPr>
            <p:ph type="sldNum" sz="quarter" idx="10"/>
          </p:nvPr>
        </p:nvSpPr>
        <p:spPr/>
        <p:txBody>
          <a:bodyPr/>
          <a:lstStyle/>
          <a:p>
            <a:pPr>
              <a:defRPr/>
            </a:pPr>
            <a:fld id="{34A84676-C444-4AC5-8B4E-405A7C81C0FB}" type="slidenum">
              <a:rPr lang="en-US" altLang="en-US" smtClean="0"/>
              <a:t>21</a:t>
            </a:fld>
            <a:endParaRPr lang="en-US" altLang="en-US"/>
          </a:p>
        </p:txBody>
      </p:sp>
      <p:sp>
        <p:nvSpPr>
          <p:cNvPr id="5" name="Footer Placeholder 4">
            <a:extLst>
              <a:ext uri="{FF2B5EF4-FFF2-40B4-BE49-F238E27FC236}">
                <a16:creationId xmlns:a16="http://schemas.microsoft.com/office/drawing/2014/main" id="{45E6EB64-02FE-AC7D-F65A-A49782B24A0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25D7F05-5208-48D9-7698-5BE0E4C57A3E}"/>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982565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C83E-3B1F-13A0-5AA0-D0D75EC22615}"/>
              </a:ext>
            </a:extLst>
          </p:cNvPr>
          <p:cNvSpPr>
            <a:spLocks noGrp="1"/>
          </p:cNvSpPr>
          <p:nvPr>
            <p:ph type="title"/>
          </p:nvPr>
        </p:nvSpPr>
        <p:spPr/>
        <p:txBody>
          <a:bodyPr/>
          <a:lstStyle/>
          <a:p>
            <a:r>
              <a:rPr lang="en-US" dirty="0"/>
              <a:t>11-3 Indexes and Query Optimization</a:t>
            </a:r>
          </a:p>
        </p:txBody>
      </p:sp>
      <p:sp>
        <p:nvSpPr>
          <p:cNvPr id="3" name="Date Placeholder 2">
            <a:extLst>
              <a:ext uri="{FF2B5EF4-FFF2-40B4-BE49-F238E27FC236}">
                <a16:creationId xmlns:a16="http://schemas.microsoft.com/office/drawing/2014/main" id="{EA0FF018-08FF-6364-63DF-EE6431B84011}"/>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B279B526-A0FC-C510-DC24-1C17687EF3A7}"/>
              </a:ext>
            </a:extLst>
          </p:cNvPr>
          <p:cNvSpPr>
            <a:spLocks noGrp="1"/>
          </p:cNvSpPr>
          <p:nvPr>
            <p:ph type="sldNum" sz="quarter" idx="11"/>
          </p:nvPr>
        </p:nvSpPr>
        <p:spPr/>
        <p:txBody>
          <a:bodyPr/>
          <a:lstStyle/>
          <a:p>
            <a:pPr>
              <a:defRPr/>
            </a:pPr>
            <a:fld id="{F9126DDB-45DE-4D72-94FB-1E2D565E80AF}" type="slidenum">
              <a:rPr lang="en-US" smtClean="0"/>
              <a:t>22</a:t>
            </a:fld>
            <a:endParaRPr lang="en-US"/>
          </a:p>
        </p:txBody>
      </p:sp>
      <p:sp>
        <p:nvSpPr>
          <p:cNvPr id="5" name="Footer Placeholder 4">
            <a:extLst>
              <a:ext uri="{FF2B5EF4-FFF2-40B4-BE49-F238E27FC236}">
                <a16:creationId xmlns:a16="http://schemas.microsoft.com/office/drawing/2014/main" id="{11831137-4774-B483-ABF4-95BBB2997046}"/>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473299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A3C1-1C9A-2403-D280-1891192C35B6}"/>
              </a:ext>
            </a:extLst>
          </p:cNvPr>
          <p:cNvSpPr>
            <a:spLocks noGrp="1"/>
          </p:cNvSpPr>
          <p:nvPr>
            <p:ph type="title"/>
          </p:nvPr>
        </p:nvSpPr>
        <p:spPr/>
        <p:txBody>
          <a:bodyPr/>
          <a:lstStyle/>
          <a:p>
            <a:r>
              <a:rPr lang="en-US" dirty="0"/>
              <a:t>11-3 Indexes and Query Optimization</a:t>
            </a:r>
          </a:p>
        </p:txBody>
      </p:sp>
      <p:sp>
        <p:nvSpPr>
          <p:cNvPr id="3" name="Content Placeholder 2">
            <a:extLst>
              <a:ext uri="{FF2B5EF4-FFF2-40B4-BE49-F238E27FC236}">
                <a16:creationId xmlns:a16="http://schemas.microsoft.com/office/drawing/2014/main" id="{3C111428-D670-84A3-FD35-B0F92BD63B90}"/>
              </a:ext>
            </a:extLst>
          </p:cNvPr>
          <p:cNvSpPr>
            <a:spLocks noGrp="1"/>
          </p:cNvSpPr>
          <p:nvPr>
            <p:ph idx="1"/>
          </p:nvPr>
        </p:nvSpPr>
        <p:spPr/>
        <p:txBody>
          <a:bodyPr/>
          <a:lstStyle/>
          <a:p>
            <a:r>
              <a:rPr lang="en-US" sz="2400" b="0" i="0" dirty="0">
                <a:solidFill>
                  <a:srgbClr val="242021"/>
                </a:solidFill>
                <a:effectLst/>
                <a:latin typeface="NewCaledoniaLTStd"/>
              </a:rPr>
              <a:t>Conceptually, a data index is similar to a book index. When you use a book index, you look up a word, which is similar to the index key. The word is accompanied by one or more page numbers where the word is used; these numbers are similar to pointers.</a:t>
            </a:r>
          </a:p>
          <a:p>
            <a:r>
              <a:rPr lang="en-US" dirty="0"/>
              <a:t> </a:t>
            </a:r>
            <a:br>
              <a:rPr lang="en-US" dirty="0"/>
            </a:br>
            <a:endParaRPr lang="en-US" dirty="0"/>
          </a:p>
        </p:txBody>
      </p:sp>
      <p:sp>
        <p:nvSpPr>
          <p:cNvPr id="4" name="Slide Number Placeholder 3">
            <a:extLst>
              <a:ext uri="{FF2B5EF4-FFF2-40B4-BE49-F238E27FC236}">
                <a16:creationId xmlns:a16="http://schemas.microsoft.com/office/drawing/2014/main" id="{FA339BD8-A83F-E1C6-0EFE-7A1870CDEBFD}"/>
              </a:ext>
            </a:extLst>
          </p:cNvPr>
          <p:cNvSpPr>
            <a:spLocks noGrp="1"/>
          </p:cNvSpPr>
          <p:nvPr>
            <p:ph type="sldNum" sz="quarter" idx="10"/>
          </p:nvPr>
        </p:nvSpPr>
        <p:spPr/>
        <p:txBody>
          <a:bodyPr/>
          <a:lstStyle/>
          <a:p>
            <a:pPr>
              <a:defRPr/>
            </a:pPr>
            <a:fld id="{34A84676-C444-4AC5-8B4E-405A7C81C0FB}" type="slidenum">
              <a:rPr lang="en-US" altLang="en-US" smtClean="0"/>
              <a:t>23</a:t>
            </a:fld>
            <a:endParaRPr lang="en-US" altLang="en-US"/>
          </a:p>
        </p:txBody>
      </p:sp>
      <p:sp>
        <p:nvSpPr>
          <p:cNvPr id="5" name="Footer Placeholder 4">
            <a:extLst>
              <a:ext uri="{FF2B5EF4-FFF2-40B4-BE49-F238E27FC236}">
                <a16:creationId xmlns:a16="http://schemas.microsoft.com/office/drawing/2014/main" id="{027AAAFB-ADDD-5798-D4CB-3D131E2C465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22FDF8A0-CC69-37DE-9657-84F4C09579EC}"/>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3854700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48AA1-ADF6-744F-B45E-60A0D8B41603}"/>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4287A0F4-6E55-06E8-16FE-2BFA906612D3}"/>
              </a:ext>
            </a:extLst>
          </p:cNvPr>
          <p:cNvSpPr>
            <a:spLocks noGrp="1"/>
          </p:cNvSpPr>
          <p:nvPr>
            <p:ph type="sldNum" sz="quarter" idx="11"/>
          </p:nvPr>
        </p:nvSpPr>
        <p:spPr/>
        <p:txBody>
          <a:bodyPr/>
          <a:lstStyle/>
          <a:p>
            <a:pPr>
              <a:defRPr/>
            </a:pPr>
            <a:fld id="{D1AD3536-327C-4937-83AF-A64971CFA6D9}" type="slidenum">
              <a:rPr lang="en-US" smtClean="0"/>
              <a:t>24</a:t>
            </a:fld>
            <a:endParaRPr lang="en-US"/>
          </a:p>
        </p:txBody>
      </p:sp>
      <p:sp>
        <p:nvSpPr>
          <p:cNvPr id="4" name="Footer Placeholder 3">
            <a:extLst>
              <a:ext uri="{FF2B5EF4-FFF2-40B4-BE49-F238E27FC236}">
                <a16:creationId xmlns:a16="http://schemas.microsoft.com/office/drawing/2014/main" id="{ECF662ED-ABC3-7CB8-8974-EB3604502E7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B6E1319-6504-05F6-72DB-1BFEADF5159E}"/>
              </a:ext>
            </a:extLst>
          </p:cNvPr>
          <p:cNvPicPr>
            <a:picLocks noChangeAspect="1"/>
          </p:cNvPicPr>
          <p:nvPr/>
        </p:nvPicPr>
        <p:blipFill>
          <a:blip r:embed="rId2"/>
          <a:stretch>
            <a:fillRect/>
          </a:stretch>
        </p:blipFill>
        <p:spPr>
          <a:xfrm>
            <a:off x="9525" y="823912"/>
            <a:ext cx="12172950" cy="5210175"/>
          </a:xfrm>
          <a:prstGeom prst="rect">
            <a:avLst/>
          </a:prstGeom>
        </p:spPr>
      </p:pic>
    </p:spTree>
    <p:extLst>
      <p:ext uri="{BB962C8B-B14F-4D97-AF65-F5344CB8AC3E}">
        <p14:creationId xmlns:p14="http://schemas.microsoft.com/office/powerpoint/2010/main" val="3345758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63DE-F9DB-8870-0247-C3AB7F043841}"/>
              </a:ext>
            </a:extLst>
          </p:cNvPr>
          <p:cNvSpPr>
            <a:spLocks noGrp="1"/>
          </p:cNvSpPr>
          <p:nvPr>
            <p:ph type="title"/>
          </p:nvPr>
        </p:nvSpPr>
        <p:spPr/>
        <p:txBody>
          <a:bodyPr/>
          <a:lstStyle/>
          <a:p>
            <a:r>
              <a:rPr lang="en-US" dirty="0"/>
              <a:t>11-3 Indexes and Query Optimization</a:t>
            </a:r>
          </a:p>
        </p:txBody>
      </p:sp>
      <p:sp>
        <p:nvSpPr>
          <p:cNvPr id="3" name="Content Placeholder 2">
            <a:extLst>
              <a:ext uri="{FF2B5EF4-FFF2-40B4-BE49-F238E27FC236}">
                <a16:creationId xmlns:a16="http://schemas.microsoft.com/office/drawing/2014/main" id="{8B3AFA82-9F61-C7B7-CC63-B64D7E6F3BD3}"/>
              </a:ext>
            </a:extLst>
          </p:cNvPr>
          <p:cNvSpPr>
            <a:spLocks noGrp="1"/>
          </p:cNvSpPr>
          <p:nvPr>
            <p:ph idx="1"/>
          </p:nvPr>
        </p:nvSpPr>
        <p:spPr/>
        <p:txBody>
          <a:bodyPr/>
          <a:lstStyle/>
          <a:p>
            <a:r>
              <a:rPr lang="en-US" sz="2000" b="1" i="0" dirty="0">
                <a:solidFill>
                  <a:srgbClr val="007DAF"/>
                </a:solidFill>
                <a:effectLst/>
                <a:latin typeface="MyriadPro-BoldSemiCn"/>
              </a:rPr>
              <a:t>data sparsity </a:t>
            </a:r>
            <a:r>
              <a:rPr lang="en-US" sz="1800" b="0" i="0" dirty="0">
                <a:solidFill>
                  <a:srgbClr val="242021"/>
                </a:solidFill>
                <a:effectLst/>
                <a:latin typeface="MyriadPro-SemiCn"/>
              </a:rPr>
              <a:t>A column distribution of values or the number of different values a column can have.</a:t>
            </a:r>
            <a:r>
              <a:rPr lang="en-US" sz="1800" dirty="0"/>
              <a:t> </a:t>
            </a:r>
          </a:p>
          <a:p>
            <a:r>
              <a:rPr lang="en-US" sz="2000" b="1" i="0" dirty="0">
                <a:solidFill>
                  <a:srgbClr val="007DAF"/>
                </a:solidFill>
                <a:effectLst/>
                <a:latin typeface="MyriadPro-BoldSemiCn"/>
              </a:rPr>
              <a:t>hash index </a:t>
            </a:r>
            <a:r>
              <a:rPr lang="en-US" sz="1800" b="0" i="0" dirty="0">
                <a:solidFill>
                  <a:srgbClr val="242021"/>
                </a:solidFill>
                <a:effectLst/>
                <a:latin typeface="MyriadPro-SemiCn"/>
              </a:rPr>
              <a:t>An index based on an ordered list of hash values</a:t>
            </a:r>
            <a:r>
              <a:rPr lang="en-US" sz="1800" dirty="0"/>
              <a:t> </a:t>
            </a:r>
          </a:p>
          <a:p>
            <a:r>
              <a:rPr lang="en-US" sz="2000" b="1" i="0" dirty="0">
                <a:solidFill>
                  <a:srgbClr val="007DAF"/>
                </a:solidFill>
                <a:effectLst/>
                <a:latin typeface="MyriadPro-BoldSemiCn"/>
              </a:rPr>
              <a:t>B-tree index </a:t>
            </a:r>
            <a:r>
              <a:rPr lang="en-US" sz="1800" b="0" i="0" dirty="0">
                <a:solidFill>
                  <a:srgbClr val="242021"/>
                </a:solidFill>
                <a:effectLst/>
                <a:latin typeface="MyriadPro-SemiCn"/>
              </a:rPr>
              <a:t>An ordered data structure organized as an upside-down tree.</a:t>
            </a:r>
            <a:r>
              <a:rPr lang="en-US" sz="1800" dirty="0"/>
              <a:t> </a:t>
            </a:r>
          </a:p>
          <a:p>
            <a:r>
              <a:rPr lang="en-US" sz="2000" b="1" i="0" dirty="0">
                <a:solidFill>
                  <a:srgbClr val="007DAF"/>
                </a:solidFill>
                <a:effectLst/>
                <a:latin typeface="MyriadPro-BoldSemiCn"/>
              </a:rPr>
              <a:t>bitmap index </a:t>
            </a:r>
            <a:r>
              <a:rPr lang="en-US" sz="1800" b="0" i="0" dirty="0">
                <a:solidFill>
                  <a:srgbClr val="242021"/>
                </a:solidFill>
                <a:effectLst/>
                <a:latin typeface="MyriadPro-SemiCn"/>
              </a:rPr>
              <a:t>An index that uses a bit array (0s and 1s) to represent the existence of a value or condition.</a:t>
            </a:r>
            <a:r>
              <a:rPr lang="en-US" sz="1800" dirty="0"/>
              <a:t> </a:t>
            </a:r>
            <a:br>
              <a:rPr lang="en-US" sz="1800" dirty="0"/>
            </a:br>
            <a:endParaRPr lang="en-US" sz="1800" dirty="0"/>
          </a:p>
        </p:txBody>
      </p:sp>
      <p:sp>
        <p:nvSpPr>
          <p:cNvPr id="4" name="Slide Number Placeholder 3">
            <a:extLst>
              <a:ext uri="{FF2B5EF4-FFF2-40B4-BE49-F238E27FC236}">
                <a16:creationId xmlns:a16="http://schemas.microsoft.com/office/drawing/2014/main" id="{72F2BF27-77D7-FCC7-F572-79F35C7667C1}"/>
              </a:ext>
            </a:extLst>
          </p:cNvPr>
          <p:cNvSpPr>
            <a:spLocks noGrp="1"/>
          </p:cNvSpPr>
          <p:nvPr>
            <p:ph type="sldNum" sz="quarter" idx="10"/>
          </p:nvPr>
        </p:nvSpPr>
        <p:spPr/>
        <p:txBody>
          <a:bodyPr/>
          <a:lstStyle/>
          <a:p>
            <a:pPr>
              <a:defRPr/>
            </a:pPr>
            <a:fld id="{34A84676-C444-4AC5-8B4E-405A7C81C0FB}" type="slidenum">
              <a:rPr lang="en-US" altLang="en-US" smtClean="0"/>
              <a:t>25</a:t>
            </a:fld>
            <a:endParaRPr lang="en-US" altLang="en-US"/>
          </a:p>
        </p:txBody>
      </p:sp>
      <p:sp>
        <p:nvSpPr>
          <p:cNvPr id="5" name="Footer Placeholder 4">
            <a:extLst>
              <a:ext uri="{FF2B5EF4-FFF2-40B4-BE49-F238E27FC236}">
                <a16:creationId xmlns:a16="http://schemas.microsoft.com/office/drawing/2014/main" id="{457DA57D-B195-B283-B676-234154A5E8C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CBA2514-9E8E-5C15-625E-C6CFD5289788}"/>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3702947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DAC7C-470E-CC72-CC08-B4975F51C68F}"/>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EF60A47E-1F58-ED7B-69A9-44C729851740}"/>
              </a:ext>
            </a:extLst>
          </p:cNvPr>
          <p:cNvSpPr>
            <a:spLocks noGrp="1"/>
          </p:cNvSpPr>
          <p:nvPr>
            <p:ph type="sldNum" sz="quarter" idx="11"/>
          </p:nvPr>
        </p:nvSpPr>
        <p:spPr/>
        <p:txBody>
          <a:bodyPr/>
          <a:lstStyle/>
          <a:p>
            <a:pPr>
              <a:defRPr/>
            </a:pPr>
            <a:fld id="{D1AD3536-327C-4937-83AF-A64971CFA6D9}" type="slidenum">
              <a:rPr lang="en-US" smtClean="0"/>
              <a:t>26</a:t>
            </a:fld>
            <a:endParaRPr lang="en-US"/>
          </a:p>
        </p:txBody>
      </p:sp>
      <p:sp>
        <p:nvSpPr>
          <p:cNvPr id="4" name="Footer Placeholder 3">
            <a:extLst>
              <a:ext uri="{FF2B5EF4-FFF2-40B4-BE49-F238E27FC236}">
                <a16:creationId xmlns:a16="http://schemas.microsoft.com/office/drawing/2014/main" id="{5853259D-E178-6D5D-8C9B-0ADB12B2A0F0}"/>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D245B6B-74B9-BF95-3708-1643EA035B03}"/>
              </a:ext>
            </a:extLst>
          </p:cNvPr>
          <p:cNvPicPr>
            <a:picLocks noChangeAspect="1"/>
          </p:cNvPicPr>
          <p:nvPr/>
        </p:nvPicPr>
        <p:blipFill>
          <a:blip r:embed="rId2"/>
          <a:stretch>
            <a:fillRect/>
          </a:stretch>
        </p:blipFill>
        <p:spPr>
          <a:xfrm>
            <a:off x="1683327" y="0"/>
            <a:ext cx="8825345" cy="6858000"/>
          </a:xfrm>
          <a:prstGeom prst="rect">
            <a:avLst/>
          </a:prstGeom>
        </p:spPr>
      </p:pic>
    </p:spTree>
    <p:extLst>
      <p:ext uri="{BB962C8B-B14F-4D97-AF65-F5344CB8AC3E}">
        <p14:creationId xmlns:p14="http://schemas.microsoft.com/office/powerpoint/2010/main" val="4077850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00F9B-011B-5903-6C83-D9624CA1CF9E}"/>
              </a:ext>
            </a:extLst>
          </p:cNvPr>
          <p:cNvSpPr>
            <a:spLocks noGrp="1"/>
          </p:cNvSpPr>
          <p:nvPr>
            <p:ph type="title"/>
          </p:nvPr>
        </p:nvSpPr>
        <p:spPr/>
        <p:txBody>
          <a:bodyPr/>
          <a:lstStyle/>
          <a:p>
            <a:r>
              <a:rPr lang="en-US" dirty="0"/>
              <a:t>11-4 Optimizer Choices</a:t>
            </a:r>
          </a:p>
        </p:txBody>
      </p:sp>
      <p:sp>
        <p:nvSpPr>
          <p:cNvPr id="3" name="Date Placeholder 2">
            <a:extLst>
              <a:ext uri="{FF2B5EF4-FFF2-40B4-BE49-F238E27FC236}">
                <a16:creationId xmlns:a16="http://schemas.microsoft.com/office/drawing/2014/main" id="{9BCD1166-A90E-E3A6-8D79-7EC8E93BCA86}"/>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7647610A-2772-3867-C1A4-B388EBDC5B14}"/>
              </a:ext>
            </a:extLst>
          </p:cNvPr>
          <p:cNvSpPr>
            <a:spLocks noGrp="1"/>
          </p:cNvSpPr>
          <p:nvPr>
            <p:ph type="sldNum" sz="quarter" idx="11"/>
          </p:nvPr>
        </p:nvSpPr>
        <p:spPr/>
        <p:txBody>
          <a:bodyPr/>
          <a:lstStyle/>
          <a:p>
            <a:pPr>
              <a:defRPr/>
            </a:pPr>
            <a:fld id="{F9126DDB-45DE-4D72-94FB-1E2D565E80AF}" type="slidenum">
              <a:rPr lang="en-US" smtClean="0"/>
              <a:t>27</a:t>
            </a:fld>
            <a:endParaRPr lang="en-US"/>
          </a:p>
        </p:txBody>
      </p:sp>
      <p:sp>
        <p:nvSpPr>
          <p:cNvPr id="5" name="Footer Placeholder 4">
            <a:extLst>
              <a:ext uri="{FF2B5EF4-FFF2-40B4-BE49-F238E27FC236}">
                <a16:creationId xmlns:a16="http://schemas.microsoft.com/office/drawing/2014/main" id="{64B22CBB-FE18-3B76-2121-1E894F8E6C1E}"/>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4008701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EBF3-0503-5567-7DD7-0E4FF1D03D72}"/>
              </a:ext>
            </a:extLst>
          </p:cNvPr>
          <p:cNvSpPr>
            <a:spLocks noGrp="1"/>
          </p:cNvSpPr>
          <p:nvPr>
            <p:ph type="title"/>
          </p:nvPr>
        </p:nvSpPr>
        <p:spPr/>
        <p:txBody>
          <a:bodyPr/>
          <a:lstStyle/>
          <a:p>
            <a:r>
              <a:rPr lang="en-US" dirty="0"/>
              <a:t>11-4 Optimizer Choices</a:t>
            </a:r>
          </a:p>
        </p:txBody>
      </p:sp>
      <p:sp>
        <p:nvSpPr>
          <p:cNvPr id="3" name="Content Placeholder 2">
            <a:extLst>
              <a:ext uri="{FF2B5EF4-FFF2-40B4-BE49-F238E27FC236}">
                <a16:creationId xmlns:a16="http://schemas.microsoft.com/office/drawing/2014/main" id="{53F4344C-1480-626A-C415-FD5307552793}"/>
              </a:ext>
            </a:extLst>
          </p:cNvPr>
          <p:cNvSpPr>
            <a:spLocks noGrp="1"/>
          </p:cNvSpPr>
          <p:nvPr>
            <p:ph idx="1"/>
          </p:nvPr>
        </p:nvSpPr>
        <p:spPr/>
        <p:txBody>
          <a:bodyPr/>
          <a:lstStyle/>
          <a:p>
            <a:r>
              <a:rPr lang="en-US" sz="1800" b="0" i="0" dirty="0">
                <a:solidFill>
                  <a:srgbClr val="242021"/>
                </a:solidFill>
                <a:effectLst/>
                <a:latin typeface="NewCaledoniaLTStd"/>
              </a:rPr>
              <a:t>Query optimization is the central activity during the parsing phase in query processing. In this phase, the DBMS must choose what indexes to use, how to perform join operations, which table to use first, and so on. Each DBMS has its own algorithms for determining the most efficient way to access the data. The query optimizer can operate in one of two modes:</a:t>
            </a:r>
            <a:r>
              <a:rPr lang="en-US" sz="1800" dirty="0"/>
              <a:t> </a:t>
            </a:r>
          </a:p>
          <a:p>
            <a:r>
              <a:rPr lang="en-US" sz="1800" b="1" i="0" dirty="0">
                <a:solidFill>
                  <a:srgbClr val="007DAF"/>
                </a:solidFill>
                <a:effectLst/>
                <a:latin typeface="MyriadPro-BoldSemiCn"/>
              </a:rPr>
              <a:t>rule-based optimizer </a:t>
            </a:r>
            <a:r>
              <a:rPr lang="en-US" sz="1800" b="0" i="0" dirty="0">
                <a:solidFill>
                  <a:srgbClr val="242021"/>
                </a:solidFill>
                <a:effectLst/>
                <a:latin typeface="MyriadPro-SemiCn"/>
              </a:rPr>
              <a:t>A query optimization mode based on the rule-based query optimization algorithm.</a:t>
            </a:r>
          </a:p>
          <a:p>
            <a:r>
              <a:rPr lang="en-US" sz="1800" dirty="0"/>
              <a:t> </a:t>
            </a:r>
            <a:r>
              <a:rPr lang="en-US" sz="1800" b="1" i="0" dirty="0">
                <a:solidFill>
                  <a:srgbClr val="007DAF"/>
                </a:solidFill>
                <a:effectLst/>
                <a:latin typeface="MyriadPro-BoldSemiCn"/>
              </a:rPr>
              <a:t>cost-based optimizer </a:t>
            </a:r>
            <a:r>
              <a:rPr lang="en-US" sz="1800" b="0" i="0" dirty="0">
                <a:solidFill>
                  <a:srgbClr val="242021"/>
                </a:solidFill>
                <a:effectLst/>
                <a:latin typeface="MyriadPro-SemiCn"/>
              </a:rPr>
              <a:t>A query optimization mode that uses an algorithm based on statistics about the objects being accessed, including number of rows, indexes available, index sparsity, and so on</a:t>
            </a:r>
            <a:r>
              <a:rPr lang="en-US" sz="1800" dirty="0"/>
              <a:t> </a:t>
            </a:r>
            <a:br>
              <a:rPr lang="en-US" sz="1800" dirty="0"/>
            </a:br>
            <a:endParaRPr lang="en-US" sz="1800" dirty="0"/>
          </a:p>
        </p:txBody>
      </p:sp>
      <p:sp>
        <p:nvSpPr>
          <p:cNvPr id="4" name="Slide Number Placeholder 3">
            <a:extLst>
              <a:ext uri="{FF2B5EF4-FFF2-40B4-BE49-F238E27FC236}">
                <a16:creationId xmlns:a16="http://schemas.microsoft.com/office/drawing/2014/main" id="{68B5BC05-62E7-806F-EA9D-8A83270A8FE6}"/>
              </a:ext>
            </a:extLst>
          </p:cNvPr>
          <p:cNvSpPr>
            <a:spLocks noGrp="1"/>
          </p:cNvSpPr>
          <p:nvPr>
            <p:ph type="sldNum" sz="quarter" idx="10"/>
          </p:nvPr>
        </p:nvSpPr>
        <p:spPr/>
        <p:txBody>
          <a:bodyPr/>
          <a:lstStyle/>
          <a:p>
            <a:pPr>
              <a:defRPr/>
            </a:pPr>
            <a:fld id="{34A84676-C444-4AC5-8B4E-405A7C81C0FB}" type="slidenum">
              <a:rPr lang="en-US" altLang="en-US" smtClean="0"/>
              <a:t>28</a:t>
            </a:fld>
            <a:endParaRPr lang="en-US" altLang="en-US"/>
          </a:p>
        </p:txBody>
      </p:sp>
      <p:sp>
        <p:nvSpPr>
          <p:cNvPr id="5" name="Footer Placeholder 4">
            <a:extLst>
              <a:ext uri="{FF2B5EF4-FFF2-40B4-BE49-F238E27FC236}">
                <a16:creationId xmlns:a16="http://schemas.microsoft.com/office/drawing/2014/main" id="{7F65E937-B20F-1156-316C-0C3258CB51E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6E54546-5AAE-F570-4D34-E25631628E47}"/>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3450800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3FE3E8-223F-9CAE-FE76-98AF98A01DC5}"/>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0A3B9B05-0420-7774-A5C9-FA0F5C0AAC15}"/>
              </a:ext>
            </a:extLst>
          </p:cNvPr>
          <p:cNvSpPr>
            <a:spLocks noGrp="1"/>
          </p:cNvSpPr>
          <p:nvPr>
            <p:ph type="sldNum" sz="quarter" idx="11"/>
          </p:nvPr>
        </p:nvSpPr>
        <p:spPr/>
        <p:txBody>
          <a:bodyPr/>
          <a:lstStyle/>
          <a:p>
            <a:pPr>
              <a:defRPr/>
            </a:pPr>
            <a:fld id="{D1AD3536-327C-4937-83AF-A64971CFA6D9}" type="slidenum">
              <a:rPr lang="en-US" smtClean="0"/>
              <a:t>29</a:t>
            </a:fld>
            <a:endParaRPr lang="en-US"/>
          </a:p>
        </p:txBody>
      </p:sp>
      <p:sp>
        <p:nvSpPr>
          <p:cNvPr id="4" name="Footer Placeholder 3">
            <a:extLst>
              <a:ext uri="{FF2B5EF4-FFF2-40B4-BE49-F238E27FC236}">
                <a16:creationId xmlns:a16="http://schemas.microsoft.com/office/drawing/2014/main" id="{5F48C33B-A522-E8B1-7C08-65D5C2F8350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6319FA5-22FC-BCCA-AA21-6EBE8E019F96}"/>
              </a:ext>
            </a:extLst>
          </p:cNvPr>
          <p:cNvPicPr>
            <a:picLocks noChangeAspect="1"/>
          </p:cNvPicPr>
          <p:nvPr/>
        </p:nvPicPr>
        <p:blipFill>
          <a:blip r:embed="rId2"/>
          <a:stretch>
            <a:fillRect/>
          </a:stretch>
        </p:blipFill>
        <p:spPr>
          <a:xfrm>
            <a:off x="1395412" y="771525"/>
            <a:ext cx="9401175" cy="5314950"/>
          </a:xfrm>
          <a:prstGeom prst="rect">
            <a:avLst/>
          </a:prstGeom>
        </p:spPr>
      </p:pic>
    </p:spTree>
    <p:extLst>
      <p:ext uri="{BB962C8B-B14F-4D97-AF65-F5344CB8AC3E}">
        <p14:creationId xmlns:p14="http://schemas.microsoft.com/office/powerpoint/2010/main" val="1154474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A4434-6BEB-6BDC-16E1-4016044AE2CD}"/>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93BD7662-6DE6-F871-4475-F4EE70295013}"/>
              </a:ext>
            </a:extLst>
          </p:cNvPr>
          <p:cNvSpPr>
            <a:spLocks noGrp="1"/>
          </p:cNvSpPr>
          <p:nvPr>
            <p:ph type="sldNum" sz="quarter" idx="11"/>
          </p:nvPr>
        </p:nvSpPr>
        <p:spPr/>
        <p:txBody>
          <a:bodyPr/>
          <a:lstStyle/>
          <a:p>
            <a:pPr>
              <a:defRPr/>
            </a:pPr>
            <a:fld id="{D1AD3536-327C-4937-83AF-A64971CFA6D9}" type="slidenum">
              <a:rPr lang="en-US" smtClean="0"/>
              <a:t>30</a:t>
            </a:fld>
            <a:endParaRPr lang="en-US"/>
          </a:p>
        </p:txBody>
      </p:sp>
      <p:sp>
        <p:nvSpPr>
          <p:cNvPr id="4" name="Footer Placeholder 3">
            <a:extLst>
              <a:ext uri="{FF2B5EF4-FFF2-40B4-BE49-F238E27FC236}">
                <a16:creationId xmlns:a16="http://schemas.microsoft.com/office/drawing/2014/main" id="{4CF5E6A2-DB0B-6DCD-B27E-95CECE6C74C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D86C1DD-87E7-38DB-71CF-683D080745A0}"/>
              </a:ext>
            </a:extLst>
          </p:cNvPr>
          <p:cNvPicPr>
            <a:picLocks noChangeAspect="1"/>
          </p:cNvPicPr>
          <p:nvPr/>
        </p:nvPicPr>
        <p:blipFill>
          <a:blip r:embed="rId2"/>
          <a:stretch>
            <a:fillRect/>
          </a:stretch>
        </p:blipFill>
        <p:spPr>
          <a:xfrm>
            <a:off x="28575" y="1633537"/>
            <a:ext cx="12134850" cy="3590925"/>
          </a:xfrm>
          <a:prstGeom prst="rect">
            <a:avLst/>
          </a:prstGeom>
        </p:spPr>
      </p:pic>
    </p:spTree>
    <p:extLst>
      <p:ext uri="{BB962C8B-B14F-4D97-AF65-F5344CB8AC3E}">
        <p14:creationId xmlns:p14="http://schemas.microsoft.com/office/powerpoint/2010/main" val="742886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162-0CC7-2C09-0EBC-519DEB5EEBE7}"/>
              </a:ext>
            </a:extLst>
          </p:cNvPr>
          <p:cNvSpPr>
            <a:spLocks noGrp="1"/>
          </p:cNvSpPr>
          <p:nvPr>
            <p:ph type="title"/>
          </p:nvPr>
        </p:nvSpPr>
        <p:spPr/>
        <p:txBody>
          <a:bodyPr/>
          <a:lstStyle/>
          <a:p>
            <a:r>
              <a:rPr lang="en-US" dirty="0"/>
              <a:t>11-4a Using Hints to Affect Optimizer Choices</a:t>
            </a:r>
          </a:p>
        </p:txBody>
      </p:sp>
      <p:sp>
        <p:nvSpPr>
          <p:cNvPr id="3" name="Content Placeholder 2">
            <a:extLst>
              <a:ext uri="{FF2B5EF4-FFF2-40B4-BE49-F238E27FC236}">
                <a16:creationId xmlns:a16="http://schemas.microsoft.com/office/drawing/2014/main" id="{7478AFF4-536B-4122-2E16-F0EB0936F4C2}"/>
              </a:ext>
            </a:extLst>
          </p:cNvPr>
          <p:cNvSpPr>
            <a:spLocks noGrp="1"/>
          </p:cNvSpPr>
          <p:nvPr>
            <p:ph idx="1"/>
          </p:nvPr>
        </p:nvSpPr>
        <p:spPr/>
        <p:txBody>
          <a:bodyPr/>
          <a:lstStyle/>
          <a:p>
            <a:r>
              <a:rPr lang="en-US" sz="2000" b="1" i="0" dirty="0">
                <a:solidFill>
                  <a:srgbClr val="007DAF"/>
                </a:solidFill>
                <a:effectLst/>
                <a:latin typeface="MyriadPro-BoldSemiCn"/>
              </a:rPr>
              <a:t>optimizer hints </a:t>
            </a:r>
            <a:r>
              <a:rPr lang="en-US" sz="1800" b="0" i="0" dirty="0">
                <a:solidFill>
                  <a:srgbClr val="242021"/>
                </a:solidFill>
                <a:effectLst/>
                <a:latin typeface="MyriadPro-SemiCn"/>
              </a:rPr>
              <a:t>Special instructions for the query optimizer that are embedded inside the SQL command text.</a:t>
            </a:r>
            <a:r>
              <a:rPr lang="en-US" sz="1800" dirty="0"/>
              <a:t> </a:t>
            </a:r>
            <a:br>
              <a:rPr lang="en-US" sz="1800" dirty="0"/>
            </a:br>
            <a:endParaRPr lang="en-US" sz="1800" dirty="0"/>
          </a:p>
        </p:txBody>
      </p:sp>
      <p:sp>
        <p:nvSpPr>
          <p:cNvPr id="4" name="Slide Number Placeholder 3">
            <a:extLst>
              <a:ext uri="{FF2B5EF4-FFF2-40B4-BE49-F238E27FC236}">
                <a16:creationId xmlns:a16="http://schemas.microsoft.com/office/drawing/2014/main" id="{BDE00600-3DD3-55B6-61C9-6CBFC66F1ECB}"/>
              </a:ext>
            </a:extLst>
          </p:cNvPr>
          <p:cNvSpPr>
            <a:spLocks noGrp="1"/>
          </p:cNvSpPr>
          <p:nvPr>
            <p:ph type="sldNum" sz="quarter" idx="10"/>
          </p:nvPr>
        </p:nvSpPr>
        <p:spPr/>
        <p:txBody>
          <a:bodyPr/>
          <a:lstStyle/>
          <a:p>
            <a:pPr>
              <a:defRPr/>
            </a:pPr>
            <a:fld id="{34A84676-C444-4AC5-8B4E-405A7C81C0FB}" type="slidenum">
              <a:rPr lang="en-US" altLang="en-US" smtClean="0"/>
              <a:t>31</a:t>
            </a:fld>
            <a:endParaRPr lang="en-US" altLang="en-US"/>
          </a:p>
        </p:txBody>
      </p:sp>
      <p:sp>
        <p:nvSpPr>
          <p:cNvPr id="5" name="Footer Placeholder 4">
            <a:extLst>
              <a:ext uri="{FF2B5EF4-FFF2-40B4-BE49-F238E27FC236}">
                <a16:creationId xmlns:a16="http://schemas.microsoft.com/office/drawing/2014/main" id="{1AC6A37D-B327-98A2-717C-469C360A629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1FAD3B9-EED3-72CA-C1DB-43438A17795D}"/>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pic>
        <p:nvPicPr>
          <p:cNvPr id="8" name="Picture 7">
            <a:extLst>
              <a:ext uri="{FF2B5EF4-FFF2-40B4-BE49-F238E27FC236}">
                <a16:creationId xmlns:a16="http://schemas.microsoft.com/office/drawing/2014/main" id="{70AE22CE-EED3-608B-E10F-A339A9B44E33}"/>
              </a:ext>
            </a:extLst>
          </p:cNvPr>
          <p:cNvPicPr>
            <a:picLocks noChangeAspect="1"/>
          </p:cNvPicPr>
          <p:nvPr/>
        </p:nvPicPr>
        <p:blipFill>
          <a:blip r:embed="rId2"/>
          <a:stretch>
            <a:fillRect/>
          </a:stretch>
        </p:blipFill>
        <p:spPr>
          <a:xfrm>
            <a:off x="2133600" y="2399607"/>
            <a:ext cx="7620000" cy="3941380"/>
          </a:xfrm>
          <a:prstGeom prst="rect">
            <a:avLst/>
          </a:prstGeom>
        </p:spPr>
      </p:pic>
    </p:spTree>
    <p:extLst>
      <p:ext uri="{BB962C8B-B14F-4D97-AF65-F5344CB8AC3E}">
        <p14:creationId xmlns:p14="http://schemas.microsoft.com/office/powerpoint/2010/main" val="705381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66E3-60FB-EA4C-43EA-8B3151F16B1F}"/>
              </a:ext>
            </a:extLst>
          </p:cNvPr>
          <p:cNvSpPr>
            <a:spLocks noGrp="1"/>
          </p:cNvSpPr>
          <p:nvPr>
            <p:ph type="title"/>
          </p:nvPr>
        </p:nvSpPr>
        <p:spPr/>
        <p:txBody>
          <a:bodyPr/>
          <a:lstStyle/>
          <a:p>
            <a:r>
              <a:rPr lang="en-US" dirty="0"/>
              <a:t>11-5 SQL Performance Tuning</a:t>
            </a:r>
          </a:p>
        </p:txBody>
      </p:sp>
      <p:sp>
        <p:nvSpPr>
          <p:cNvPr id="3" name="Date Placeholder 2">
            <a:extLst>
              <a:ext uri="{FF2B5EF4-FFF2-40B4-BE49-F238E27FC236}">
                <a16:creationId xmlns:a16="http://schemas.microsoft.com/office/drawing/2014/main" id="{2C7234FA-05F1-7F51-2DA9-BCF8B72ABB13}"/>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DCFDBFD8-C456-955F-4CBC-2ECC89E3E20B}"/>
              </a:ext>
            </a:extLst>
          </p:cNvPr>
          <p:cNvSpPr>
            <a:spLocks noGrp="1"/>
          </p:cNvSpPr>
          <p:nvPr>
            <p:ph type="sldNum" sz="quarter" idx="11"/>
          </p:nvPr>
        </p:nvSpPr>
        <p:spPr/>
        <p:txBody>
          <a:bodyPr/>
          <a:lstStyle/>
          <a:p>
            <a:pPr>
              <a:defRPr/>
            </a:pPr>
            <a:fld id="{F9126DDB-45DE-4D72-94FB-1E2D565E80AF}" type="slidenum">
              <a:rPr lang="en-US" smtClean="0"/>
              <a:t>32</a:t>
            </a:fld>
            <a:endParaRPr lang="en-US"/>
          </a:p>
        </p:txBody>
      </p:sp>
      <p:sp>
        <p:nvSpPr>
          <p:cNvPr id="5" name="Footer Placeholder 4">
            <a:extLst>
              <a:ext uri="{FF2B5EF4-FFF2-40B4-BE49-F238E27FC236}">
                <a16:creationId xmlns:a16="http://schemas.microsoft.com/office/drawing/2014/main" id="{6845447E-F9DB-F0F5-6852-56BF4CFE727E}"/>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417476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830D4-1F5E-A82C-431A-C504BF1F3395}"/>
              </a:ext>
            </a:extLst>
          </p:cNvPr>
          <p:cNvSpPr>
            <a:spLocks noGrp="1"/>
          </p:cNvSpPr>
          <p:nvPr>
            <p:ph type="title"/>
          </p:nvPr>
        </p:nvSpPr>
        <p:spPr/>
        <p:txBody>
          <a:bodyPr/>
          <a:lstStyle/>
          <a:p>
            <a:r>
              <a:rPr lang="en-US" dirty="0"/>
              <a:t>11-5a Index Selectivity</a:t>
            </a:r>
          </a:p>
        </p:txBody>
      </p:sp>
      <p:sp>
        <p:nvSpPr>
          <p:cNvPr id="3" name="Content Placeholder 2">
            <a:extLst>
              <a:ext uri="{FF2B5EF4-FFF2-40B4-BE49-F238E27FC236}">
                <a16:creationId xmlns:a16="http://schemas.microsoft.com/office/drawing/2014/main" id="{D37C62E8-DEAD-F299-7959-13CAB3C22E2C}"/>
              </a:ext>
            </a:extLst>
          </p:cNvPr>
          <p:cNvSpPr>
            <a:spLocks noGrp="1"/>
          </p:cNvSpPr>
          <p:nvPr>
            <p:ph idx="1"/>
          </p:nvPr>
        </p:nvSpPr>
        <p:spPr/>
        <p:txBody>
          <a:bodyPr/>
          <a:lstStyle/>
          <a:p>
            <a:r>
              <a:rPr lang="en-US" sz="1800" b="0" i="0" dirty="0">
                <a:solidFill>
                  <a:srgbClr val="242021"/>
                </a:solidFill>
                <a:effectLst/>
                <a:latin typeface="NewCaledoniaLTStd"/>
              </a:rPr>
              <a:t>Indexes are very useful when you want to select a small subset of rows from a large table based on a given condition. If an index exists for the column </a:t>
            </a:r>
            <a:r>
              <a:rPr lang="en-US" sz="1800" b="0" i="1" dirty="0">
                <a:solidFill>
                  <a:srgbClr val="242021"/>
                </a:solidFill>
                <a:effectLst/>
                <a:latin typeface="NewCaledoniaLTStd-It"/>
              </a:rPr>
              <a:t>used in the selection</a:t>
            </a:r>
            <a:r>
              <a:rPr lang="en-US" sz="1800" b="0" i="0" dirty="0">
                <a:solidFill>
                  <a:srgbClr val="242021"/>
                </a:solidFill>
                <a:effectLst/>
                <a:latin typeface="NewCaledoniaLTStd"/>
              </a:rPr>
              <a:t>, the DBMS may choose to use it.</a:t>
            </a:r>
            <a:r>
              <a:rPr lang="en-US" sz="1400" dirty="0"/>
              <a:t> </a:t>
            </a:r>
          </a:p>
          <a:p>
            <a:r>
              <a:rPr lang="en-US" sz="1800" b="1" i="0" dirty="0">
                <a:solidFill>
                  <a:srgbClr val="007DAF"/>
                </a:solidFill>
                <a:effectLst/>
                <a:latin typeface="MyriadPro-BoldSemiCn"/>
              </a:rPr>
              <a:t>index selectivity </a:t>
            </a:r>
            <a:r>
              <a:rPr lang="en-US" sz="1800" b="0" i="0" dirty="0">
                <a:solidFill>
                  <a:srgbClr val="242021"/>
                </a:solidFill>
                <a:effectLst/>
                <a:latin typeface="MyriadPro-SemiCn"/>
              </a:rPr>
              <a:t>A measure of how likely an index is to be used in query processing</a:t>
            </a:r>
            <a:r>
              <a:rPr lang="en-US" sz="1800" dirty="0"/>
              <a:t> </a:t>
            </a:r>
          </a:p>
          <a:p>
            <a:r>
              <a:rPr lang="en-US" sz="1800" b="1" i="0" dirty="0">
                <a:solidFill>
                  <a:srgbClr val="007DAF"/>
                </a:solidFill>
                <a:effectLst/>
                <a:latin typeface="MyriadPro-BoldSemiCn"/>
              </a:rPr>
              <a:t>function-based index </a:t>
            </a:r>
            <a:r>
              <a:rPr lang="en-US" sz="1800" b="0" i="0" dirty="0">
                <a:solidFill>
                  <a:srgbClr val="242021"/>
                </a:solidFill>
                <a:effectLst/>
                <a:latin typeface="MyriadPro-SemiCn"/>
              </a:rPr>
              <a:t>A type of index based on a specific SQL function or expression.</a:t>
            </a:r>
            <a:r>
              <a:rPr lang="en-US" sz="1800" dirty="0"/>
              <a:t> </a:t>
            </a:r>
          </a:p>
          <a:p>
            <a:pPr lvl="1"/>
            <a:r>
              <a:rPr lang="en-US" b="0" i="0" dirty="0">
                <a:solidFill>
                  <a:srgbClr val="242021"/>
                </a:solidFill>
                <a:effectLst/>
                <a:latin typeface="NewCaledoniaLTStd"/>
              </a:rPr>
              <a:t>You could create an index on EMP_SALARY </a:t>
            </a:r>
            <a:r>
              <a:rPr lang="en-US" dirty="0">
                <a:solidFill>
                  <a:srgbClr val="242021"/>
                </a:solidFill>
                <a:latin typeface="MathematicalPiLTStd-1"/>
              </a:rPr>
              <a:t>+ </a:t>
            </a:r>
            <a:r>
              <a:rPr lang="en-US" b="0" i="0" dirty="0">
                <a:solidFill>
                  <a:srgbClr val="242021"/>
                </a:solidFill>
                <a:effectLst/>
                <a:latin typeface="NewCaledoniaLTStd"/>
              </a:rPr>
              <a:t>EMP_COMMISSION.</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774108D7-9557-9E1B-841B-962FB19E5649}"/>
              </a:ext>
            </a:extLst>
          </p:cNvPr>
          <p:cNvSpPr>
            <a:spLocks noGrp="1"/>
          </p:cNvSpPr>
          <p:nvPr>
            <p:ph type="sldNum" sz="quarter" idx="10"/>
          </p:nvPr>
        </p:nvSpPr>
        <p:spPr/>
        <p:txBody>
          <a:bodyPr/>
          <a:lstStyle/>
          <a:p>
            <a:pPr>
              <a:defRPr/>
            </a:pPr>
            <a:fld id="{34A84676-C444-4AC5-8B4E-405A7C81C0FB}" type="slidenum">
              <a:rPr lang="en-US" altLang="en-US" smtClean="0"/>
              <a:t>33</a:t>
            </a:fld>
            <a:endParaRPr lang="en-US" altLang="en-US"/>
          </a:p>
        </p:txBody>
      </p:sp>
      <p:sp>
        <p:nvSpPr>
          <p:cNvPr id="5" name="Footer Placeholder 4">
            <a:extLst>
              <a:ext uri="{FF2B5EF4-FFF2-40B4-BE49-F238E27FC236}">
                <a16:creationId xmlns:a16="http://schemas.microsoft.com/office/drawing/2014/main" id="{DF3AC408-1311-DEDB-4711-E6A2B47D362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27A700F-A0E2-6E54-2F29-3E035069BF25}"/>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805542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C519-FB19-8609-C66F-FB7BDC6FEE36}"/>
              </a:ext>
            </a:extLst>
          </p:cNvPr>
          <p:cNvSpPr>
            <a:spLocks noGrp="1"/>
          </p:cNvSpPr>
          <p:nvPr>
            <p:ph type="title"/>
          </p:nvPr>
        </p:nvSpPr>
        <p:spPr/>
        <p:txBody>
          <a:bodyPr/>
          <a:lstStyle/>
          <a:p>
            <a:r>
              <a:rPr lang="en-US" dirty="0"/>
              <a:t>11-5b Conditional Expressions</a:t>
            </a:r>
          </a:p>
        </p:txBody>
      </p:sp>
      <p:sp>
        <p:nvSpPr>
          <p:cNvPr id="3" name="Content Placeholder 2">
            <a:extLst>
              <a:ext uri="{FF2B5EF4-FFF2-40B4-BE49-F238E27FC236}">
                <a16:creationId xmlns:a16="http://schemas.microsoft.com/office/drawing/2014/main" id="{A6A48637-730A-5AE3-96C4-1135467D3C98}"/>
              </a:ext>
            </a:extLst>
          </p:cNvPr>
          <p:cNvSpPr>
            <a:spLocks noGrp="1"/>
          </p:cNvSpPr>
          <p:nvPr>
            <p:ph idx="1"/>
          </p:nvPr>
        </p:nvSpPr>
        <p:spPr/>
        <p:txBody>
          <a:bodyPr/>
          <a:lstStyle/>
          <a:p>
            <a:r>
              <a:rPr lang="en-US" sz="2400" b="0" i="0" dirty="0">
                <a:solidFill>
                  <a:srgbClr val="242021"/>
                </a:solidFill>
                <a:effectLst/>
                <a:latin typeface="NewCaledoniaLTStd"/>
              </a:rPr>
              <a:t>Use simple columns or literals as operands in a conditional expression—avoid the use of conditional expressions with functions whenever possible</a:t>
            </a:r>
          </a:p>
          <a:p>
            <a:r>
              <a:rPr lang="en-US" dirty="0"/>
              <a:t>Numeric field comparisons are faster than character, date, and NULL comparisons.</a:t>
            </a:r>
          </a:p>
          <a:p>
            <a:r>
              <a:rPr lang="en-US" dirty="0"/>
              <a:t>Equality comparisons are generally faster than inequality comparisons.</a:t>
            </a:r>
          </a:p>
          <a:p>
            <a:r>
              <a:rPr lang="en-US" dirty="0"/>
              <a:t>Whenever possible, transform conditional expressions to use literals. </a:t>
            </a:r>
          </a:p>
          <a:p>
            <a:r>
              <a:rPr lang="en-US" dirty="0"/>
              <a:t>When using multiple conditional expressions, write the equality conditions first. </a:t>
            </a:r>
          </a:p>
          <a:p>
            <a:r>
              <a:rPr lang="en-US" dirty="0"/>
              <a:t>If you use multiple AND conditions, write the condition most likely to be false first.</a:t>
            </a:r>
          </a:p>
          <a:p>
            <a:r>
              <a:rPr lang="en-US" dirty="0"/>
              <a:t>When using multiple OR conditions, put the condition most likely to be true first.</a:t>
            </a:r>
          </a:p>
        </p:txBody>
      </p:sp>
      <p:sp>
        <p:nvSpPr>
          <p:cNvPr id="4" name="Slide Number Placeholder 3">
            <a:extLst>
              <a:ext uri="{FF2B5EF4-FFF2-40B4-BE49-F238E27FC236}">
                <a16:creationId xmlns:a16="http://schemas.microsoft.com/office/drawing/2014/main" id="{D8D5EC97-68A4-BF74-BEE5-DB9CFB802045}"/>
              </a:ext>
            </a:extLst>
          </p:cNvPr>
          <p:cNvSpPr>
            <a:spLocks noGrp="1"/>
          </p:cNvSpPr>
          <p:nvPr>
            <p:ph type="sldNum" sz="quarter" idx="10"/>
          </p:nvPr>
        </p:nvSpPr>
        <p:spPr/>
        <p:txBody>
          <a:bodyPr/>
          <a:lstStyle/>
          <a:p>
            <a:pPr>
              <a:defRPr/>
            </a:pPr>
            <a:fld id="{34A84676-C444-4AC5-8B4E-405A7C81C0FB}" type="slidenum">
              <a:rPr lang="en-US" altLang="en-US" smtClean="0"/>
              <a:t>34</a:t>
            </a:fld>
            <a:endParaRPr lang="en-US" altLang="en-US"/>
          </a:p>
        </p:txBody>
      </p:sp>
      <p:sp>
        <p:nvSpPr>
          <p:cNvPr id="5" name="Footer Placeholder 4">
            <a:extLst>
              <a:ext uri="{FF2B5EF4-FFF2-40B4-BE49-F238E27FC236}">
                <a16:creationId xmlns:a16="http://schemas.microsoft.com/office/drawing/2014/main" id="{8A6947C3-0225-E995-3955-A5F7DFE5AD9B}"/>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AD7F7B5-E799-8943-AE44-5AA0735437FB}"/>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1269454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76088-9F69-66C0-7683-76D14631827B}"/>
              </a:ext>
            </a:extLst>
          </p:cNvPr>
          <p:cNvSpPr>
            <a:spLocks noGrp="1"/>
          </p:cNvSpPr>
          <p:nvPr>
            <p:ph type="title"/>
          </p:nvPr>
        </p:nvSpPr>
        <p:spPr/>
        <p:txBody>
          <a:bodyPr/>
          <a:lstStyle/>
          <a:p>
            <a:r>
              <a:rPr lang="en-US" dirty="0"/>
              <a:t>11-6 Query Formulation</a:t>
            </a:r>
          </a:p>
        </p:txBody>
      </p:sp>
      <p:sp>
        <p:nvSpPr>
          <p:cNvPr id="3" name="Date Placeholder 2">
            <a:extLst>
              <a:ext uri="{FF2B5EF4-FFF2-40B4-BE49-F238E27FC236}">
                <a16:creationId xmlns:a16="http://schemas.microsoft.com/office/drawing/2014/main" id="{21936CF2-9136-550D-8A42-AFC4F3C72B2C}"/>
              </a:ext>
            </a:extLst>
          </p:cNvPr>
          <p:cNvSpPr>
            <a:spLocks noGrp="1"/>
          </p:cNvSpPr>
          <p:nvPr>
            <p:ph type="dt" sz="half" idx="10"/>
          </p:nvPr>
        </p:nvSpPr>
        <p:spPr/>
        <p:txBody>
          <a:bodyPr/>
          <a:lstStyle/>
          <a:p>
            <a:pPr>
              <a:defRPr/>
            </a:pPr>
            <a:fld id="{7F53EECD-5EF2-4F97-996E-6CBAC1BF3011}" type="datetime1">
              <a:rPr lang="en-US" smtClean="0"/>
              <a:t>12/19/2024</a:t>
            </a:fld>
            <a:endParaRPr lang="en-US"/>
          </a:p>
        </p:txBody>
      </p:sp>
      <p:sp>
        <p:nvSpPr>
          <p:cNvPr id="4" name="Slide Number Placeholder 3">
            <a:extLst>
              <a:ext uri="{FF2B5EF4-FFF2-40B4-BE49-F238E27FC236}">
                <a16:creationId xmlns:a16="http://schemas.microsoft.com/office/drawing/2014/main" id="{5865021A-7A3B-6703-ADE2-1B244E9C9EAF}"/>
              </a:ext>
            </a:extLst>
          </p:cNvPr>
          <p:cNvSpPr>
            <a:spLocks noGrp="1"/>
          </p:cNvSpPr>
          <p:nvPr>
            <p:ph type="sldNum" sz="quarter" idx="11"/>
          </p:nvPr>
        </p:nvSpPr>
        <p:spPr/>
        <p:txBody>
          <a:bodyPr/>
          <a:lstStyle/>
          <a:p>
            <a:pPr>
              <a:defRPr/>
            </a:pPr>
            <a:fld id="{F9126DDB-45DE-4D72-94FB-1E2D565E80AF}" type="slidenum">
              <a:rPr lang="en-US" smtClean="0"/>
              <a:t>35</a:t>
            </a:fld>
            <a:endParaRPr lang="en-US"/>
          </a:p>
        </p:txBody>
      </p:sp>
      <p:sp>
        <p:nvSpPr>
          <p:cNvPr id="5" name="Footer Placeholder 4">
            <a:extLst>
              <a:ext uri="{FF2B5EF4-FFF2-40B4-BE49-F238E27FC236}">
                <a16:creationId xmlns:a16="http://schemas.microsoft.com/office/drawing/2014/main" id="{77091273-82F6-ACF3-568D-156D671C72DD}"/>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861809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6A4AF-CF2F-65B7-E950-BE3764C2F363}"/>
              </a:ext>
            </a:extLst>
          </p:cNvPr>
          <p:cNvSpPr>
            <a:spLocks noGrp="1"/>
          </p:cNvSpPr>
          <p:nvPr>
            <p:ph type="title"/>
          </p:nvPr>
        </p:nvSpPr>
        <p:spPr/>
        <p:txBody>
          <a:bodyPr/>
          <a:lstStyle/>
          <a:p>
            <a:r>
              <a:rPr lang="en-US" dirty="0"/>
              <a:t>11-6 Query Formulation</a:t>
            </a:r>
          </a:p>
        </p:txBody>
      </p:sp>
      <p:sp>
        <p:nvSpPr>
          <p:cNvPr id="3" name="Content Placeholder 2">
            <a:extLst>
              <a:ext uri="{FF2B5EF4-FFF2-40B4-BE49-F238E27FC236}">
                <a16:creationId xmlns:a16="http://schemas.microsoft.com/office/drawing/2014/main" id="{C6962DAB-39BB-B48F-8540-D2EC4FC65EF5}"/>
              </a:ext>
            </a:extLst>
          </p:cNvPr>
          <p:cNvSpPr>
            <a:spLocks noGrp="1"/>
          </p:cNvSpPr>
          <p:nvPr>
            <p:ph idx="1"/>
          </p:nvPr>
        </p:nvSpPr>
        <p:spPr/>
        <p:txBody>
          <a:bodyPr/>
          <a:lstStyle/>
          <a:p>
            <a:r>
              <a:rPr lang="en-US" sz="2400" b="0" i="0" dirty="0">
                <a:solidFill>
                  <a:srgbClr val="242021"/>
                </a:solidFill>
                <a:effectLst/>
                <a:latin typeface="NewCaledoniaLTStd"/>
              </a:rPr>
              <a:t>This section focuses on SELECT queries because they are the queries you will find in most applications. To formulate a query, you would normally follow these step:</a:t>
            </a:r>
          </a:p>
          <a:p>
            <a:pPr lvl="1"/>
            <a:r>
              <a:rPr lang="en-US" dirty="0"/>
              <a:t> I</a:t>
            </a:r>
            <a:r>
              <a:rPr lang="en-US" sz="1800" b="0" i="1" dirty="0">
                <a:solidFill>
                  <a:srgbClr val="242021"/>
                </a:solidFill>
                <a:effectLst/>
                <a:latin typeface="NewCaledoniaLTStd-It"/>
              </a:rPr>
              <a:t>dentify what columns and computations are required</a:t>
            </a:r>
            <a:r>
              <a:rPr lang="en-US" dirty="0"/>
              <a:t> </a:t>
            </a:r>
          </a:p>
          <a:p>
            <a:pPr lvl="1"/>
            <a:r>
              <a:rPr lang="en-US" sz="1800" b="0" i="1" dirty="0">
                <a:solidFill>
                  <a:srgbClr val="242021"/>
                </a:solidFill>
                <a:effectLst/>
                <a:latin typeface="NewCaledoniaLTStd-It"/>
              </a:rPr>
              <a:t>Identify the source tables</a:t>
            </a:r>
            <a:r>
              <a:rPr lang="en-US" dirty="0"/>
              <a:t> </a:t>
            </a:r>
          </a:p>
          <a:p>
            <a:pPr lvl="1"/>
            <a:r>
              <a:rPr lang="en-US" sz="1800" b="0" i="1" dirty="0">
                <a:solidFill>
                  <a:srgbClr val="242021"/>
                </a:solidFill>
                <a:effectLst/>
                <a:latin typeface="NewCaledoniaLTStd-It"/>
              </a:rPr>
              <a:t>Determine how to join the tables</a:t>
            </a:r>
            <a:r>
              <a:rPr lang="en-US" dirty="0"/>
              <a:t> </a:t>
            </a:r>
          </a:p>
          <a:p>
            <a:pPr lvl="1"/>
            <a:r>
              <a:rPr lang="en-US" sz="1800" b="0" i="1" dirty="0">
                <a:solidFill>
                  <a:srgbClr val="242021"/>
                </a:solidFill>
                <a:effectLst/>
                <a:latin typeface="NewCaledoniaLTStd-It"/>
              </a:rPr>
              <a:t>Determine what selection criteria are needed</a:t>
            </a:r>
            <a:r>
              <a:rPr lang="en-US" dirty="0"/>
              <a:t> </a:t>
            </a:r>
          </a:p>
          <a:p>
            <a:pPr lvl="2"/>
            <a:r>
              <a:rPr lang="en-US" b="0" i="1" dirty="0">
                <a:solidFill>
                  <a:srgbClr val="242021"/>
                </a:solidFill>
                <a:effectLst/>
                <a:latin typeface="NewCaledoniaLTStd-It"/>
              </a:rPr>
              <a:t>Single value to multiple values</a:t>
            </a:r>
            <a:r>
              <a:rPr lang="en-US" dirty="0"/>
              <a:t> </a:t>
            </a:r>
          </a:p>
          <a:p>
            <a:pPr lvl="2"/>
            <a:r>
              <a:rPr lang="en-US" b="0" i="1" dirty="0">
                <a:solidFill>
                  <a:srgbClr val="242021"/>
                </a:solidFill>
                <a:effectLst/>
                <a:latin typeface="NewCaledoniaLTStd-It"/>
              </a:rPr>
              <a:t>Nested comparisons</a:t>
            </a:r>
            <a:r>
              <a:rPr lang="en-US" b="0" i="0" dirty="0">
                <a:solidFill>
                  <a:srgbClr val="242021"/>
                </a:solidFill>
                <a:effectLst/>
                <a:latin typeface="NewCaledoniaLTStd"/>
              </a:rPr>
              <a:t>. </a:t>
            </a:r>
          </a:p>
          <a:p>
            <a:pPr lvl="2"/>
            <a:r>
              <a:rPr lang="en-US" b="0" i="1" dirty="0">
                <a:solidFill>
                  <a:srgbClr val="242021"/>
                </a:solidFill>
                <a:effectLst/>
                <a:latin typeface="NewCaledoniaLTStd-It"/>
              </a:rPr>
              <a:t>Grouped data selection</a:t>
            </a:r>
            <a:r>
              <a:rPr lang="en-US" dirty="0"/>
              <a:t> </a:t>
            </a:r>
          </a:p>
          <a:p>
            <a:pPr lvl="1"/>
            <a:r>
              <a:rPr lang="en-US" sz="1800" b="0" i="1" dirty="0">
                <a:solidFill>
                  <a:srgbClr val="242021"/>
                </a:solidFill>
                <a:effectLst/>
                <a:latin typeface="NewCaledoniaLTStd-It"/>
              </a:rPr>
              <a:t>Determine the order in which to display the output</a:t>
            </a:r>
            <a:r>
              <a:rPr lang="en-US" dirty="0"/>
              <a:t> </a:t>
            </a: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D0411B12-25B3-AD42-371F-BDEFE9EA222B}"/>
              </a:ext>
            </a:extLst>
          </p:cNvPr>
          <p:cNvSpPr>
            <a:spLocks noGrp="1"/>
          </p:cNvSpPr>
          <p:nvPr>
            <p:ph type="sldNum" sz="quarter" idx="10"/>
          </p:nvPr>
        </p:nvSpPr>
        <p:spPr/>
        <p:txBody>
          <a:bodyPr/>
          <a:lstStyle/>
          <a:p>
            <a:pPr>
              <a:defRPr/>
            </a:pPr>
            <a:fld id="{34A84676-C444-4AC5-8B4E-405A7C81C0FB}" type="slidenum">
              <a:rPr lang="en-US" altLang="en-US" smtClean="0"/>
              <a:t>36</a:t>
            </a:fld>
            <a:endParaRPr lang="en-US" altLang="en-US"/>
          </a:p>
        </p:txBody>
      </p:sp>
      <p:sp>
        <p:nvSpPr>
          <p:cNvPr id="5" name="Footer Placeholder 4">
            <a:extLst>
              <a:ext uri="{FF2B5EF4-FFF2-40B4-BE49-F238E27FC236}">
                <a16:creationId xmlns:a16="http://schemas.microsoft.com/office/drawing/2014/main" id="{CB098F58-912F-46FC-B04C-BEF9B32E0B6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FFA8BA9-A05F-F767-A0C5-8358F66D13F4}"/>
              </a:ext>
            </a:extLst>
          </p:cNvPr>
          <p:cNvSpPr>
            <a:spLocks noGrp="1"/>
          </p:cNvSpPr>
          <p:nvPr>
            <p:ph type="dt" sz="half" idx="12"/>
          </p:nvPr>
        </p:nvSpPr>
        <p:spPr/>
        <p:txBody>
          <a:bodyPr/>
          <a:lstStyle/>
          <a:p>
            <a:pPr>
              <a:defRPr/>
            </a:pPr>
            <a:fld id="{6D947E3C-0B49-413F-8928-2C02ECEF5B61}" type="datetime1">
              <a:rPr lang="en-US" smtClean="0"/>
              <a:t>12/19/2024</a:t>
            </a:fld>
            <a:endParaRPr lang="en-US"/>
          </a:p>
        </p:txBody>
      </p:sp>
    </p:spTree>
    <p:extLst>
      <p:ext uri="{BB962C8B-B14F-4D97-AF65-F5344CB8AC3E}">
        <p14:creationId xmlns:p14="http://schemas.microsoft.com/office/powerpoint/2010/main" val="4097898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59E81-4918-6C24-BECD-52EE41D59A55}"/>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8C14FE08-EC75-98BB-0E3D-65BEC37D80D9}"/>
              </a:ext>
            </a:extLst>
          </p:cNvPr>
          <p:cNvSpPr>
            <a:spLocks noGrp="1"/>
          </p:cNvSpPr>
          <p:nvPr>
            <p:ph type="sldNum" sz="quarter" idx="11"/>
          </p:nvPr>
        </p:nvSpPr>
        <p:spPr/>
        <p:txBody>
          <a:bodyPr/>
          <a:lstStyle/>
          <a:p>
            <a:pPr>
              <a:defRPr/>
            </a:pPr>
            <a:fld id="{D1AD3536-327C-4937-83AF-A64971CFA6D9}" type="slidenum">
              <a:rPr lang="en-US" smtClean="0"/>
              <a:t>37</a:t>
            </a:fld>
            <a:endParaRPr lang="en-US"/>
          </a:p>
        </p:txBody>
      </p:sp>
      <p:sp>
        <p:nvSpPr>
          <p:cNvPr id="4" name="Footer Placeholder 3">
            <a:extLst>
              <a:ext uri="{FF2B5EF4-FFF2-40B4-BE49-F238E27FC236}">
                <a16:creationId xmlns:a16="http://schemas.microsoft.com/office/drawing/2014/main" id="{2B40E69B-7CF8-C54C-0FFC-83D58FEDA04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9FF25E9-E1D6-67F8-016D-C470BA9615E4}"/>
              </a:ext>
            </a:extLst>
          </p:cNvPr>
          <p:cNvPicPr>
            <a:picLocks noChangeAspect="1"/>
          </p:cNvPicPr>
          <p:nvPr/>
        </p:nvPicPr>
        <p:blipFill>
          <a:blip r:embed="rId2"/>
          <a:stretch>
            <a:fillRect/>
          </a:stretch>
        </p:blipFill>
        <p:spPr>
          <a:xfrm>
            <a:off x="42862" y="1476375"/>
            <a:ext cx="12106275" cy="3905250"/>
          </a:xfrm>
          <a:prstGeom prst="rect">
            <a:avLst/>
          </a:prstGeom>
        </p:spPr>
      </p:pic>
    </p:spTree>
    <p:extLst>
      <p:ext uri="{BB962C8B-B14F-4D97-AF65-F5344CB8AC3E}">
        <p14:creationId xmlns:p14="http://schemas.microsoft.com/office/powerpoint/2010/main" val="3131245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BFC51-20FD-7864-3D88-7762ECE24D99}"/>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09F9AAF1-8E35-E2E9-E33B-FAB96E4FAA12}"/>
              </a:ext>
            </a:extLst>
          </p:cNvPr>
          <p:cNvSpPr>
            <a:spLocks noGrp="1"/>
          </p:cNvSpPr>
          <p:nvPr>
            <p:ph type="sldNum" sz="quarter" idx="11"/>
          </p:nvPr>
        </p:nvSpPr>
        <p:spPr/>
        <p:txBody>
          <a:bodyPr/>
          <a:lstStyle/>
          <a:p>
            <a:pPr>
              <a:defRPr/>
            </a:pPr>
            <a:fld id="{D1AD3536-327C-4937-83AF-A64971CFA6D9}" type="slidenum">
              <a:rPr lang="en-US" smtClean="0"/>
              <a:t>38</a:t>
            </a:fld>
            <a:endParaRPr lang="en-US"/>
          </a:p>
        </p:txBody>
      </p:sp>
      <p:sp>
        <p:nvSpPr>
          <p:cNvPr id="4" name="Footer Placeholder 3">
            <a:extLst>
              <a:ext uri="{FF2B5EF4-FFF2-40B4-BE49-F238E27FC236}">
                <a16:creationId xmlns:a16="http://schemas.microsoft.com/office/drawing/2014/main" id="{16CE2E59-1965-4E8F-594C-03FC8D2A9E1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AA1ABD1-09AB-B0F5-9AA7-39B70B562DE8}"/>
              </a:ext>
            </a:extLst>
          </p:cNvPr>
          <p:cNvPicPr>
            <a:picLocks noChangeAspect="1"/>
          </p:cNvPicPr>
          <p:nvPr/>
        </p:nvPicPr>
        <p:blipFill>
          <a:blip r:embed="rId2"/>
          <a:stretch>
            <a:fillRect/>
          </a:stretch>
        </p:blipFill>
        <p:spPr>
          <a:xfrm>
            <a:off x="0" y="2034677"/>
            <a:ext cx="12192000" cy="2788646"/>
          </a:xfrm>
          <a:prstGeom prst="rect">
            <a:avLst/>
          </a:prstGeom>
        </p:spPr>
      </p:pic>
    </p:spTree>
    <p:extLst>
      <p:ext uri="{BB962C8B-B14F-4D97-AF65-F5344CB8AC3E}">
        <p14:creationId xmlns:p14="http://schemas.microsoft.com/office/powerpoint/2010/main" val="2651462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5C347D-5698-48A7-78FA-E2958E8976C1}"/>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07F7649F-9E90-B115-7233-6B0241B4466A}"/>
              </a:ext>
            </a:extLst>
          </p:cNvPr>
          <p:cNvSpPr>
            <a:spLocks noGrp="1"/>
          </p:cNvSpPr>
          <p:nvPr>
            <p:ph type="sldNum" sz="quarter" idx="11"/>
          </p:nvPr>
        </p:nvSpPr>
        <p:spPr/>
        <p:txBody>
          <a:bodyPr/>
          <a:lstStyle/>
          <a:p>
            <a:pPr>
              <a:defRPr/>
            </a:pPr>
            <a:fld id="{D1AD3536-327C-4937-83AF-A64971CFA6D9}" type="slidenum">
              <a:rPr lang="en-US" smtClean="0"/>
              <a:t>39</a:t>
            </a:fld>
            <a:endParaRPr lang="en-US"/>
          </a:p>
        </p:txBody>
      </p:sp>
      <p:sp>
        <p:nvSpPr>
          <p:cNvPr id="4" name="Footer Placeholder 3">
            <a:extLst>
              <a:ext uri="{FF2B5EF4-FFF2-40B4-BE49-F238E27FC236}">
                <a16:creationId xmlns:a16="http://schemas.microsoft.com/office/drawing/2014/main" id="{FFB24545-2C30-088A-E1F9-2C12AECDBBD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0100D13-2273-51E3-EC62-5540016BA34E}"/>
              </a:ext>
            </a:extLst>
          </p:cNvPr>
          <p:cNvPicPr>
            <a:picLocks noChangeAspect="1"/>
          </p:cNvPicPr>
          <p:nvPr/>
        </p:nvPicPr>
        <p:blipFill>
          <a:blip r:embed="rId2"/>
          <a:stretch>
            <a:fillRect/>
          </a:stretch>
        </p:blipFill>
        <p:spPr>
          <a:xfrm>
            <a:off x="361950" y="552450"/>
            <a:ext cx="11468100" cy="5753100"/>
          </a:xfrm>
          <a:prstGeom prst="rect">
            <a:avLst/>
          </a:prstGeom>
        </p:spPr>
      </p:pic>
    </p:spTree>
    <p:extLst>
      <p:ext uri="{BB962C8B-B14F-4D97-AF65-F5344CB8AC3E}">
        <p14:creationId xmlns:p14="http://schemas.microsoft.com/office/powerpoint/2010/main" val="75652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7E229D-B704-C5ED-0B89-BAFA2651F207}"/>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E8A5E743-C2D5-14A3-1CDC-4A6655774101}"/>
              </a:ext>
            </a:extLst>
          </p:cNvPr>
          <p:cNvSpPr>
            <a:spLocks noGrp="1"/>
          </p:cNvSpPr>
          <p:nvPr>
            <p:ph type="sldNum" sz="quarter" idx="11"/>
          </p:nvPr>
        </p:nvSpPr>
        <p:spPr/>
        <p:txBody>
          <a:bodyPr/>
          <a:lstStyle/>
          <a:p>
            <a:pPr>
              <a:defRPr/>
            </a:pPr>
            <a:fld id="{D1AD3536-327C-4937-83AF-A64971CFA6D9}" type="slidenum">
              <a:rPr lang="en-US" smtClean="0"/>
              <a:t>40</a:t>
            </a:fld>
            <a:endParaRPr lang="en-US"/>
          </a:p>
        </p:txBody>
      </p:sp>
      <p:sp>
        <p:nvSpPr>
          <p:cNvPr id="4" name="Footer Placeholder 3">
            <a:extLst>
              <a:ext uri="{FF2B5EF4-FFF2-40B4-BE49-F238E27FC236}">
                <a16:creationId xmlns:a16="http://schemas.microsoft.com/office/drawing/2014/main" id="{3FEDA648-91A7-7AB6-828C-FEAEE08B0A1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72F3A64-1D1A-CA80-8034-6BFDEAB2A607}"/>
              </a:ext>
            </a:extLst>
          </p:cNvPr>
          <p:cNvPicPr>
            <a:picLocks noChangeAspect="1"/>
          </p:cNvPicPr>
          <p:nvPr/>
        </p:nvPicPr>
        <p:blipFill>
          <a:blip r:embed="rId2"/>
          <a:stretch>
            <a:fillRect/>
          </a:stretch>
        </p:blipFill>
        <p:spPr>
          <a:xfrm>
            <a:off x="371475" y="295275"/>
            <a:ext cx="11449050" cy="6267450"/>
          </a:xfrm>
          <a:prstGeom prst="rect">
            <a:avLst/>
          </a:prstGeom>
        </p:spPr>
      </p:pic>
    </p:spTree>
    <p:extLst>
      <p:ext uri="{BB962C8B-B14F-4D97-AF65-F5344CB8AC3E}">
        <p14:creationId xmlns:p14="http://schemas.microsoft.com/office/powerpoint/2010/main" val="553529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4DAAFB-831B-E448-57CF-8D7E355D7DEB}"/>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0CA1B4E3-B802-1987-FB9A-8CDFD4FFFA8A}"/>
              </a:ext>
            </a:extLst>
          </p:cNvPr>
          <p:cNvSpPr>
            <a:spLocks noGrp="1"/>
          </p:cNvSpPr>
          <p:nvPr>
            <p:ph type="sldNum" sz="quarter" idx="11"/>
          </p:nvPr>
        </p:nvSpPr>
        <p:spPr/>
        <p:txBody>
          <a:bodyPr/>
          <a:lstStyle/>
          <a:p>
            <a:pPr>
              <a:defRPr/>
            </a:pPr>
            <a:fld id="{D1AD3536-327C-4937-83AF-A64971CFA6D9}" type="slidenum">
              <a:rPr lang="en-US" smtClean="0"/>
              <a:t>41</a:t>
            </a:fld>
            <a:endParaRPr lang="en-US"/>
          </a:p>
        </p:txBody>
      </p:sp>
      <p:sp>
        <p:nvSpPr>
          <p:cNvPr id="4" name="Footer Placeholder 3">
            <a:extLst>
              <a:ext uri="{FF2B5EF4-FFF2-40B4-BE49-F238E27FC236}">
                <a16:creationId xmlns:a16="http://schemas.microsoft.com/office/drawing/2014/main" id="{F459285B-5D61-5B19-82D2-BB2C1A82D07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4E3FE5A-7483-054F-7DA5-0CE8045E0228}"/>
              </a:ext>
            </a:extLst>
          </p:cNvPr>
          <p:cNvPicPr>
            <a:picLocks noChangeAspect="1"/>
          </p:cNvPicPr>
          <p:nvPr/>
        </p:nvPicPr>
        <p:blipFill>
          <a:blip r:embed="rId2"/>
          <a:stretch>
            <a:fillRect/>
          </a:stretch>
        </p:blipFill>
        <p:spPr>
          <a:xfrm>
            <a:off x="1676400" y="609600"/>
            <a:ext cx="9151414" cy="5257800"/>
          </a:xfrm>
          <a:prstGeom prst="rect">
            <a:avLst/>
          </a:prstGeom>
        </p:spPr>
      </p:pic>
    </p:spTree>
    <p:extLst>
      <p:ext uri="{BB962C8B-B14F-4D97-AF65-F5344CB8AC3E}">
        <p14:creationId xmlns:p14="http://schemas.microsoft.com/office/powerpoint/2010/main" val="29376454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D4D787-BE66-12AA-F278-4F0009F120FE}"/>
              </a:ext>
            </a:extLst>
          </p:cNvPr>
          <p:cNvSpPr>
            <a:spLocks noGrp="1"/>
          </p:cNvSpPr>
          <p:nvPr>
            <p:ph type="dt" sz="half" idx="10"/>
          </p:nvPr>
        </p:nvSpPr>
        <p:spPr/>
        <p:txBody>
          <a:bodyPr/>
          <a:lstStyle/>
          <a:p>
            <a:pPr>
              <a:defRPr/>
            </a:pPr>
            <a:fld id="{0135270F-5CE6-4EF5-9A71-BDCE233B4E76}" type="datetime1">
              <a:rPr lang="en-US" smtClean="0"/>
              <a:t>12/19/2024</a:t>
            </a:fld>
            <a:endParaRPr lang="en-US"/>
          </a:p>
        </p:txBody>
      </p:sp>
      <p:sp>
        <p:nvSpPr>
          <p:cNvPr id="3" name="Slide Number Placeholder 2">
            <a:extLst>
              <a:ext uri="{FF2B5EF4-FFF2-40B4-BE49-F238E27FC236}">
                <a16:creationId xmlns:a16="http://schemas.microsoft.com/office/drawing/2014/main" id="{8E6F2A56-7074-7DF1-6666-117ABC370C07}"/>
              </a:ext>
            </a:extLst>
          </p:cNvPr>
          <p:cNvSpPr>
            <a:spLocks noGrp="1"/>
          </p:cNvSpPr>
          <p:nvPr>
            <p:ph type="sldNum" sz="quarter" idx="11"/>
          </p:nvPr>
        </p:nvSpPr>
        <p:spPr/>
        <p:txBody>
          <a:bodyPr/>
          <a:lstStyle/>
          <a:p>
            <a:pPr>
              <a:defRPr/>
            </a:pPr>
            <a:fld id="{D1AD3536-327C-4937-83AF-A64971CFA6D9}" type="slidenum">
              <a:rPr lang="en-US" smtClean="0"/>
              <a:t>42</a:t>
            </a:fld>
            <a:endParaRPr lang="en-US"/>
          </a:p>
        </p:txBody>
      </p:sp>
      <p:sp>
        <p:nvSpPr>
          <p:cNvPr id="4" name="Footer Placeholder 3">
            <a:extLst>
              <a:ext uri="{FF2B5EF4-FFF2-40B4-BE49-F238E27FC236}">
                <a16:creationId xmlns:a16="http://schemas.microsoft.com/office/drawing/2014/main" id="{840A5CFF-CF18-A082-D19F-F11C782CCB7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497FF2A-9941-F190-55FD-148701F73AAB}"/>
              </a:ext>
            </a:extLst>
          </p:cNvPr>
          <p:cNvPicPr>
            <a:picLocks noChangeAspect="1"/>
          </p:cNvPicPr>
          <p:nvPr/>
        </p:nvPicPr>
        <p:blipFill>
          <a:blip r:embed="rId2"/>
          <a:stretch>
            <a:fillRect/>
          </a:stretch>
        </p:blipFill>
        <p:spPr>
          <a:xfrm>
            <a:off x="1515983" y="1855333"/>
            <a:ext cx="9160034" cy="3147333"/>
          </a:xfrm>
          <a:prstGeom prst="rect">
            <a:avLst/>
          </a:prstGeom>
        </p:spPr>
      </p:pic>
    </p:spTree>
    <p:extLst>
      <p:ext uri="{BB962C8B-B14F-4D97-AF65-F5344CB8AC3E}">
        <p14:creationId xmlns:p14="http://schemas.microsoft.com/office/powerpoint/2010/main" val="1690264794"/>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2217</Words>
  <Application>Microsoft Office PowerPoint</Application>
  <PresentationFormat>Widescreen</PresentationFormat>
  <Paragraphs>242</Paragraphs>
  <Slides>42</Slides>
  <Notes>1</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42</vt:i4>
      </vt:variant>
    </vt:vector>
  </HeadingPairs>
  <TitlesOfParts>
    <vt:vector size="61" baseType="lpstr">
      <vt:lpstr>Arial</vt:lpstr>
      <vt:lpstr>Calibri</vt:lpstr>
      <vt:lpstr>Calibri Light</vt:lpstr>
      <vt:lpstr>Courier New</vt:lpstr>
      <vt:lpstr>MathematicalPiLTStd-1</vt:lpstr>
      <vt:lpstr>MyriadPro-Black</vt:lpstr>
      <vt:lpstr>MyriadPro-BlackCond</vt:lpstr>
      <vt:lpstr>MyriadPro-Bold</vt:lpstr>
      <vt:lpstr>MyriadPro-BoldCond</vt:lpstr>
      <vt:lpstr>MyriadPro-BoldSemiCn</vt:lpstr>
      <vt:lpstr>MyriadPro-SemiboldCond</vt:lpstr>
      <vt:lpstr>MyriadPro-SemiCn</vt:lpstr>
      <vt:lpstr>MyriadPro-SemiCnIt</vt:lpstr>
      <vt:lpstr>NewCaledoniaLTStd</vt:lpstr>
      <vt:lpstr>NewCaledoniaLTStd-Bold</vt:lpstr>
      <vt:lpstr>NewCaledoniaLTStd-It</vt:lpstr>
      <vt:lpstr>Times New Roman</vt:lpstr>
      <vt:lpstr>Wingdings</vt:lpstr>
      <vt:lpstr>Vicostone Template</vt:lpstr>
      <vt:lpstr>Learning Objectives</vt:lpstr>
      <vt:lpstr>National Economics University Faculty of Data Science &amp; Artificial Intelligence</vt:lpstr>
      <vt:lpstr>Learning Objectives</vt:lpstr>
      <vt:lpstr>11-1 Database Performance-Tuning Concepts</vt:lpstr>
      <vt:lpstr>11-1 Database Performance-Tuning Concepts</vt:lpstr>
      <vt:lpstr>11-1a Performance Tuning: Client and Server</vt:lpstr>
      <vt:lpstr>PowerPoint Presentation</vt:lpstr>
      <vt:lpstr>11-1b DBMS Architecture</vt:lpstr>
      <vt:lpstr>11-1b DBMS Architecture</vt:lpstr>
      <vt:lpstr>11-1b DBMS Architecture</vt:lpstr>
      <vt:lpstr>PowerPoint Presentation</vt:lpstr>
      <vt:lpstr>11-1c Database Query Optimization Modes</vt:lpstr>
      <vt:lpstr>11-1c Database Query Optimization Modes</vt:lpstr>
      <vt:lpstr>11-1c Database Query Optimization Modes</vt:lpstr>
      <vt:lpstr>11-1d Database Statistics</vt:lpstr>
      <vt:lpstr>11-2 Query Processing</vt:lpstr>
      <vt:lpstr>11-2 Query Processing</vt:lpstr>
      <vt:lpstr>PowerPoint Presentation</vt:lpstr>
      <vt:lpstr>11-2a SQL Parsing Phase</vt:lpstr>
      <vt:lpstr>PowerPoint Presentation</vt:lpstr>
      <vt:lpstr>11-2 Query Processing</vt:lpstr>
      <vt:lpstr>11-3 Indexes and Query Optimization</vt:lpstr>
      <vt:lpstr>11-3 Indexes and Query Optimization</vt:lpstr>
      <vt:lpstr>PowerPoint Presentation</vt:lpstr>
      <vt:lpstr>11-3 Indexes and Query Optimization</vt:lpstr>
      <vt:lpstr>PowerPoint Presentation</vt:lpstr>
      <vt:lpstr>11-4 Optimizer Choices</vt:lpstr>
      <vt:lpstr>11-4 Optimizer Choices</vt:lpstr>
      <vt:lpstr>PowerPoint Presentation</vt:lpstr>
      <vt:lpstr>PowerPoint Presentation</vt:lpstr>
      <vt:lpstr>11-4a Using Hints to Affect Optimizer Choices</vt:lpstr>
      <vt:lpstr>11-5 SQL Performance Tuning</vt:lpstr>
      <vt:lpstr>11-5a Index Selectivity</vt:lpstr>
      <vt:lpstr>11-5b Conditional Expressions</vt:lpstr>
      <vt:lpstr>11-6 Query Formulation</vt:lpstr>
      <vt:lpstr>11-6 Query Formulation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
  <cp:lastModifiedBy/>
  <cp:revision>463</cp:revision>
  <dcterms:created xsi:type="dcterms:W3CDTF">2009-09-28T17:47:00Z</dcterms:created>
  <dcterms:modified xsi:type="dcterms:W3CDTF">2024-12-19T11:34:41Z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6E8732C15E5E4468A8CD668B6D983A91_12</vt:lpwstr>
  </property>
  <property fmtid="{D5CDD505-2E9C-101B-9397-08002B2CF9AE}" pid="3" name="KSOProductBuildVer">
    <vt:lpwstr>1033-12.2.0.13215</vt:lpwstr>
  </property>
</Properties>
</file>