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8" r:id="rId1"/>
  </p:sldMasterIdLst>
  <p:notesMasterIdLst>
    <p:notesMasterId r:id="rId59"/>
  </p:notesMasterIdLst>
  <p:handoutMasterIdLst>
    <p:handoutMasterId r:id="rId60"/>
  </p:handoutMasterIdLst>
  <p:sldIdLst>
    <p:sldId id="392" r:id="rId2"/>
    <p:sldId id="449" r:id="rId3"/>
    <p:sldId id="257" r:id="rId4"/>
    <p:sldId id="369" r:id="rId5"/>
    <p:sldId id="393" r:id="rId6"/>
    <p:sldId id="395" r:id="rId7"/>
    <p:sldId id="396" r:id="rId8"/>
    <p:sldId id="397" r:id="rId9"/>
    <p:sldId id="398" r:id="rId10"/>
    <p:sldId id="399" r:id="rId11"/>
    <p:sldId id="400" r:id="rId12"/>
    <p:sldId id="401" r:id="rId13"/>
    <p:sldId id="394" r:id="rId14"/>
    <p:sldId id="402" r:id="rId15"/>
    <p:sldId id="403" r:id="rId16"/>
    <p:sldId id="404" r:id="rId17"/>
    <p:sldId id="405" r:id="rId18"/>
    <p:sldId id="406" r:id="rId19"/>
    <p:sldId id="408" r:id="rId20"/>
    <p:sldId id="409" r:id="rId21"/>
    <p:sldId id="410" r:id="rId22"/>
    <p:sldId id="411" r:id="rId23"/>
    <p:sldId id="412" r:id="rId24"/>
    <p:sldId id="413" r:id="rId25"/>
    <p:sldId id="414" r:id="rId26"/>
    <p:sldId id="415" r:id="rId27"/>
    <p:sldId id="417" r:id="rId28"/>
    <p:sldId id="416" r:id="rId29"/>
    <p:sldId id="418" r:id="rId30"/>
    <p:sldId id="420" r:id="rId31"/>
    <p:sldId id="419" r:id="rId32"/>
    <p:sldId id="421" r:id="rId33"/>
    <p:sldId id="422" r:id="rId34"/>
    <p:sldId id="423" r:id="rId35"/>
    <p:sldId id="424" r:id="rId36"/>
    <p:sldId id="425" r:id="rId37"/>
    <p:sldId id="426" r:id="rId38"/>
    <p:sldId id="427" r:id="rId39"/>
    <p:sldId id="428" r:id="rId40"/>
    <p:sldId id="429" r:id="rId41"/>
    <p:sldId id="430" r:id="rId42"/>
    <p:sldId id="431" r:id="rId43"/>
    <p:sldId id="432" r:id="rId44"/>
    <p:sldId id="433" r:id="rId45"/>
    <p:sldId id="435" r:id="rId46"/>
    <p:sldId id="437" r:id="rId47"/>
    <p:sldId id="438" r:id="rId48"/>
    <p:sldId id="439" r:id="rId49"/>
    <p:sldId id="440" r:id="rId50"/>
    <p:sldId id="441" r:id="rId51"/>
    <p:sldId id="442" r:id="rId52"/>
    <p:sldId id="443" r:id="rId53"/>
    <p:sldId id="444" r:id="rId54"/>
    <p:sldId id="445" r:id="rId55"/>
    <p:sldId id="446" r:id="rId56"/>
    <p:sldId id="447" r:id="rId57"/>
    <p:sldId id="448" r:id="rId58"/>
  </p:sldIdLst>
  <p:sldSz cx="12192000" cy="6858000"/>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105" d="100"/>
          <a:sy n="105" d="100"/>
        </p:scale>
        <p:origin x="798" y="90"/>
      </p:cViewPr>
      <p:guideLst>
        <p:guide orient="horz" pos="2160"/>
        <p:guide pos="3840"/>
      </p:guideLst>
    </p:cSldViewPr>
  </p:slideViewPr>
  <p:outlineViewPr>
    <p:cViewPr>
      <p:scale>
        <a:sx n="33" d="100"/>
        <a:sy n="33" d="100"/>
      </p:scale>
      <p:origin x="0" y="-272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1E0CD608-9C48-CFFC-091C-1EB0A50DD52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3" name="Rectangle 3">
            <a:extLst>
              <a:ext uri="{FF2B5EF4-FFF2-40B4-BE49-F238E27FC236}">
                <a16:creationId xmlns:a16="http://schemas.microsoft.com/office/drawing/2014/main" id="{40A79EA3-0E2A-9BC8-92DE-DE60AD7ACB2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22884" name="Rectangle 4">
            <a:extLst>
              <a:ext uri="{FF2B5EF4-FFF2-40B4-BE49-F238E27FC236}">
                <a16:creationId xmlns:a16="http://schemas.microsoft.com/office/drawing/2014/main" id="{FDF3F9D9-6B1E-F3FB-1EE2-507A2BF53520}"/>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5" name="Rectangle 5">
            <a:extLst>
              <a:ext uri="{FF2B5EF4-FFF2-40B4-BE49-F238E27FC236}">
                <a16:creationId xmlns:a16="http://schemas.microsoft.com/office/drawing/2014/main" id="{C807B6BD-FE77-FDDF-E76E-F014CE39446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FAC33DE4-4784-45D4-BD47-64193262C56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09328F3-5DC5-1B4F-AC31-7F7B3EBD074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5" name="Rectangle 3">
            <a:extLst>
              <a:ext uri="{FF2B5EF4-FFF2-40B4-BE49-F238E27FC236}">
                <a16:creationId xmlns:a16="http://schemas.microsoft.com/office/drawing/2014/main" id="{0C90B5EC-E3BF-D965-C636-268E0CF481C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3316" name="Rectangle 4">
            <a:extLst>
              <a:ext uri="{FF2B5EF4-FFF2-40B4-BE49-F238E27FC236}">
                <a16:creationId xmlns:a16="http://schemas.microsoft.com/office/drawing/2014/main" id="{4F7C882E-B38E-4AF0-3755-55D00B742B1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25345C98-55FA-262F-4EBB-C287BE5D31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7644B954-D13F-DFA1-B30A-F36EC7DE0E5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9" name="Rectangle 7">
            <a:extLst>
              <a:ext uri="{FF2B5EF4-FFF2-40B4-BE49-F238E27FC236}">
                <a16:creationId xmlns:a16="http://schemas.microsoft.com/office/drawing/2014/main" id="{2E0066C6-C608-29FA-EB14-B3E0F66870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94FC1F20-5EAB-41FB-B210-370B9C2C46B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9F73F7-2B99-BEC6-CE62-E00219107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D6BCF7-8E9F-41C5-A608-0D41664076BA}"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9459" name="Rectangle 2">
            <a:extLst>
              <a:ext uri="{FF2B5EF4-FFF2-40B4-BE49-F238E27FC236}">
                <a16:creationId xmlns:a16="http://schemas.microsoft.com/office/drawing/2014/main" id="{8A82C24E-40D0-0AA6-6604-71E8A34BF24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EAAEAB-07EC-3E8B-79E7-643BBF9841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25966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9F73F7-2B99-BEC6-CE62-E00219107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D6BCF7-8E9F-41C5-A608-0D41664076BA}" type="slidenum">
              <a:rPr lang="en-US" altLang="en-US" sz="1200" smtClean="0">
                <a:latin typeface="Times New Roman" panose="02020603050405020304" pitchFamily="18" charset="0"/>
              </a:rPr>
              <a:pPr/>
              <a:t>3</a:t>
            </a:fld>
            <a:endParaRPr lang="en-US" altLang="en-US" sz="1200">
              <a:latin typeface="Times New Roman" panose="02020603050405020304" pitchFamily="18" charset="0"/>
            </a:endParaRPr>
          </a:p>
        </p:txBody>
      </p:sp>
      <p:sp>
        <p:nvSpPr>
          <p:cNvPr id="19459" name="Rectangle 2">
            <a:extLst>
              <a:ext uri="{FF2B5EF4-FFF2-40B4-BE49-F238E27FC236}">
                <a16:creationId xmlns:a16="http://schemas.microsoft.com/office/drawing/2014/main" id="{8A82C24E-40D0-0AA6-6604-71E8A34BF24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EAAEAB-07EC-3E8B-79E7-643BBF9841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91B5252-16C6-80AB-C623-DFB0BA76DBC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22910E35-9775-39F1-BEA4-7AE5267A59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1508" name="Slide Number Placeholder 3">
            <a:extLst>
              <a:ext uri="{FF2B5EF4-FFF2-40B4-BE49-F238E27FC236}">
                <a16:creationId xmlns:a16="http://schemas.microsoft.com/office/drawing/2014/main" id="{01A75D0E-06ED-6423-4046-46A6B10ADC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69B8064-7F42-41EE-BEFE-60077C03D710}" type="slidenum">
              <a:rPr lang="en-US" altLang="en-US" sz="1200" smtClean="0">
                <a:latin typeface="Times New Roman" panose="02020603050405020304" pitchFamily="18" charset="0"/>
              </a:rPr>
              <a:pPr/>
              <a:t>4</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a:t>
            </a:fld>
            <a:endParaRPr lang="en-US" altLang="en-US"/>
          </a:p>
        </p:txBody>
      </p:sp>
    </p:spTree>
    <p:extLst>
      <p:ext uri="{BB962C8B-B14F-4D97-AF65-F5344CB8AC3E}">
        <p14:creationId xmlns:p14="http://schemas.microsoft.com/office/powerpoint/2010/main" val="3034163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6</a:t>
            </a:fld>
            <a:endParaRPr lang="en-US" altLang="en-US"/>
          </a:p>
        </p:txBody>
      </p:sp>
    </p:spTree>
    <p:extLst>
      <p:ext uri="{BB962C8B-B14F-4D97-AF65-F5344CB8AC3E}">
        <p14:creationId xmlns:p14="http://schemas.microsoft.com/office/powerpoint/2010/main" val="1966238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7</a:t>
            </a:fld>
            <a:endParaRPr lang="en-US" altLang="en-US"/>
          </a:p>
        </p:txBody>
      </p:sp>
    </p:spTree>
    <p:extLst>
      <p:ext uri="{BB962C8B-B14F-4D97-AF65-F5344CB8AC3E}">
        <p14:creationId xmlns:p14="http://schemas.microsoft.com/office/powerpoint/2010/main" val="2122957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8</a:t>
            </a:fld>
            <a:endParaRPr lang="en-US" altLang="en-US"/>
          </a:p>
        </p:txBody>
      </p:sp>
    </p:spTree>
    <p:extLst>
      <p:ext uri="{BB962C8B-B14F-4D97-AF65-F5344CB8AC3E}">
        <p14:creationId xmlns:p14="http://schemas.microsoft.com/office/powerpoint/2010/main" val="1491822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9</a:t>
            </a:fld>
            <a:endParaRPr lang="en-US" altLang="en-US"/>
          </a:p>
        </p:txBody>
      </p:sp>
    </p:spTree>
    <p:extLst>
      <p:ext uri="{BB962C8B-B14F-4D97-AF65-F5344CB8AC3E}">
        <p14:creationId xmlns:p14="http://schemas.microsoft.com/office/powerpoint/2010/main" val="332173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10</a:t>
            </a:fld>
            <a:endParaRPr lang="en-US" altLang="en-US"/>
          </a:p>
        </p:txBody>
      </p:sp>
    </p:spTree>
    <p:extLst>
      <p:ext uri="{BB962C8B-B14F-4D97-AF65-F5344CB8AC3E}">
        <p14:creationId xmlns:p14="http://schemas.microsoft.com/office/powerpoint/2010/main" val="3886043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11</a:t>
            </a:fld>
            <a:endParaRPr lang="en-US" altLang="en-US"/>
          </a:p>
        </p:txBody>
      </p:sp>
    </p:spTree>
    <p:extLst>
      <p:ext uri="{BB962C8B-B14F-4D97-AF65-F5344CB8AC3E}">
        <p14:creationId xmlns:p14="http://schemas.microsoft.com/office/powerpoint/2010/main" val="4050646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12</a:t>
            </a:fld>
            <a:endParaRPr lang="en-US" altLang="en-US"/>
          </a:p>
        </p:txBody>
      </p:sp>
    </p:spTree>
    <p:extLst>
      <p:ext uri="{BB962C8B-B14F-4D97-AF65-F5344CB8AC3E}">
        <p14:creationId xmlns:p14="http://schemas.microsoft.com/office/powerpoint/2010/main" val="2102214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13</a:t>
            </a:fld>
            <a:endParaRPr lang="en-US" altLang="en-US"/>
          </a:p>
        </p:txBody>
      </p:sp>
    </p:spTree>
    <p:extLst>
      <p:ext uri="{BB962C8B-B14F-4D97-AF65-F5344CB8AC3E}">
        <p14:creationId xmlns:p14="http://schemas.microsoft.com/office/powerpoint/2010/main" val="3367018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14</a:t>
            </a:fld>
            <a:endParaRPr lang="en-US" altLang="en-US"/>
          </a:p>
        </p:txBody>
      </p:sp>
    </p:spTree>
    <p:extLst>
      <p:ext uri="{BB962C8B-B14F-4D97-AF65-F5344CB8AC3E}">
        <p14:creationId xmlns:p14="http://schemas.microsoft.com/office/powerpoint/2010/main" val="3729500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15</a:t>
            </a:fld>
            <a:endParaRPr lang="en-US" altLang="en-US"/>
          </a:p>
        </p:txBody>
      </p:sp>
    </p:spTree>
    <p:extLst>
      <p:ext uri="{BB962C8B-B14F-4D97-AF65-F5344CB8AC3E}">
        <p14:creationId xmlns:p14="http://schemas.microsoft.com/office/powerpoint/2010/main" val="2215880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16</a:t>
            </a:fld>
            <a:endParaRPr lang="en-US" altLang="en-US"/>
          </a:p>
        </p:txBody>
      </p:sp>
    </p:spTree>
    <p:extLst>
      <p:ext uri="{BB962C8B-B14F-4D97-AF65-F5344CB8AC3E}">
        <p14:creationId xmlns:p14="http://schemas.microsoft.com/office/powerpoint/2010/main" val="2782618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17</a:t>
            </a:fld>
            <a:endParaRPr lang="en-US" altLang="en-US"/>
          </a:p>
        </p:txBody>
      </p:sp>
    </p:spTree>
    <p:extLst>
      <p:ext uri="{BB962C8B-B14F-4D97-AF65-F5344CB8AC3E}">
        <p14:creationId xmlns:p14="http://schemas.microsoft.com/office/powerpoint/2010/main" val="1859860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18</a:t>
            </a:fld>
            <a:endParaRPr lang="en-US" altLang="en-US"/>
          </a:p>
        </p:txBody>
      </p:sp>
    </p:spTree>
    <p:extLst>
      <p:ext uri="{BB962C8B-B14F-4D97-AF65-F5344CB8AC3E}">
        <p14:creationId xmlns:p14="http://schemas.microsoft.com/office/powerpoint/2010/main" val="4104323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19</a:t>
            </a:fld>
            <a:endParaRPr lang="en-US" altLang="en-US"/>
          </a:p>
        </p:txBody>
      </p:sp>
    </p:spTree>
    <p:extLst>
      <p:ext uri="{BB962C8B-B14F-4D97-AF65-F5344CB8AC3E}">
        <p14:creationId xmlns:p14="http://schemas.microsoft.com/office/powerpoint/2010/main" val="2335617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20</a:t>
            </a:fld>
            <a:endParaRPr lang="en-US" altLang="en-US"/>
          </a:p>
        </p:txBody>
      </p:sp>
    </p:spTree>
    <p:extLst>
      <p:ext uri="{BB962C8B-B14F-4D97-AF65-F5344CB8AC3E}">
        <p14:creationId xmlns:p14="http://schemas.microsoft.com/office/powerpoint/2010/main" val="1711469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21</a:t>
            </a:fld>
            <a:endParaRPr lang="en-US" altLang="en-US"/>
          </a:p>
        </p:txBody>
      </p:sp>
    </p:spTree>
    <p:extLst>
      <p:ext uri="{BB962C8B-B14F-4D97-AF65-F5344CB8AC3E}">
        <p14:creationId xmlns:p14="http://schemas.microsoft.com/office/powerpoint/2010/main" val="1655866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22</a:t>
            </a:fld>
            <a:endParaRPr lang="en-US" altLang="en-US"/>
          </a:p>
        </p:txBody>
      </p:sp>
    </p:spTree>
    <p:extLst>
      <p:ext uri="{BB962C8B-B14F-4D97-AF65-F5344CB8AC3E}">
        <p14:creationId xmlns:p14="http://schemas.microsoft.com/office/powerpoint/2010/main" val="3760162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23</a:t>
            </a:fld>
            <a:endParaRPr lang="en-US" altLang="en-US"/>
          </a:p>
        </p:txBody>
      </p:sp>
    </p:spTree>
    <p:extLst>
      <p:ext uri="{BB962C8B-B14F-4D97-AF65-F5344CB8AC3E}">
        <p14:creationId xmlns:p14="http://schemas.microsoft.com/office/powerpoint/2010/main" val="3706082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24</a:t>
            </a:fld>
            <a:endParaRPr lang="en-US" altLang="en-US"/>
          </a:p>
        </p:txBody>
      </p:sp>
    </p:spTree>
    <p:extLst>
      <p:ext uri="{BB962C8B-B14F-4D97-AF65-F5344CB8AC3E}">
        <p14:creationId xmlns:p14="http://schemas.microsoft.com/office/powerpoint/2010/main" val="2800560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25</a:t>
            </a:fld>
            <a:endParaRPr lang="en-US" altLang="en-US"/>
          </a:p>
        </p:txBody>
      </p:sp>
    </p:spTree>
    <p:extLst>
      <p:ext uri="{BB962C8B-B14F-4D97-AF65-F5344CB8AC3E}">
        <p14:creationId xmlns:p14="http://schemas.microsoft.com/office/powerpoint/2010/main" val="3104529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26</a:t>
            </a:fld>
            <a:endParaRPr lang="en-US" altLang="en-US"/>
          </a:p>
        </p:txBody>
      </p:sp>
    </p:spTree>
    <p:extLst>
      <p:ext uri="{BB962C8B-B14F-4D97-AF65-F5344CB8AC3E}">
        <p14:creationId xmlns:p14="http://schemas.microsoft.com/office/powerpoint/2010/main" val="21793895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27</a:t>
            </a:fld>
            <a:endParaRPr lang="en-US" altLang="en-US"/>
          </a:p>
        </p:txBody>
      </p:sp>
    </p:spTree>
    <p:extLst>
      <p:ext uri="{BB962C8B-B14F-4D97-AF65-F5344CB8AC3E}">
        <p14:creationId xmlns:p14="http://schemas.microsoft.com/office/powerpoint/2010/main" val="1381008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28</a:t>
            </a:fld>
            <a:endParaRPr lang="en-US" altLang="en-US"/>
          </a:p>
        </p:txBody>
      </p:sp>
    </p:spTree>
    <p:extLst>
      <p:ext uri="{BB962C8B-B14F-4D97-AF65-F5344CB8AC3E}">
        <p14:creationId xmlns:p14="http://schemas.microsoft.com/office/powerpoint/2010/main" val="3443307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29</a:t>
            </a:fld>
            <a:endParaRPr lang="en-US" altLang="en-US"/>
          </a:p>
        </p:txBody>
      </p:sp>
    </p:spTree>
    <p:extLst>
      <p:ext uri="{BB962C8B-B14F-4D97-AF65-F5344CB8AC3E}">
        <p14:creationId xmlns:p14="http://schemas.microsoft.com/office/powerpoint/2010/main" val="1256061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30</a:t>
            </a:fld>
            <a:endParaRPr lang="en-US" altLang="en-US"/>
          </a:p>
        </p:txBody>
      </p:sp>
    </p:spTree>
    <p:extLst>
      <p:ext uri="{BB962C8B-B14F-4D97-AF65-F5344CB8AC3E}">
        <p14:creationId xmlns:p14="http://schemas.microsoft.com/office/powerpoint/2010/main" val="3921569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31</a:t>
            </a:fld>
            <a:endParaRPr lang="en-US" altLang="en-US"/>
          </a:p>
        </p:txBody>
      </p:sp>
    </p:spTree>
    <p:extLst>
      <p:ext uri="{BB962C8B-B14F-4D97-AF65-F5344CB8AC3E}">
        <p14:creationId xmlns:p14="http://schemas.microsoft.com/office/powerpoint/2010/main" val="28162819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32</a:t>
            </a:fld>
            <a:endParaRPr lang="en-US" altLang="en-US"/>
          </a:p>
        </p:txBody>
      </p:sp>
    </p:spTree>
    <p:extLst>
      <p:ext uri="{BB962C8B-B14F-4D97-AF65-F5344CB8AC3E}">
        <p14:creationId xmlns:p14="http://schemas.microsoft.com/office/powerpoint/2010/main" val="23590535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33</a:t>
            </a:fld>
            <a:endParaRPr lang="en-US" altLang="en-US"/>
          </a:p>
        </p:txBody>
      </p:sp>
    </p:spTree>
    <p:extLst>
      <p:ext uri="{BB962C8B-B14F-4D97-AF65-F5344CB8AC3E}">
        <p14:creationId xmlns:p14="http://schemas.microsoft.com/office/powerpoint/2010/main" val="33288637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34</a:t>
            </a:fld>
            <a:endParaRPr lang="en-US" altLang="en-US"/>
          </a:p>
        </p:txBody>
      </p:sp>
    </p:spTree>
    <p:extLst>
      <p:ext uri="{BB962C8B-B14F-4D97-AF65-F5344CB8AC3E}">
        <p14:creationId xmlns:p14="http://schemas.microsoft.com/office/powerpoint/2010/main" val="12510916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35</a:t>
            </a:fld>
            <a:endParaRPr lang="en-US" altLang="en-US"/>
          </a:p>
        </p:txBody>
      </p:sp>
    </p:spTree>
    <p:extLst>
      <p:ext uri="{BB962C8B-B14F-4D97-AF65-F5344CB8AC3E}">
        <p14:creationId xmlns:p14="http://schemas.microsoft.com/office/powerpoint/2010/main" val="22846105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36</a:t>
            </a:fld>
            <a:endParaRPr lang="en-US" altLang="en-US"/>
          </a:p>
        </p:txBody>
      </p:sp>
    </p:spTree>
    <p:extLst>
      <p:ext uri="{BB962C8B-B14F-4D97-AF65-F5344CB8AC3E}">
        <p14:creationId xmlns:p14="http://schemas.microsoft.com/office/powerpoint/2010/main" val="38745143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37</a:t>
            </a:fld>
            <a:endParaRPr lang="en-US" altLang="en-US"/>
          </a:p>
        </p:txBody>
      </p:sp>
    </p:spTree>
    <p:extLst>
      <p:ext uri="{BB962C8B-B14F-4D97-AF65-F5344CB8AC3E}">
        <p14:creationId xmlns:p14="http://schemas.microsoft.com/office/powerpoint/2010/main" val="1291935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38</a:t>
            </a:fld>
            <a:endParaRPr lang="en-US" altLang="en-US"/>
          </a:p>
        </p:txBody>
      </p:sp>
    </p:spTree>
    <p:extLst>
      <p:ext uri="{BB962C8B-B14F-4D97-AF65-F5344CB8AC3E}">
        <p14:creationId xmlns:p14="http://schemas.microsoft.com/office/powerpoint/2010/main" val="3109885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39</a:t>
            </a:fld>
            <a:endParaRPr lang="en-US" altLang="en-US"/>
          </a:p>
        </p:txBody>
      </p:sp>
    </p:spTree>
    <p:extLst>
      <p:ext uri="{BB962C8B-B14F-4D97-AF65-F5344CB8AC3E}">
        <p14:creationId xmlns:p14="http://schemas.microsoft.com/office/powerpoint/2010/main" val="28835268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40</a:t>
            </a:fld>
            <a:endParaRPr lang="en-US" altLang="en-US"/>
          </a:p>
        </p:txBody>
      </p:sp>
    </p:spTree>
    <p:extLst>
      <p:ext uri="{BB962C8B-B14F-4D97-AF65-F5344CB8AC3E}">
        <p14:creationId xmlns:p14="http://schemas.microsoft.com/office/powerpoint/2010/main" val="37036617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41</a:t>
            </a:fld>
            <a:endParaRPr lang="en-US" altLang="en-US"/>
          </a:p>
        </p:txBody>
      </p:sp>
    </p:spTree>
    <p:extLst>
      <p:ext uri="{BB962C8B-B14F-4D97-AF65-F5344CB8AC3E}">
        <p14:creationId xmlns:p14="http://schemas.microsoft.com/office/powerpoint/2010/main" val="19338143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42</a:t>
            </a:fld>
            <a:endParaRPr lang="en-US" altLang="en-US"/>
          </a:p>
        </p:txBody>
      </p:sp>
    </p:spTree>
    <p:extLst>
      <p:ext uri="{BB962C8B-B14F-4D97-AF65-F5344CB8AC3E}">
        <p14:creationId xmlns:p14="http://schemas.microsoft.com/office/powerpoint/2010/main" val="301409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43</a:t>
            </a:fld>
            <a:endParaRPr lang="en-US" altLang="en-US"/>
          </a:p>
        </p:txBody>
      </p:sp>
    </p:spTree>
    <p:extLst>
      <p:ext uri="{BB962C8B-B14F-4D97-AF65-F5344CB8AC3E}">
        <p14:creationId xmlns:p14="http://schemas.microsoft.com/office/powerpoint/2010/main" val="39835611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44</a:t>
            </a:fld>
            <a:endParaRPr lang="en-US" altLang="en-US"/>
          </a:p>
        </p:txBody>
      </p:sp>
    </p:spTree>
    <p:extLst>
      <p:ext uri="{BB962C8B-B14F-4D97-AF65-F5344CB8AC3E}">
        <p14:creationId xmlns:p14="http://schemas.microsoft.com/office/powerpoint/2010/main" val="3421374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45</a:t>
            </a:fld>
            <a:endParaRPr lang="en-US" altLang="en-US"/>
          </a:p>
        </p:txBody>
      </p:sp>
    </p:spTree>
    <p:extLst>
      <p:ext uri="{BB962C8B-B14F-4D97-AF65-F5344CB8AC3E}">
        <p14:creationId xmlns:p14="http://schemas.microsoft.com/office/powerpoint/2010/main" val="13460488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46</a:t>
            </a:fld>
            <a:endParaRPr lang="en-US" altLang="en-US"/>
          </a:p>
        </p:txBody>
      </p:sp>
    </p:spTree>
    <p:extLst>
      <p:ext uri="{BB962C8B-B14F-4D97-AF65-F5344CB8AC3E}">
        <p14:creationId xmlns:p14="http://schemas.microsoft.com/office/powerpoint/2010/main" val="5243008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47</a:t>
            </a:fld>
            <a:endParaRPr lang="en-US" altLang="en-US"/>
          </a:p>
        </p:txBody>
      </p:sp>
    </p:spTree>
    <p:extLst>
      <p:ext uri="{BB962C8B-B14F-4D97-AF65-F5344CB8AC3E}">
        <p14:creationId xmlns:p14="http://schemas.microsoft.com/office/powerpoint/2010/main" val="21691330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48</a:t>
            </a:fld>
            <a:endParaRPr lang="en-US" altLang="en-US"/>
          </a:p>
        </p:txBody>
      </p:sp>
    </p:spTree>
    <p:extLst>
      <p:ext uri="{BB962C8B-B14F-4D97-AF65-F5344CB8AC3E}">
        <p14:creationId xmlns:p14="http://schemas.microsoft.com/office/powerpoint/2010/main" val="3101571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49</a:t>
            </a:fld>
            <a:endParaRPr lang="en-US" altLang="en-US"/>
          </a:p>
        </p:txBody>
      </p:sp>
    </p:spTree>
    <p:extLst>
      <p:ext uri="{BB962C8B-B14F-4D97-AF65-F5344CB8AC3E}">
        <p14:creationId xmlns:p14="http://schemas.microsoft.com/office/powerpoint/2010/main" val="3955364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50</a:t>
            </a:fld>
            <a:endParaRPr lang="en-US" altLang="en-US"/>
          </a:p>
        </p:txBody>
      </p:sp>
    </p:spTree>
    <p:extLst>
      <p:ext uri="{BB962C8B-B14F-4D97-AF65-F5344CB8AC3E}">
        <p14:creationId xmlns:p14="http://schemas.microsoft.com/office/powerpoint/2010/main" val="7090829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51</a:t>
            </a:fld>
            <a:endParaRPr lang="en-US" altLang="en-US"/>
          </a:p>
        </p:txBody>
      </p:sp>
    </p:spTree>
    <p:extLst>
      <p:ext uri="{BB962C8B-B14F-4D97-AF65-F5344CB8AC3E}">
        <p14:creationId xmlns:p14="http://schemas.microsoft.com/office/powerpoint/2010/main" val="12226708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52</a:t>
            </a:fld>
            <a:endParaRPr lang="en-US" altLang="en-US"/>
          </a:p>
        </p:txBody>
      </p:sp>
    </p:spTree>
    <p:extLst>
      <p:ext uri="{BB962C8B-B14F-4D97-AF65-F5344CB8AC3E}">
        <p14:creationId xmlns:p14="http://schemas.microsoft.com/office/powerpoint/2010/main" val="12155638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53</a:t>
            </a:fld>
            <a:endParaRPr lang="en-US" altLang="en-US"/>
          </a:p>
        </p:txBody>
      </p:sp>
    </p:spTree>
    <p:extLst>
      <p:ext uri="{BB962C8B-B14F-4D97-AF65-F5344CB8AC3E}">
        <p14:creationId xmlns:p14="http://schemas.microsoft.com/office/powerpoint/2010/main" val="38013719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54</a:t>
            </a:fld>
            <a:endParaRPr lang="en-US" altLang="en-US"/>
          </a:p>
        </p:txBody>
      </p:sp>
    </p:spTree>
    <p:extLst>
      <p:ext uri="{BB962C8B-B14F-4D97-AF65-F5344CB8AC3E}">
        <p14:creationId xmlns:p14="http://schemas.microsoft.com/office/powerpoint/2010/main" val="1923352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55</a:t>
            </a:fld>
            <a:endParaRPr lang="en-US" altLang="en-US"/>
          </a:p>
        </p:txBody>
      </p:sp>
    </p:spTree>
    <p:extLst>
      <p:ext uri="{BB962C8B-B14F-4D97-AF65-F5344CB8AC3E}">
        <p14:creationId xmlns:p14="http://schemas.microsoft.com/office/powerpoint/2010/main" val="38134359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56</a:t>
            </a:fld>
            <a:endParaRPr lang="en-US" altLang="en-US"/>
          </a:p>
        </p:txBody>
      </p:sp>
    </p:spTree>
    <p:extLst>
      <p:ext uri="{BB962C8B-B14F-4D97-AF65-F5344CB8AC3E}">
        <p14:creationId xmlns:p14="http://schemas.microsoft.com/office/powerpoint/2010/main" val="29650372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4FC1F20-5EAB-41FB-B210-370B9C2C46B1}" type="slidenum">
              <a:rPr lang="en-US" altLang="en-US" smtClean="0"/>
              <a:pPr>
                <a:defRPr/>
              </a:pPr>
              <a:t>57</a:t>
            </a:fld>
            <a:endParaRPr lang="en-US" altLang="en-US"/>
          </a:p>
        </p:txBody>
      </p:sp>
    </p:spTree>
    <p:extLst>
      <p:ext uri="{BB962C8B-B14F-4D97-AF65-F5344CB8AC3E}">
        <p14:creationId xmlns:p14="http://schemas.microsoft.com/office/powerpoint/2010/main" val="3815562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741219" y="3243264"/>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3"/>
            <a:ext cx="2743200" cy="365125"/>
          </a:xfrm>
        </p:spPr>
        <p:txBody>
          <a:bodyPr/>
          <a:lstStyle>
            <a:lvl1pPr>
              <a:defRPr sz="1000" smtClean="0"/>
            </a:lvl1pPr>
          </a:lstStyle>
          <a:p>
            <a:pPr>
              <a:defRPr/>
            </a:pPr>
            <a:fld id="{04BF734D-FA21-46CC-B337-08991588F7D2}" type="datetime1">
              <a:rPr lang="en-US" smtClean="0"/>
              <a:pPr>
                <a:defRPr/>
              </a:pPr>
              <a:t>12/19/2024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3"/>
            <a:ext cx="2743200" cy="365125"/>
          </a:xfrm>
        </p:spPr>
        <p:txBody>
          <a:bodyPr/>
          <a:lstStyle>
            <a:lvl1pPr>
              <a:defRPr sz="1000">
                <a:solidFill>
                  <a:prstClr val="white"/>
                </a:solidFill>
              </a:defRPr>
            </a:lvl1pPr>
          </a:lstStyle>
          <a:p>
            <a:pPr>
              <a:defRPr/>
            </a:pPr>
            <a:fld id="{775A0816-9807-4CA3-A3C5-68577B5C9559}" type="slidenum">
              <a:rPr lang="en-US" smtClean="0"/>
              <a:pPr>
                <a:defRPr/>
              </a:pPr>
              <a:t>‹#›</a:t>
            </a:fld>
            <a:endParaRPr lang="en-US"/>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vl1pPr>
          </a:lstStyle>
          <a:p>
            <a:pPr>
              <a:defRPr/>
            </a:pPr>
            <a:r>
              <a:rPr lang="en-US"/>
              <a:t>Database System Design, Implementation And Management </a:t>
            </a:r>
          </a:p>
        </p:txBody>
      </p:sp>
    </p:spTree>
    <p:extLst>
      <p:ext uri="{BB962C8B-B14F-4D97-AF65-F5344CB8AC3E}">
        <p14:creationId xmlns:p14="http://schemas.microsoft.com/office/powerpoint/2010/main" val="2633009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pic>
        <p:nvPicPr>
          <p:cNvPr id="3" name="Picture 4" descr="MFE NEU – Khoa Toán Đại học kinh tế quốc dân">
            <a:extLst>
              <a:ext uri="{FF2B5EF4-FFF2-40B4-BE49-F238E27FC236}">
                <a16:creationId xmlns:a16="http://schemas.microsoft.com/office/drawing/2014/main" id="{CB79D81B-0A4D-CD0E-CF5A-BDF1A29DDC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40850" y="0"/>
            <a:ext cx="28511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p:cNvSpPr>
            <a:spLocks noGrp="1"/>
          </p:cNvSpPr>
          <p:nvPr>
            <p:ph type="title"/>
          </p:nvPr>
        </p:nvSpPr>
        <p:spPr>
          <a:xfrm>
            <a:off x="482252" y="277962"/>
            <a:ext cx="7928429"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defRPr/>
            </a:pPr>
            <a:fld id="{619230D7-F585-4615-8690-EE47007A6E78}" type="datetime1">
              <a:rPr lang="en-US"/>
              <a:pPr>
                <a:defRPr/>
              </a:pPr>
              <a:t>12/19/2024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defRPr/>
            </a:pPr>
            <a:fld id="{3668E2E4-C289-40FA-803B-52DC86338CE3}" type="slidenum">
              <a:rPr lang="en-US"/>
              <a:pPr>
                <a:defRPr/>
              </a:pPr>
              <a:t>‹#›</a:t>
            </a:fld>
            <a:endParaRPr lang="en-US"/>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816587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487476" y="2949386"/>
            <a:ext cx="10515600" cy="1325563"/>
          </a:xfrm>
          <a:prstGeom prst="rect">
            <a:avLst/>
          </a:prstGeom>
        </p:spPr>
        <p:txBody>
          <a:bodyPr/>
          <a:lstStyle>
            <a:lvl1pPr>
              <a:defRPr sz="4500"/>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88"/>
            <a:ext cx="2743200" cy="268287"/>
          </a:xfrm>
        </p:spPr>
        <p:txBody>
          <a:bodyPr/>
          <a:lstStyle>
            <a:lvl1pPr>
              <a:defRPr smtClean="0"/>
            </a:lvl1pPr>
          </a:lstStyle>
          <a:p>
            <a:pPr>
              <a:defRPr/>
            </a:pPr>
            <a:fld id="{7F53EECD-5EF2-4F97-996E-6CBAC1BF3011}" type="datetime1">
              <a:rPr lang="en-US"/>
              <a:pPr>
                <a:defRPr/>
              </a:pPr>
              <a:t>12/19/2024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0" y="6589713"/>
            <a:ext cx="2743200" cy="314325"/>
          </a:xfrm>
        </p:spPr>
        <p:txBody>
          <a:bodyPr/>
          <a:lstStyle>
            <a:lvl1pPr>
              <a:defRPr/>
            </a:lvl1pPr>
          </a:lstStyle>
          <a:p>
            <a:pPr>
              <a:defRPr/>
            </a:pPr>
            <a:fld id="{F9126DDB-45DE-4D72-94FB-1E2D565E80AF}" type="slidenum">
              <a:rPr lang="en-US"/>
              <a:pPr>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defRPr/>
            </a:pPr>
            <a:r>
              <a:rPr lang="en-US" dirty="0"/>
              <a:t>Database System Design, Implementation And Management </a:t>
            </a:r>
          </a:p>
        </p:txBody>
      </p:sp>
    </p:spTree>
    <p:extLst>
      <p:ext uri="{BB962C8B-B14F-4D97-AF65-F5344CB8AC3E}">
        <p14:creationId xmlns:p14="http://schemas.microsoft.com/office/powerpoint/2010/main" val="2919306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2" name="Title 1"/>
          <p:cNvSpPr>
            <a:spLocks noGrp="1"/>
          </p:cNvSpPr>
          <p:nvPr>
            <p:ph type="title"/>
          </p:nvPr>
        </p:nvSpPr>
        <p:spPr>
          <a:xfrm>
            <a:off x="340858" y="243491"/>
            <a:ext cx="8061101"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0" y="1169082"/>
            <a:ext cx="11551617" cy="495413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mtClean="0"/>
            </a:lvl1pPr>
          </a:lstStyle>
          <a:p>
            <a:pPr>
              <a:defRPr/>
            </a:pPr>
            <a:fld id="{2953D200-00AA-42A7-802D-F180C1D57E6B}" type="datetime1">
              <a:rPr lang="en-US"/>
              <a:pPr>
                <a:defRPr/>
              </a:pPr>
              <a:t>12/19/2024</a:t>
            </a:fld>
            <a:endParaRPr lang="en-US"/>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a:lvl1pPr>
          </a:lstStyle>
          <a:p>
            <a:pPr>
              <a:defRPr/>
            </a:pPr>
            <a:fld id="{BC9EDAA9-37F3-4614-95D5-5B7FFAB71D04}" type="slidenum">
              <a:rPr lang="en-US"/>
              <a:pPr>
                <a:defRPr/>
              </a:pPr>
              <a:t>‹#›</a:t>
            </a:fld>
            <a:endParaRPr lang="en-US"/>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217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6" y="2846231"/>
            <a:ext cx="4417452" cy="1460428"/>
          </a:xfrm>
          <a:prstGeom prst="rect">
            <a:avLst/>
          </a:prstGeom>
        </p:spPr>
        <p:txBody>
          <a:bodyPr anchor="b">
            <a:normAutofit/>
          </a:bodyPr>
          <a:lstStyle>
            <a:lvl1pPr algn="r">
              <a:defRPr sz="420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6" y="4429523"/>
            <a:ext cx="4417452" cy="750072"/>
          </a:xfrm>
          <a:prstGeom prst="rect">
            <a:avLst/>
          </a:prstGeom>
        </p:spPr>
        <p:txBody>
          <a:bodyPr/>
          <a:lstStyle>
            <a:lvl1pPr marL="0" indent="0" algn="r">
              <a:buNone/>
              <a:defRPr sz="18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1" name="Content Placeholder 2"/>
          <p:cNvSpPr>
            <a:spLocks noGrp="1"/>
          </p:cNvSpPr>
          <p:nvPr>
            <p:ph idx="13"/>
          </p:nvPr>
        </p:nvSpPr>
        <p:spPr>
          <a:xfrm>
            <a:off x="1" y="862151"/>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defRPr/>
            </a:pPr>
            <a:fld id="{7A147622-DF6C-4AD4-B05B-A94F62E38A86}" type="datetime1">
              <a:rPr lang="en-US"/>
              <a:pPr>
                <a:defRPr/>
              </a:pPr>
              <a:t>12/19/2024</a:t>
            </a:fld>
            <a:endParaRPr lang="en-US"/>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342900" eaLnBrk="1" fontAlgn="auto" hangingPunct="1">
              <a:spcBef>
                <a:spcPts val="0"/>
              </a:spcBef>
              <a:spcAft>
                <a:spcPts val="0"/>
              </a:spcAft>
              <a:defRPr>
                <a:solidFill>
                  <a:prstClr val="white"/>
                </a:solidFill>
                <a:latin typeface="Calibri" panose="020F0502020204030204"/>
                <a:ea typeface="+mn-ea"/>
              </a:defRPr>
            </a:lvl1pPr>
          </a:lstStyle>
          <a:p>
            <a:pPr>
              <a:defRPr/>
            </a:pPr>
            <a:r>
              <a:rPr lang="en-US"/>
              <a:t>Database System Design, Implementation And Management </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defRPr/>
            </a:pPr>
            <a:fld id="{4FC3DE7D-4EEA-43B2-9617-70FD3CFD639D}" type="slidenum">
              <a:rPr lang="en-US"/>
              <a:pPr>
                <a:defRPr/>
              </a:pPr>
              <a:t>‹#›</a:t>
            </a:fld>
            <a:endParaRPr lang="en-US"/>
          </a:p>
        </p:txBody>
      </p:sp>
    </p:spTree>
    <p:extLst>
      <p:ext uri="{BB962C8B-B14F-4D97-AF65-F5344CB8AC3E}">
        <p14:creationId xmlns:p14="http://schemas.microsoft.com/office/powerpoint/2010/main" val="168305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6" y="278800"/>
            <a:ext cx="5813199" cy="457200"/>
          </a:xfrm>
          <a:prstGeom prst="rect">
            <a:avLst/>
          </a:prstGeom>
        </p:spPr>
        <p:txBody>
          <a:bodyPr/>
          <a:lstStyle>
            <a:lvl1pPr>
              <a:defRPr lang="en-VN" sz="2475"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mtClean="0"/>
            </a:lvl1pPr>
          </a:lstStyle>
          <a:p>
            <a:pPr>
              <a:defRPr/>
            </a:pPr>
            <a:fld id="{591607DA-A9BC-4664-80C0-A8EF5A98972C}" type="datetime1">
              <a:rPr lang="en-US"/>
              <a:pPr>
                <a:defRPr/>
              </a:pPr>
              <a:t>12/19/2024</a:t>
            </a:fld>
            <a:endParaRPr lang="en-US"/>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a:lvl1pPr>
          </a:lstStyle>
          <a:p>
            <a:pPr>
              <a:defRPr/>
            </a:pPr>
            <a:fld id="{B9B03C63-2273-46E4-B7DF-3CCA315B6CB6}" type="slidenum">
              <a:rPr lang="en-US"/>
              <a:pPr>
                <a:defRPr/>
              </a:pPr>
              <a:t>‹#›</a:t>
            </a:fld>
            <a:endParaRPr lang="en-US"/>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81039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899"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2250"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899"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defRPr/>
            </a:pPr>
            <a:fld id="{C90A3BB5-049D-4035-BBD7-C54E04C91C61}" type="datetime1">
              <a:rPr lang="en-US"/>
              <a:pPr>
                <a:defRPr/>
              </a:pPr>
              <a:t>12/19/2024</a:t>
            </a:fld>
            <a:endParaRPr lang="en-US"/>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defRPr/>
            </a:pPr>
            <a:fld id="{FE967A2B-7DC3-460F-82C1-37366D5A5F1B}" type="slidenum">
              <a:rPr lang="en-US"/>
              <a:pPr>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defRPr/>
            </a:pPr>
            <a:r>
              <a:rPr lang="en-US" dirty="0"/>
              <a:t>Database System Design, Implementation And Management </a:t>
            </a:r>
          </a:p>
        </p:txBody>
      </p:sp>
    </p:spTree>
    <p:extLst>
      <p:ext uri="{BB962C8B-B14F-4D97-AF65-F5344CB8AC3E}">
        <p14:creationId xmlns:p14="http://schemas.microsoft.com/office/powerpoint/2010/main" val="265462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defRPr/>
            </a:pPr>
            <a:fld id="{0135270F-5CE6-4EF5-9A71-BDCE233B4E76}" type="datetime1">
              <a:rPr lang="en-US"/>
              <a:pPr>
                <a:defRPr/>
              </a:pPr>
              <a:t>12/19/2024</a:t>
            </a:fld>
            <a:endParaRPr lang="en-US"/>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defRPr/>
            </a:pPr>
            <a:fld id="{D1AD3536-327C-4937-83AF-A64971CFA6D9}" type="slidenum">
              <a:rPr lang="en-US"/>
              <a:pPr>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defRPr/>
            </a:pPr>
            <a:r>
              <a:rPr lang="en-US" dirty="0"/>
              <a:t>Database System Design, Implementation And Management </a:t>
            </a:r>
          </a:p>
        </p:txBody>
      </p:sp>
    </p:spTree>
    <p:extLst>
      <p:ext uri="{BB962C8B-B14F-4D97-AF65-F5344CB8AC3E}">
        <p14:creationId xmlns:p14="http://schemas.microsoft.com/office/powerpoint/2010/main" val="1600669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28"/>
            <a:ext cx="8061101" cy="553289"/>
          </a:xfrm>
          <a:prstGeom prst="rect">
            <a:avLst/>
          </a:prstGeom>
        </p:spPr>
        <p:txBody>
          <a:bodyPr>
            <a:normAutofit/>
          </a:bodyPr>
          <a:lstStyle>
            <a:lvl1pPr>
              <a:defRPr sz="1875"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z="1000" smtClean="0"/>
            </a:lvl1pPr>
          </a:lstStyle>
          <a:p>
            <a:pPr>
              <a:defRPr/>
            </a:pPr>
            <a:fld id="{42F541BA-B8B3-45BF-9568-D96FA3A28EA4}" type="datetime1">
              <a:rPr lang="en-US" smtClean="0"/>
              <a:pPr>
                <a:defRPr/>
              </a:pPr>
              <a:t>12/19/2024</a:t>
            </a:fld>
            <a:endParaRPr lang="en-US"/>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sz="1000"/>
            </a:lvl1pPr>
          </a:lstStyle>
          <a:p>
            <a:pPr>
              <a:defRPr/>
            </a:pPr>
            <a:fld id="{2BE77ECF-F060-4D46-A3D9-128B9B0DFB4A}" type="slidenum">
              <a:rPr lang="en-US" smtClean="0"/>
              <a:pPr>
                <a:defRPr/>
              </a:pPr>
              <a:t>‹#›</a:t>
            </a:fld>
            <a:endParaRPr lang="en-US"/>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sz="1000"/>
            </a:lvl1pPr>
          </a:lstStyle>
          <a:p>
            <a:pPr>
              <a:defRPr/>
            </a:pPr>
            <a:r>
              <a:rPr lang="en-US"/>
              <a:t>Database System Design, Implementation And Management </a:t>
            </a:r>
          </a:p>
        </p:txBody>
      </p:sp>
    </p:spTree>
    <p:extLst>
      <p:ext uri="{BB962C8B-B14F-4D97-AF65-F5344CB8AC3E}">
        <p14:creationId xmlns:p14="http://schemas.microsoft.com/office/powerpoint/2010/main" val="34848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0"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71450" indent="-171450">
              <a:lnSpc>
                <a:spcPct val="150000"/>
              </a:lnSpc>
              <a:buClr>
                <a:schemeClr val="accent2"/>
              </a:buClr>
              <a:buFont typeface="Wingdings" panose="05000000000000000000" pitchFamily="2" charset="2"/>
              <a:buChar char="q"/>
              <a:defRPr/>
            </a:lvl1pPr>
            <a:lvl2pPr marL="514350" indent="-171450">
              <a:lnSpc>
                <a:spcPct val="150000"/>
              </a:lnSpc>
              <a:buClr>
                <a:schemeClr val="accent2"/>
              </a:buClr>
              <a:buFont typeface="Wingdings" panose="05000000000000000000" pitchFamily="2" charset="2"/>
              <a:buChar char="Ø"/>
              <a:defRPr/>
            </a:lvl2pPr>
            <a:lvl3pPr marL="857250" indent="-171450">
              <a:lnSpc>
                <a:spcPct val="150000"/>
              </a:lnSpc>
              <a:buClr>
                <a:schemeClr val="accent2"/>
              </a:buClr>
              <a:buFont typeface="Wingdings" panose="05000000000000000000" pitchFamily="2" charset="2"/>
              <a:buChar char="ü"/>
              <a:defRPr/>
            </a:lvl3pPr>
            <a:lvl4pPr marL="1200150" indent="-171450">
              <a:lnSpc>
                <a:spcPct val="150000"/>
              </a:lnSpc>
              <a:buClr>
                <a:schemeClr val="accent2"/>
              </a:buClr>
              <a:buFont typeface="Courier New" panose="02070309020205020404" pitchFamily="49" charset="0"/>
              <a:buChar char="o"/>
              <a:defRPr/>
            </a:lvl4pPr>
            <a:lvl5pPr marL="1543050" indent="-171450">
              <a:lnSpc>
                <a:spcPct val="150000"/>
              </a:lnSpc>
              <a:buClr>
                <a:schemeClr val="accent2"/>
              </a:buClr>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9144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defRPr/>
            </a:pPr>
            <a:fld id="{34A84676-C444-4AC5-8B4E-405A7C81C0FB}" type="slidenum">
              <a:rPr lang="en-US" altLang="en-US"/>
              <a:pPr>
                <a:defRPr/>
              </a:pPr>
              <a:t>‹#›</a:t>
            </a:fld>
            <a:endParaRPr lang="en-US" altLang="en-US"/>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defRPr/>
            </a:pPr>
            <a:r>
              <a:rPr lang="en-US"/>
              <a:t>Database System Design, Implementation And Management </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defRPr/>
            </a:pPr>
            <a:fld id="{6D947E3C-0B49-413F-8928-2C02ECEF5B61}" type="datetime1">
              <a:rPr lang="en-US"/>
              <a:pPr>
                <a:defRPr/>
              </a:pPr>
              <a:t>12/19/2024</a:t>
            </a:fld>
            <a:endParaRPr lang="en-US"/>
          </a:p>
        </p:txBody>
      </p:sp>
    </p:spTree>
    <p:extLst>
      <p:ext uri="{BB962C8B-B14F-4D97-AF65-F5344CB8AC3E}">
        <p14:creationId xmlns:p14="http://schemas.microsoft.com/office/powerpoint/2010/main" val="337867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342900" eaLnBrk="1" fontAlgn="auto" hangingPunct="1">
              <a:spcBef>
                <a:spcPts val="0"/>
              </a:spcBef>
              <a:spcAft>
                <a:spcPts val="0"/>
              </a:spcAft>
              <a:defRPr sz="1000">
                <a:solidFill>
                  <a:prstClr val="white"/>
                </a:solidFill>
                <a:latin typeface="Calibri" panose="020F0502020204030204"/>
                <a:ea typeface="+mn-ea"/>
              </a:defRPr>
            </a:lvl1pPr>
          </a:lstStyle>
          <a:p>
            <a:pPr>
              <a:defRPr/>
            </a:pPr>
            <a:fld id="{B77A7909-E221-4E66-A5EF-13497EA60DDF}" type="slidenum">
              <a:rPr lang="en-US" smtClean="0"/>
              <a:pPr>
                <a:defRPr/>
              </a:pPr>
              <a:t>‹#›</a:t>
            </a:fld>
            <a:endParaRPr lang="en-US"/>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5"/>
            <a:ext cx="2743200" cy="257175"/>
          </a:xfrm>
          <a:prstGeom prst="rect">
            <a:avLst/>
          </a:prstGeom>
        </p:spPr>
        <p:txBody>
          <a:bodyPr vert="horz" lIns="91440" tIns="45720" rIns="91440" bIns="45720" rtlCol="0" anchor="ctr"/>
          <a:lstStyle>
            <a:lvl1pPr algn="l" defTabSz="342900" eaLnBrk="1" fontAlgn="auto" hangingPunct="1">
              <a:spcBef>
                <a:spcPts val="0"/>
              </a:spcBef>
              <a:spcAft>
                <a:spcPts val="0"/>
              </a:spcAft>
              <a:defRPr sz="1000" smtClean="0">
                <a:solidFill>
                  <a:prstClr val="white"/>
                </a:solidFill>
                <a:latin typeface="Calibri" panose="020F0502020204030204"/>
                <a:ea typeface="+mn-ea"/>
              </a:defRPr>
            </a:lvl1pPr>
          </a:lstStyle>
          <a:p>
            <a:pPr>
              <a:defRPr/>
            </a:pPr>
            <a:fld id="{AE5C34FE-8DBA-47D2-B92C-42DE287139A6}" type="datetime1">
              <a:rPr lang="en-US" smtClean="0"/>
              <a:pPr>
                <a:defRPr/>
              </a:pPr>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3" y="6604000"/>
            <a:ext cx="4967287" cy="254000"/>
          </a:xfrm>
          <a:prstGeom prst="rect">
            <a:avLst/>
          </a:prstGeom>
          <a:ln/>
        </p:spPr>
        <p:txBody>
          <a:bodyPr/>
          <a:lstStyle>
            <a:lvl1pPr>
              <a:defRPr sz="1000">
                <a:solidFill>
                  <a:schemeClr val="bg1"/>
                </a:solidFill>
              </a:defRPr>
            </a:lvl1pPr>
          </a:lstStyle>
          <a:p>
            <a:pPr>
              <a:defRPr/>
            </a:pPr>
            <a:r>
              <a:rPr lang="en-US"/>
              <a:t>Database System Design, Implementation And Management </a:t>
            </a: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Arial" panose="020B0604020202020204" pitchFamily="34" charset="0"/>
          <a:ea typeface="+mj-ea"/>
          <a:cs typeface="Arial" panose="020B0604020202020204" pitchFamily="34" charset="0"/>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55D12DE-3880-DE12-CE17-D7CD7AFD7B88}"/>
              </a:ext>
            </a:extLst>
          </p:cNvPr>
          <p:cNvSpPr>
            <a:spLocks noGrp="1" noChangeArrowheads="1"/>
          </p:cNvSpPr>
          <p:nvPr>
            <p:ph type="title"/>
          </p:nvPr>
        </p:nvSpPr>
        <p:spPr/>
        <p:txBody>
          <a:bodyPr/>
          <a:lstStyle/>
          <a:p>
            <a:pPr eaLnBrk="1" hangingPunct="1"/>
            <a:r>
              <a:rPr lang="en-US" altLang="en-US"/>
              <a:t>Learning Objectives</a:t>
            </a:r>
          </a:p>
        </p:txBody>
      </p:sp>
      <p:sp>
        <p:nvSpPr>
          <p:cNvPr id="18435" name="Rectangle 3">
            <a:extLst>
              <a:ext uri="{FF2B5EF4-FFF2-40B4-BE49-F238E27FC236}">
                <a16:creationId xmlns:a16="http://schemas.microsoft.com/office/drawing/2014/main" id="{55AFAA60-0CDA-A322-906A-3A5AB6B6D2D6}"/>
              </a:ext>
            </a:extLst>
          </p:cNvPr>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altLang="en-US" sz="1800" dirty="0"/>
              <a:t>Define the difference between data and information</a:t>
            </a:r>
          </a:p>
          <a:p>
            <a:pPr marL="457200" indent="-457200" eaLnBrk="1" hangingPunct="1">
              <a:lnSpc>
                <a:spcPct val="150000"/>
              </a:lnSpc>
              <a:buFont typeface="Calibri Light" panose="020F0302020204030204" pitchFamily="34" charset="0"/>
              <a:buAutoNum type="arabicPeriod"/>
            </a:pPr>
            <a:r>
              <a:rPr lang="en-US" altLang="en-US" sz="1800" dirty="0"/>
              <a:t>Describe what a database is, the various types of databases, and why they are valuable assets for decision making</a:t>
            </a:r>
          </a:p>
          <a:p>
            <a:pPr marL="457200" indent="-457200" eaLnBrk="1" hangingPunct="1">
              <a:lnSpc>
                <a:spcPct val="150000"/>
              </a:lnSpc>
              <a:buFont typeface="Calibri Light" panose="020F0302020204030204" pitchFamily="34" charset="0"/>
              <a:buAutoNum type="arabicPeriod"/>
            </a:pPr>
            <a:r>
              <a:rPr lang="en-US" altLang="en-US" sz="1800" dirty="0"/>
              <a:t>Explain the importance of database design</a:t>
            </a:r>
          </a:p>
          <a:p>
            <a:pPr marL="457200" indent="-457200" eaLnBrk="1" hangingPunct="1">
              <a:lnSpc>
                <a:spcPct val="150000"/>
              </a:lnSpc>
              <a:buFont typeface="Calibri Light" panose="020F0302020204030204" pitchFamily="34" charset="0"/>
              <a:buAutoNum type="arabicPeriod"/>
            </a:pPr>
            <a:r>
              <a:rPr lang="en-US" altLang="en-US" sz="1800" dirty="0"/>
              <a:t>Outline how modern databases evolved from file systems</a:t>
            </a:r>
          </a:p>
          <a:p>
            <a:pPr marL="457200" indent="-457200" eaLnBrk="1" hangingPunct="1">
              <a:lnSpc>
                <a:spcPct val="150000"/>
              </a:lnSpc>
              <a:buFont typeface="Calibri Light" panose="020F0302020204030204" pitchFamily="34" charset="0"/>
              <a:buAutoNum type="arabicPeriod"/>
            </a:pPr>
            <a:r>
              <a:rPr lang="en-US" altLang="en-US" sz="1800" dirty="0"/>
              <a:t>Identify flaws in file system data management</a:t>
            </a:r>
          </a:p>
          <a:p>
            <a:pPr marL="457200" indent="-457200" eaLnBrk="1" hangingPunct="1">
              <a:lnSpc>
                <a:spcPct val="150000"/>
              </a:lnSpc>
              <a:buFont typeface="Calibri Light" panose="020F0302020204030204" pitchFamily="34" charset="0"/>
              <a:buAutoNum type="arabicPeriod"/>
            </a:pPr>
            <a:r>
              <a:rPr lang="en-US" altLang="en-US" sz="1800" dirty="0"/>
              <a:t>Outline the main components of the database system</a:t>
            </a:r>
          </a:p>
          <a:p>
            <a:pPr marL="457200" indent="-457200" eaLnBrk="1" hangingPunct="1">
              <a:lnSpc>
                <a:spcPct val="150000"/>
              </a:lnSpc>
              <a:buFont typeface="Calibri Light" panose="020F0302020204030204" pitchFamily="34" charset="0"/>
              <a:buAutoNum type="arabicPeriod"/>
            </a:pPr>
            <a:r>
              <a:rPr lang="en-US" altLang="en-US" sz="1800" dirty="0"/>
              <a:t>Describe the main functions of a database management system (DBMS)</a:t>
            </a:r>
          </a:p>
        </p:txBody>
      </p:sp>
      <p:sp>
        <p:nvSpPr>
          <p:cNvPr id="2" name="Date Placeholder 1">
            <a:extLst>
              <a:ext uri="{FF2B5EF4-FFF2-40B4-BE49-F238E27FC236}">
                <a16:creationId xmlns:a16="http://schemas.microsoft.com/office/drawing/2014/main" id="{5CF56535-3CEC-D929-4BC5-BFFFA746272B}"/>
              </a:ext>
            </a:extLst>
          </p:cNvPr>
          <p:cNvSpPr>
            <a:spLocks noGrp="1"/>
          </p:cNvSpPr>
          <p:nvPr>
            <p:ph type="dt" sz="quarter" idx="12"/>
          </p:nvPr>
        </p:nvSpPr>
        <p:spPr/>
        <p:txBody>
          <a:bodyPr/>
          <a:lstStyle/>
          <a:p>
            <a:pPr>
              <a:defRPr/>
            </a:pPr>
            <a:fld id="{70935733-0070-4FC4-AA67-45D4DA740129}" type="datetime1">
              <a:rPr lang="en-US"/>
              <a:pPr>
                <a:defRPr/>
              </a:pPr>
              <a:t>12/19/2024</a:t>
            </a:fld>
            <a:endParaRPr lang="en-US"/>
          </a:p>
        </p:txBody>
      </p:sp>
      <p:sp>
        <p:nvSpPr>
          <p:cNvPr id="18437" name="Footer Placeholder 5">
            <a:extLst>
              <a:ext uri="{FF2B5EF4-FFF2-40B4-BE49-F238E27FC236}">
                <a16:creationId xmlns:a16="http://schemas.microsoft.com/office/drawing/2014/main" id="{485A426D-6530-9FB2-88B2-A3A18506708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Database System Design, Implementation And Management </a:t>
            </a:r>
          </a:p>
        </p:txBody>
      </p:sp>
      <p:sp>
        <p:nvSpPr>
          <p:cNvPr id="18438" name="Slide Number Placeholder 6">
            <a:extLst>
              <a:ext uri="{FF2B5EF4-FFF2-40B4-BE49-F238E27FC236}">
                <a16:creationId xmlns:a16="http://schemas.microsoft.com/office/drawing/2014/main" id="{B056787B-F6F1-4E67-9330-2245C057F8F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5E4E02F-8D0B-4F73-B3DD-858F1DB63CB0}" type="slidenum">
              <a:rPr lang="en-US" altLang="en-US" sz="900" smtClean="0">
                <a:solidFill>
                  <a:schemeClr val="bg1"/>
                </a:solidFill>
              </a:rPr>
              <a:pPr/>
              <a:t>1</a:t>
            </a:fld>
            <a:endParaRPr lang="en-US" altLang="en-US" sz="900" dirty="0">
              <a:solidFill>
                <a:schemeClr val="bg1"/>
              </a:solidFill>
            </a:endParaRPr>
          </a:p>
        </p:txBody>
      </p:sp>
      <p:pic>
        <p:nvPicPr>
          <p:cNvPr id="5" name="Picture 8">
            <a:extLst>
              <a:ext uri="{FF2B5EF4-FFF2-40B4-BE49-F238E27FC236}">
                <a16:creationId xmlns:a16="http://schemas.microsoft.com/office/drawing/2014/main" id="{93202BEA-2638-74DD-C797-07253743C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10" y="76200"/>
            <a:ext cx="11904379" cy="623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3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dirty="0"/>
              <a:t>National Economics University</a:t>
            </a:r>
            <a:br>
              <a:rPr lang="en-US" altLang="en-US" dirty="0"/>
            </a:br>
            <a:r>
              <a:rPr lang="en-US" altLang="en-US"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defRPr/>
            </a:pPr>
            <a:r>
              <a:rPr lang="en-US" dirty="0"/>
              <a:t>Database System Design, Implementation And Management Course – Entity Relationship (ER)</a:t>
            </a:r>
          </a:p>
          <a:p>
            <a:pPr eaLnBrk="1" hangingPunct="1">
              <a:defRPr/>
            </a:pPr>
            <a:r>
              <a:rPr lang="en-US" dirty="0"/>
              <a:t>Modeling</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z="900"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9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55D12DE-3880-DE12-CE17-D7CD7AFD7B88}"/>
              </a:ext>
            </a:extLst>
          </p:cNvPr>
          <p:cNvSpPr>
            <a:spLocks noGrp="1" noChangeArrowheads="1"/>
          </p:cNvSpPr>
          <p:nvPr>
            <p:ph type="title"/>
          </p:nvPr>
        </p:nvSpPr>
        <p:spPr/>
        <p:txBody>
          <a:bodyPr/>
          <a:lstStyle/>
          <a:p>
            <a:pPr eaLnBrk="1" hangingPunct="1"/>
            <a:r>
              <a:rPr lang="en-US" altLang="en-US"/>
              <a:t>Learning Objectives</a:t>
            </a:r>
          </a:p>
        </p:txBody>
      </p:sp>
      <p:sp>
        <p:nvSpPr>
          <p:cNvPr id="18435" name="Rectangle 3">
            <a:extLst>
              <a:ext uri="{FF2B5EF4-FFF2-40B4-BE49-F238E27FC236}">
                <a16:creationId xmlns:a16="http://schemas.microsoft.com/office/drawing/2014/main" id="{55AFAA60-0CDA-A322-906A-3A5AB6B6D2D6}"/>
              </a:ext>
            </a:extLst>
          </p:cNvPr>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sz="1800" b="0" i="0" dirty="0">
                <a:solidFill>
                  <a:srgbClr val="242021"/>
                </a:solidFill>
                <a:effectLst/>
                <a:latin typeface="MyriadPro-SemiboldSemiCn"/>
              </a:rPr>
              <a:t> Identify the main characteristics of entity relationship components</a:t>
            </a:r>
          </a:p>
          <a:p>
            <a:pPr marL="457200" indent="-457200" eaLnBrk="1" hangingPunct="1">
              <a:lnSpc>
                <a:spcPct val="150000"/>
              </a:lnSpc>
              <a:buFont typeface="Calibri Light" panose="020F0302020204030204" pitchFamily="34" charset="0"/>
              <a:buAutoNum type="arabicPeriod"/>
            </a:pPr>
            <a:r>
              <a:rPr lang="en-US" sz="1800" b="0" i="0" dirty="0">
                <a:solidFill>
                  <a:srgbClr val="242021"/>
                </a:solidFill>
                <a:effectLst/>
                <a:latin typeface="MyriadPro-SemiboldSemiCn"/>
              </a:rPr>
              <a:t>Describe how relationships between entities are defined, refined, and incorporated into the database design process</a:t>
            </a:r>
            <a:endParaRPr lang="en-US" sz="1800" dirty="0">
              <a:solidFill>
                <a:srgbClr val="242021"/>
              </a:solidFill>
              <a:latin typeface="MyriadPro-SemiboldSemiCn"/>
            </a:endParaRPr>
          </a:p>
          <a:p>
            <a:pPr marL="457200" indent="-457200" eaLnBrk="1" hangingPunct="1">
              <a:lnSpc>
                <a:spcPct val="150000"/>
              </a:lnSpc>
              <a:buFont typeface="Calibri Light" panose="020F0302020204030204" pitchFamily="34" charset="0"/>
              <a:buAutoNum type="arabicPeriod"/>
            </a:pPr>
            <a:r>
              <a:rPr lang="en-US" sz="1800" b="0" i="0" dirty="0">
                <a:solidFill>
                  <a:srgbClr val="242021"/>
                </a:solidFill>
                <a:effectLst/>
                <a:latin typeface="MyriadPro-SemiboldSemiCn"/>
              </a:rPr>
              <a:t>Explain how ERD components affect database design and implementation</a:t>
            </a:r>
            <a:endParaRPr lang="en-US" sz="1800" dirty="0">
              <a:solidFill>
                <a:srgbClr val="242021"/>
              </a:solidFill>
              <a:latin typeface="MyriadPro-SemiboldSemiCn"/>
            </a:endParaRPr>
          </a:p>
          <a:p>
            <a:pPr marL="457200" indent="-457200" eaLnBrk="1" hangingPunct="1">
              <a:lnSpc>
                <a:spcPct val="150000"/>
              </a:lnSpc>
              <a:buFont typeface="Calibri Light" panose="020F0302020204030204" pitchFamily="34" charset="0"/>
              <a:buAutoNum type="arabicPeriod"/>
            </a:pPr>
            <a:r>
              <a:rPr lang="en-US" sz="1800" b="0" i="0" dirty="0">
                <a:solidFill>
                  <a:srgbClr val="242021"/>
                </a:solidFill>
                <a:effectLst/>
                <a:latin typeface="MyriadPro-SemiboldSemiCn"/>
              </a:rPr>
              <a:t>Describe how real-world database design often requires there conciliation of conflicting goals</a:t>
            </a:r>
            <a:r>
              <a:rPr lang="en-US" sz="1000" dirty="0"/>
              <a:t> </a:t>
            </a:r>
            <a:br>
              <a:rPr lang="en-US" sz="1000" dirty="0"/>
            </a:br>
            <a:br>
              <a:rPr lang="en-US" sz="1100" dirty="0"/>
            </a:br>
            <a:br>
              <a:rPr lang="en-US" sz="1400" dirty="0"/>
            </a:br>
            <a:endParaRPr lang="en-US" altLang="en-US" sz="1800" dirty="0"/>
          </a:p>
        </p:txBody>
      </p:sp>
      <p:sp>
        <p:nvSpPr>
          <p:cNvPr id="2" name="Date Placeholder 1">
            <a:extLst>
              <a:ext uri="{FF2B5EF4-FFF2-40B4-BE49-F238E27FC236}">
                <a16:creationId xmlns:a16="http://schemas.microsoft.com/office/drawing/2014/main" id="{5CF56535-3CEC-D929-4BC5-BFFFA746272B}"/>
              </a:ext>
            </a:extLst>
          </p:cNvPr>
          <p:cNvSpPr>
            <a:spLocks noGrp="1"/>
          </p:cNvSpPr>
          <p:nvPr>
            <p:ph type="dt" sz="quarter" idx="12"/>
          </p:nvPr>
        </p:nvSpPr>
        <p:spPr/>
        <p:txBody>
          <a:bodyPr/>
          <a:lstStyle/>
          <a:p>
            <a:pPr>
              <a:defRPr/>
            </a:pPr>
            <a:fld id="{70935733-0070-4FC4-AA67-45D4DA740129}" type="datetime1">
              <a:rPr lang="en-US"/>
              <a:pPr>
                <a:defRPr/>
              </a:pPr>
              <a:t>12/19/2024</a:t>
            </a:fld>
            <a:endParaRPr lang="en-US" dirty="0"/>
          </a:p>
        </p:txBody>
      </p:sp>
      <p:sp>
        <p:nvSpPr>
          <p:cNvPr id="18437" name="Footer Placeholder 5">
            <a:extLst>
              <a:ext uri="{FF2B5EF4-FFF2-40B4-BE49-F238E27FC236}">
                <a16:creationId xmlns:a16="http://schemas.microsoft.com/office/drawing/2014/main" id="{485A426D-6530-9FB2-88B2-A3A18506708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dirty="0">
                <a:solidFill>
                  <a:schemeClr val="bg1"/>
                </a:solidFill>
              </a:rPr>
              <a:t>Database System Design, Implementation And Management </a:t>
            </a:r>
          </a:p>
        </p:txBody>
      </p:sp>
      <p:sp>
        <p:nvSpPr>
          <p:cNvPr id="18438" name="Slide Number Placeholder 6">
            <a:extLst>
              <a:ext uri="{FF2B5EF4-FFF2-40B4-BE49-F238E27FC236}">
                <a16:creationId xmlns:a16="http://schemas.microsoft.com/office/drawing/2014/main" id="{B056787B-F6F1-4E67-9330-2245C057F8F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5E4E02F-8D0B-4F73-B3DD-858F1DB63CB0}" type="slidenum">
              <a:rPr lang="en-US" altLang="en-US" sz="900" smtClean="0">
                <a:solidFill>
                  <a:schemeClr val="bg1"/>
                </a:solidFill>
              </a:rPr>
              <a:pPr/>
              <a:t>3</a:t>
            </a:fld>
            <a:endParaRPr lang="en-US" altLang="en-US" sz="9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1DCB29D-D534-B857-7C83-DE4C3BDFA4CF}"/>
              </a:ext>
            </a:extLst>
          </p:cNvPr>
          <p:cNvSpPr>
            <a:spLocks noGrp="1" noChangeArrowheads="1"/>
          </p:cNvSpPr>
          <p:nvPr>
            <p:ph type="title"/>
          </p:nvPr>
        </p:nvSpPr>
        <p:spPr/>
        <p:txBody>
          <a:bodyPr/>
          <a:lstStyle/>
          <a:p>
            <a:pPr eaLnBrk="1" hangingPunct="1"/>
            <a:r>
              <a:rPr lang="en-US" altLang="en-US" dirty="0"/>
              <a:t>Introduction</a:t>
            </a:r>
          </a:p>
        </p:txBody>
      </p:sp>
      <p:sp>
        <p:nvSpPr>
          <p:cNvPr id="20483" name="Rectangle 3">
            <a:extLst>
              <a:ext uri="{FF2B5EF4-FFF2-40B4-BE49-F238E27FC236}">
                <a16:creationId xmlns:a16="http://schemas.microsoft.com/office/drawing/2014/main" id="{41F3EEDD-860D-60D3-AD02-6DD47DB02188}"/>
              </a:ext>
            </a:extLst>
          </p:cNvPr>
          <p:cNvSpPr>
            <a:spLocks noGrp="1" noChangeArrowheads="1"/>
          </p:cNvSpPr>
          <p:nvPr>
            <p:ph idx="1"/>
          </p:nvPr>
        </p:nvSpPr>
        <p:spPr/>
        <p:txBody>
          <a:bodyPr/>
          <a:lstStyle/>
          <a:p>
            <a:pPr eaLnBrk="1" hangingPunct="1">
              <a:lnSpc>
                <a:spcPct val="150000"/>
              </a:lnSpc>
            </a:pPr>
            <a:r>
              <a:rPr lang="en-US" altLang="en-US" sz="2400" dirty="0"/>
              <a:t>Good decisions require good information derived from raw facts</a:t>
            </a:r>
          </a:p>
          <a:p>
            <a:pPr eaLnBrk="1" hangingPunct="1">
              <a:lnSpc>
                <a:spcPct val="150000"/>
              </a:lnSpc>
            </a:pPr>
            <a:r>
              <a:rPr lang="en-US" altLang="en-US" sz="2400" dirty="0"/>
              <a:t>Data is managed most efficiently when stored in a database </a:t>
            </a:r>
          </a:p>
          <a:p>
            <a:pPr eaLnBrk="1" hangingPunct="1">
              <a:lnSpc>
                <a:spcPct val="150000"/>
              </a:lnSpc>
            </a:pPr>
            <a:r>
              <a:rPr lang="en-US" altLang="en-US" sz="2400" dirty="0"/>
              <a:t>Databases evolved from computer file systems</a:t>
            </a:r>
          </a:p>
          <a:p>
            <a:pPr eaLnBrk="1" hangingPunct="1">
              <a:lnSpc>
                <a:spcPct val="150000"/>
              </a:lnSpc>
            </a:pPr>
            <a:r>
              <a:rPr lang="en-US" altLang="en-US" sz="2400" dirty="0"/>
              <a:t>Understanding file system characteristics is important</a:t>
            </a:r>
          </a:p>
        </p:txBody>
      </p:sp>
      <p:sp>
        <p:nvSpPr>
          <p:cNvPr id="2" name="Date Placeholder 1">
            <a:extLst>
              <a:ext uri="{FF2B5EF4-FFF2-40B4-BE49-F238E27FC236}">
                <a16:creationId xmlns:a16="http://schemas.microsoft.com/office/drawing/2014/main" id="{CFCC2DE5-019B-3B11-82F4-2D9677E84263}"/>
              </a:ext>
            </a:extLst>
          </p:cNvPr>
          <p:cNvSpPr>
            <a:spLocks noGrp="1"/>
          </p:cNvSpPr>
          <p:nvPr>
            <p:ph type="dt" sz="quarter" idx="12"/>
          </p:nvPr>
        </p:nvSpPr>
        <p:spPr/>
        <p:txBody>
          <a:bodyPr/>
          <a:lstStyle/>
          <a:p>
            <a:pPr>
              <a:defRPr/>
            </a:pPr>
            <a:fld id="{7A4C30CC-4197-428E-AFC0-406C73B0ED5C}" type="datetime1">
              <a:rPr lang="en-US"/>
              <a:pPr>
                <a:defRPr/>
              </a:pPr>
              <a:t>12/19/2024</a:t>
            </a:fld>
            <a:endParaRPr lang="en-US"/>
          </a:p>
        </p:txBody>
      </p:sp>
      <p:sp>
        <p:nvSpPr>
          <p:cNvPr id="20485" name="Footer Placeholder 5">
            <a:extLst>
              <a:ext uri="{FF2B5EF4-FFF2-40B4-BE49-F238E27FC236}">
                <a16:creationId xmlns:a16="http://schemas.microsoft.com/office/drawing/2014/main" id="{E4AC8304-634C-9454-375E-510C49AC9C1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Database System Design, Implementation And Management </a:t>
            </a:r>
          </a:p>
        </p:txBody>
      </p:sp>
      <p:sp>
        <p:nvSpPr>
          <p:cNvPr id="20486" name="Slide Number Placeholder 6">
            <a:extLst>
              <a:ext uri="{FF2B5EF4-FFF2-40B4-BE49-F238E27FC236}">
                <a16:creationId xmlns:a16="http://schemas.microsoft.com/office/drawing/2014/main" id="{858B14FA-ADB0-CDA2-307C-681CB0F88A8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1072680-6AB0-491B-8B57-14E3B9BF6F78}" type="slidenum">
              <a:rPr lang="en-US" altLang="en-US" sz="900" smtClean="0">
                <a:solidFill>
                  <a:schemeClr val="bg1"/>
                </a:solidFill>
              </a:rPr>
              <a:pPr/>
              <a:t>4</a:t>
            </a:fld>
            <a:endParaRPr lang="en-US" altLang="en-US" sz="90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10515600" cy="4351338"/>
          </a:xfrm>
        </p:spPr>
        <p:txBody>
          <a:bodyPr/>
          <a:lstStyle/>
          <a:p>
            <a:r>
              <a:rPr lang="en-US" sz="1800" b="1" i="0" dirty="0">
                <a:solidFill>
                  <a:srgbClr val="242021"/>
                </a:solidFill>
                <a:effectLst/>
                <a:latin typeface="MyriadPro-BoldCond"/>
              </a:rPr>
              <a:t>4-1a </a:t>
            </a:r>
            <a:r>
              <a:rPr lang="en-US" sz="1800" b="1" i="0" dirty="0">
                <a:solidFill>
                  <a:srgbClr val="004D8D"/>
                </a:solidFill>
                <a:effectLst/>
                <a:latin typeface="MyriadPro-BoldCond"/>
              </a:rPr>
              <a:t>Entities: </a:t>
            </a:r>
          </a:p>
          <a:p>
            <a:pPr lvl="1"/>
            <a:r>
              <a:rPr lang="en-US" sz="1800" b="0" i="0" dirty="0">
                <a:solidFill>
                  <a:srgbClr val="242021"/>
                </a:solidFill>
                <a:effectLst/>
                <a:latin typeface="NewCaledoniaLTStd"/>
              </a:rPr>
              <a:t>an entity actually refers to the </a:t>
            </a:r>
            <a:r>
              <a:rPr lang="en-US" sz="1800" b="0" i="1" dirty="0">
                <a:solidFill>
                  <a:srgbClr val="242021"/>
                </a:solidFill>
                <a:effectLst/>
                <a:latin typeface="NewCaledoniaLTStd-It"/>
              </a:rPr>
              <a:t>entity set </a:t>
            </a:r>
            <a:r>
              <a:rPr lang="en-US" sz="1800" b="0" i="0" dirty="0">
                <a:solidFill>
                  <a:srgbClr val="242021"/>
                </a:solidFill>
                <a:effectLst/>
                <a:latin typeface="NewCaledoniaLTStd"/>
              </a:rPr>
              <a:t>and not to a single entity occurrence.</a:t>
            </a:r>
          </a:p>
          <a:p>
            <a:pPr lvl="1"/>
            <a:r>
              <a:rPr lang="en-US" sz="1600" dirty="0"/>
              <a:t> </a:t>
            </a:r>
            <a:r>
              <a:rPr lang="en-US" sz="1800" b="0" i="0" dirty="0">
                <a:solidFill>
                  <a:srgbClr val="242021"/>
                </a:solidFill>
                <a:effectLst/>
                <a:latin typeface="NewCaledoniaLTStd"/>
              </a:rPr>
              <a:t>an </a:t>
            </a:r>
            <a:r>
              <a:rPr lang="en-US" sz="1800" b="0" i="1" dirty="0">
                <a:solidFill>
                  <a:srgbClr val="242021"/>
                </a:solidFill>
                <a:effectLst/>
                <a:latin typeface="NewCaledoniaLTStd-It"/>
              </a:rPr>
              <a:t>entity </a:t>
            </a:r>
            <a:r>
              <a:rPr lang="en-US" sz="1800" b="0" i="0" dirty="0">
                <a:solidFill>
                  <a:srgbClr val="242021"/>
                </a:solidFill>
                <a:effectLst/>
                <a:latin typeface="NewCaledoniaLTStd"/>
              </a:rPr>
              <a:t>in the ERM corresponds to a table—not to a row</a:t>
            </a:r>
            <a:r>
              <a:rPr lang="en-US" sz="1600" dirty="0"/>
              <a:t> </a:t>
            </a:r>
          </a:p>
          <a:p>
            <a:pPr lvl="1"/>
            <a:r>
              <a:rPr lang="en-US" sz="1800" b="0" i="0" dirty="0">
                <a:solidFill>
                  <a:srgbClr val="242021"/>
                </a:solidFill>
                <a:effectLst/>
                <a:latin typeface="NewCaledoniaLTStd"/>
              </a:rPr>
              <a:t>The ERM refers to a table row as an </a:t>
            </a:r>
            <a:r>
              <a:rPr lang="en-US" sz="1800" b="0" i="1" dirty="0">
                <a:solidFill>
                  <a:srgbClr val="242021"/>
                </a:solidFill>
                <a:effectLst/>
                <a:latin typeface="NewCaledoniaLTStd-It"/>
              </a:rPr>
              <a:t>entity instance </a:t>
            </a:r>
            <a:r>
              <a:rPr lang="en-US" sz="1800" b="0" i="0" dirty="0">
                <a:solidFill>
                  <a:srgbClr val="242021"/>
                </a:solidFill>
                <a:effectLst/>
                <a:latin typeface="NewCaledoniaLTStd"/>
              </a:rPr>
              <a:t>or </a:t>
            </a:r>
            <a:r>
              <a:rPr lang="en-US" sz="1800" b="0" i="1" dirty="0">
                <a:solidFill>
                  <a:srgbClr val="242021"/>
                </a:solidFill>
                <a:effectLst/>
                <a:latin typeface="NewCaledoniaLTStd-It"/>
              </a:rPr>
              <a:t>entity occurrence</a:t>
            </a:r>
            <a:r>
              <a:rPr lang="en-US" sz="1600" dirty="0"/>
              <a:t> </a:t>
            </a:r>
          </a:p>
          <a:p>
            <a:r>
              <a:rPr lang="en-US" sz="1800" b="1" i="0" dirty="0">
                <a:solidFill>
                  <a:srgbClr val="242021"/>
                </a:solidFill>
                <a:effectLst/>
                <a:latin typeface="MyriadPro-BoldCond"/>
              </a:rPr>
              <a:t>4-1b </a:t>
            </a:r>
            <a:r>
              <a:rPr lang="en-US" sz="1800" b="1" i="0" dirty="0">
                <a:solidFill>
                  <a:srgbClr val="004D8D"/>
                </a:solidFill>
                <a:effectLst/>
                <a:latin typeface="MyriadPro-BoldCond"/>
              </a:rPr>
              <a:t>Attributes</a:t>
            </a:r>
          </a:p>
          <a:p>
            <a:pPr lvl="1"/>
            <a:r>
              <a:rPr lang="en-US" sz="1800" b="0" i="0" dirty="0">
                <a:solidFill>
                  <a:srgbClr val="242021"/>
                </a:solidFill>
                <a:effectLst/>
                <a:latin typeface="NewCaledoniaLTStd"/>
              </a:rPr>
              <a:t>Attributes are characteristics of entities.</a:t>
            </a:r>
            <a:r>
              <a:rPr lang="en-US" sz="1600" dirty="0"/>
              <a:t> </a:t>
            </a:r>
          </a:p>
          <a:p>
            <a:pPr lvl="1"/>
            <a:r>
              <a:rPr lang="en-US" sz="1800" b="0" i="0" dirty="0">
                <a:solidFill>
                  <a:srgbClr val="C94936"/>
                </a:solidFill>
                <a:effectLst/>
                <a:latin typeface="MyriadPro-SemiboldSemiCn"/>
              </a:rPr>
              <a:t>Required and Optional Attributes</a:t>
            </a:r>
          </a:p>
          <a:p>
            <a:pPr lvl="2"/>
            <a:r>
              <a:rPr lang="en-US" sz="1800" b="0" i="0" dirty="0">
                <a:solidFill>
                  <a:srgbClr val="242021"/>
                </a:solidFill>
                <a:effectLst/>
                <a:latin typeface="NewCaledoniaLTStd"/>
              </a:rPr>
              <a:t>A </a:t>
            </a:r>
            <a:r>
              <a:rPr lang="en-US" sz="1800" b="1" i="0" dirty="0">
                <a:solidFill>
                  <a:srgbClr val="007DAF"/>
                </a:solidFill>
                <a:effectLst/>
                <a:latin typeface="MyriadPro-Bold"/>
              </a:rPr>
              <a:t>required attribute </a:t>
            </a:r>
            <a:r>
              <a:rPr lang="en-US" sz="1800" b="0" i="0" dirty="0">
                <a:solidFill>
                  <a:srgbClr val="242021"/>
                </a:solidFill>
                <a:effectLst/>
                <a:latin typeface="NewCaledoniaLTStd"/>
              </a:rPr>
              <a:t>is an attribute that must have a value</a:t>
            </a:r>
            <a:r>
              <a:rPr lang="en-US" dirty="0"/>
              <a:t> </a:t>
            </a:r>
          </a:p>
          <a:p>
            <a:pPr lvl="2"/>
            <a:r>
              <a:rPr lang="en-US" sz="1800" b="0" i="0" dirty="0">
                <a:solidFill>
                  <a:srgbClr val="242021"/>
                </a:solidFill>
                <a:effectLst/>
                <a:latin typeface="NewCaledoniaLTStd"/>
              </a:rPr>
              <a:t>An </a:t>
            </a:r>
            <a:r>
              <a:rPr lang="en-US" sz="1800" b="1" i="0" dirty="0">
                <a:solidFill>
                  <a:srgbClr val="007DAF"/>
                </a:solidFill>
                <a:effectLst/>
                <a:latin typeface="MyriadPro-Bold"/>
              </a:rPr>
              <a:t>optional attribute </a:t>
            </a:r>
            <a:r>
              <a:rPr lang="en-US" sz="1800" b="0" i="0" dirty="0">
                <a:solidFill>
                  <a:srgbClr val="242021"/>
                </a:solidFill>
                <a:effectLst/>
                <a:latin typeface="NewCaledoniaLTStd"/>
              </a:rPr>
              <a:t>is an attribute that does not require a value</a:t>
            </a:r>
          </a:p>
          <a:p>
            <a:pPr lvl="1"/>
            <a:r>
              <a:rPr lang="en-US" dirty="0"/>
              <a:t> </a:t>
            </a:r>
            <a:r>
              <a:rPr lang="en-US" sz="1800" b="0" i="0" dirty="0">
                <a:solidFill>
                  <a:srgbClr val="242021"/>
                </a:solidFill>
                <a:effectLst/>
                <a:latin typeface="NewCaledoniaLTStd"/>
              </a:rPr>
              <a:t>A </a:t>
            </a:r>
            <a:r>
              <a:rPr lang="en-US" sz="1800" b="1" i="0" dirty="0">
                <a:solidFill>
                  <a:srgbClr val="007DAF"/>
                </a:solidFill>
                <a:effectLst/>
                <a:latin typeface="MyriadPro-Bold"/>
              </a:rPr>
              <a:t>domain </a:t>
            </a:r>
            <a:r>
              <a:rPr lang="en-US" sz="1800" b="0" i="0" dirty="0">
                <a:solidFill>
                  <a:srgbClr val="242021"/>
                </a:solidFill>
                <a:effectLst/>
                <a:latin typeface="NewCaledoniaLTStd"/>
              </a:rPr>
              <a:t>is the set of possible values for a given attribute</a:t>
            </a:r>
            <a:r>
              <a:rPr lang="en-US" dirty="0"/>
              <a:t> </a:t>
            </a:r>
            <a:br>
              <a:rPr lang="en-US" dirty="0"/>
            </a:br>
            <a:br>
              <a:rPr lang="en-US" b="0" i="0" dirty="0">
                <a:solidFill>
                  <a:srgbClr val="C94936"/>
                </a:solidFill>
                <a:effectLst/>
                <a:latin typeface="MyriadPro-SemiboldSemiCn"/>
              </a:rPr>
            </a:br>
            <a:br>
              <a:rPr lang="en-US" sz="1600" dirty="0"/>
            </a:br>
            <a:br>
              <a:rPr lang="en-US" sz="1600" dirty="0"/>
            </a:br>
            <a:br>
              <a:rPr lang="en-US" sz="1500" b="1" i="0" dirty="0">
                <a:solidFill>
                  <a:srgbClr val="004D8D"/>
                </a:solidFill>
                <a:effectLst/>
                <a:latin typeface="MyriadPro-BoldCond"/>
              </a:rPr>
            </a:br>
            <a:br>
              <a:rPr lang="en-US" sz="1300" dirty="0"/>
            </a:br>
            <a:br>
              <a:rPr lang="en-US" sz="1600" dirty="0"/>
            </a:br>
            <a:br>
              <a:rPr lang="en-US" sz="1600" dirty="0"/>
            </a:br>
            <a:br>
              <a:rPr lang="en-US" sz="1600" dirty="0"/>
            </a:br>
            <a:br>
              <a:rPr lang="en-US" sz="1500" b="1" i="0" dirty="0">
                <a:solidFill>
                  <a:srgbClr val="004D8D"/>
                </a:solidFill>
                <a:effectLst/>
                <a:latin typeface="MyriadPro-BoldCond"/>
              </a:rPr>
            </a:br>
            <a:br>
              <a:rPr lang="en-US"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5</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4CD480B-738B-4975-F0B1-F44B51AFABE5}"/>
              </a:ext>
            </a:extLst>
          </p:cNvPr>
          <p:cNvPicPr>
            <a:picLocks noChangeAspect="1"/>
          </p:cNvPicPr>
          <p:nvPr/>
        </p:nvPicPr>
        <p:blipFill>
          <a:blip r:embed="rId3"/>
          <a:stretch>
            <a:fillRect/>
          </a:stretch>
        </p:blipFill>
        <p:spPr>
          <a:xfrm>
            <a:off x="8982075" y="1905000"/>
            <a:ext cx="2600325" cy="3971925"/>
          </a:xfrm>
          <a:prstGeom prst="rect">
            <a:avLst/>
          </a:prstGeom>
        </p:spPr>
      </p:pic>
    </p:spTree>
    <p:extLst>
      <p:ext uri="{BB962C8B-B14F-4D97-AF65-F5344CB8AC3E}">
        <p14:creationId xmlns:p14="http://schemas.microsoft.com/office/powerpoint/2010/main" val="3821337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304800" y="1524000"/>
            <a:ext cx="8915400" cy="4351338"/>
          </a:xfrm>
        </p:spPr>
        <p:txBody>
          <a:bodyPr/>
          <a:lstStyle/>
          <a:p>
            <a:r>
              <a:rPr lang="en-US" sz="1800" b="1" i="0" dirty="0">
                <a:solidFill>
                  <a:srgbClr val="242021"/>
                </a:solidFill>
                <a:effectLst/>
                <a:latin typeface="MyriadPro-BoldCond"/>
              </a:rPr>
              <a:t>4-1b </a:t>
            </a:r>
            <a:r>
              <a:rPr lang="en-US" sz="1800" b="1" i="0" dirty="0">
                <a:solidFill>
                  <a:srgbClr val="004D8D"/>
                </a:solidFill>
                <a:effectLst/>
                <a:latin typeface="MyriadPro-BoldCond"/>
              </a:rPr>
              <a:t>Attributes</a:t>
            </a:r>
          </a:p>
          <a:p>
            <a:pPr lvl="1"/>
            <a:r>
              <a:rPr lang="en-US" sz="1800" b="0" i="0" dirty="0">
                <a:solidFill>
                  <a:srgbClr val="C94936"/>
                </a:solidFill>
                <a:effectLst/>
                <a:latin typeface="MyriadPro-SemiboldSemiCn"/>
              </a:rPr>
              <a:t>Identifiers (Primary Keys)</a:t>
            </a:r>
            <a:r>
              <a:rPr lang="en-US" dirty="0"/>
              <a:t> </a:t>
            </a:r>
          </a:p>
          <a:p>
            <a:pPr lvl="2"/>
            <a:r>
              <a:rPr lang="en-US" sz="1800" b="0" i="0" dirty="0">
                <a:solidFill>
                  <a:srgbClr val="242021"/>
                </a:solidFill>
                <a:effectLst/>
                <a:latin typeface="NewCaledoniaLTStd"/>
              </a:rPr>
              <a:t>The ERM uses </a:t>
            </a:r>
            <a:r>
              <a:rPr lang="en-US" sz="1800" b="1" i="0" dirty="0">
                <a:solidFill>
                  <a:srgbClr val="007DAF"/>
                </a:solidFill>
                <a:effectLst/>
                <a:latin typeface="MyriadPro-Bold"/>
              </a:rPr>
              <a:t>identifiers</a:t>
            </a:r>
            <a:r>
              <a:rPr lang="en-US" sz="1800" b="0" i="0" dirty="0">
                <a:solidFill>
                  <a:srgbClr val="242021"/>
                </a:solidFill>
                <a:effectLst/>
                <a:latin typeface="NewCaledoniaLTStd"/>
              </a:rPr>
              <a:t>—one or more attributes that uniquely identify each entity instance.</a:t>
            </a:r>
          </a:p>
          <a:p>
            <a:pPr lvl="2"/>
            <a:r>
              <a:rPr lang="en-US" sz="1800" b="0" i="0" dirty="0">
                <a:solidFill>
                  <a:srgbClr val="242021"/>
                </a:solidFill>
                <a:effectLst/>
                <a:latin typeface="NewCaledoniaLTStd"/>
              </a:rPr>
              <a:t>Identifiers are underlined in the ERD</a:t>
            </a:r>
            <a:r>
              <a:rPr lang="en-US" dirty="0"/>
              <a:t> </a:t>
            </a:r>
          </a:p>
          <a:p>
            <a:pPr lvl="2"/>
            <a:r>
              <a:rPr lang="en-US" sz="1800" b="0" i="0" dirty="0">
                <a:solidFill>
                  <a:srgbClr val="242021"/>
                </a:solidFill>
                <a:effectLst/>
                <a:latin typeface="NewCaledoniaLTStd"/>
              </a:rPr>
              <a:t>Key attributes are underlined in a frequently used shorthand notation for the table structure, called a </a:t>
            </a:r>
            <a:r>
              <a:rPr lang="en-US" sz="1800" b="1" i="0" dirty="0">
                <a:solidFill>
                  <a:srgbClr val="007DAF"/>
                </a:solidFill>
                <a:effectLst/>
                <a:latin typeface="MyriadPro-Bold"/>
              </a:rPr>
              <a:t>relational schema</a:t>
            </a:r>
            <a:r>
              <a:rPr lang="en-US" sz="1800" b="0" i="0" dirty="0">
                <a:solidFill>
                  <a:srgbClr val="242021"/>
                </a:solidFill>
                <a:effectLst/>
                <a:latin typeface="NewCaledoniaLTStd"/>
              </a:rPr>
              <a:t>, that uses the following format</a:t>
            </a:r>
            <a:r>
              <a:rPr lang="en-US" dirty="0"/>
              <a:t> </a:t>
            </a:r>
            <a:br>
              <a:rPr lang="en-US" dirty="0"/>
            </a:br>
            <a:br>
              <a:rPr lang="en-US" dirty="0"/>
            </a:br>
            <a:r>
              <a:rPr lang="en-US" dirty="0"/>
              <a:t> </a:t>
            </a:r>
            <a:br>
              <a:rPr lang="en-US" dirty="0"/>
            </a:br>
            <a:br>
              <a:rPr lang="en-US" dirty="0"/>
            </a:br>
            <a:br>
              <a:rPr lang="en-US" sz="1300" dirty="0"/>
            </a:br>
            <a:br>
              <a:rPr lang="en-US" sz="1300" dirty="0"/>
            </a:br>
            <a:br>
              <a:rPr lang="en-US" sz="1200" b="1" i="0" dirty="0">
                <a:solidFill>
                  <a:srgbClr val="004D8D"/>
                </a:solidFill>
                <a:effectLst/>
                <a:latin typeface="MyriadPro-BoldCond"/>
              </a:rPr>
            </a:br>
            <a:br>
              <a:rPr lang="en-US" sz="1000" dirty="0"/>
            </a:br>
            <a:br>
              <a:rPr lang="en-US" sz="1300" dirty="0"/>
            </a:br>
            <a:br>
              <a:rPr lang="en-US" sz="1300" dirty="0"/>
            </a:br>
            <a:br>
              <a:rPr lang="en-US" sz="1300" dirty="0"/>
            </a:br>
            <a:br>
              <a:rPr lang="en-US" sz="1200" b="1" i="0" dirty="0">
                <a:solidFill>
                  <a:srgbClr val="004D8D"/>
                </a:solidFill>
                <a:effectLst/>
                <a:latin typeface="MyriadPro-BoldCond"/>
              </a:rPr>
            </a:br>
            <a:br>
              <a:rPr lang="en-US"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6</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CD0BFACC-5F85-D151-49F2-2FE5276128DA}"/>
              </a:ext>
            </a:extLst>
          </p:cNvPr>
          <p:cNvPicPr>
            <a:picLocks noChangeAspect="1"/>
          </p:cNvPicPr>
          <p:nvPr/>
        </p:nvPicPr>
        <p:blipFill>
          <a:blip r:embed="rId3"/>
          <a:stretch>
            <a:fillRect/>
          </a:stretch>
        </p:blipFill>
        <p:spPr>
          <a:xfrm>
            <a:off x="2286000" y="4830819"/>
            <a:ext cx="7620000" cy="1430986"/>
          </a:xfrm>
          <a:prstGeom prst="rect">
            <a:avLst/>
          </a:prstGeom>
        </p:spPr>
      </p:pic>
      <p:pic>
        <p:nvPicPr>
          <p:cNvPr id="10" name="Picture 9">
            <a:extLst>
              <a:ext uri="{FF2B5EF4-FFF2-40B4-BE49-F238E27FC236}">
                <a16:creationId xmlns:a16="http://schemas.microsoft.com/office/drawing/2014/main" id="{EF044E0D-2FC1-D5DD-4F88-2800DE5E9964}"/>
              </a:ext>
            </a:extLst>
          </p:cNvPr>
          <p:cNvPicPr>
            <a:picLocks noChangeAspect="1"/>
          </p:cNvPicPr>
          <p:nvPr/>
        </p:nvPicPr>
        <p:blipFill>
          <a:blip r:embed="rId4"/>
          <a:stretch>
            <a:fillRect/>
          </a:stretch>
        </p:blipFill>
        <p:spPr>
          <a:xfrm>
            <a:off x="9288061" y="1311688"/>
            <a:ext cx="2759878" cy="2834068"/>
          </a:xfrm>
          <a:prstGeom prst="rect">
            <a:avLst/>
          </a:prstGeom>
        </p:spPr>
      </p:pic>
    </p:spTree>
    <p:extLst>
      <p:ext uri="{BB962C8B-B14F-4D97-AF65-F5344CB8AC3E}">
        <p14:creationId xmlns:p14="http://schemas.microsoft.com/office/powerpoint/2010/main" val="9023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6934200" cy="4351338"/>
          </a:xfrm>
        </p:spPr>
        <p:txBody>
          <a:bodyPr/>
          <a:lstStyle/>
          <a:p>
            <a:r>
              <a:rPr lang="en-US" sz="1800" b="1" i="0" dirty="0">
                <a:solidFill>
                  <a:srgbClr val="242021"/>
                </a:solidFill>
                <a:effectLst/>
                <a:latin typeface="MyriadPro-BoldCond"/>
              </a:rPr>
              <a:t>4-1b </a:t>
            </a:r>
            <a:r>
              <a:rPr lang="en-US" sz="1800" b="1" i="0" dirty="0">
                <a:solidFill>
                  <a:srgbClr val="004D8D"/>
                </a:solidFill>
                <a:effectLst/>
                <a:latin typeface="MyriadPro-BoldCond"/>
              </a:rPr>
              <a:t>Attributes</a:t>
            </a:r>
          </a:p>
          <a:p>
            <a:pPr lvl="1"/>
            <a:r>
              <a:rPr lang="en-US" sz="1800" b="0" i="0" dirty="0">
                <a:solidFill>
                  <a:srgbClr val="C94936"/>
                </a:solidFill>
                <a:effectLst/>
                <a:latin typeface="MyriadPro-SemiboldSemiCn"/>
              </a:rPr>
              <a:t>Composite Identifiers</a:t>
            </a:r>
          </a:p>
          <a:p>
            <a:pPr lvl="2"/>
            <a:r>
              <a:rPr lang="en-US" sz="1800" b="1" i="0" dirty="0">
                <a:solidFill>
                  <a:srgbClr val="007DAF"/>
                </a:solidFill>
                <a:effectLst/>
                <a:latin typeface="MyriadPro-Bold"/>
              </a:rPr>
              <a:t>composite identifier</a:t>
            </a:r>
            <a:r>
              <a:rPr lang="en-US" sz="1800" b="0" i="0" dirty="0">
                <a:solidFill>
                  <a:srgbClr val="242021"/>
                </a:solidFill>
                <a:effectLst/>
                <a:latin typeface="NewCaledoniaLTStd"/>
              </a:rPr>
              <a:t>, a primary key composed of more than one attribute</a:t>
            </a:r>
            <a:r>
              <a:rPr lang="en-US" sz="2000" dirty="0"/>
              <a:t> </a:t>
            </a:r>
            <a:endParaRPr lang="en-US" sz="1800" b="0" i="0" dirty="0">
              <a:solidFill>
                <a:srgbClr val="242021"/>
              </a:solidFill>
              <a:effectLst/>
              <a:latin typeface="NewCaledoniaLTStd"/>
            </a:endParaRPr>
          </a:p>
          <a:p>
            <a:pPr lvl="2"/>
            <a:br>
              <a:rPr lang="en-US" dirty="0"/>
            </a:br>
            <a:br>
              <a:rPr lang="en-US" dirty="0"/>
            </a:br>
            <a:r>
              <a:rPr lang="en-US" dirty="0"/>
              <a:t> </a:t>
            </a:r>
            <a:br>
              <a:rPr lang="en-US" dirty="0"/>
            </a:br>
            <a:br>
              <a:rPr lang="en-US" dirty="0"/>
            </a:br>
            <a:br>
              <a:rPr lang="en-US" sz="1300" dirty="0"/>
            </a:br>
            <a:br>
              <a:rPr lang="en-US" sz="1300" dirty="0"/>
            </a:br>
            <a:br>
              <a:rPr lang="en-US" sz="1200" b="1" i="0" dirty="0">
                <a:solidFill>
                  <a:srgbClr val="004D8D"/>
                </a:solidFill>
                <a:effectLst/>
                <a:latin typeface="MyriadPro-BoldCond"/>
              </a:rPr>
            </a:br>
            <a:br>
              <a:rPr lang="en-US" sz="1000" dirty="0"/>
            </a:br>
            <a:br>
              <a:rPr lang="en-US" sz="1300" dirty="0"/>
            </a:br>
            <a:br>
              <a:rPr lang="en-US" sz="1300" dirty="0"/>
            </a:br>
            <a:br>
              <a:rPr lang="en-US" sz="1300" dirty="0"/>
            </a:br>
            <a:br>
              <a:rPr lang="en-US" sz="1200" b="1" i="0" dirty="0">
                <a:solidFill>
                  <a:srgbClr val="004D8D"/>
                </a:solidFill>
                <a:effectLst/>
                <a:latin typeface="MyriadPro-BoldCond"/>
              </a:rPr>
            </a:br>
            <a:br>
              <a:rPr lang="en-US"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7</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1" name="Picture 10">
            <a:extLst>
              <a:ext uri="{FF2B5EF4-FFF2-40B4-BE49-F238E27FC236}">
                <a16:creationId xmlns:a16="http://schemas.microsoft.com/office/drawing/2014/main" id="{0CC39470-26EC-C301-DDF9-F13B85682620}"/>
              </a:ext>
            </a:extLst>
          </p:cNvPr>
          <p:cNvPicPr>
            <a:picLocks noChangeAspect="1"/>
          </p:cNvPicPr>
          <p:nvPr/>
        </p:nvPicPr>
        <p:blipFill>
          <a:blip r:embed="rId3"/>
          <a:stretch>
            <a:fillRect/>
          </a:stretch>
        </p:blipFill>
        <p:spPr>
          <a:xfrm>
            <a:off x="8229600" y="1716881"/>
            <a:ext cx="3533775" cy="1619250"/>
          </a:xfrm>
          <a:prstGeom prst="rect">
            <a:avLst/>
          </a:prstGeom>
        </p:spPr>
      </p:pic>
      <p:pic>
        <p:nvPicPr>
          <p:cNvPr id="13" name="Picture 12">
            <a:extLst>
              <a:ext uri="{FF2B5EF4-FFF2-40B4-BE49-F238E27FC236}">
                <a16:creationId xmlns:a16="http://schemas.microsoft.com/office/drawing/2014/main" id="{8A99662C-0845-DAFC-2518-92C2897D0DCD}"/>
              </a:ext>
            </a:extLst>
          </p:cNvPr>
          <p:cNvPicPr>
            <a:picLocks noChangeAspect="1"/>
          </p:cNvPicPr>
          <p:nvPr/>
        </p:nvPicPr>
        <p:blipFill>
          <a:blip r:embed="rId4"/>
          <a:stretch>
            <a:fillRect/>
          </a:stretch>
        </p:blipFill>
        <p:spPr>
          <a:xfrm>
            <a:off x="838200" y="4069556"/>
            <a:ext cx="10220325" cy="1466850"/>
          </a:xfrm>
          <a:prstGeom prst="rect">
            <a:avLst/>
          </a:prstGeom>
        </p:spPr>
      </p:pic>
    </p:spTree>
    <p:extLst>
      <p:ext uri="{BB962C8B-B14F-4D97-AF65-F5344CB8AC3E}">
        <p14:creationId xmlns:p14="http://schemas.microsoft.com/office/powerpoint/2010/main" val="1318817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6934200" cy="4351338"/>
          </a:xfrm>
        </p:spPr>
        <p:txBody>
          <a:bodyPr/>
          <a:lstStyle/>
          <a:p>
            <a:r>
              <a:rPr lang="en-US" sz="2400" b="1" i="0" dirty="0">
                <a:solidFill>
                  <a:srgbClr val="242021"/>
                </a:solidFill>
                <a:effectLst/>
                <a:latin typeface="MyriadPro-BoldCond"/>
              </a:rPr>
              <a:t>4-1b </a:t>
            </a:r>
            <a:r>
              <a:rPr lang="en-US" sz="2400" b="1" i="0" dirty="0">
                <a:solidFill>
                  <a:srgbClr val="004D8D"/>
                </a:solidFill>
                <a:effectLst/>
                <a:latin typeface="MyriadPro-BoldCond"/>
              </a:rPr>
              <a:t>Attributes</a:t>
            </a:r>
          </a:p>
          <a:p>
            <a:pPr lvl="1"/>
            <a:r>
              <a:rPr lang="en-US" sz="2400" b="0" i="0" dirty="0">
                <a:solidFill>
                  <a:srgbClr val="C94936"/>
                </a:solidFill>
                <a:effectLst/>
                <a:latin typeface="MyriadPro-SemiboldSemiCn"/>
              </a:rPr>
              <a:t>Composite and Simple Attributes</a:t>
            </a:r>
          </a:p>
          <a:p>
            <a:pPr lvl="2"/>
            <a:r>
              <a:rPr lang="en-US" sz="1800" b="0" i="0" dirty="0">
                <a:solidFill>
                  <a:srgbClr val="242021"/>
                </a:solidFill>
                <a:effectLst/>
                <a:latin typeface="NewCaledoniaLTStd"/>
              </a:rPr>
              <a:t>A </a:t>
            </a:r>
            <a:r>
              <a:rPr lang="en-US" sz="1800" b="1" i="0" dirty="0">
                <a:solidFill>
                  <a:srgbClr val="007DAF"/>
                </a:solidFill>
                <a:effectLst/>
                <a:latin typeface="MyriadPro-Bold"/>
              </a:rPr>
              <a:t>composite attribute</a:t>
            </a:r>
            <a:r>
              <a:rPr lang="en-US" sz="1800" b="0" i="0" dirty="0">
                <a:solidFill>
                  <a:srgbClr val="242021"/>
                </a:solidFill>
                <a:effectLst/>
                <a:latin typeface="NewCaledoniaLTStd"/>
              </a:rPr>
              <a:t> is an attribute that can be further subdivided to yield additional attributes.</a:t>
            </a:r>
          </a:p>
          <a:p>
            <a:pPr lvl="2"/>
            <a:r>
              <a:rPr lang="en-US" sz="1800" b="0" i="0" dirty="0">
                <a:solidFill>
                  <a:srgbClr val="242021"/>
                </a:solidFill>
                <a:effectLst/>
                <a:latin typeface="NewCaledoniaLTStd"/>
              </a:rPr>
              <a:t>A </a:t>
            </a:r>
            <a:r>
              <a:rPr lang="en-US" sz="1800" b="1" i="0" dirty="0">
                <a:solidFill>
                  <a:srgbClr val="007DAF"/>
                </a:solidFill>
                <a:effectLst/>
                <a:latin typeface="MyriadPro-Bold"/>
              </a:rPr>
              <a:t>simple attribute </a:t>
            </a:r>
            <a:r>
              <a:rPr lang="en-US" sz="1800" b="0" i="0" dirty="0">
                <a:solidFill>
                  <a:srgbClr val="242021"/>
                </a:solidFill>
                <a:effectLst/>
                <a:latin typeface="NewCaledoniaLTStd"/>
              </a:rPr>
              <a:t>is an attribute that cannot be subdivided.</a:t>
            </a:r>
            <a:r>
              <a:rPr lang="en-US" sz="1800" dirty="0"/>
              <a:t> </a:t>
            </a:r>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8</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DDFE64DA-9548-E290-2EF7-DFB312189BDD}"/>
              </a:ext>
            </a:extLst>
          </p:cNvPr>
          <p:cNvPicPr>
            <a:picLocks noChangeAspect="1"/>
          </p:cNvPicPr>
          <p:nvPr/>
        </p:nvPicPr>
        <p:blipFill>
          <a:blip r:embed="rId3"/>
          <a:stretch>
            <a:fillRect/>
          </a:stretch>
        </p:blipFill>
        <p:spPr>
          <a:xfrm>
            <a:off x="8639150" y="1339006"/>
            <a:ext cx="2714650" cy="4956175"/>
          </a:xfrm>
          <a:prstGeom prst="rect">
            <a:avLst/>
          </a:prstGeom>
        </p:spPr>
      </p:pic>
    </p:spTree>
    <p:extLst>
      <p:ext uri="{BB962C8B-B14F-4D97-AF65-F5344CB8AC3E}">
        <p14:creationId xmlns:p14="http://schemas.microsoft.com/office/powerpoint/2010/main" val="69641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6934200" cy="4351338"/>
          </a:xfrm>
        </p:spPr>
        <p:txBody>
          <a:bodyPr/>
          <a:lstStyle/>
          <a:p>
            <a:r>
              <a:rPr lang="en-US" sz="2400" b="1" i="0" dirty="0">
                <a:solidFill>
                  <a:srgbClr val="242021"/>
                </a:solidFill>
                <a:effectLst/>
                <a:latin typeface="MyriadPro-BoldCond"/>
              </a:rPr>
              <a:t>4-1b </a:t>
            </a:r>
            <a:r>
              <a:rPr lang="en-US" sz="2400" b="1" i="0" dirty="0">
                <a:solidFill>
                  <a:srgbClr val="004D8D"/>
                </a:solidFill>
                <a:effectLst/>
                <a:latin typeface="MyriadPro-BoldCond"/>
              </a:rPr>
              <a:t>Attributes</a:t>
            </a:r>
          </a:p>
          <a:p>
            <a:pPr lvl="1"/>
            <a:r>
              <a:rPr lang="en-US" sz="2000" b="0" i="0" dirty="0">
                <a:solidFill>
                  <a:srgbClr val="242021"/>
                </a:solidFill>
                <a:effectLst/>
                <a:latin typeface="NewCaledoniaLTStd"/>
              </a:rPr>
              <a:t>A </a:t>
            </a:r>
            <a:r>
              <a:rPr lang="en-US" sz="2000" b="1" i="0" dirty="0">
                <a:solidFill>
                  <a:srgbClr val="007DAF"/>
                </a:solidFill>
                <a:effectLst/>
                <a:latin typeface="MyriadPro-Bold"/>
              </a:rPr>
              <a:t>single-valued attribute </a:t>
            </a:r>
            <a:r>
              <a:rPr lang="en-US" sz="2000" b="0" i="0" dirty="0">
                <a:solidFill>
                  <a:srgbClr val="242021"/>
                </a:solidFill>
                <a:effectLst/>
                <a:latin typeface="NewCaledoniaLTStd"/>
              </a:rPr>
              <a:t>is an attribute that can have only a single value.</a:t>
            </a:r>
            <a:r>
              <a:rPr lang="en-US" sz="1600" dirty="0"/>
              <a:t>  </a:t>
            </a:r>
          </a:p>
          <a:p>
            <a:pPr lvl="2"/>
            <a:r>
              <a:rPr lang="en-US" sz="1800" b="0" i="1" dirty="0">
                <a:solidFill>
                  <a:srgbClr val="242021"/>
                </a:solidFill>
                <a:effectLst/>
                <a:latin typeface="NewCaledoniaLTStd-It"/>
              </a:rPr>
              <a:t>E.g. Social Security Number </a:t>
            </a:r>
          </a:p>
          <a:p>
            <a:pPr lvl="2"/>
            <a:r>
              <a:rPr lang="en-US" sz="1800" b="0" i="1" dirty="0">
                <a:solidFill>
                  <a:srgbClr val="242021"/>
                </a:solidFill>
                <a:effectLst/>
                <a:latin typeface="NewCaledoniaLTStd-It"/>
              </a:rPr>
              <a:t>A single-valued attribute is not necessarily a simple attribute</a:t>
            </a:r>
            <a:r>
              <a:rPr lang="en-US" sz="1400" dirty="0"/>
              <a:t> </a:t>
            </a:r>
          </a:p>
          <a:p>
            <a:pPr lvl="1"/>
            <a:r>
              <a:rPr lang="en-US" sz="2000" b="1" i="0" dirty="0">
                <a:solidFill>
                  <a:srgbClr val="007DAF"/>
                </a:solidFill>
                <a:effectLst/>
                <a:latin typeface="MyriadPro-Bold"/>
              </a:rPr>
              <a:t>Multivalued attributes </a:t>
            </a:r>
            <a:r>
              <a:rPr lang="en-US" sz="2000" b="0" i="0" dirty="0">
                <a:solidFill>
                  <a:srgbClr val="242021"/>
                </a:solidFill>
                <a:effectLst/>
                <a:latin typeface="NewCaledoniaLTStd"/>
              </a:rPr>
              <a:t>are attributes that can have many values. </a:t>
            </a:r>
          </a:p>
          <a:p>
            <a:pPr lvl="2"/>
            <a:r>
              <a:rPr lang="en-US" sz="1800" dirty="0">
                <a:solidFill>
                  <a:srgbClr val="242021"/>
                </a:solidFill>
                <a:latin typeface="NewCaledoniaLTStd"/>
              </a:rPr>
              <a:t>Degrees, phone numbers</a:t>
            </a:r>
            <a:br>
              <a:rPr lang="en-US" sz="2000" dirty="0"/>
            </a:br>
            <a:endParaRPr lang="en-US" sz="1800"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9</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4068D3AE-525C-5AFA-44F3-B21E60AC7686}"/>
              </a:ext>
            </a:extLst>
          </p:cNvPr>
          <p:cNvPicPr>
            <a:picLocks noChangeAspect="1"/>
          </p:cNvPicPr>
          <p:nvPr/>
        </p:nvPicPr>
        <p:blipFill>
          <a:blip r:embed="rId3"/>
          <a:stretch>
            <a:fillRect/>
          </a:stretch>
        </p:blipFill>
        <p:spPr>
          <a:xfrm>
            <a:off x="8362950" y="1690688"/>
            <a:ext cx="3295650" cy="1343025"/>
          </a:xfrm>
          <a:prstGeom prst="rect">
            <a:avLst/>
          </a:prstGeom>
        </p:spPr>
      </p:pic>
      <p:pic>
        <p:nvPicPr>
          <p:cNvPr id="11" name="Picture 10">
            <a:extLst>
              <a:ext uri="{FF2B5EF4-FFF2-40B4-BE49-F238E27FC236}">
                <a16:creationId xmlns:a16="http://schemas.microsoft.com/office/drawing/2014/main" id="{AA08B2B3-292E-F490-33ED-07BAC843E2CA}"/>
              </a:ext>
            </a:extLst>
          </p:cNvPr>
          <p:cNvPicPr>
            <a:picLocks noChangeAspect="1"/>
          </p:cNvPicPr>
          <p:nvPr/>
        </p:nvPicPr>
        <p:blipFill>
          <a:blip r:embed="rId4"/>
          <a:stretch>
            <a:fillRect/>
          </a:stretch>
        </p:blipFill>
        <p:spPr>
          <a:xfrm>
            <a:off x="8382000" y="3033713"/>
            <a:ext cx="3000375" cy="3248025"/>
          </a:xfrm>
          <a:prstGeom prst="rect">
            <a:avLst/>
          </a:prstGeom>
        </p:spPr>
      </p:pic>
    </p:spTree>
    <p:extLst>
      <p:ext uri="{BB962C8B-B14F-4D97-AF65-F5344CB8AC3E}">
        <p14:creationId xmlns:p14="http://schemas.microsoft.com/office/powerpoint/2010/main" val="3774231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647332-3D74-6A36-11BA-CA016E8E774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E9A21A7-AC09-11C7-BAD7-A732600A7FBA}"/>
              </a:ext>
            </a:extLst>
          </p:cNvPr>
          <p:cNvSpPr>
            <a:spLocks noGrp="1"/>
          </p:cNvSpPr>
          <p:nvPr>
            <p:ph type="sldNum" sz="quarter" idx="11"/>
          </p:nvPr>
        </p:nvSpPr>
        <p:spPr/>
        <p:txBody>
          <a:bodyPr/>
          <a:lstStyle/>
          <a:p>
            <a:pPr>
              <a:defRPr/>
            </a:pPr>
            <a:fld id="{D1AD3536-327C-4937-83AF-A64971CFA6D9}" type="slidenum">
              <a:rPr lang="en-US" smtClean="0"/>
              <a:pPr>
                <a:defRPr/>
              </a:pPr>
              <a:t>10</a:t>
            </a:fld>
            <a:endParaRPr lang="en-US"/>
          </a:p>
        </p:txBody>
      </p:sp>
      <p:sp>
        <p:nvSpPr>
          <p:cNvPr id="4" name="Footer Placeholder 3">
            <a:extLst>
              <a:ext uri="{FF2B5EF4-FFF2-40B4-BE49-F238E27FC236}">
                <a16:creationId xmlns:a16="http://schemas.microsoft.com/office/drawing/2014/main" id="{5CA0A8A0-711A-9906-9B89-A3411FB33F1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C983DE0B-A246-F61D-977C-4A97FFB9DA17}"/>
              </a:ext>
            </a:extLst>
          </p:cNvPr>
          <p:cNvPicPr>
            <a:picLocks noChangeAspect="1"/>
          </p:cNvPicPr>
          <p:nvPr/>
        </p:nvPicPr>
        <p:blipFill>
          <a:blip r:embed="rId3"/>
          <a:stretch>
            <a:fillRect/>
          </a:stretch>
        </p:blipFill>
        <p:spPr>
          <a:xfrm>
            <a:off x="0" y="1524690"/>
            <a:ext cx="12192000" cy="3808619"/>
          </a:xfrm>
          <a:prstGeom prst="rect">
            <a:avLst/>
          </a:prstGeom>
        </p:spPr>
      </p:pic>
    </p:spTree>
    <p:extLst>
      <p:ext uri="{BB962C8B-B14F-4D97-AF65-F5344CB8AC3E}">
        <p14:creationId xmlns:p14="http://schemas.microsoft.com/office/powerpoint/2010/main" val="2786993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82BA83-FBBD-F51F-6987-747A2406EDF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6BA71A7-4BAC-E933-8963-CFFF325CC396}"/>
              </a:ext>
            </a:extLst>
          </p:cNvPr>
          <p:cNvSpPr>
            <a:spLocks noGrp="1"/>
          </p:cNvSpPr>
          <p:nvPr>
            <p:ph type="sldNum" sz="quarter" idx="11"/>
          </p:nvPr>
        </p:nvSpPr>
        <p:spPr/>
        <p:txBody>
          <a:bodyPr/>
          <a:lstStyle/>
          <a:p>
            <a:pPr>
              <a:defRPr/>
            </a:pPr>
            <a:fld id="{D1AD3536-327C-4937-83AF-A64971CFA6D9}" type="slidenum">
              <a:rPr lang="en-US" smtClean="0"/>
              <a:pPr>
                <a:defRPr/>
              </a:pPr>
              <a:t>11</a:t>
            </a:fld>
            <a:endParaRPr lang="en-US"/>
          </a:p>
        </p:txBody>
      </p:sp>
      <p:sp>
        <p:nvSpPr>
          <p:cNvPr id="4" name="Footer Placeholder 3">
            <a:extLst>
              <a:ext uri="{FF2B5EF4-FFF2-40B4-BE49-F238E27FC236}">
                <a16:creationId xmlns:a16="http://schemas.microsoft.com/office/drawing/2014/main" id="{C46ED73F-F0B9-F011-C21D-B6818FC1A75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78E840F-439B-4C6A-15C1-1E8FF6908BAB}"/>
              </a:ext>
            </a:extLst>
          </p:cNvPr>
          <p:cNvPicPr>
            <a:picLocks noChangeAspect="1"/>
          </p:cNvPicPr>
          <p:nvPr/>
        </p:nvPicPr>
        <p:blipFill>
          <a:blip r:embed="rId3"/>
          <a:stretch>
            <a:fillRect/>
          </a:stretch>
        </p:blipFill>
        <p:spPr>
          <a:xfrm>
            <a:off x="0" y="1228995"/>
            <a:ext cx="12192000" cy="4400010"/>
          </a:xfrm>
          <a:prstGeom prst="rect">
            <a:avLst/>
          </a:prstGeom>
        </p:spPr>
      </p:pic>
    </p:spTree>
    <p:extLst>
      <p:ext uri="{BB962C8B-B14F-4D97-AF65-F5344CB8AC3E}">
        <p14:creationId xmlns:p14="http://schemas.microsoft.com/office/powerpoint/2010/main" val="263351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D5F4A-E51D-C462-99A2-8A88CC35E98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1C25357-A2E0-E666-A91E-B776F0035E18}"/>
              </a:ext>
            </a:extLst>
          </p:cNvPr>
          <p:cNvSpPr>
            <a:spLocks noGrp="1"/>
          </p:cNvSpPr>
          <p:nvPr>
            <p:ph type="sldNum" sz="quarter" idx="11"/>
          </p:nvPr>
        </p:nvSpPr>
        <p:spPr/>
        <p:txBody>
          <a:bodyPr/>
          <a:lstStyle/>
          <a:p>
            <a:pPr>
              <a:defRPr/>
            </a:pPr>
            <a:fld id="{D1AD3536-327C-4937-83AF-A64971CFA6D9}" type="slidenum">
              <a:rPr lang="en-US" smtClean="0"/>
              <a:pPr>
                <a:defRPr/>
              </a:pPr>
              <a:t>12</a:t>
            </a:fld>
            <a:endParaRPr lang="en-US"/>
          </a:p>
        </p:txBody>
      </p:sp>
      <p:sp>
        <p:nvSpPr>
          <p:cNvPr id="4" name="Footer Placeholder 3">
            <a:extLst>
              <a:ext uri="{FF2B5EF4-FFF2-40B4-BE49-F238E27FC236}">
                <a16:creationId xmlns:a16="http://schemas.microsoft.com/office/drawing/2014/main" id="{0667DCF6-2847-6471-3368-C8FBC3947EA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7DBA39E-86CE-2DD7-BA7A-06390FBAB787}"/>
              </a:ext>
            </a:extLst>
          </p:cNvPr>
          <p:cNvPicPr>
            <a:picLocks noChangeAspect="1"/>
          </p:cNvPicPr>
          <p:nvPr/>
        </p:nvPicPr>
        <p:blipFill>
          <a:blip r:embed="rId3"/>
          <a:stretch>
            <a:fillRect/>
          </a:stretch>
        </p:blipFill>
        <p:spPr>
          <a:xfrm>
            <a:off x="85725" y="1262062"/>
            <a:ext cx="12020550" cy="4333875"/>
          </a:xfrm>
          <a:prstGeom prst="rect">
            <a:avLst/>
          </a:prstGeom>
        </p:spPr>
      </p:pic>
    </p:spTree>
    <p:extLst>
      <p:ext uri="{BB962C8B-B14F-4D97-AF65-F5344CB8AC3E}">
        <p14:creationId xmlns:p14="http://schemas.microsoft.com/office/powerpoint/2010/main" val="2986719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664D0-FACD-61EB-8F19-8C8327C2658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0E3EC9D-6A2D-A55C-D2F9-251EB4952E34}"/>
              </a:ext>
            </a:extLst>
          </p:cNvPr>
          <p:cNvSpPr>
            <a:spLocks noGrp="1"/>
          </p:cNvSpPr>
          <p:nvPr>
            <p:ph type="sldNum" sz="quarter" idx="11"/>
          </p:nvPr>
        </p:nvSpPr>
        <p:spPr/>
        <p:txBody>
          <a:bodyPr/>
          <a:lstStyle/>
          <a:p>
            <a:pPr>
              <a:defRPr/>
            </a:pPr>
            <a:fld id="{D1AD3536-327C-4937-83AF-A64971CFA6D9}" type="slidenum">
              <a:rPr lang="en-US" smtClean="0"/>
              <a:pPr>
                <a:defRPr/>
              </a:pPr>
              <a:t>13</a:t>
            </a:fld>
            <a:endParaRPr lang="en-US"/>
          </a:p>
        </p:txBody>
      </p:sp>
      <p:sp>
        <p:nvSpPr>
          <p:cNvPr id="4" name="Footer Placeholder 3">
            <a:extLst>
              <a:ext uri="{FF2B5EF4-FFF2-40B4-BE49-F238E27FC236}">
                <a16:creationId xmlns:a16="http://schemas.microsoft.com/office/drawing/2014/main" id="{F5B358D1-74D6-2E26-B47E-004AD6E03D9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A301B2D-9419-7991-BA0F-91499E8F6B8D}"/>
              </a:ext>
            </a:extLst>
          </p:cNvPr>
          <p:cNvPicPr>
            <a:picLocks noChangeAspect="1"/>
          </p:cNvPicPr>
          <p:nvPr/>
        </p:nvPicPr>
        <p:blipFill>
          <a:blip r:embed="rId3"/>
          <a:stretch>
            <a:fillRect/>
          </a:stretch>
        </p:blipFill>
        <p:spPr>
          <a:xfrm>
            <a:off x="14287" y="1543050"/>
            <a:ext cx="12163425" cy="3771900"/>
          </a:xfrm>
          <a:prstGeom prst="rect">
            <a:avLst/>
          </a:prstGeom>
        </p:spPr>
      </p:pic>
    </p:spTree>
    <p:extLst>
      <p:ext uri="{BB962C8B-B14F-4D97-AF65-F5344CB8AC3E}">
        <p14:creationId xmlns:p14="http://schemas.microsoft.com/office/powerpoint/2010/main" val="144268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6934200" cy="4351338"/>
          </a:xfrm>
        </p:spPr>
        <p:txBody>
          <a:bodyPr/>
          <a:lstStyle/>
          <a:p>
            <a:r>
              <a:rPr lang="en-US" sz="2400" b="1" i="0" dirty="0">
                <a:solidFill>
                  <a:srgbClr val="242021"/>
                </a:solidFill>
                <a:effectLst/>
                <a:latin typeface="MyriadPro-BoldCond"/>
              </a:rPr>
              <a:t>4-1b </a:t>
            </a:r>
            <a:r>
              <a:rPr lang="en-US" sz="2400" b="1" i="0" dirty="0">
                <a:solidFill>
                  <a:srgbClr val="004D8D"/>
                </a:solidFill>
                <a:effectLst/>
                <a:latin typeface="MyriadPro-BoldCond"/>
              </a:rPr>
              <a:t>Attributes</a:t>
            </a:r>
          </a:p>
          <a:p>
            <a:pPr lvl="1"/>
            <a:r>
              <a:rPr lang="en-US" sz="2000" b="0" i="0" dirty="0">
                <a:solidFill>
                  <a:srgbClr val="242021"/>
                </a:solidFill>
                <a:effectLst/>
                <a:latin typeface="NewCaledoniaLTStd"/>
              </a:rPr>
              <a:t>A</a:t>
            </a:r>
            <a:r>
              <a:rPr lang="en-US" sz="1800" b="0" i="0" dirty="0">
                <a:solidFill>
                  <a:srgbClr val="242021"/>
                </a:solidFill>
                <a:effectLst/>
                <a:latin typeface="NewCaledoniaLTStd"/>
              </a:rPr>
              <a:t> </a:t>
            </a:r>
            <a:r>
              <a:rPr lang="en-US" sz="1800" b="1" i="0" dirty="0">
                <a:solidFill>
                  <a:srgbClr val="007DAF"/>
                </a:solidFill>
                <a:effectLst/>
                <a:latin typeface="MyriadPro-Bold"/>
              </a:rPr>
              <a:t>derived attribute </a:t>
            </a:r>
            <a:r>
              <a:rPr lang="en-US" sz="1800" b="0" i="0" dirty="0">
                <a:solidFill>
                  <a:srgbClr val="242021"/>
                </a:solidFill>
                <a:effectLst/>
                <a:latin typeface="NewCaledoniaLTStd"/>
              </a:rPr>
              <a:t>is an attribute whose value is calculated (derived) from other attributes. </a:t>
            </a:r>
            <a:endParaRPr lang="en-US" sz="2000" dirty="0"/>
          </a:p>
          <a:p>
            <a:pPr lvl="2"/>
            <a:r>
              <a:rPr lang="en-US" sz="1700" dirty="0"/>
              <a:t>Age = DATE() - DOB</a:t>
            </a:r>
            <a:br>
              <a:rPr lang="en-US" sz="17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14</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7B2339A3-D60A-AE49-8B74-53937C9BAF9C}"/>
              </a:ext>
            </a:extLst>
          </p:cNvPr>
          <p:cNvPicPr>
            <a:picLocks noChangeAspect="1"/>
          </p:cNvPicPr>
          <p:nvPr/>
        </p:nvPicPr>
        <p:blipFill>
          <a:blip r:embed="rId3"/>
          <a:stretch>
            <a:fillRect/>
          </a:stretch>
        </p:blipFill>
        <p:spPr>
          <a:xfrm>
            <a:off x="8153400" y="1905000"/>
            <a:ext cx="3305175" cy="3257550"/>
          </a:xfrm>
          <a:prstGeom prst="rect">
            <a:avLst/>
          </a:prstGeom>
        </p:spPr>
      </p:pic>
    </p:spTree>
    <p:extLst>
      <p:ext uri="{BB962C8B-B14F-4D97-AF65-F5344CB8AC3E}">
        <p14:creationId xmlns:p14="http://schemas.microsoft.com/office/powerpoint/2010/main" val="1902771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358A61-6CAC-64D7-051E-333E228406E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279B3FA-34DC-09F4-E713-C0CE1F70F34A}"/>
              </a:ext>
            </a:extLst>
          </p:cNvPr>
          <p:cNvSpPr>
            <a:spLocks noGrp="1"/>
          </p:cNvSpPr>
          <p:nvPr>
            <p:ph type="sldNum" sz="quarter" idx="11"/>
          </p:nvPr>
        </p:nvSpPr>
        <p:spPr/>
        <p:txBody>
          <a:bodyPr/>
          <a:lstStyle/>
          <a:p>
            <a:pPr>
              <a:defRPr/>
            </a:pPr>
            <a:fld id="{D1AD3536-327C-4937-83AF-A64971CFA6D9}" type="slidenum">
              <a:rPr lang="en-US" smtClean="0"/>
              <a:pPr>
                <a:defRPr/>
              </a:pPr>
              <a:t>15</a:t>
            </a:fld>
            <a:endParaRPr lang="en-US"/>
          </a:p>
        </p:txBody>
      </p:sp>
      <p:sp>
        <p:nvSpPr>
          <p:cNvPr id="4" name="Footer Placeholder 3">
            <a:extLst>
              <a:ext uri="{FF2B5EF4-FFF2-40B4-BE49-F238E27FC236}">
                <a16:creationId xmlns:a16="http://schemas.microsoft.com/office/drawing/2014/main" id="{C7BD7A1C-C4A9-B6AC-4595-4E4D4887F13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5D75723-1B81-41DA-CBC5-890F1591FFBB}"/>
              </a:ext>
            </a:extLst>
          </p:cNvPr>
          <p:cNvPicPr>
            <a:picLocks noChangeAspect="1"/>
          </p:cNvPicPr>
          <p:nvPr/>
        </p:nvPicPr>
        <p:blipFill>
          <a:blip r:embed="rId3"/>
          <a:stretch>
            <a:fillRect/>
          </a:stretch>
        </p:blipFill>
        <p:spPr>
          <a:xfrm>
            <a:off x="0" y="1414220"/>
            <a:ext cx="12192000" cy="4029559"/>
          </a:xfrm>
          <a:prstGeom prst="rect">
            <a:avLst/>
          </a:prstGeom>
        </p:spPr>
      </p:pic>
    </p:spTree>
    <p:extLst>
      <p:ext uri="{BB962C8B-B14F-4D97-AF65-F5344CB8AC3E}">
        <p14:creationId xmlns:p14="http://schemas.microsoft.com/office/powerpoint/2010/main" val="954233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1F36E1-C71F-0672-7E21-1B1DEC85924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BE2103A-CD53-FADA-0C7D-EACE0D1305B8}"/>
              </a:ext>
            </a:extLst>
          </p:cNvPr>
          <p:cNvSpPr>
            <a:spLocks noGrp="1"/>
          </p:cNvSpPr>
          <p:nvPr>
            <p:ph type="sldNum" sz="quarter" idx="11"/>
          </p:nvPr>
        </p:nvSpPr>
        <p:spPr/>
        <p:txBody>
          <a:bodyPr/>
          <a:lstStyle/>
          <a:p>
            <a:pPr>
              <a:defRPr/>
            </a:pPr>
            <a:fld id="{D1AD3536-327C-4937-83AF-A64971CFA6D9}" type="slidenum">
              <a:rPr lang="en-US" smtClean="0"/>
              <a:pPr>
                <a:defRPr/>
              </a:pPr>
              <a:t>16</a:t>
            </a:fld>
            <a:endParaRPr lang="en-US"/>
          </a:p>
        </p:txBody>
      </p:sp>
      <p:sp>
        <p:nvSpPr>
          <p:cNvPr id="4" name="Footer Placeholder 3">
            <a:extLst>
              <a:ext uri="{FF2B5EF4-FFF2-40B4-BE49-F238E27FC236}">
                <a16:creationId xmlns:a16="http://schemas.microsoft.com/office/drawing/2014/main" id="{8B3D2C87-9252-D208-A939-6AEA3C1BB00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4E02245-0C68-3299-5354-DF6F004887B1}"/>
              </a:ext>
            </a:extLst>
          </p:cNvPr>
          <p:cNvPicPr>
            <a:picLocks noChangeAspect="1"/>
          </p:cNvPicPr>
          <p:nvPr/>
        </p:nvPicPr>
        <p:blipFill>
          <a:blip r:embed="rId3"/>
          <a:stretch>
            <a:fillRect/>
          </a:stretch>
        </p:blipFill>
        <p:spPr>
          <a:xfrm>
            <a:off x="0" y="1614582"/>
            <a:ext cx="12192000" cy="3628835"/>
          </a:xfrm>
          <a:prstGeom prst="rect">
            <a:avLst/>
          </a:prstGeom>
        </p:spPr>
      </p:pic>
    </p:spTree>
    <p:extLst>
      <p:ext uri="{BB962C8B-B14F-4D97-AF65-F5344CB8AC3E}">
        <p14:creationId xmlns:p14="http://schemas.microsoft.com/office/powerpoint/2010/main" val="2330097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10515600" cy="4351338"/>
          </a:xfrm>
        </p:spPr>
        <p:txBody>
          <a:bodyPr/>
          <a:lstStyle/>
          <a:p>
            <a:r>
              <a:rPr lang="en-US" sz="2400" b="1" i="0" dirty="0">
                <a:solidFill>
                  <a:srgbClr val="242021"/>
                </a:solidFill>
                <a:effectLst/>
                <a:latin typeface="MyriadPro-BoldCond"/>
              </a:rPr>
              <a:t>4-1c </a:t>
            </a:r>
            <a:r>
              <a:rPr lang="en-US" sz="2400" b="1" i="0" dirty="0">
                <a:solidFill>
                  <a:srgbClr val="004D8D"/>
                </a:solidFill>
                <a:effectLst/>
                <a:latin typeface="MyriadPro-BoldCond"/>
              </a:rPr>
              <a:t>Relationships</a:t>
            </a:r>
          </a:p>
          <a:p>
            <a:pPr lvl="1"/>
            <a:r>
              <a:rPr lang="en-US" sz="1800" b="0" i="0" dirty="0">
                <a:solidFill>
                  <a:srgbClr val="242021"/>
                </a:solidFill>
                <a:effectLst/>
                <a:latin typeface="NewCaledoniaLTStd"/>
              </a:rPr>
              <a:t>A relationship is an association between entities</a:t>
            </a:r>
            <a:r>
              <a:rPr lang="en-US" sz="1600" dirty="0"/>
              <a:t> </a:t>
            </a:r>
          </a:p>
          <a:p>
            <a:pPr lvl="1"/>
            <a:r>
              <a:rPr lang="en-US" sz="1800" b="0" i="0" dirty="0">
                <a:solidFill>
                  <a:srgbClr val="242021"/>
                </a:solidFill>
                <a:effectLst/>
                <a:latin typeface="NewCaledoniaLTStd"/>
              </a:rPr>
              <a:t>The entities that participate in a relationship are also known as </a:t>
            </a:r>
            <a:r>
              <a:rPr lang="en-US" sz="1800" b="1" i="0" dirty="0">
                <a:solidFill>
                  <a:srgbClr val="007DAF"/>
                </a:solidFill>
                <a:effectLst/>
                <a:latin typeface="MyriadPro-Bold"/>
              </a:rPr>
              <a:t>participants</a:t>
            </a:r>
            <a:r>
              <a:rPr lang="en-US" sz="1800" b="0" i="0" dirty="0">
                <a:solidFill>
                  <a:srgbClr val="242021"/>
                </a:solidFill>
                <a:effectLst/>
                <a:latin typeface="NewCaledoniaLTStd"/>
              </a:rPr>
              <a:t>, and each relationship is identified by a name that describes the relationship</a:t>
            </a:r>
            <a:r>
              <a:rPr lang="en-US" sz="1600" dirty="0"/>
              <a:t> </a:t>
            </a:r>
          </a:p>
          <a:p>
            <a:pPr lvl="1"/>
            <a:r>
              <a:rPr lang="en-US" sz="1800" b="0" i="0" dirty="0">
                <a:solidFill>
                  <a:srgbClr val="242021"/>
                </a:solidFill>
                <a:effectLst/>
                <a:latin typeface="NewCaledoniaLTStd"/>
              </a:rPr>
              <a:t>Relationships between entities always operate in both directions</a:t>
            </a:r>
            <a:r>
              <a:rPr lang="en-US" sz="1600" dirty="0"/>
              <a:t> </a:t>
            </a:r>
            <a:br>
              <a:rPr lang="en-US" sz="1600" dirty="0"/>
            </a:br>
            <a:br>
              <a:rPr lang="en-US" sz="1600" dirty="0"/>
            </a:br>
            <a:br>
              <a:rPr lang="en-US" sz="1600" dirty="0"/>
            </a:br>
            <a:br>
              <a:rPr lang="en-US" sz="17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17</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1" name="Picture 10">
            <a:extLst>
              <a:ext uri="{FF2B5EF4-FFF2-40B4-BE49-F238E27FC236}">
                <a16:creationId xmlns:a16="http://schemas.microsoft.com/office/drawing/2014/main" id="{4B984C73-247D-6F62-88EA-DCC6E98B3C05}"/>
              </a:ext>
            </a:extLst>
          </p:cNvPr>
          <p:cNvPicPr>
            <a:picLocks noChangeAspect="1"/>
          </p:cNvPicPr>
          <p:nvPr/>
        </p:nvPicPr>
        <p:blipFill>
          <a:blip r:embed="rId3"/>
          <a:stretch>
            <a:fillRect/>
          </a:stretch>
        </p:blipFill>
        <p:spPr>
          <a:xfrm>
            <a:off x="2988468" y="4648200"/>
            <a:ext cx="6734175" cy="942975"/>
          </a:xfrm>
          <a:prstGeom prst="rect">
            <a:avLst/>
          </a:prstGeom>
        </p:spPr>
      </p:pic>
    </p:spTree>
    <p:extLst>
      <p:ext uri="{BB962C8B-B14F-4D97-AF65-F5344CB8AC3E}">
        <p14:creationId xmlns:p14="http://schemas.microsoft.com/office/powerpoint/2010/main" val="3864976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10515600" cy="4351338"/>
          </a:xfrm>
        </p:spPr>
        <p:txBody>
          <a:bodyPr/>
          <a:lstStyle/>
          <a:p>
            <a:r>
              <a:rPr lang="en-US" sz="1800" b="1" i="0" dirty="0">
                <a:solidFill>
                  <a:srgbClr val="242021"/>
                </a:solidFill>
                <a:effectLst/>
                <a:latin typeface="MyriadPro-BoldCond"/>
              </a:rPr>
              <a:t>4-1d </a:t>
            </a:r>
            <a:r>
              <a:rPr lang="en-US" sz="1800" b="1" i="0" dirty="0">
                <a:solidFill>
                  <a:srgbClr val="004D8D"/>
                </a:solidFill>
                <a:effectLst/>
                <a:latin typeface="MyriadPro-BoldCond"/>
              </a:rPr>
              <a:t>Connectivity and Cardinality</a:t>
            </a:r>
          </a:p>
          <a:p>
            <a:pPr lvl="1"/>
            <a:r>
              <a:rPr lang="en-US" sz="1800" b="0" i="0" dirty="0">
                <a:solidFill>
                  <a:srgbClr val="242021"/>
                </a:solidFill>
                <a:effectLst/>
                <a:latin typeface="NewCaledoniaLTStd"/>
              </a:rPr>
              <a:t>Entity relationships may be classified as one-to-one, one-to-many, or many-to-many</a:t>
            </a:r>
            <a:r>
              <a:rPr lang="en-US" sz="1600" dirty="0"/>
              <a:t> </a:t>
            </a:r>
          </a:p>
          <a:p>
            <a:pPr lvl="1"/>
            <a:r>
              <a:rPr lang="en-US" sz="1800" b="0" i="0" dirty="0">
                <a:solidFill>
                  <a:srgbClr val="242021"/>
                </a:solidFill>
                <a:effectLst/>
                <a:latin typeface="NewCaledoniaLTStd"/>
              </a:rPr>
              <a:t>The term </a:t>
            </a:r>
            <a:r>
              <a:rPr lang="en-US" sz="1800" b="1" i="0" dirty="0">
                <a:solidFill>
                  <a:srgbClr val="007DAF"/>
                </a:solidFill>
                <a:effectLst/>
                <a:latin typeface="MyriadPro-Bold"/>
              </a:rPr>
              <a:t>connectivity </a:t>
            </a:r>
            <a:r>
              <a:rPr lang="en-US" sz="1800" b="0" i="0" dirty="0">
                <a:solidFill>
                  <a:srgbClr val="242021"/>
                </a:solidFill>
                <a:effectLst/>
                <a:latin typeface="NewCaledoniaLTStd"/>
              </a:rPr>
              <a:t>is used to describe the relationship classification.</a:t>
            </a:r>
            <a:r>
              <a:rPr lang="en-US" sz="1600" dirty="0"/>
              <a:t> </a:t>
            </a:r>
          </a:p>
          <a:p>
            <a:pPr lvl="1"/>
            <a:r>
              <a:rPr lang="en-US" sz="1800" b="1" i="0" dirty="0">
                <a:solidFill>
                  <a:srgbClr val="007DAF"/>
                </a:solidFill>
                <a:effectLst/>
                <a:latin typeface="MyriadPro-Bold"/>
              </a:rPr>
              <a:t>Cardinality </a:t>
            </a:r>
            <a:r>
              <a:rPr lang="en-US" sz="1800" b="0" i="0" dirty="0">
                <a:solidFill>
                  <a:srgbClr val="242021"/>
                </a:solidFill>
                <a:effectLst/>
                <a:latin typeface="NewCaledoniaLTStd"/>
              </a:rPr>
              <a:t>expresses the minimum and maximum number of entity occurrences associated with one occurrence of the related entity</a:t>
            </a:r>
            <a:r>
              <a:rPr lang="en-US" sz="1600" dirty="0"/>
              <a:t> </a:t>
            </a:r>
            <a:br>
              <a:rPr lang="en-US" sz="1600" dirty="0"/>
            </a:br>
            <a:br>
              <a:rPr lang="en-US" sz="17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18</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ABC41F7-385B-3724-926D-C9A9B40185A1}"/>
              </a:ext>
            </a:extLst>
          </p:cNvPr>
          <p:cNvPicPr>
            <a:picLocks noChangeAspect="1"/>
          </p:cNvPicPr>
          <p:nvPr/>
        </p:nvPicPr>
        <p:blipFill>
          <a:blip r:embed="rId3"/>
          <a:stretch>
            <a:fillRect/>
          </a:stretch>
        </p:blipFill>
        <p:spPr>
          <a:xfrm>
            <a:off x="3395662" y="4049845"/>
            <a:ext cx="5443538" cy="2184268"/>
          </a:xfrm>
          <a:prstGeom prst="rect">
            <a:avLst/>
          </a:prstGeom>
        </p:spPr>
      </p:pic>
    </p:spTree>
    <p:extLst>
      <p:ext uri="{BB962C8B-B14F-4D97-AF65-F5344CB8AC3E}">
        <p14:creationId xmlns:p14="http://schemas.microsoft.com/office/powerpoint/2010/main" val="2840396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8D745-8F64-7E41-DED4-7696C804388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5C63D92-B9C2-004F-E24C-E08843DD1217}"/>
              </a:ext>
            </a:extLst>
          </p:cNvPr>
          <p:cNvSpPr>
            <a:spLocks noGrp="1"/>
          </p:cNvSpPr>
          <p:nvPr>
            <p:ph type="sldNum" sz="quarter" idx="11"/>
          </p:nvPr>
        </p:nvSpPr>
        <p:spPr/>
        <p:txBody>
          <a:bodyPr/>
          <a:lstStyle/>
          <a:p>
            <a:pPr>
              <a:defRPr/>
            </a:pPr>
            <a:fld id="{D1AD3536-327C-4937-83AF-A64971CFA6D9}" type="slidenum">
              <a:rPr lang="en-US" smtClean="0"/>
              <a:pPr>
                <a:defRPr/>
              </a:pPr>
              <a:t>19</a:t>
            </a:fld>
            <a:endParaRPr lang="en-US"/>
          </a:p>
        </p:txBody>
      </p:sp>
      <p:sp>
        <p:nvSpPr>
          <p:cNvPr id="4" name="Footer Placeholder 3">
            <a:extLst>
              <a:ext uri="{FF2B5EF4-FFF2-40B4-BE49-F238E27FC236}">
                <a16:creationId xmlns:a16="http://schemas.microsoft.com/office/drawing/2014/main" id="{ABF060B4-C288-B8DA-E878-8509B07256E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52F1D70-5B43-1569-9140-1936550A5BD3}"/>
              </a:ext>
            </a:extLst>
          </p:cNvPr>
          <p:cNvPicPr>
            <a:picLocks noChangeAspect="1"/>
          </p:cNvPicPr>
          <p:nvPr/>
        </p:nvPicPr>
        <p:blipFill>
          <a:blip r:embed="rId3"/>
          <a:stretch>
            <a:fillRect/>
          </a:stretch>
        </p:blipFill>
        <p:spPr>
          <a:xfrm>
            <a:off x="85725" y="538162"/>
            <a:ext cx="12020550" cy="5781675"/>
          </a:xfrm>
          <a:prstGeom prst="rect">
            <a:avLst/>
          </a:prstGeom>
        </p:spPr>
      </p:pic>
    </p:spTree>
    <p:extLst>
      <p:ext uri="{BB962C8B-B14F-4D97-AF65-F5344CB8AC3E}">
        <p14:creationId xmlns:p14="http://schemas.microsoft.com/office/powerpoint/2010/main" val="1596020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7772400" cy="4351338"/>
          </a:xfrm>
        </p:spPr>
        <p:txBody>
          <a:bodyPr/>
          <a:lstStyle/>
          <a:p>
            <a:r>
              <a:rPr lang="en-US" sz="2000" b="1" i="0" dirty="0">
                <a:solidFill>
                  <a:srgbClr val="242021"/>
                </a:solidFill>
                <a:effectLst/>
                <a:latin typeface="MyriadPro-BoldCond"/>
              </a:rPr>
              <a:t>4-1e </a:t>
            </a:r>
            <a:r>
              <a:rPr lang="en-US" sz="2000" b="1" i="0" dirty="0">
                <a:solidFill>
                  <a:srgbClr val="004D8D"/>
                </a:solidFill>
                <a:effectLst/>
                <a:latin typeface="MyriadPro-BoldCond"/>
              </a:rPr>
              <a:t>Existence Dependence</a:t>
            </a:r>
          </a:p>
          <a:p>
            <a:pPr lvl="1"/>
            <a:r>
              <a:rPr lang="en-US" sz="1800" b="0" i="0" dirty="0">
                <a:solidFill>
                  <a:srgbClr val="242021"/>
                </a:solidFill>
                <a:effectLst/>
                <a:latin typeface="NewCaledoniaLTStd"/>
              </a:rPr>
              <a:t>An entity is said to be </a:t>
            </a:r>
            <a:r>
              <a:rPr lang="en-US" sz="1800" b="1" i="0" dirty="0">
                <a:solidFill>
                  <a:srgbClr val="007DAF"/>
                </a:solidFill>
                <a:effectLst/>
                <a:latin typeface="MyriadPro-Bold"/>
              </a:rPr>
              <a:t>existence-dependent </a:t>
            </a:r>
            <a:r>
              <a:rPr lang="en-US" sz="1800" b="0" i="0" dirty="0">
                <a:solidFill>
                  <a:srgbClr val="242021"/>
                </a:solidFill>
                <a:effectLst/>
                <a:latin typeface="NewCaledoniaLTStd"/>
              </a:rPr>
              <a:t>if it can exist in the database only when it is associated with another related entity occurrence.</a:t>
            </a:r>
          </a:p>
          <a:p>
            <a:pPr lvl="1"/>
            <a:r>
              <a:rPr lang="en-US" sz="1800" b="0" i="0" dirty="0">
                <a:solidFill>
                  <a:srgbClr val="242021"/>
                </a:solidFill>
                <a:effectLst/>
                <a:latin typeface="NewCaledoniaLTStd"/>
              </a:rPr>
              <a:t>If an entity can exist apart from all of its related entities, then it is </a:t>
            </a:r>
            <a:r>
              <a:rPr lang="en-US" sz="1800" b="1" i="0" dirty="0">
                <a:solidFill>
                  <a:srgbClr val="007DAF"/>
                </a:solidFill>
                <a:effectLst/>
                <a:latin typeface="MyriadPro-Bold"/>
              </a:rPr>
              <a:t>existence-independent</a:t>
            </a:r>
            <a:r>
              <a:rPr lang="en-US" sz="1800" b="0" i="0" dirty="0">
                <a:solidFill>
                  <a:srgbClr val="242021"/>
                </a:solidFill>
                <a:effectLst/>
                <a:latin typeface="NewCaledoniaLTStd"/>
              </a:rPr>
              <a:t>, and it is referred to as a </a:t>
            </a:r>
            <a:r>
              <a:rPr lang="en-US" sz="1800" b="1" i="0" dirty="0">
                <a:solidFill>
                  <a:srgbClr val="007DAF"/>
                </a:solidFill>
                <a:effectLst/>
                <a:latin typeface="MyriadPro-Bold"/>
              </a:rPr>
              <a:t>strong entity </a:t>
            </a:r>
            <a:r>
              <a:rPr lang="en-US" sz="1800" b="0" i="0" dirty="0">
                <a:solidFill>
                  <a:srgbClr val="242021"/>
                </a:solidFill>
                <a:effectLst/>
                <a:latin typeface="NewCaledoniaLTStd"/>
              </a:rPr>
              <a:t>or </a:t>
            </a:r>
            <a:r>
              <a:rPr lang="en-US" sz="1800" b="1" i="0" dirty="0">
                <a:solidFill>
                  <a:srgbClr val="007DAF"/>
                </a:solidFill>
                <a:effectLst/>
                <a:latin typeface="MyriadPro-Bold"/>
              </a:rPr>
              <a:t>regular entity</a:t>
            </a:r>
            <a:r>
              <a:rPr lang="en-US" sz="1600" dirty="0"/>
              <a:t> </a:t>
            </a:r>
            <a:br>
              <a:rPr lang="en-US" sz="1600" dirty="0"/>
            </a:br>
            <a:br>
              <a:rPr lang="en-US" sz="1600" dirty="0"/>
            </a:br>
            <a:br>
              <a:rPr lang="en-US" sz="1600" dirty="0"/>
            </a:br>
            <a:br>
              <a:rPr lang="en-US" sz="1600" dirty="0"/>
            </a:br>
            <a:br>
              <a:rPr lang="en-US" sz="1600" dirty="0"/>
            </a:br>
            <a:br>
              <a:rPr lang="en-US" sz="17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20</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93201482-5B0D-2483-3F39-9BE622DAB67D}"/>
              </a:ext>
            </a:extLst>
          </p:cNvPr>
          <p:cNvPicPr>
            <a:picLocks noChangeAspect="1"/>
          </p:cNvPicPr>
          <p:nvPr/>
        </p:nvPicPr>
        <p:blipFill>
          <a:blip r:embed="rId3"/>
          <a:stretch>
            <a:fillRect/>
          </a:stretch>
        </p:blipFill>
        <p:spPr>
          <a:xfrm>
            <a:off x="9379932" y="955605"/>
            <a:ext cx="2230312" cy="5472252"/>
          </a:xfrm>
          <a:prstGeom prst="rect">
            <a:avLst/>
          </a:prstGeom>
        </p:spPr>
      </p:pic>
    </p:spTree>
    <p:extLst>
      <p:ext uri="{BB962C8B-B14F-4D97-AF65-F5344CB8AC3E}">
        <p14:creationId xmlns:p14="http://schemas.microsoft.com/office/powerpoint/2010/main" val="2464530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7772400" cy="4351338"/>
          </a:xfrm>
        </p:spPr>
        <p:txBody>
          <a:bodyPr/>
          <a:lstStyle/>
          <a:p>
            <a:r>
              <a:rPr lang="en-US" sz="2000" b="1" i="0" dirty="0">
                <a:solidFill>
                  <a:srgbClr val="242021"/>
                </a:solidFill>
                <a:effectLst/>
                <a:latin typeface="MyriadPro-BoldCond"/>
              </a:rPr>
              <a:t>4-1f </a:t>
            </a:r>
            <a:r>
              <a:rPr lang="en-US" sz="2000" b="1" i="0" dirty="0">
                <a:solidFill>
                  <a:srgbClr val="004D8D"/>
                </a:solidFill>
                <a:effectLst/>
                <a:latin typeface="MyriadPro-BoldCond"/>
              </a:rPr>
              <a:t>Relationship Strength</a:t>
            </a: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weak relationship</a:t>
            </a:r>
            <a:r>
              <a:rPr lang="en-US" sz="1800" b="0" i="0" dirty="0">
                <a:solidFill>
                  <a:srgbClr val="242021"/>
                </a:solidFill>
                <a:effectLst/>
                <a:latin typeface="NewCaledoniaLTStd"/>
              </a:rPr>
              <a:t>, also known as a </a:t>
            </a:r>
            <a:r>
              <a:rPr lang="en-US" sz="1800" b="1" i="0" dirty="0">
                <a:solidFill>
                  <a:srgbClr val="007DAF"/>
                </a:solidFill>
                <a:effectLst/>
                <a:latin typeface="MyriadPro-Bold"/>
              </a:rPr>
              <a:t>non-identifying relationship</a:t>
            </a:r>
            <a:r>
              <a:rPr lang="en-US" sz="1800" b="0" i="0" dirty="0">
                <a:solidFill>
                  <a:srgbClr val="242021"/>
                </a:solidFill>
                <a:effectLst/>
                <a:latin typeface="NewCaledoniaLTStd"/>
              </a:rPr>
              <a:t>, exists if the primary key of the related entity does not contain a primary key component of the parent entity. </a:t>
            </a: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strong (identifying) relationship </a:t>
            </a:r>
            <a:r>
              <a:rPr lang="en-US" sz="1800" b="0" i="0" dirty="0">
                <a:solidFill>
                  <a:srgbClr val="242021"/>
                </a:solidFill>
                <a:effectLst/>
                <a:latin typeface="NewCaledoniaLTStd"/>
              </a:rPr>
              <a:t>exists when the primary key of the related entity contains a primary key component of the parent entity. </a:t>
            </a:r>
            <a:br>
              <a:rPr lang="en-US" dirty="0"/>
            </a:br>
            <a:endParaRPr lang="en-US" sz="1800" b="0" i="0" dirty="0">
              <a:solidFill>
                <a:srgbClr val="242021"/>
              </a:solidFill>
              <a:effectLst/>
              <a:latin typeface="NewCaledoniaLTStd"/>
            </a:endParaRPr>
          </a:p>
          <a:p>
            <a:pPr marL="342900" lvl="1" indent="0">
              <a:buNone/>
            </a:pPr>
            <a:br>
              <a:rPr lang="en-US" sz="1400" dirty="0"/>
            </a:br>
            <a:br>
              <a:rPr lang="en-US" sz="1300" dirty="0"/>
            </a:br>
            <a:br>
              <a:rPr lang="en-US" sz="1300" dirty="0"/>
            </a:br>
            <a:br>
              <a:rPr lang="en-US" sz="1300" dirty="0"/>
            </a:br>
            <a:br>
              <a:rPr lang="en-US" sz="1300" dirty="0"/>
            </a:br>
            <a:br>
              <a:rPr lang="en-US" sz="1300" dirty="0"/>
            </a:br>
            <a:br>
              <a:rPr lang="en-US" sz="14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21</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3875A264-8C35-CAAE-2F46-9B4D214CC126}"/>
              </a:ext>
            </a:extLst>
          </p:cNvPr>
          <p:cNvPicPr>
            <a:picLocks noChangeAspect="1"/>
          </p:cNvPicPr>
          <p:nvPr/>
        </p:nvPicPr>
        <p:blipFill>
          <a:blip r:embed="rId3"/>
          <a:stretch>
            <a:fillRect/>
          </a:stretch>
        </p:blipFill>
        <p:spPr>
          <a:xfrm>
            <a:off x="8623113" y="880074"/>
            <a:ext cx="2528842" cy="2075697"/>
          </a:xfrm>
          <a:prstGeom prst="rect">
            <a:avLst/>
          </a:prstGeom>
        </p:spPr>
      </p:pic>
      <p:pic>
        <p:nvPicPr>
          <p:cNvPr id="13" name="Picture 12">
            <a:extLst>
              <a:ext uri="{FF2B5EF4-FFF2-40B4-BE49-F238E27FC236}">
                <a16:creationId xmlns:a16="http://schemas.microsoft.com/office/drawing/2014/main" id="{6624E9AE-8794-A70D-9CFD-BE429D88FD1E}"/>
              </a:ext>
            </a:extLst>
          </p:cNvPr>
          <p:cNvPicPr>
            <a:picLocks noChangeAspect="1"/>
          </p:cNvPicPr>
          <p:nvPr/>
        </p:nvPicPr>
        <p:blipFill>
          <a:blip r:embed="rId4"/>
          <a:stretch>
            <a:fillRect/>
          </a:stretch>
        </p:blipFill>
        <p:spPr>
          <a:xfrm>
            <a:off x="8623112" y="3297239"/>
            <a:ext cx="2528842" cy="3018760"/>
          </a:xfrm>
          <a:prstGeom prst="rect">
            <a:avLst/>
          </a:prstGeom>
        </p:spPr>
      </p:pic>
    </p:spTree>
    <p:extLst>
      <p:ext uri="{BB962C8B-B14F-4D97-AF65-F5344CB8AC3E}">
        <p14:creationId xmlns:p14="http://schemas.microsoft.com/office/powerpoint/2010/main" val="705980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7FF0DF-C823-8AAF-C6EB-A905B430F12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77BD47B-A2F6-5E3F-EBCA-72C6FA0A3D23}"/>
              </a:ext>
            </a:extLst>
          </p:cNvPr>
          <p:cNvSpPr>
            <a:spLocks noGrp="1"/>
          </p:cNvSpPr>
          <p:nvPr>
            <p:ph type="sldNum" sz="quarter" idx="11"/>
          </p:nvPr>
        </p:nvSpPr>
        <p:spPr/>
        <p:txBody>
          <a:bodyPr/>
          <a:lstStyle/>
          <a:p>
            <a:pPr>
              <a:defRPr/>
            </a:pPr>
            <a:fld id="{D1AD3536-327C-4937-83AF-A64971CFA6D9}" type="slidenum">
              <a:rPr lang="en-US" smtClean="0"/>
              <a:pPr>
                <a:defRPr/>
              </a:pPr>
              <a:t>22</a:t>
            </a:fld>
            <a:endParaRPr lang="en-US"/>
          </a:p>
        </p:txBody>
      </p:sp>
      <p:sp>
        <p:nvSpPr>
          <p:cNvPr id="4" name="Footer Placeholder 3">
            <a:extLst>
              <a:ext uri="{FF2B5EF4-FFF2-40B4-BE49-F238E27FC236}">
                <a16:creationId xmlns:a16="http://schemas.microsoft.com/office/drawing/2014/main" id="{790983DD-966E-5707-94D0-A670D94B582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E2B5839-E85E-AEAC-FAF5-625E8F42A653}"/>
              </a:ext>
            </a:extLst>
          </p:cNvPr>
          <p:cNvPicPr>
            <a:picLocks noChangeAspect="1"/>
          </p:cNvPicPr>
          <p:nvPr/>
        </p:nvPicPr>
        <p:blipFill>
          <a:blip r:embed="rId3"/>
          <a:stretch>
            <a:fillRect/>
          </a:stretch>
        </p:blipFill>
        <p:spPr>
          <a:xfrm>
            <a:off x="133350" y="1228725"/>
            <a:ext cx="11925300" cy="4400550"/>
          </a:xfrm>
          <a:prstGeom prst="rect">
            <a:avLst/>
          </a:prstGeom>
        </p:spPr>
      </p:pic>
    </p:spTree>
    <p:extLst>
      <p:ext uri="{BB962C8B-B14F-4D97-AF65-F5344CB8AC3E}">
        <p14:creationId xmlns:p14="http://schemas.microsoft.com/office/powerpoint/2010/main" val="2801239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EE8D02-1F3B-570D-699C-AEAE54F53B7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D0E507F-A0AC-F80D-24B6-9819169620CB}"/>
              </a:ext>
            </a:extLst>
          </p:cNvPr>
          <p:cNvSpPr>
            <a:spLocks noGrp="1"/>
          </p:cNvSpPr>
          <p:nvPr>
            <p:ph type="sldNum" sz="quarter" idx="11"/>
          </p:nvPr>
        </p:nvSpPr>
        <p:spPr/>
        <p:txBody>
          <a:bodyPr/>
          <a:lstStyle/>
          <a:p>
            <a:pPr>
              <a:defRPr/>
            </a:pPr>
            <a:fld id="{D1AD3536-327C-4937-83AF-A64971CFA6D9}" type="slidenum">
              <a:rPr lang="en-US" smtClean="0"/>
              <a:pPr>
                <a:defRPr/>
              </a:pPr>
              <a:t>23</a:t>
            </a:fld>
            <a:endParaRPr lang="en-US"/>
          </a:p>
        </p:txBody>
      </p:sp>
      <p:sp>
        <p:nvSpPr>
          <p:cNvPr id="4" name="Footer Placeholder 3">
            <a:extLst>
              <a:ext uri="{FF2B5EF4-FFF2-40B4-BE49-F238E27FC236}">
                <a16:creationId xmlns:a16="http://schemas.microsoft.com/office/drawing/2014/main" id="{6B8829F9-E877-0A8B-B624-D3D9CC386F9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C39D1F2-A3D2-CF8D-58A5-1ACA3EC0EE80}"/>
              </a:ext>
            </a:extLst>
          </p:cNvPr>
          <p:cNvPicPr>
            <a:picLocks noChangeAspect="1"/>
          </p:cNvPicPr>
          <p:nvPr/>
        </p:nvPicPr>
        <p:blipFill>
          <a:blip r:embed="rId3"/>
          <a:stretch>
            <a:fillRect/>
          </a:stretch>
        </p:blipFill>
        <p:spPr>
          <a:xfrm>
            <a:off x="152400" y="1381125"/>
            <a:ext cx="11887200" cy="4095750"/>
          </a:xfrm>
          <a:prstGeom prst="rect">
            <a:avLst/>
          </a:prstGeom>
        </p:spPr>
      </p:pic>
    </p:spTree>
    <p:extLst>
      <p:ext uri="{BB962C8B-B14F-4D97-AF65-F5344CB8AC3E}">
        <p14:creationId xmlns:p14="http://schemas.microsoft.com/office/powerpoint/2010/main" val="3878455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7772400" cy="4351338"/>
          </a:xfrm>
        </p:spPr>
        <p:txBody>
          <a:bodyPr/>
          <a:lstStyle/>
          <a:p>
            <a:r>
              <a:rPr lang="en-US" sz="2000" b="1" i="0" dirty="0">
                <a:solidFill>
                  <a:srgbClr val="242021"/>
                </a:solidFill>
                <a:effectLst/>
                <a:latin typeface="MyriadPro-BoldCond"/>
              </a:rPr>
              <a:t>4-1g </a:t>
            </a:r>
            <a:r>
              <a:rPr lang="en-US" sz="2000" b="1" i="0" dirty="0">
                <a:solidFill>
                  <a:srgbClr val="004D8D"/>
                </a:solidFill>
                <a:effectLst/>
                <a:latin typeface="MyriadPro-BoldCond"/>
              </a:rPr>
              <a:t>Weak Entities</a:t>
            </a:r>
            <a:endParaRPr lang="en-US" sz="1800" b="1" dirty="0">
              <a:solidFill>
                <a:srgbClr val="004D8D"/>
              </a:solidFill>
              <a:latin typeface="MyriadPro-BoldCond"/>
            </a:endParaRP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weak entity </a:t>
            </a:r>
            <a:r>
              <a:rPr lang="en-US" sz="1800" b="0" i="0" dirty="0">
                <a:solidFill>
                  <a:srgbClr val="242021"/>
                </a:solidFill>
                <a:effectLst/>
                <a:latin typeface="NewCaledoniaLTStd"/>
              </a:rPr>
              <a:t>is one that meets two conditions</a:t>
            </a:r>
            <a:r>
              <a:rPr lang="en-US" dirty="0"/>
              <a:t> </a:t>
            </a:r>
          </a:p>
          <a:p>
            <a:pPr lvl="2"/>
            <a:r>
              <a:rPr lang="en-US" sz="1800" b="1" i="0" dirty="0">
                <a:solidFill>
                  <a:srgbClr val="242021"/>
                </a:solidFill>
                <a:effectLst/>
                <a:latin typeface="NewCaledoniaLTStd-Bold"/>
              </a:rPr>
              <a:t>1. </a:t>
            </a:r>
            <a:r>
              <a:rPr lang="en-US" sz="1800" b="0" i="0" dirty="0">
                <a:solidFill>
                  <a:srgbClr val="242021"/>
                </a:solidFill>
                <a:effectLst/>
                <a:latin typeface="NewCaledoniaLTStd"/>
              </a:rPr>
              <a:t>The entity is existence-dependent; it cannot exist without the entity with which it has a relationship.</a:t>
            </a:r>
            <a:br>
              <a:rPr lang="en-US" sz="1800" b="0" i="0" dirty="0">
                <a:solidFill>
                  <a:srgbClr val="242021"/>
                </a:solidFill>
                <a:effectLst/>
                <a:latin typeface="NewCaledoniaLTStd"/>
              </a:rPr>
            </a:br>
            <a:r>
              <a:rPr lang="en-US" sz="1800" b="1" i="0" dirty="0">
                <a:solidFill>
                  <a:srgbClr val="242021"/>
                </a:solidFill>
                <a:effectLst/>
                <a:latin typeface="NewCaledoniaLTStd-Bold"/>
              </a:rPr>
              <a:t>2. </a:t>
            </a:r>
            <a:r>
              <a:rPr lang="en-US" sz="1800" b="0" i="0" dirty="0">
                <a:solidFill>
                  <a:srgbClr val="242021"/>
                </a:solidFill>
                <a:effectLst/>
                <a:latin typeface="NewCaledoniaLTStd"/>
              </a:rPr>
              <a:t>The entity has a primary key that is partially or totally derived from the parent entity in the relationship.</a:t>
            </a:r>
            <a:r>
              <a:rPr lang="en-US" dirty="0"/>
              <a:t> </a:t>
            </a:r>
            <a:br>
              <a:rPr lang="en-US" dirty="0"/>
            </a:br>
            <a:br>
              <a:rPr lang="en-US" dirty="0"/>
            </a:br>
            <a:br>
              <a:rPr lang="en-US" dirty="0"/>
            </a:br>
            <a:endParaRPr lang="en-US" b="0" i="0" dirty="0">
              <a:solidFill>
                <a:srgbClr val="242021"/>
              </a:solidFill>
              <a:effectLst/>
              <a:latin typeface="NewCaledoniaLTStd"/>
            </a:endParaRPr>
          </a:p>
          <a:p>
            <a:pPr marL="342900" lvl="1" indent="0">
              <a:buNone/>
            </a:pPr>
            <a:br>
              <a:rPr lang="en-US" sz="1400" dirty="0"/>
            </a:br>
            <a:br>
              <a:rPr lang="en-US" sz="1300" dirty="0"/>
            </a:br>
            <a:br>
              <a:rPr lang="en-US" sz="1300" dirty="0"/>
            </a:br>
            <a:br>
              <a:rPr lang="en-US" sz="1300" dirty="0"/>
            </a:br>
            <a:br>
              <a:rPr lang="en-US" sz="1300" dirty="0"/>
            </a:br>
            <a:br>
              <a:rPr lang="en-US" sz="1300" dirty="0"/>
            </a:br>
            <a:br>
              <a:rPr lang="en-US" sz="14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24</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9932261-1DC4-F320-B533-6F865BE699ED}"/>
              </a:ext>
            </a:extLst>
          </p:cNvPr>
          <p:cNvPicPr>
            <a:picLocks noChangeAspect="1"/>
          </p:cNvPicPr>
          <p:nvPr/>
        </p:nvPicPr>
        <p:blipFill>
          <a:blip r:embed="rId3"/>
          <a:stretch>
            <a:fillRect/>
          </a:stretch>
        </p:blipFill>
        <p:spPr>
          <a:xfrm>
            <a:off x="8610600" y="1736307"/>
            <a:ext cx="3012204" cy="2366108"/>
          </a:xfrm>
          <a:prstGeom prst="rect">
            <a:avLst/>
          </a:prstGeom>
        </p:spPr>
      </p:pic>
    </p:spTree>
    <p:extLst>
      <p:ext uri="{BB962C8B-B14F-4D97-AF65-F5344CB8AC3E}">
        <p14:creationId xmlns:p14="http://schemas.microsoft.com/office/powerpoint/2010/main" val="2921917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A84AA6-B6DF-974F-7228-C2A4BC42366E}"/>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28D8705-3699-ECE3-E6BC-4A919F4CDFA8}"/>
              </a:ext>
            </a:extLst>
          </p:cNvPr>
          <p:cNvSpPr>
            <a:spLocks noGrp="1"/>
          </p:cNvSpPr>
          <p:nvPr>
            <p:ph type="sldNum" sz="quarter" idx="11"/>
          </p:nvPr>
        </p:nvSpPr>
        <p:spPr/>
        <p:txBody>
          <a:bodyPr/>
          <a:lstStyle/>
          <a:p>
            <a:pPr>
              <a:defRPr/>
            </a:pPr>
            <a:fld id="{D1AD3536-327C-4937-83AF-A64971CFA6D9}" type="slidenum">
              <a:rPr lang="en-US" smtClean="0"/>
              <a:pPr>
                <a:defRPr/>
              </a:pPr>
              <a:t>25</a:t>
            </a:fld>
            <a:endParaRPr lang="en-US"/>
          </a:p>
        </p:txBody>
      </p:sp>
      <p:sp>
        <p:nvSpPr>
          <p:cNvPr id="4" name="Footer Placeholder 3">
            <a:extLst>
              <a:ext uri="{FF2B5EF4-FFF2-40B4-BE49-F238E27FC236}">
                <a16:creationId xmlns:a16="http://schemas.microsoft.com/office/drawing/2014/main" id="{D0C6E6D8-38C8-4A5C-96DE-04049A1784D6}"/>
              </a:ext>
            </a:extLst>
          </p:cNvPr>
          <p:cNvSpPr>
            <a:spLocks noGrp="1"/>
          </p:cNvSpPr>
          <p:nvPr>
            <p:ph type="ftr" sz="quarter" idx="12"/>
          </p:nvPr>
        </p:nvSpPr>
        <p:spPr/>
        <p:txBody>
          <a:bodyPr/>
          <a:lstStyle/>
          <a:p>
            <a:pPr>
              <a:defRPr/>
            </a:pPr>
            <a:r>
              <a:rPr lang="en-US"/>
              <a:t>Database System Design, Implementation And Management </a:t>
            </a:r>
          </a:p>
        </p:txBody>
      </p:sp>
      <p:pic>
        <p:nvPicPr>
          <p:cNvPr id="8" name="Picture 7">
            <a:extLst>
              <a:ext uri="{FF2B5EF4-FFF2-40B4-BE49-F238E27FC236}">
                <a16:creationId xmlns:a16="http://schemas.microsoft.com/office/drawing/2014/main" id="{CBF740AD-8B5D-8CAF-BF3B-A394D500AA4E}"/>
              </a:ext>
            </a:extLst>
          </p:cNvPr>
          <p:cNvPicPr>
            <a:picLocks noChangeAspect="1"/>
          </p:cNvPicPr>
          <p:nvPr/>
        </p:nvPicPr>
        <p:blipFill>
          <a:blip r:embed="rId3"/>
          <a:stretch>
            <a:fillRect/>
          </a:stretch>
        </p:blipFill>
        <p:spPr>
          <a:xfrm>
            <a:off x="1988782" y="0"/>
            <a:ext cx="8214435" cy="6858000"/>
          </a:xfrm>
          <a:prstGeom prst="rect">
            <a:avLst/>
          </a:prstGeom>
        </p:spPr>
      </p:pic>
    </p:spTree>
    <p:extLst>
      <p:ext uri="{BB962C8B-B14F-4D97-AF65-F5344CB8AC3E}">
        <p14:creationId xmlns:p14="http://schemas.microsoft.com/office/powerpoint/2010/main" val="2797131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7772400" cy="4351338"/>
          </a:xfrm>
        </p:spPr>
        <p:txBody>
          <a:bodyPr/>
          <a:lstStyle/>
          <a:p>
            <a:r>
              <a:rPr lang="en-US" sz="1800" b="1" i="0" dirty="0">
                <a:solidFill>
                  <a:srgbClr val="242021"/>
                </a:solidFill>
                <a:effectLst/>
                <a:latin typeface="MyriadPro-BoldCond"/>
              </a:rPr>
              <a:t>4-1h </a:t>
            </a:r>
            <a:r>
              <a:rPr lang="en-US" sz="1800" b="1" i="0" dirty="0">
                <a:solidFill>
                  <a:srgbClr val="004D8D"/>
                </a:solidFill>
                <a:effectLst/>
                <a:latin typeface="MyriadPro-BoldCond"/>
              </a:rPr>
              <a:t>Relationship Participation</a:t>
            </a:r>
          </a:p>
          <a:p>
            <a:pPr lvl="1"/>
            <a:r>
              <a:rPr lang="en-US" sz="1800" b="1" i="0" dirty="0">
                <a:solidFill>
                  <a:srgbClr val="007DAF"/>
                </a:solidFill>
                <a:effectLst/>
                <a:latin typeface="MyriadPro-Bold"/>
              </a:rPr>
              <a:t>Optional participation </a:t>
            </a:r>
            <a:r>
              <a:rPr lang="en-US" sz="1800" b="0" i="0" dirty="0">
                <a:solidFill>
                  <a:srgbClr val="242021"/>
                </a:solidFill>
                <a:effectLst/>
                <a:latin typeface="NewCaledoniaLTStd"/>
              </a:rPr>
              <a:t>means that one entity occurrence does not </a:t>
            </a:r>
            <a:r>
              <a:rPr lang="en-US" sz="1800" b="0" i="1" dirty="0">
                <a:solidFill>
                  <a:srgbClr val="242021"/>
                </a:solidFill>
                <a:effectLst/>
                <a:latin typeface="NewCaledoniaLTStd-It"/>
              </a:rPr>
              <a:t>require </a:t>
            </a:r>
            <a:r>
              <a:rPr lang="en-US" sz="1800" b="0" i="0" dirty="0">
                <a:solidFill>
                  <a:srgbClr val="242021"/>
                </a:solidFill>
                <a:effectLst/>
                <a:latin typeface="NewCaledoniaLTStd"/>
              </a:rPr>
              <a:t>a corresponding entity occurrence in a particular relationship</a:t>
            </a:r>
            <a:r>
              <a:rPr lang="en-US" dirty="0"/>
              <a:t> </a:t>
            </a:r>
          </a:p>
          <a:p>
            <a:pPr lvl="2"/>
            <a:r>
              <a:rPr lang="en-US" dirty="0"/>
              <a:t>COURSE vs CLASS</a:t>
            </a:r>
          </a:p>
          <a:p>
            <a:pPr lvl="2"/>
            <a:r>
              <a:rPr lang="en-US" sz="1800" b="0" i="0" dirty="0">
                <a:solidFill>
                  <a:srgbClr val="242021"/>
                </a:solidFill>
                <a:effectLst/>
                <a:latin typeface="NewCaledoniaLTStd"/>
              </a:rPr>
              <a:t>the CLASS entity is considered to be </a:t>
            </a:r>
            <a:r>
              <a:rPr lang="en-US" sz="1800" b="0" i="1" dirty="0">
                <a:solidFill>
                  <a:srgbClr val="242021"/>
                </a:solidFill>
                <a:effectLst/>
                <a:latin typeface="NewCaledoniaLTStd-It"/>
              </a:rPr>
              <a:t>optional </a:t>
            </a:r>
            <a:r>
              <a:rPr lang="en-US" sz="1800" b="0" i="0" dirty="0">
                <a:solidFill>
                  <a:srgbClr val="242021"/>
                </a:solidFill>
                <a:effectLst/>
                <a:latin typeface="NewCaledoniaLTStd"/>
              </a:rPr>
              <a:t>to the COURSE entity</a:t>
            </a:r>
            <a:r>
              <a:rPr lang="en-US" dirty="0"/>
              <a:t> </a:t>
            </a:r>
          </a:p>
          <a:p>
            <a:pPr lvl="1"/>
            <a:r>
              <a:rPr lang="en-US" sz="1800" b="1" i="0" dirty="0">
                <a:solidFill>
                  <a:srgbClr val="007DAF"/>
                </a:solidFill>
                <a:effectLst/>
                <a:latin typeface="MyriadPro-Bold"/>
              </a:rPr>
              <a:t>Mandatory participation </a:t>
            </a:r>
            <a:r>
              <a:rPr lang="en-US" sz="1800" b="0" i="0" dirty="0">
                <a:solidFill>
                  <a:srgbClr val="242021"/>
                </a:solidFill>
                <a:effectLst/>
                <a:latin typeface="NewCaledoniaLTStd"/>
              </a:rPr>
              <a:t>means that one entity occurrence </a:t>
            </a:r>
            <a:r>
              <a:rPr lang="en-US" sz="1800" b="0" i="1" dirty="0">
                <a:solidFill>
                  <a:srgbClr val="242021"/>
                </a:solidFill>
                <a:effectLst/>
                <a:latin typeface="NewCaledoniaLTStd-It"/>
              </a:rPr>
              <a:t>requires </a:t>
            </a:r>
            <a:r>
              <a:rPr lang="en-US" sz="1800" b="0" i="0" dirty="0">
                <a:solidFill>
                  <a:srgbClr val="242021"/>
                </a:solidFill>
                <a:effectLst/>
                <a:latin typeface="NewCaledoniaLTStd"/>
              </a:rPr>
              <a:t>a corresponding entity occurrence in a particular relationship. </a:t>
            </a:r>
            <a:br>
              <a:rPr lang="en-US" dirty="0"/>
            </a:br>
            <a:br>
              <a:rPr lang="en-US" dirty="0"/>
            </a:br>
            <a:br>
              <a:rPr lang="en-US" dirty="0"/>
            </a:br>
            <a:br>
              <a:rPr lang="en-US" dirty="0"/>
            </a:br>
            <a:endParaRPr lang="en-US" b="0" i="0" dirty="0">
              <a:solidFill>
                <a:srgbClr val="242021"/>
              </a:solidFill>
              <a:effectLst/>
              <a:latin typeface="NewCaledoniaLTStd"/>
            </a:endParaRPr>
          </a:p>
          <a:p>
            <a:pPr marL="342900" lvl="1" indent="0">
              <a:buNone/>
            </a:pPr>
            <a:br>
              <a:rPr lang="en-US" sz="1400" dirty="0"/>
            </a:br>
            <a:br>
              <a:rPr lang="en-US" sz="1300" dirty="0"/>
            </a:br>
            <a:br>
              <a:rPr lang="en-US" sz="1300" dirty="0"/>
            </a:br>
            <a:br>
              <a:rPr lang="en-US" sz="1300" dirty="0"/>
            </a:br>
            <a:br>
              <a:rPr lang="en-US" sz="1300" dirty="0"/>
            </a:br>
            <a:br>
              <a:rPr lang="en-US" sz="1300" dirty="0"/>
            </a:br>
            <a:br>
              <a:rPr lang="en-US" sz="14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26</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A14C9B1C-77A0-6669-A157-72841C5C1588}"/>
              </a:ext>
            </a:extLst>
          </p:cNvPr>
          <p:cNvPicPr>
            <a:picLocks noChangeAspect="1"/>
          </p:cNvPicPr>
          <p:nvPr/>
        </p:nvPicPr>
        <p:blipFill>
          <a:blip r:embed="rId3"/>
          <a:stretch>
            <a:fillRect/>
          </a:stretch>
        </p:blipFill>
        <p:spPr>
          <a:xfrm>
            <a:off x="9067800" y="1047571"/>
            <a:ext cx="2524125" cy="2028825"/>
          </a:xfrm>
          <a:prstGeom prst="rect">
            <a:avLst/>
          </a:prstGeom>
        </p:spPr>
      </p:pic>
      <p:pic>
        <p:nvPicPr>
          <p:cNvPr id="11" name="Picture 10">
            <a:extLst>
              <a:ext uri="{FF2B5EF4-FFF2-40B4-BE49-F238E27FC236}">
                <a16:creationId xmlns:a16="http://schemas.microsoft.com/office/drawing/2014/main" id="{09CB0A9E-29B1-E0B0-B52A-B82C1D06565A}"/>
              </a:ext>
            </a:extLst>
          </p:cNvPr>
          <p:cNvPicPr>
            <a:picLocks noChangeAspect="1"/>
          </p:cNvPicPr>
          <p:nvPr/>
        </p:nvPicPr>
        <p:blipFill>
          <a:blip r:embed="rId4"/>
          <a:stretch>
            <a:fillRect/>
          </a:stretch>
        </p:blipFill>
        <p:spPr>
          <a:xfrm>
            <a:off x="9067800" y="3276600"/>
            <a:ext cx="2571750" cy="2790825"/>
          </a:xfrm>
          <a:prstGeom prst="rect">
            <a:avLst/>
          </a:prstGeom>
        </p:spPr>
      </p:pic>
    </p:spTree>
    <p:extLst>
      <p:ext uri="{BB962C8B-B14F-4D97-AF65-F5344CB8AC3E}">
        <p14:creationId xmlns:p14="http://schemas.microsoft.com/office/powerpoint/2010/main" val="400104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15B27-93DA-B7FC-7C8F-27EEF8EE06D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222953D-0FCB-28C7-A607-5B4A49C4A53F}"/>
              </a:ext>
            </a:extLst>
          </p:cNvPr>
          <p:cNvSpPr>
            <a:spLocks noGrp="1"/>
          </p:cNvSpPr>
          <p:nvPr>
            <p:ph type="sldNum" sz="quarter" idx="11"/>
          </p:nvPr>
        </p:nvSpPr>
        <p:spPr/>
        <p:txBody>
          <a:bodyPr/>
          <a:lstStyle/>
          <a:p>
            <a:pPr>
              <a:defRPr/>
            </a:pPr>
            <a:fld id="{D1AD3536-327C-4937-83AF-A64971CFA6D9}" type="slidenum">
              <a:rPr lang="en-US" smtClean="0"/>
              <a:pPr>
                <a:defRPr/>
              </a:pPr>
              <a:t>27</a:t>
            </a:fld>
            <a:endParaRPr lang="en-US"/>
          </a:p>
        </p:txBody>
      </p:sp>
      <p:sp>
        <p:nvSpPr>
          <p:cNvPr id="4" name="Footer Placeholder 3">
            <a:extLst>
              <a:ext uri="{FF2B5EF4-FFF2-40B4-BE49-F238E27FC236}">
                <a16:creationId xmlns:a16="http://schemas.microsoft.com/office/drawing/2014/main" id="{B42FBBFD-40FE-4153-E49F-CAA4CF8696F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BAA9FE0-1F3B-BE69-01FD-0856BDC96681}"/>
              </a:ext>
            </a:extLst>
          </p:cNvPr>
          <p:cNvPicPr>
            <a:picLocks noChangeAspect="1"/>
          </p:cNvPicPr>
          <p:nvPr/>
        </p:nvPicPr>
        <p:blipFill>
          <a:blip r:embed="rId3"/>
          <a:stretch>
            <a:fillRect/>
          </a:stretch>
        </p:blipFill>
        <p:spPr>
          <a:xfrm>
            <a:off x="52387" y="1871662"/>
            <a:ext cx="12087225" cy="3114675"/>
          </a:xfrm>
          <a:prstGeom prst="rect">
            <a:avLst/>
          </a:prstGeom>
        </p:spPr>
      </p:pic>
    </p:spTree>
    <p:extLst>
      <p:ext uri="{BB962C8B-B14F-4D97-AF65-F5344CB8AC3E}">
        <p14:creationId xmlns:p14="http://schemas.microsoft.com/office/powerpoint/2010/main" val="3467782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82DB9F-D503-51C8-F8A4-3AC8CDD84FC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AD1EF2B-3148-59D3-90EF-C9572B5139ED}"/>
              </a:ext>
            </a:extLst>
          </p:cNvPr>
          <p:cNvSpPr>
            <a:spLocks noGrp="1"/>
          </p:cNvSpPr>
          <p:nvPr>
            <p:ph type="sldNum" sz="quarter" idx="11"/>
          </p:nvPr>
        </p:nvSpPr>
        <p:spPr/>
        <p:txBody>
          <a:bodyPr/>
          <a:lstStyle/>
          <a:p>
            <a:pPr>
              <a:defRPr/>
            </a:pPr>
            <a:fld id="{D1AD3536-327C-4937-83AF-A64971CFA6D9}" type="slidenum">
              <a:rPr lang="en-US" smtClean="0"/>
              <a:pPr>
                <a:defRPr/>
              </a:pPr>
              <a:t>28</a:t>
            </a:fld>
            <a:endParaRPr lang="en-US"/>
          </a:p>
        </p:txBody>
      </p:sp>
      <p:sp>
        <p:nvSpPr>
          <p:cNvPr id="4" name="Footer Placeholder 3">
            <a:extLst>
              <a:ext uri="{FF2B5EF4-FFF2-40B4-BE49-F238E27FC236}">
                <a16:creationId xmlns:a16="http://schemas.microsoft.com/office/drawing/2014/main" id="{5DC306CE-F529-D886-A662-0D96A9C6245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8AC74CC-BDFC-F66B-EC89-F620E6EEB7C4}"/>
              </a:ext>
            </a:extLst>
          </p:cNvPr>
          <p:cNvPicPr>
            <a:picLocks noChangeAspect="1"/>
          </p:cNvPicPr>
          <p:nvPr/>
        </p:nvPicPr>
        <p:blipFill>
          <a:blip r:embed="rId3"/>
          <a:stretch>
            <a:fillRect/>
          </a:stretch>
        </p:blipFill>
        <p:spPr>
          <a:xfrm>
            <a:off x="1466850" y="2047875"/>
            <a:ext cx="9258300" cy="2762250"/>
          </a:xfrm>
          <a:prstGeom prst="rect">
            <a:avLst/>
          </a:prstGeom>
        </p:spPr>
      </p:pic>
    </p:spTree>
    <p:extLst>
      <p:ext uri="{BB962C8B-B14F-4D97-AF65-F5344CB8AC3E}">
        <p14:creationId xmlns:p14="http://schemas.microsoft.com/office/powerpoint/2010/main" val="2066923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7C0484-EEB4-DCF5-7ABD-BDC49448E1F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5963F12-2C3F-CF01-7449-FF3EE1DA5371}"/>
              </a:ext>
            </a:extLst>
          </p:cNvPr>
          <p:cNvSpPr>
            <a:spLocks noGrp="1"/>
          </p:cNvSpPr>
          <p:nvPr>
            <p:ph type="sldNum" sz="quarter" idx="11"/>
          </p:nvPr>
        </p:nvSpPr>
        <p:spPr/>
        <p:txBody>
          <a:bodyPr/>
          <a:lstStyle/>
          <a:p>
            <a:pPr>
              <a:defRPr/>
            </a:pPr>
            <a:fld id="{D1AD3536-327C-4937-83AF-A64971CFA6D9}" type="slidenum">
              <a:rPr lang="en-US" smtClean="0"/>
              <a:pPr>
                <a:defRPr/>
              </a:pPr>
              <a:t>29</a:t>
            </a:fld>
            <a:endParaRPr lang="en-US"/>
          </a:p>
        </p:txBody>
      </p:sp>
      <p:sp>
        <p:nvSpPr>
          <p:cNvPr id="4" name="Footer Placeholder 3">
            <a:extLst>
              <a:ext uri="{FF2B5EF4-FFF2-40B4-BE49-F238E27FC236}">
                <a16:creationId xmlns:a16="http://schemas.microsoft.com/office/drawing/2014/main" id="{20951CE8-2071-75D2-7010-1B9F096A03D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8421401-D318-14BE-7678-142FA774BD63}"/>
              </a:ext>
            </a:extLst>
          </p:cNvPr>
          <p:cNvPicPr>
            <a:picLocks noChangeAspect="1"/>
          </p:cNvPicPr>
          <p:nvPr/>
        </p:nvPicPr>
        <p:blipFill>
          <a:blip r:embed="rId3"/>
          <a:stretch>
            <a:fillRect/>
          </a:stretch>
        </p:blipFill>
        <p:spPr>
          <a:xfrm>
            <a:off x="1471612" y="681037"/>
            <a:ext cx="9248775" cy="5495925"/>
          </a:xfrm>
          <a:prstGeom prst="rect">
            <a:avLst/>
          </a:prstGeom>
        </p:spPr>
      </p:pic>
    </p:spTree>
    <p:extLst>
      <p:ext uri="{BB962C8B-B14F-4D97-AF65-F5344CB8AC3E}">
        <p14:creationId xmlns:p14="http://schemas.microsoft.com/office/powerpoint/2010/main" val="2228804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13DD-02E4-DDE3-4802-442C3B909F8B}"/>
              </a:ext>
            </a:extLst>
          </p:cNvPr>
          <p:cNvSpPr>
            <a:spLocks noGrp="1"/>
          </p:cNvSpPr>
          <p:nvPr>
            <p:ph type="title"/>
          </p:nvPr>
        </p:nvSpPr>
        <p:spPr/>
        <p:txBody>
          <a:bodyPr/>
          <a:lstStyle/>
          <a:p>
            <a:r>
              <a:rPr lang="en-US" dirty="0"/>
              <a:t>4-1 The Entity Relationship Model</a:t>
            </a:r>
          </a:p>
        </p:txBody>
      </p:sp>
      <p:sp>
        <p:nvSpPr>
          <p:cNvPr id="3" name="Content Placeholder 2">
            <a:extLst>
              <a:ext uri="{FF2B5EF4-FFF2-40B4-BE49-F238E27FC236}">
                <a16:creationId xmlns:a16="http://schemas.microsoft.com/office/drawing/2014/main" id="{86A66722-516E-04CF-4C6E-7558889CB858}"/>
              </a:ext>
            </a:extLst>
          </p:cNvPr>
          <p:cNvSpPr>
            <a:spLocks noGrp="1"/>
          </p:cNvSpPr>
          <p:nvPr>
            <p:ph idx="1"/>
          </p:nvPr>
        </p:nvSpPr>
        <p:spPr>
          <a:xfrm>
            <a:off x="838200" y="1516062"/>
            <a:ext cx="7772400" cy="4351338"/>
          </a:xfrm>
        </p:spPr>
        <p:txBody>
          <a:bodyPr/>
          <a:lstStyle/>
          <a:p>
            <a:r>
              <a:rPr lang="en-US" sz="2000" b="1" i="0" dirty="0">
                <a:solidFill>
                  <a:srgbClr val="242021"/>
                </a:solidFill>
                <a:effectLst/>
                <a:latin typeface="MyriadPro-BoldCond"/>
              </a:rPr>
              <a:t>4-1i </a:t>
            </a:r>
            <a:r>
              <a:rPr lang="en-US" sz="2000" b="1" i="0" dirty="0">
                <a:solidFill>
                  <a:srgbClr val="004D8D"/>
                </a:solidFill>
                <a:effectLst/>
                <a:latin typeface="MyriadPro-BoldCond"/>
              </a:rPr>
              <a:t>Relationship Degree</a:t>
            </a:r>
            <a:endParaRPr lang="en-US" sz="2000" b="1" dirty="0">
              <a:solidFill>
                <a:srgbClr val="004D8D"/>
              </a:solidFill>
              <a:latin typeface="MyriadPro-BoldCond"/>
            </a:endParaRPr>
          </a:p>
          <a:p>
            <a:pPr lvl="1"/>
            <a:r>
              <a:rPr lang="en-US" sz="1500" b="1" i="0" dirty="0">
                <a:solidFill>
                  <a:srgbClr val="007DAF"/>
                </a:solidFill>
                <a:effectLst/>
                <a:latin typeface="MyriadPro-Bold"/>
              </a:rPr>
              <a:t> </a:t>
            </a:r>
            <a:r>
              <a:rPr lang="en-US" sz="1800" b="0" i="0" dirty="0">
                <a:solidFill>
                  <a:srgbClr val="242021"/>
                </a:solidFill>
                <a:effectLst/>
                <a:latin typeface="NewCaledoniaLTStd"/>
              </a:rPr>
              <a:t>A </a:t>
            </a:r>
            <a:r>
              <a:rPr lang="en-US" sz="1800" b="1" i="0" dirty="0">
                <a:solidFill>
                  <a:srgbClr val="007DAF"/>
                </a:solidFill>
                <a:effectLst/>
                <a:latin typeface="MyriadPro-Bold"/>
              </a:rPr>
              <a:t>relationship degree </a:t>
            </a:r>
            <a:r>
              <a:rPr lang="en-US" sz="1800" b="0" i="0" dirty="0">
                <a:solidFill>
                  <a:srgbClr val="242021"/>
                </a:solidFill>
                <a:effectLst/>
                <a:latin typeface="NewCaledoniaLTStd"/>
              </a:rPr>
              <a:t>indicates the number of entities or participants associated with a relationship.</a:t>
            </a: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unary relationship </a:t>
            </a:r>
            <a:r>
              <a:rPr lang="en-US" sz="1800" b="0" i="0" dirty="0">
                <a:solidFill>
                  <a:srgbClr val="242021"/>
                </a:solidFill>
                <a:effectLst/>
                <a:latin typeface="NewCaledoniaLTStd"/>
              </a:rPr>
              <a:t>exists when an association is maintained within a single entity.</a:t>
            </a: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binary relationship </a:t>
            </a:r>
            <a:r>
              <a:rPr lang="en-US" sz="1800" b="0" i="0" dirty="0">
                <a:solidFill>
                  <a:srgbClr val="242021"/>
                </a:solidFill>
                <a:effectLst/>
                <a:latin typeface="NewCaledoniaLTStd"/>
              </a:rPr>
              <a:t>exists when two entities are associated. </a:t>
            </a:r>
          </a:p>
          <a:p>
            <a:pPr lvl="1"/>
            <a:r>
              <a:rPr lang="en-US" sz="1800" b="0" i="0" dirty="0">
                <a:solidFill>
                  <a:srgbClr val="242021"/>
                </a:solidFill>
                <a:effectLst/>
                <a:latin typeface="NewCaledoniaLTStd"/>
              </a:rPr>
              <a:t>A </a:t>
            </a:r>
            <a:r>
              <a:rPr lang="en-US" sz="1800" b="1" i="0" dirty="0">
                <a:solidFill>
                  <a:srgbClr val="007DAF"/>
                </a:solidFill>
                <a:effectLst/>
                <a:latin typeface="MyriadPro-Bold"/>
              </a:rPr>
              <a:t>ternary </a:t>
            </a:r>
            <a:r>
              <a:rPr lang="en-US" sz="1800" b="0" i="0" dirty="0">
                <a:solidFill>
                  <a:srgbClr val="242021"/>
                </a:solidFill>
                <a:effectLst/>
                <a:latin typeface="NewCaledoniaLTStd"/>
              </a:rPr>
              <a:t>exists when three entities are associated.</a:t>
            </a:r>
            <a:r>
              <a:rPr lang="en-US" dirty="0"/>
              <a:t> </a:t>
            </a:r>
          </a:p>
          <a:p>
            <a:pPr lvl="1"/>
            <a:r>
              <a:rPr lang="en-US" sz="1800" b="1" i="0" dirty="0">
                <a:solidFill>
                  <a:srgbClr val="007DAF"/>
                </a:solidFill>
                <a:effectLst/>
                <a:latin typeface="MyriadPro-Bold"/>
              </a:rPr>
              <a:t>Recursive relationship:  </a:t>
            </a:r>
            <a:r>
              <a:rPr lang="en-US" dirty="0">
                <a:solidFill>
                  <a:srgbClr val="242021"/>
                </a:solidFill>
                <a:latin typeface="NewCaledoniaLTStd"/>
              </a:rPr>
              <a:t>an entity h</a:t>
            </a:r>
            <a:r>
              <a:rPr lang="en-US" sz="1800" b="0" i="0" dirty="0">
                <a:solidFill>
                  <a:srgbClr val="242021"/>
                </a:solidFill>
                <a:effectLst/>
                <a:latin typeface="NewCaledoniaLTStd"/>
              </a:rPr>
              <a:t>as a relationship with itself.</a:t>
            </a:r>
            <a:r>
              <a:rPr lang="en-US" dirty="0"/>
              <a:t> </a:t>
            </a:r>
            <a:br>
              <a:rPr lang="en-US" dirty="0"/>
            </a:br>
            <a:br>
              <a:rPr lang="en-US" dirty="0"/>
            </a:br>
            <a:r>
              <a:rPr lang="en-US" dirty="0"/>
              <a:t> </a:t>
            </a:r>
            <a:br>
              <a:rPr lang="en-US" dirty="0"/>
            </a:br>
            <a:br>
              <a:rPr lang="en-US" dirty="0"/>
            </a:br>
            <a:br>
              <a:rPr lang="en-US" dirty="0"/>
            </a:br>
            <a:br>
              <a:rPr lang="en-US" dirty="0"/>
            </a:br>
            <a:br>
              <a:rPr lang="en-US" dirty="0"/>
            </a:br>
            <a:endParaRPr lang="en-US" b="0" i="0" dirty="0">
              <a:solidFill>
                <a:srgbClr val="242021"/>
              </a:solidFill>
              <a:effectLst/>
              <a:latin typeface="NewCaledoniaLTStd"/>
            </a:endParaRPr>
          </a:p>
          <a:p>
            <a:pPr marL="342900" lvl="1" indent="0">
              <a:buNone/>
            </a:pPr>
            <a:br>
              <a:rPr lang="en-US" sz="1400" dirty="0"/>
            </a:br>
            <a:br>
              <a:rPr lang="en-US" sz="1300" dirty="0"/>
            </a:br>
            <a:br>
              <a:rPr lang="en-US" sz="1300" dirty="0"/>
            </a:br>
            <a:br>
              <a:rPr lang="en-US" sz="1300" dirty="0"/>
            </a:br>
            <a:br>
              <a:rPr lang="en-US" sz="1300" dirty="0"/>
            </a:br>
            <a:br>
              <a:rPr lang="en-US" sz="1300" dirty="0"/>
            </a:br>
            <a:br>
              <a:rPr lang="en-US" sz="1400" dirty="0"/>
            </a:br>
            <a:endParaRPr lang="en-US" dirty="0"/>
          </a:p>
        </p:txBody>
      </p:sp>
      <p:sp>
        <p:nvSpPr>
          <p:cNvPr id="4" name="Slide Number Placeholder 3">
            <a:extLst>
              <a:ext uri="{FF2B5EF4-FFF2-40B4-BE49-F238E27FC236}">
                <a16:creationId xmlns:a16="http://schemas.microsoft.com/office/drawing/2014/main" id="{6A3A13DD-ABC0-DDF5-FE3A-04FB374BA9FB}"/>
              </a:ext>
            </a:extLst>
          </p:cNvPr>
          <p:cNvSpPr>
            <a:spLocks noGrp="1"/>
          </p:cNvSpPr>
          <p:nvPr>
            <p:ph type="sldNum" sz="quarter" idx="10"/>
          </p:nvPr>
        </p:nvSpPr>
        <p:spPr/>
        <p:txBody>
          <a:bodyPr/>
          <a:lstStyle/>
          <a:p>
            <a:pPr>
              <a:defRPr/>
            </a:pPr>
            <a:fld id="{34A84676-C444-4AC5-8B4E-405A7C81C0FB}" type="slidenum">
              <a:rPr lang="en-US" altLang="en-US" smtClean="0"/>
              <a:pPr>
                <a:defRPr/>
              </a:pPr>
              <a:t>30</a:t>
            </a:fld>
            <a:endParaRPr lang="en-US" altLang="en-US"/>
          </a:p>
        </p:txBody>
      </p:sp>
      <p:sp>
        <p:nvSpPr>
          <p:cNvPr id="5" name="Footer Placeholder 4">
            <a:extLst>
              <a:ext uri="{FF2B5EF4-FFF2-40B4-BE49-F238E27FC236}">
                <a16:creationId xmlns:a16="http://schemas.microsoft.com/office/drawing/2014/main" id="{7003545A-E1F3-1E88-A6F1-A7FE622A4FF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569AE1-09E4-00C5-D0C2-27B1E2EE78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B3E8E68D-9DF7-F240-530E-9CC6E9F89FA2}"/>
              </a:ext>
            </a:extLst>
          </p:cNvPr>
          <p:cNvPicPr>
            <a:picLocks noChangeAspect="1"/>
          </p:cNvPicPr>
          <p:nvPr/>
        </p:nvPicPr>
        <p:blipFill>
          <a:blip r:embed="rId3"/>
          <a:stretch>
            <a:fillRect/>
          </a:stretch>
        </p:blipFill>
        <p:spPr>
          <a:xfrm>
            <a:off x="8305800" y="974725"/>
            <a:ext cx="1823436" cy="5257800"/>
          </a:xfrm>
          <a:prstGeom prst="rect">
            <a:avLst/>
          </a:prstGeom>
        </p:spPr>
      </p:pic>
      <p:pic>
        <p:nvPicPr>
          <p:cNvPr id="12" name="Picture 11">
            <a:extLst>
              <a:ext uri="{FF2B5EF4-FFF2-40B4-BE49-F238E27FC236}">
                <a16:creationId xmlns:a16="http://schemas.microsoft.com/office/drawing/2014/main" id="{BA88FBAD-8B08-E55C-362A-9FCEBD474325}"/>
              </a:ext>
            </a:extLst>
          </p:cNvPr>
          <p:cNvPicPr>
            <a:picLocks noChangeAspect="1"/>
          </p:cNvPicPr>
          <p:nvPr/>
        </p:nvPicPr>
        <p:blipFill>
          <a:blip r:embed="rId4"/>
          <a:stretch>
            <a:fillRect/>
          </a:stretch>
        </p:blipFill>
        <p:spPr>
          <a:xfrm>
            <a:off x="10213072" y="2624137"/>
            <a:ext cx="1962150" cy="1609725"/>
          </a:xfrm>
          <a:prstGeom prst="rect">
            <a:avLst/>
          </a:prstGeom>
        </p:spPr>
      </p:pic>
    </p:spTree>
    <p:extLst>
      <p:ext uri="{BB962C8B-B14F-4D97-AF65-F5344CB8AC3E}">
        <p14:creationId xmlns:p14="http://schemas.microsoft.com/office/powerpoint/2010/main" val="1483690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284AC4-A3DD-EFB7-52C0-88EFD73148A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B840F70-CA95-E3B5-AFB8-B4DE2A2ACB18}"/>
              </a:ext>
            </a:extLst>
          </p:cNvPr>
          <p:cNvSpPr>
            <a:spLocks noGrp="1"/>
          </p:cNvSpPr>
          <p:nvPr>
            <p:ph type="sldNum" sz="quarter" idx="11"/>
          </p:nvPr>
        </p:nvSpPr>
        <p:spPr/>
        <p:txBody>
          <a:bodyPr/>
          <a:lstStyle/>
          <a:p>
            <a:pPr>
              <a:defRPr/>
            </a:pPr>
            <a:fld id="{D1AD3536-327C-4937-83AF-A64971CFA6D9}" type="slidenum">
              <a:rPr lang="en-US" smtClean="0"/>
              <a:pPr>
                <a:defRPr/>
              </a:pPr>
              <a:t>31</a:t>
            </a:fld>
            <a:endParaRPr lang="en-US"/>
          </a:p>
        </p:txBody>
      </p:sp>
      <p:sp>
        <p:nvSpPr>
          <p:cNvPr id="4" name="Footer Placeholder 3">
            <a:extLst>
              <a:ext uri="{FF2B5EF4-FFF2-40B4-BE49-F238E27FC236}">
                <a16:creationId xmlns:a16="http://schemas.microsoft.com/office/drawing/2014/main" id="{D9084CAB-C370-DD01-D095-4C7B2DF44B28}"/>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49A22B7-32AF-CC76-70CE-8E26D6EF0317}"/>
              </a:ext>
            </a:extLst>
          </p:cNvPr>
          <p:cNvPicPr>
            <a:picLocks noChangeAspect="1"/>
          </p:cNvPicPr>
          <p:nvPr/>
        </p:nvPicPr>
        <p:blipFill>
          <a:blip r:embed="rId3"/>
          <a:stretch>
            <a:fillRect/>
          </a:stretch>
        </p:blipFill>
        <p:spPr>
          <a:xfrm>
            <a:off x="3345543" y="0"/>
            <a:ext cx="5500914" cy="6858000"/>
          </a:xfrm>
          <a:prstGeom prst="rect">
            <a:avLst/>
          </a:prstGeom>
        </p:spPr>
      </p:pic>
    </p:spTree>
    <p:extLst>
      <p:ext uri="{BB962C8B-B14F-4D97-AF65-F5344CB8AC3E}">
        <p14:creationId xmlns:p14="http://schemas.microsoft.com/office/powerpoint/2010/main" val="1350757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589352-A147-BC85-11A3-2F4DF0180AD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DCF7B18-08DE-3BE0-BEE3-9A8FD4998406}"/>
              </a:ext>
            </a:extLst>
          </p:cNvPr>
          <p:cNvSpPr>
            <a:spLocks noGrp="1"/>
          </p:cNvSpPr>
          <p:nvPr>
            <p:ph type="sldNum" sz="quarter" idx="11"/>
          </p:nvPr>
        </p:nvSpPr>
        <p:spPr/>
        <p:txBody>
          <a:bodyPr/>
          <a:lstStyle/>
          <a:p>
            <a:pPr>
              <a:defRPr/>
            </a:pPr>
            <a:fld id="{D1AD3536-327C-4937-83AF-A64971CFA6D9}" type="slidenum">
              <a:rPr lang="en-US" smtClean="0"/>
              <a:pPr>
                <a:defRPr/>
              </a:pPr>
              <a:t>32</a:t>
            </a:fld>
            <a:endParaRPr lang="en-US"/>
          </a:p>
        </p:txBody>
      </p:sp>
      <p:sp>
        <p:nvSpPr>
          <p:cNvPr id="4" name="Footer Placeholder 3">
            <a:extLst>
              <a:ext uri="{FF2B5EF4-FFF2-40B4-BE49-F238E27FC236}">
                <a16:creationId xmlns:a16="http://schemas.microsoft.com/office/drawing/2014/main" id="{AB9B1D19-C92A-BA47-37BC-DFF0AE33A92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571E938-2AEC-CEE5-EA82-3FAE36C3689D}"/>
              </a:ext>
            </a:extLst>
          </p:cNvPr>
          <p:cNvPicPr>
            <a:picLocks noChangeAspect="1"/>
          </p:cNvPicPr>
          <p:nvPr/>
        </p:nvPicPr>
        <p:blipFill>
          <a:blip r:embed="rId3"/>
          <a:stretch>
            <a:fillRect/>
          </a:stretch>
        </p:blipFill>
        <p:spPr>
          <a:xfrm>
            <a:off x="2490787" y="2119312"/>
            <a:ext cx="7210425" cy="2619375"/>
          </a:xfrm>
          <a:prstGeom prst="rect">
            <a:avLst/>
          </a:prstGeom>
        </p:spPr>
      </p:pic>
    </p:spTree>
    <p:extLst>
      <p:ext uri="{BB962C8B-B14F-4D97-AF65-F5344CB8AC3E}">
        <p14:creationId xmlns:p14="http://schemas.microsoft.com/office/powerpoint/2010/main" val="3829965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D9299-1FC6-60ED-C567-067597F55B0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819E00E-3AB0-3B62-996A-7F596D16AFD1}"/>
              </a:ext>
            </a:extLst>
          </p:cNvPr>
          <p:cNvSpPr>
            <a:spLocks noGrp="1"/>
          </p:cNvSpPr>
          <p:nvPr>
            <p:ph type="sldNum" sz="quarter" idx="11"/>
          </p:nvPr>
        </p:nvSpPr>
        <p:spPr/>
        <p:txBody>
          <a:bodyPr/>
          <a:lstStyle/>
          <a:p>
            <a:pPr>
              <a:defRPr/>
            </a:pPr>
            <a:fld id="{D1AD3536-327C-4937-83AF-A64971CFA6D9}" type="slidenum">
              <a:rPr lang="en-US" smtClean="0"/>
              <a:pPr>
                <a:defRPr/>
              </a:pPr>
              <a:t>33</a:t>
            </a:fld>
            <a:endParaRPr lang="en-US"/>
          </a:p>
        </p:txBody>
      </p:sp>
      <p:sp>
        <p:nvSpPr>
          <p:cNvPr id="4" name="Footer Placeholder 3">
            <a:extLst>
              <a:ext uri="{FF2B5EF4-FFF2-40B4-BE49-F238E27FC236}">
                <a16:creationId xmlns:a16="http://schemas.microsoft.com/office/drawing/2014/main" id="{70D69175-EE8F-5D21-A102-9A5870C0F32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D79BD05-8670-B20C-3E82-9376F0EED55C}"/>
              </a:ext>
            </a:extLst>
          </p:cNvPr>
          <p:cNvPicPr>
            <a:picLocks noChangeAspect="1"/>
          </p:cNvPicPr>
          <p:nvPr/>
        </p:nvPicPr>
        <p:blipFill>
          <a:blip r:embed="rId3"/>
          <a:stretch>
            <a:fillRect/>
          </a:stretch>
        </p:blipFill>
        <p:spPr>
          <a:xfrm>
            <a:off x="2481262" y="1985962"/>
            <a:ext cx="7229475" cy="2886075"/>
          </a:xfrm>
          <a:prstGeom prst="rect">
            <a:avLst/>
          </a:prstGeom>
        </p:spPr>
      </p:pic>
    </p:spTree>
    <p:extLst>
      <p:ext uri="{BB962C8B-B14F-4D97-AF65-F5344CB8AC3E}">
        <p14:creationId xmlns:p14="http://schemas.microsoft.com/office/powerpoint/2010/main" val="529067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804170-D185-AC82-5565-4A3BDC71156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930DE46-1307-7E8F-2D8B-00672EA273D8}"/>
              </a:ext>
            </a:extLst>
          </p:cNvPr>
          <p:cNvSpPr>
            <a:spLocks noGrp="1"/>
          </p:cNvSpPr>
          <p:nvPr>
            <p:ph type="sldNum" sz="quarter" idx="11"/>
          </p:nvPr>
        </p:nvSpPr>
        <p:spPr/>
        <p:txBody>
          <a:bodyPr/>
          <a:lstStyle/>
          <a:p>
            <a:pPr>
              <a:defRPr/>
            </a:pPr>
            <a:fld id="{D1AD3536-327C-4937-83AF-A64971CFA6D9}" type="slidenum">
              <a:rPr lang="en-US" smtClean="0"/>
              <a:pPr>
                <a:defRPr/>
              </a:pPr>
              <a:t>34</a:t>
            </a:fld>
            <a:endParaRPr lang="en-US"/>
          </a:p>
        </p:txBody>
      </p:sp>
      <p:sp>
        <p:nvSpPr>
          <p:cNvPr id="4" name="Footer Placeholder 3">
            <a:extLst>
              <a:ext uri="{FF2B5EF4-FFF2-40B4-BE49-F238E27FC236}">
                <a16:creationId xmlns:a16="http://schemas.microsoft.com/office/drawing/2014/main" id="{880C2209-4264-45E1-BAB0-7953BDCEFBD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424CC25-5560-C2D5-A026-40A4BEF2FC80}"/>
              </a:ext>
            </a:extLst>
          </p:cNvPr>
          <p:cNvPicPr>
            <a:picLocks noChangeAspect="1"/>
          </p:cNvPicPr>
          <p:nvPr/>
        </p:nvPicPr>
        <p:blipFill>
          <a:blip r:embed="rId3"/>
          <a:stretch>
            <a:fillRect/>
          </a:stretch>
        </p:blipFill>
        <p:spPr>
          <a:xfrm>
            <a:off x="2490787" y="1890712"/>
            <a:ext cx="7210425" cy="3076575"/>
          </a:xfrm>
          <a:prstGeom prst="rect">
            <a:avLst/>
          </a:prstGeom>
        </p:spPr>
      </p:pic>
    </p:spTree>
    <p:extLst>
      <p:ext uri="{BB962C8B-B14F-4D97-AF65-F5344CB8AC3E}">
        <p14:creationId xmlns:p14="http://schemas.microsoft.com/office/powerpoint/2010/main" val="4065823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32C1D2-A10D-34E4-7135-576E356383F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E360F83-4973-C211-45B2-36550B69D4A8}"/>
              </a:ext>
            </a:extLst>
          </p:cNvPr>
          <p:cNvSpPr>
            <a:spLocks noGrp="1"/>
          </p:cNvSpPr>
          <p:nvPr>
            <p:ph type="sldNum" sz="quarter" idx="11"/>
          </p:nvPr>
        </p:nvSpPr>
        <p:spPr/>
        <p:txBody>
          <a:bodyPr/>
          <a:lstStyle/>
          <a:p>
            <a:pPr>
              <a:defRPr/>
            </a:pPr>
            <a:fld id="{D1AD3536-327C-4937-83AF-A64971CFA6D9}" type="slidenum">
              <a:rPr lang="en-US" smtClean="0"/>
              <a:pPr>
                <a:defRPr/>
              </a:pPr>
              <a:t>35</a:t>
            </a:fld>
            <a:endParaRPr lang="en-US"/>
          </a:p>
        </p:txBody>
      </p:sp>
      <p:sp>
        <p:nvSpPr>
          <p:cNvPr id="4" name="Footer Placeholder 3">
            <a:extLst>
              <a:ext uri="{FF2B5EF4-FFF2-40B4-BE49-F238E27FC236}">
                <a16:creationId xmlns:a16="http://schemas.microsoft.com/office/drawing/2014/main" id="{D4D6208F-0863-D5E0-4F0F-C07414DC75B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74D9B3A-073B-0F35-07A8-0029F03CED67}"/>
              </a:ext>
            </a:extLst>
          </p:cNvPr>
          <p:cNvPicPr>
            <a:picLocks noChangeAspect="1"/>
          </p:cNvPicPr>
          <p:nvPr/>
        </p:nvPicPr>
        <p:blipFill>
          <a:blip r:embed="rId3"/>
          <a:stretch>
            <a:fillRect/>
          </a:stretch>
        </p:blipFill>
        <p:spPr>
          <a:xfrm>
            <a:off x="2486025" y="1123950"/>
            <a:ext cx="7219950" cy="4610100"/>
          </a:xfrm>
          <a:prstGeom prst="rect">
            <a:avLst/>
          </a:prstGeom>
        </p:spPr>
      </p:pic>
      <p:sp>
        <p:nvSpPr>
          <p:cNvPr id="7" name="TextBox 6">
            <a:extLst>
              <a:ext uri="{FF2B5EF4-FFF2-40B4-BE49-F238E27FC236}">
                <a16:creationId xmlns:a16="http://schemas.microsoft.com/office/drawing/2014/main" id="{91CB4BC0-D123-429B-824C-58009761C280}"/>
              </a:ext>
            </a:extLst>
          </p:cNvPr>
          <p:cNvSpPr txBox="1"/>
          <p:nvPr/>
        </p:nvSpPr>
        <p:spPr>
          <a:xfrm>
            <a:off x="9982200" y="1540850"/>
            <a:ext cx="1905000" cy="3077766"/>
          </a:xfrm>
          <a:prstGeom prst="rect">
            <a:avLst/>
          </a:prstGeom>
          <a:noFill/>
        </p:spPr>
        <p:txBody>
          <a:bodyPr wrap="square" rtlCol="0">
            <a:spAutoFit/>
          </a:bodyPr>
          <a:lstStyle/>
          <a:p>
            <a:pPr marL="285750" indent="-285750">
              <a:buClr>
                <a:srgbClr val="FF0000"/>
              </a:buClr>
              <a:buFont typeface="Wingdings" panose="05000000000000000000" pitchFamily="2" charset="2"/>
              <a:buChar char="q"/>
            </a:pPr>
            <a:r>
              <a:rPr lang="en-US" sz="1800" b="0" i="0" dirty="0">
                <a:solidFill>
                  <a:srgbClr val="242021"/>
                </a:solidFill>
                <a:effectLst/>
                <a:latin typeface="NewCaledoniaLTStd"/>
              </a:rPr>
              <a:t>two 1:M relationships between</a:t>
            </a:r>
            <a:br>
              <a:rPr lang="en-US" sz="1800" b="0" i="0" dirty="0">
                <a:solidFill>
                  <a:srgbClr val="242021"/>
                </a:solidFill>
                <a:effectLst/>
                <a:latin typeface="NewCaledoniaLTStd"/>
              </a:rPr>
            </a:br>
            <a:r>
              <a:rPr lang="en-US" sz="1800" b="0" i="0" dirty="0">
                <a:solidFill>
                  <a:srgbClr val="242021"/>
                </a:solidFill>
                <a:effectLst/>
                <a:latin typeface="NewCaledoniaLTStd"/>
              </a:rPr>
              <a:t>COURSE and PREREQ</a:t>
            </a:r>
            <a:r>
              <a:rPr lang="en-US" dirty="0"/>
              <a:t> </a:t>
            </a:r>
          </a:p>
          <a:p>
            <a:pPr marL="285750" indent="-285750">
              <a:buClr>
                <a:srgbClr val="FF0000"/>
              </a:buClr>
              <a:buFont typeface="Wingdings" panose="05000000000000000000" pitchFamily="2" charset="2"/>
              <a:buChar char="q"/>
            </a:pPr>
            <a:endParaRPr lang="en-US" sz="1800" b="0" i="0" dirty="0">
              <a:solidFill>
                <a:srgbClr val="242021"/>
              </a:solidFill>
              <a:effectLst/>
              <a:latin typeface="NewCaledoniaLTStd"/>
            </a:endParaRPr>
          </a:p>
          <a:p>
            <a:pPr marL="285750" indent="-285750">
              <a:buClr>
                <a:srgbClr val="FF0000"/>
              </a:buClr>
              <a:buFont typeface="Wingdings" panose="05000000000000000000" pitchFamily="2" charset="2"/>
              <a:buChar char="q"/>
            </a:pPr>
            <a:r>
              <a:rPr lang="en-US" sz="1800" b="0" i="0" dirty="0">
                <a:solidFill>
                  <a:srgbClr val="242021"/>
                </a:solidFill>
                <a:effectLst/>
                <a:latin typeface="NewCaledoniaLTStd"/>
              </a:rPr>
              <a:t>one copy of</a:t>
            </a:r>
            <a:br>
              <a:rPr lang="en-US" sz="1800" b="0" i="0" dirty="0">
                <a:solidFill>
                  <a:srgbClr val="242021"/>
                </a:solidFill>
                <a:effectLst/>
                <a:latin typeface="NewCaledoniaLTStd"/>
              </a:rPr>
            </a:br>
            <a:r>
              <a:rPr lang="en-US" sz="1800" b="0" i="0" dirty="0">
                <a:solidFill>
                  <a:srgbClr val="242021"/>
                </a:solidFill>
                <a:effectLst/>
                <a:latin typeface="NewCaledoniaLTStd"/>
              </a:rPr>
              <a:t>CRS_CODE was renamed to CRS_PRE_TAKE</a:t>
            </a:r>
            <a:r>
              <a:rPr lang="en-US" dirty="0"/>
              <a:t> </a:t>
            </a:r>
            <a:br>
              <a:rPr lang="en-US" dirty="0"/>
            </a:br>
            <a:endParaRPr lang="en-US" dirty="0"/>
          </a:p>
        </p:txBody>
      </p:sp>
    </p:spTree>
    <p:extLst>
      <p:ext uri="{BB962C8B-B14F-4D97-AF65-F5344CB8AC3E}">
        <p14:creationId xmlns:p14="http://schemas.microsoft.com/office/powerpoint/2010/main" val="3626505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5C8B53-9748-5473-07B8-AD3B71D061E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D87E704-6001-3FEC-E9F5-54286847BEF6}"/>
              </a:ext>
            </a:extLst>
          </p:cNvPr>
          <p:cNvSpPr>
            <a:spLocks noGrp="1"/>
          </p:cNvSpPr>
          <p:nvPr>
            <p:ph type="sldNum" sz="quarter" idx="11"/>
          </p:nvPr>
        </p:nvSpPr>
        <p:spPr/>
        <p:txBody>
          <a:bodyPr/>
          <a:lstStyle/>
          <a:p>
            <a:pPr>
              <a:defRPr/>
            </a:pPr>
            <a:fld id="{D1AD3536-327C-4937-83AF-A64971CFA6D9}" type="slidenum">
              <a:rPr lang="en-US" smtClean="0"/>
              <a:pPr>
                <a:defRPr/>
              </a:pPr>
              <a:t>36</a:t>
            </a:fld>
            <a:endParaRPr lang="en-US"/>
          </a:p>
        </p:txBody>
      </p:sp>
      <p:sp>
        <p:nvSpPr>
          <p:cNvPr id="4" name="Footer Placeholder 3">
            <a:extLst>
              <a:ext uri="{FF2B5EF4-FFF2-40B4-BE49-F238E27FC236}">
                <a16:creationId xmlns:a16="http://schemas.microsoft.com/office/drawing/2014/main" id="{57083FBB-73E0-3BEC-EEDC-AA59AD4A54F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C487E684-2856-7518-9CA4-4DB3428E4660}"/>
              </a:ext>
            </a:extLst>
          </p:cNvPr>
          <p:cNvPicPr>
            <a:picLocks noChangeAspect="1"/>
          </p:cNvPicPr>
          <p:nvPr/>
        </p:nvPicPr>
        <p:blipFill>
          <a:blip r:embed="rId3"/>
          <a:stretch>
            <a:fillRect/>
          </a:stretch>
        </p:blipFill>
        <p:spPr>
          <a:xfrm>
            <a:off x="1404937" y="2014537"/>
            <a:ext cx="9382125" cy="2828925"/>
          </a:xfrm>
          <a:prstGeom prst="rect">
            <a:avLst/>
          </a:prstGeom>
        </p:spPr>
      </p:pic>
    </p:spTree>
    <p:extLst>
      <p:ext uri="{BB962C8B-B14F-4D97-AF65-F5344CB8AC3E}">
        <p14:creationId xmlns:p14="http://schemas.microsoft.com/office/powerpoint/2010/main" val="3886198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809676-4326-E015-3C12-6DF6DEC03E3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C84A71E-83BA-5A64-509E-751FC0E893B0}"/>
              </a:ext>
            </a:extLst>
          </p:cNvPr>
          <p:cNvSpPr>
            <a:spLocks noGrp="1"/>
          </p:cNvSpPr>
          <p:nvPr>
            <p:ph type="sldNum" sz="quarter" idx="11"/>
          </p:nvPr>
        </p:nvSpPr>
        <p:spPr/>
        <p:txBody>
          <a:bodyPr/>
          <a:lstStyle/>
          <a:p>
            <a:pPr>
              <a:defRPr/>
            </a:pPr>
            <a:fld id="{D1AD3536-327C-4937-83AF-A64971CFA6D9}" type="slidenum">
              <a:rPr lang="en-US" smtClean="0"/>
              <a:pPr>
                <a:defRPr/>
              </a:pPr>
              <a:t>37</a:t>
            </a:fld>
            <a:endParaRPr lang="en-US"/>
          </a:p>
        </p:txBody>
      </p:sp>
      <p:sp>
        <p:nvSpPr>
          <p:cNvPr id="4" name="Footer Placeholder 3">
            <a:extLst>
              <a:ext uri="{FF2B5EF4-FFF2-40B4-BE49-F238E27FC236}">
                <a16:creationId xmlns:a16="http://schemas.microsoft.com/office/drawing/2014/main" id="{AC7C3F45-CFCA-531D-27EE-6F8CEB573C1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9BCF168-01B8-5168-0357-C4C3F3031702}"/>
              </a:ext>
            </a:extLst>
          </p:cNvPr>
          <p:cNvPicPr>
            <a:picLocks noChangeAspect="1"/>
          </p:cNvPicPr>
          <p:nvPr/>
        </p:nvPicPr>
        <p:blipFill>
          <a:blip r:embed="rId3"/>
          <a:stretch>
            <a:fillRect/>
          </a:stretch>
        </p:blipFill>
        <p:spPr>
          <a:xfrm>
            <a:off x="1381125" y="1238250"/>
            <a:ext cx="9429750" cy="4381500"/>
          </a:xfrm>
          <a:prstGeom prst="rect">
            <a:avLst/>
          </a:prstGeom>
        </p:spPr>
      </p:pic>
    </p:spTree>
    <p:extLst>
      <p:ext uri="{BB962C8B-B14F-4D97-AF65-F5344CB8AC3E}">
        <p14:creationId xmlns:p14="http://schemas.microsoft.com/office/powerpoint/2010/main" val="144246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C1FC6-6C66-631F-DE75-12D367A14B21}"/>
              </a:ext>
            </a:extLst>
          </p:cNvPr>
          <p:cNvSpPr>
            <a:spLocks noGrp="1"/>
          </p:cNvSpPr>
          <p:nvPr>
            <p:ph type="title"/>
          </p:nvPr>
        </p:nvSpPr>
        <p:spPr/>
        <p:txBody>
          <a:bodyPr/>
          <a:lstStyle/>
          <a:p>
            <a:r>
              <a:rPr lang="en-US" dirty="0"/>
              <a:t>4-2 Developing an ER Diagram</a:t>
            </a:r>
          </a:p>
        </p:txBody>
      </p:sp>
      <p:sp>
        <p:nvSpPr>
          <p:cNvPr id="3" name="Date Placeholder 2">
            <a:extLst>
              <a:ext uri="{FF2B5EF4-FFF2-40B4-BE49-F238E27FC236}">
                <a16:creationId xmlns:a16="http://schemas.microsoft.com/office/drawing/2014/main" id="{135CAD7A-CC57-BB05-C657-C7E8A3010A16}"/>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DE488B33-18C4-6B91-DFFA-16C9F44B7DEC}"/>
              </a:ext>
            </a:extLst>
          </p:cNvPr>
          <p:cNvSpPr>
            <a:spLocks noGrp="1"/>
          </p:cNvSpPr>
          <p:nvPr>
            <p:ph type="sldNum" sz="quarter" idx="11"/>
          </p:nvPr>
        </p:nvSpPr>
        <p:spPr/>
        <p:txBody>
          <a:bodyPr/>
          <a:lstStyle/>
          <a:p>
            <a:pPr>
              <a:defRPr/>
            </a:pPr>
            <a:fld id="{F9126DDB-45DE-4D72-94FB-1E2D565E80AF}" type="slidenum">
              <a:rPr lang="en-US" smtClean="0"/>
              <a:pPr>
                <a:defRPr/>
              </a:pPr>
              <a:t>38</a:t>
            </a:fld>
            <a:endParaRPr lang="en-US"/>
          </a:p>
        </p:txBody>
      </p:sp>
      <p:sp>
        <p:nvSpPr>
          <p:cNvPr id="5" name="Footer Placeholder 4">
            <a:extLst>
              <a:ext uri="{FF2B5EF4-FFF2-40B4-BE49-F238E27FC236}">
                <a16:creationId xmlns:a16="http://schemas.microsoft.com/office/drawing/2014/main" id="{A0B83DC0-F66B-DEF6-9D1D-8FFE3CF60779}"/>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791187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BDEC-6837-4062-6250-B195F9604533}"/>
              </a:ext>
            </a:extLst>
          </p:cNvPr>
          <p:cNvSpPr>
            <a:spLocks noGrp="1"/>
          </p:cNvSpPr>
          <p:nvPr>
            <p:ph type="title"/>
          </p:nvPr>
        </p:nvSpPr>
        <p:spPr/>
        <p:txBody>
          <a:bodyPr/>
          <a:lstStyle/>
          <a:p>
            <a:r>
              <a:rPr lang="en-US" dirty="0"/>
              <a:t>4-2 Developing an ER Diagram</a:t>
            </a:r>
          </a:p>
        </p:txBody>
      </p:sp>
      <p:sp>
        <p:nvSpPr>
          <p:cNvPr id="3" name="Content Placeholder 2">
            <a:extLst>
              <a:ext uri="{FF2B5EF4-FFF2-40B4-BE49-F238E27FC236}">
                <a16:creationId xmlns:a16="http://schemas.microsoft.com/office/drawing/2014/main" id="{0262AEB1-9154-D1CF-E02F-49633A852E42}"/>
              </a:ext>
            </a:extLst>
          </p:cNvPr>
          <p:cNvSpPr>
            <a:spLocks noGrp="1"/>
          </p:cNvSpPr>
          <p:nvPr>
            <p:ph idx="1"/>
          </p:nvPr>
        </p:nvSpPr>
        <p:spPr/>
        <p:txBody>
          <a:bodyPr/>
          <a:lstStyle/>
          <a:p>
            <a:r>
              <a:rPr lang="en-US" sz="2400" b="0" i="0" dirty="0">
                <a:solidFill>
                  <a:srgbClr val="242021"/>
                </a:solidFill>
                <a:effectLst/>
                <a:latin typeface="NewCaledoniaLTStd"/>
              </a:rPr>
              <a:t>Create a detailed narrative of the organization’s description of operations.</a:t>
            </a:r>
            <a:endParaRPr lang="en-US" sz="2400" dirty="0">
              <a:solidFill>
                <a:srgbClr val="242021"/>
              </a:solidFill>
              <a:latin typeface="NewCaledoniaLTStd"/>
            </a:endParaRPr>
          </a:p>
          <a:p>
            <a:r>
              <a:rPr lang="en-US" sz="2400" b="0" i="0" dirty="0">
                <a:solidFill>
                  <a:srgbClr val="242021"/>
                </a:solidFill>
                <a:effectLst/>
                <a:latin typeface="NewCaledoniaLTStd"/>
              </a:rPr>
              <a:t>Identify the business rules based on the description of operations.</a:t>
            </a:r>
            <a:endParaRPr lang="en-US" sz="2400" dirty="0">
              <a:solidFill>
                <a:srgbClr val="242021"/>
              </a:solidFill>
              <a:latin typeface="NewCaledoniaLTStd"/>
            </a:endParaRPr>
          </a:p>
          <a:p>
            <a:r>
              <a:rPr lang="en-US" sz="2400" b="0" i="0" dirty="0">
                <a:solidFill>
                  <a:srgbClr val="242021"/>
                </a:solidFill>
                <a:effectLst/>
                <a:latin typeface="NewCaledoniaLTStd"/>
              </a:rPr>
              <a:t>Identify the main entities and relationships from the business rules.</a:t>
            </a:r>
            <a:endParaRPr lang="en-US" sz="2400" dirty="0">
              <a:solidFill>
                <a:srgbClr val="242021"/>
              </a:solidFill>
              <a:latin typeface="NewCaledoniaLTStd"/>
            </a:endParaRPr>
          </a:p>
          <a:p>
            <a:r>
              <a:rPr lang="en-US" sz="2400" b="0" i="0" dirty="0">
                <a:solidFill>
                  <a:srgbClr val="242021"/>
                </a:solidFill>
                <a:effectLst/>
                <a:latin typeface="NewCaledoniaLTStd"/>
              </a:rPr>
              <a:t>Develop the initial ERD.</a:t>
            </a:r>
            <a:endParaRPr lang="en-US" sz="2400" dirty="0">
              <a:solidFill>
                <a:srgbClr val="242021"/>
              </a:solidFill>
              <a:latin typeface="NewCaledoniaLTStd"/>
            </a:endParaRPr>
          </a:p>
          <a:p>
            <a:r>
              <a:rPr lang="en-US" sz="2400" b="0" i="0" dirty="0">
                <a:solidFill>
                  <a:srgbClr val="242021"/>
                </a:solidFill>
                <a:effectLst/>
                <a:latin typeface="NewCaledoniaLTStd"/>
              </a:rPr>
              <a:t>Identify the attributes and primary keys that adequately describe the entities.</a:t>
            </a:r>
            <a:endParaRPr lang="en-US" sz="2400" dirty="0">
              <a:solidFill>
                <a:srgbClr val="242021"/>
              </a:solidFill>
              <a:latin typeface="NewCaledoniaLTStd"/>
            </a:endParaRPr>
          </a:p>
          <a:p>
            <a:r>
              <a:rPr lang="en-US" sz="2400" b="0" i="0" dirty="0">
                <a:solidFill>
                  <a:srgbClr val="242021"/>
                </a:solidFill>
                <a:effectLst/>
                <a:latin typeface="NewCaledoniaLTStd"/>
              </a:rPr>
              <a:t>Revise and review the ERD</a:t>
            </a:r>
            <a:r>
              <a:rPr lang="en-US" sz="2800" dirty="0"/>
              <a:t> </a:t>
            </a:r>
          </a:p>
        </p:txBody>
      </p:sp>
      <p:sp>
        <p:nvSpPr>
          <p:cNvPr id="4" name="Slide Number Placeholder 3">
            <a:extLst>
              <a:ext uri="{FF2B5EF4-FFF2-40B4-BE49-F238E27FC236}">
                <a16:creationId xmlns:a16="http://schemas.microsoft.com/office/drawing/2014/main" id="{BD0E536F-774D-860B-7588-0F6DA3055DDE}"/>
              </a:ext>
            </a:extLst>
          </p:cNvPr>
          <p:cNvSpPr>
            <a:spLocks noGrp="1"/>
          </p:cNvSpPr>
          <p:nvPr>
            <p:ph type="sldNum" sz="quarter" idx="10"/>
          </p:nvPr>
        </p:nvSpPr>
        <p:spPr/>
        <p:txBody>
          <a:bodyPr/>
          <a:lstStyle/>
          <a:p>
            <a:pPr>
              <a:defRPr/>
            </a:pPr>
            <a:fld id="{34A84676-C444-4AC5-8B4E-405A7C81C0FB}" type="slidenum">
              <a:rPr lang="en-US" altLang="en-US" smtClean="0"/>
              <a:pPr>
                <a:defRPr/>
              </a:pPr>
              <a:t>39</a:t>
            </a:fld>
            <a:endParaRPr lang="en-US" altLang="en-US"/>
          </a:p>
        </p:txBody>
      </p:sp>
      <p:sp>
        <p:nvSpPr>
          <p:cNvPr id="5" name="Footer Placeholder 4">
            <a:extLst>
              <a:ext uri="{FF2B5EF4-FFF2-40B4-BE49-F238E27FC236}">
                <a16:creationId xmlns:a16="http://schemas.microsoft.com/office/drawing/2014/main" id="{446B0B01-FA81-3D17-5CAF-EE476B91FBAB}"/>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929CD48-69AB-D2FB-3AA3-95DFC202EF15}"/>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150479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2400" b="0" i="0" dirty="0">
                <a:solidFill>
                  <a:srgbClr val="242021"/>
                </a:solidFill>
                <a:effectLst/>
                <a:latin typeface="NewCaledoniaLTStd"/>
              </a:rPr>
              <a:t>Tiny College (TC) is divided into several schools. Each school is administered by a dean who is a professor. Each professor can be the dean of only one school, and a professor is not required to be the dean of any school. </a:t>
            </a:r>
          </a:p>
          <a:p>
            <a:pPr lvl="1"/>
            <a:r>
              <a:rPr lang="en-US" sz="2400" b="0" i="0" dirty="0">
                <a:solidFill>
                  <a:srgbClr val="242021"/>
                </a:solidFill>
                <a:effectLst/>
                <a:latin typeface="NewCaledoniaLTStd"/>
              </a:rPr>
              <a:t>a 1:1 relationship exists between PROFESSOR and SCHOOL</a:t>
            </a:r>
            <a:endParaRPr lang="en-US" dirty="0">
              <a:solidFill>
                <a:srgbClr val="242021"/>
              </a:solidFill>
              <a:latin typeface="NewCaledoniaLTStd"/>
            </a:endParaRPr>
          </a:p>
          <a:p>
            <a:r>
              <a:rPr lang="en-US" sz="2400" b="0" i="0" dirty="0">
                <a:solidFill>
                  <a:srgbClr val="242021"/>
                </a:solidFill>
                <a:effectLst/>
                <a:latin typeface="NewCaledoniaLTStd"/>
              </a:rPr>
              <a:t>Each school comprises several departments. On the other hand, each department belongs to only a single school. </a:t>
            </a:r>
            <a:endParaRPr lang="en-US" sz="2800"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40</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837242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88211-C9D4-FFB4-7D9F-D2CD4768F88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AA20C33-C5ED-8140-728B-981C2F2D5BE0}"/>
              </a:ext>
            </a:extLst>
          </p:cNvPr>
          <p:cNvSpPr>
            <a:spLocks noGrp="1"/>
          </p:cNvSpPr>
          <p:nvPr>
            <p:ph type="sldNum" sz="quarter" idx="11"/>
          </p:nvPr>
        </p:nvSpPr>
        <p:spPr/>
        <p:txBody>
          <a:bodyPr/>
          <a:lstStyle/>
          <a:p>
            <a:pPr>
              <a:defRPr/>
            </a:pPr>
            <a:fld id="{D1AD3536-327C-4937-83AF-A64971CFA6D9}" type="slidenum">
              <a:rPr lang="en-US" smtClean="0"/>
              <a:pPr>
                <a:defRPr/>
              </a:pPr>
              <a:t>41</a:t>
            </a:fld>
            <a:endParaRPr lang="en-US"/>
          </a:p>
        </p:txBody>
      </p:sp>
      <p:sp>
        <p:nvSpPr>
          <p:cNvPr id="4" name="Footer Placeholder 3">
            <a:extLst>
              <a:ext uri="{FF2B5EF4-FFF2-40B4-BE49-F238E27FC236}">
                <a16:creationId xmlns:a16="http://schemas.microsoft.com/office/drawing/2014/main" id="{665B3FFA-4C36-22D1-AD24-FE51D4CC721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C536866-31D4-2982-531A-E3ED10BDC81E}"/>
              </a:ext>
            </a:extLst>
          </p:cNvPr>
          <p:cNvPicPr>
            <a:picLocks noChangeAspect="1"/>
          </p:cNvPicPr>
          <p:nvPr/>
        </p:nvPicPr>
        <p:blipFill>
          <a:blip r:embed="rId3"/>
          <a:stretch>
            <a:fillRect/>
          </a:stretch>
        </p:blipFill>
        <p:spPr>
          <a:xfrm>
            <a:off x="2524125" y="1214437"/>
            <a:ext cx="7143750" cy="4429125"/>
          </a:xfrm>
          <a:prstGeom prst="rect">
            <a:avLst/>
          </a:prstGeom>
        </p:spPr>
      </p:pic>
    </p:spTree>
    <p:extLst>
      <p:ext uri="{BB962C8B-B14F-4D97-AF65-F5344CB8AC3E}">
        <p14:creationId xmlns:p14="http://schemas.microsoft.com/office/powerpoint/2010/main" val="2627327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2000" b="0" i="0" dirty="0">
                <a:solidFill>
                  <a:srgbClr val="242021"/>
                </a:solidFill>
                <a:effectLst/>
                <a:latin typeface="NewCaledoniaLTStd"/>
              </a:rPr>
              <a:t>Each department may offer courses. </a:t>
            </a:r>
          </a:p>
          <a:p>
            <a:r>
              <a:rPr lang="en-US" sz="2000" b="0" i="0" dirty="0">
                <a:solidFill>
                  <a:srgbClr val="242021"/>
                </a:solidFill>
                <a:effectLst/>
                <a:latin typeface="NewCaledoniaLTStd"/>
              </a:rPr>
              <a:t>Tiny</a:t>
            </a:r>
            <a:r>
              <a:rPr lang="en-US" sz="2000" dirty="0">
                <a:solidFill>
                  <a:srgbClr val="242021"/>
                </a:solidFill>
                <a:latin typeface="NewCaledoniaLTStd"/>
              </a:rPr>
              <a:t> </a:t>
            </a:r>
            <a:r>
              <a:rPr lang="en-US" sz="2000" b="0" i="0" dirty="0">
                <a:solidFill>
                  <a:srgbClr val="242021"/>
                </a:solidFill>
                <a:effectLst/>
                <a:latin typeface="NewCaledoniaLTStd"/>
              </a:rPr>
              <a:t>College had some departments that were classified as “research only,” they would not offer courses</a:t>
            </a:r>
          </a:p>
          <a:p>
            <a:pPr lvl="1"/>
            <a:r>
              <a:rPr lang="en-US" sz="1700" b="0" i="0" dirty="0">
                <a:solidFill>
                  <a:srgbClr val="242021"/>
                </a:solidFill>
                <a:effectLst/>
                <a:latin typeface="NewCaledoniaLTStd"/>
              </a:rPr>
              <a:t>The COURSE entity would be optional to the DEPARTMENT entity</a:t>
            </a:r>
            <a:r>
              <a:rPr lang="en-US" sz="1300" dirty="0"/>
              <a:t> </a:t>
            </a:r>
            <a:endParaRPr lang="en-US" sz="2100"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42</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F4CD7AB3-FC70-2769-4288-4B13AFFE40BB}"/>
              </a:ext>
            </a:extLst>
          </p:cNvPr>
          <p:cNvPicPr>
            <a:picLocks noChangeAspect="1"/>
          </p:cNvPicPr>
          <p:nvPr/>
        </p:nvPicPr>
        <p:blipFill>
          <a:blip r:embed="rId3"/>
          <a:stretch>
            <a:fillRect/>
          </a:stretch>
        </p:blipFill>
        <p:spPr>
          <a:xfrm>
            <a:off x="2590800" y="3816350"/>
            <a:ext cx="7191375" cy="2495550"/>
          </a:xfrm>
          <a:prstGeom prst="rect">
            <a:avLst/>
          </a:prstGeom>
        </p:spPr>
      </p:pic>
    </p:spTree>
    <p:extLst>
      <p:ext uri="{BB962C8B-B14F-4D97-AF65-F5344CB8AC3E}">
        <p14:creationId xmlns:p14="http://schemas.microsoft.com/office/powerpoint/2010/main" val="4092980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b="0" i="0" dirty="0">
                <a:solidFill>
                  <a:srgbClr val="242021"/>
                </a:solidFill>
                <a:effectLst/>
                <a:latin typeface="NewCaledoniaLTStd"/>
              </a:rPr>
              <a:t>A department may offer several sections (classes) of the same course. Each of those classes is taught by a professor at a given time in a given place. </a:t>
            </a:r>
          </a:p>
          <a:p>
            <a:pPr lvl="1"/>
            <a:r>
              <a:rPr lang="en-US" sz="1500" b="0" i="0" dirty="0">
                <a:solidFill>
                  <a:srgbClr val="242021"/>
                </a:solidFill>
                <a:effectLst/>
                <a:latin typeface="NewCaledoniaLTStd"/>
              </a:rPr>
              <a:t>In short, a 1:M relationship exists between COURSE and CLASS. </a:t>
            </a:r>
          </a:p>
          <a:p>
            <a:r>
              <a:rPr lang="en-US" sz="1800" b="0" i="0" dirty="0">
                <a:solidFill>
                  <a:srgbClr val="242021"/>
                </a:solidFill>
                <a:effectLst/>
                <a:latin typeface="NewCaledoniaLTStd"/>
              </a:rPr>
              <a:t>Each class is offered during a given semester. SEMESTER defines the year and the term that the class will be offered</a:t>
            </a:r>
            <a:r>
              <a:rPr lang="en-US" sz="1600" dirty="0"/>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43</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59502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0410A-26D9-18D9-9009-A1521FCA828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EC94A02-1934-2E9A-62B0-BA3C4CC50EDF}"/>
              </a:ext>
            </a:extLst>
          </p:cNvPr>
          <p:cNvSpPr>
            <a:spLocks noGrp="1"/>
          </p:cNvSpPr>
          <p:nvPr>
            <p:ph type="sldNum" sz="quarter" idx="11"/>
          </p:nvPr>
        </p:nvSpPr>
        <p:spPr/>
        <p:txBody>
          <a:bodyPr/>
          <a:lstStyle/>
          <a:p>
            <a:pPr>
              <a:defRPr/>
            </a:pPr>
            <a:fld id="{D1AD3536-327C-4937-83AF-A64971CFA6D9}" type="slidenum">
              <a:rPr lang="en-US" smtClean="0"/>
              <a:pPr>
                <a:defRPr/>
              </a:pPr>
              <a:t>44</a:t>
            </a:fld>
            <a:endParaRPr lang="en-US"/>
          </a:p>
        </p:txBody>
      </p:sp>
      <p:sp>
        <p:nvSpPr>
          <p:cNvPr id="4" name="Footer Placeholder 3">
            <a:extLst>
              <a:ext uri="{FF2B5EF4-FFF2-40B4-BE49-F238E27FC236}">
                <a16:creationId xmlns:a16="http://schemas.microsoft.com/office/drawing/2014/main" id="{D1019E50-49D9-4734-442A-E850FDEE2DA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3475292-C6E7-3D8A-3EF6-C1771CBD2D52}"/>
              </a:ext>
            </a:extLst>
          </p:cNvPr>
          <p:cNvPicPr>
            <a:picLocks noChangeAspect="1"/>
          </p:cNvPicPr>
          <p:nvPr/>
        </p:nvPicPr>
        <p:blipFill>
          <a:blip r:embed="rId3"/>
          <a:stretch>
            <a:fillRect/>
          </a:stretch>
        </p:blipFill>
        <p:spPr>
          <a:xfrm>
            <a:off x="2509837" y="576262"/>
            <a:ext cx="7172325" cy="5705475"/>
          </a:xfrm>
          <a:prstGeom prst="rect">
            <a:avLst/>
          </a:prstGeom>
        </p:spPr>
      </p:pic>
    </p:spTree>
    <p:extLst>
      <p:ext uri="{BB962C8B-B14F-4D97-AF65-F5344CB8AC3E}">
        <p14:creationId xmlns:p14="http://schemas.microsoft.com/office/powerpoint/2010/main" val="26589347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b="0" i="0" dirty="0">
                <a:solidFill>
                  <a:srgbClr val="242021"/>
                </a:solidFill>
                <a:effectLst/>
                <a:latin typeface="NewCaledoniaLTStd"/>
              </a:rPr>
              <a:t>Each department should have one or more professors assigned to it. One and only one of those professors chairs the department, and no professor is required to accept the chair position. </a:t>
            </a:r>
          </a:p>
          <a:p>
            <a:pPr lvl="1"/>
            <a:r>
              <a:rPr lang="en-US" sz="1500" b="0" i="0" dirty="0">
                <a:solidFill>
                  <a:srgbClr val="242021"/>
                </a:solidFill>
                <a:effectLst/>
                <a:latin typeface="NewCaledoniaLTStd"/>
              </a:rPr>
              <a:t>DEPARTMENT is optional to PROFESSOR in the “chairs” relationship.</a:t>
            </a:r>
            <a:r>
              <a:rPr lang="en-US" sz="1100" dirty="0"/>
              <a:t> </a:t>
            </a:r>
          </a:p>
          <a:p>
            <a:r>
              <a:rPr lang="en-US" sz="1800" b="0" i="0" dirty="0">
                <a:solidFill>
                  <a:srgbClr val="242021"/>
                </a:solidFill>
                <a:effectLst/>
                <a:latin typeface="NewCaledoniaLTStd"/>
              </a:rPr>
              <a:t>Each professor may teach up to four classes; each class is a section of a course. A professor may also be on a research contract and teach no classes at all.</a:t>
            </a:r>
            <a:r>
              <a:rPr lang="en-US" sz="1100" dirty="0"/>
              <a:t> </a:t>
            </a:r>
            <a:br>
              <a:rPr lang="en-US" sz="1100" dirty="0"/>
            </a:br>
            <a:endParaRPr lang="en-US" sz="1400" dirty="0"/>
          </a:p>
          <a:p>
            <a:pPr marL="0" indent="0">
              <a:buNone/>
            </a:pPr>
            <a:br>
              <a:rPr lang="en-US" sz="1400" dirty="0"/>
            </a:br>
            <a:r>
              <a:rPr lang="en-US" sz="1800" b="0" i="0" dirty="0">
                <a:solidFill>
                  <a:srgbClr val="242021"/>
                </a:solidFill>
                <a:effectLst/>
                <a:latin typeface="NewCaledoniaLTStd"/>
              </a:rPr>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45</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EEF5B3F2-CD48-15C8-EB28-5340CCE5CEBA}"/>
              </a:ext>
            </a:extLst>
          </p:cNvPr>
          <p:cNvPicPr>
            <a:picLocks noChangeAspect="1"/>
          </p:cNvPicPr>
          <p:nvPr/>
        </p:nvPicPr>
        <p:blipFill>
          <a:blip r:embed="rId3"/>
          <a:stretch>
            <a:fillRect/>
          </a:stretch>
        </p:blipFill>
        <p:spPr>
          <a:xfrm>
            <a:off x="609600" y="4155197"/>
            <a:ext cx="5219700" cy="2232109"/>
          </a:xfrm>
          <a:prstGeom prst="rect">
            <a:avLst/>
          </a:prstGeom>
        </p:spPr>
      </p:pic>
      <p:pic>
        <p:nvPicPr>
          <p:cNvPr id="10" name="Picture 9">
            <a:extLst>
              <a:ext uri="{FF2B5EF4-FFF2-40B4-BE49-F238E27FC236}">
                <a16:creationId xmlns:a16="http://schemas.microsoft.com/office/drawing/2014/main" id="{7CDAA65D-EAD2-F596-3716-68D1F84EC9B8}"/>
              </a:ext>
            </a:extLst>
          </p:cNvPr>
          <p:cNvPicPr>
            <a:picLocks noChangeAspect="1"/>
          </p:cNvPicPr>
          <p:nvPr/>
        </p:nvPicPr>
        <p:blipFill>
          <a:blip r:embed="rId4"/>
          <a:stretch>
            <a:fillRect/>
          </a:stretch>
        </p:blipFill>
        <p:spPr>
          <a:xfrm>
            <a:off x="5837689" y="4153139"/>
            <a:ext cx="5668511" cy="2240518"/>
          </a:xfrm>
          <a:prstGeom prst="rect">
            <a:avLst/>
          </a:prstGeom>
        </p:spPr>
      </p:pic>
    </p:spTree>
    <p:extLst>
      <p:ext uri="{BB962C8B-B14F-4D97-AF65-F5344CB8AC3E}">
        <p14:creationId xmlns:p14="http://schemas.microsoft.com/office/powerpoint/2010/main" val="3911919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b="0" i="0" dirty="0">
                <a:solidFill>
                  <a:srgbClr val="242021"/>
                </a:solidFill>
                <a:effectLst/>
                <a:latin typeface="NewCaledoniaLTStd"/>
              </a:rPr>
              <a:t>A student may enroll in several classes but take each class only once during any given enrollment period.</a:t>
            </a:r>
          </a:p>
          <a:p>
            <a:r>
              <a:rPr lang="en-US" sz="1800" b="0" i="0" dirty="0">
                <a:solidFill>
                  <a:srgbClr val="242021"/>
                </a:solidFill>
                <a:effectLst/>
                <a:latin typeface="NewCaledoniaLTStd"/>
              </a:rPr>
              <a:t>Each student may enroll in up to six classes, and each class may have up to 35 students</a:t>
            </a:r>
            <a:r>
              <a:rPr lang="en-US" sz="1000" dirty="0"/>
              <a:t> </a:t>
            </a:r>
            <a:br>
              <a:rPr lang="en-US" sz="1000" dirty="0"/>
            </a:br>
            <a:br>
              <a:rPr lang="en-US" sz="1100" dirty="0"/>
            </a:br>
            <a:endParaRPr lang="en-US" sz="1400" dirty="0"/>
          </a:p>
          <a:p>
            <a:pPr marL="0" indent="0">
              <a:buNone/>
            </a:pPr>
            <a:br>
              <a:rPr lang="en-US" sz="1400" dirty="0"/>
            </a:br>
            <a:r>
              <a:rPr lang="en-US" sz="1800" b="0" i="0" dirty="0">
                <a:solidFill>
                  <a:srgbClr val="242021"/>
                </a:solidFill>
                <a:effectLst/>
                <a:latin typeface="NewCaledoniaLTStd"/>
              </a:rPr>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46</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6874D786-15C3-21D6-EAAB-54C2015F7568}"/>
              </a:ext>
            </a:extLst>
          </p:cNvPr>
          <p:cNvPicPr>
            <a:picLocks noChangeAspect="1"/>
          </p:cNvPicPr>
          <p:nvPr/>
        </p:nvPicPr>
        <p:blipFill>
          <a:blip r:embed="rId3"/>
          <a:stretch>
            <a:fillRect/>
          </a:stretch>
        </p:blipFill>
        <p:spPr>
          <a:xfrm>
            <a:off x="1371600" y="3200400"/>
            <a:ext cx="9401175" cy="2552700"/>
          </a:xfrm>
          <a:prstGeom prst="rect">
            <a:avLst/>
          </a:prstGeom>
        </p:spPr>
      </p:pic>
    </p:spTree>
    <p:extLst>
      <p:ext uri="{BB962C8B-B14F-4D97-AF65-F5344CB8AC3E}">
        <p14:creationId xmlns:p14="http://schemas.microsoft.com/office/powerpoint/2010/main" val="34965075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b="0" i="0" dirty="0">
                <a:solidFill>
                  <a:srgbClr val="242021"/>
                </a:solidFill>
                <a:effectLst/>
                <a:latin typeface="NewCaledoniaLTStd"/>
              </a:rPr>
              <a:t>Each department has several (or many) students whose major is offered by that department. </a:t>
            </a:r>
          </a:p>
          <a:p>
            <a:r>
              <a:rPr lang="en-US" sz="1800" b="0" i="0" dirty="0">
                <a:solidFill>
                  <a:srgbClr val="242021"/>
                </a:solidFill>
                <a:effectLst/>
                <a:latin typeface="NewCaledoniaLTStd"/>
              </a:rPr>
              <a:t>Each student has only a single major and is therefore associated with a single department. </a:t>
            </a:r>
          </a:p>
          <a:p>
            <a:pPr lvl="1"/>
            <a:r>
              <a:rPr lang="en-US" sz="1800" b="0" i="0" dirty="0">
                <a:solidFill>
                  <a:srgbClr val="242021"/>
                </a:solidFill>
                <a:effectLst/>
                <a:latin typeface="NewCaledoniaLTStd"/>
              </a:rPr>
              <a:t>it is possible for a student not to declare a major field of study</a:t>
            </a:r>
            <a:r>
              <a:rPr lang="en-US" sz="1100" dirty="0"/>
              <a:t> </a:t>
            </a:r>
          </a:p>
          <a:p>
            <a:pPr marL="0" indent="0">
              <a:buNone/>
            </a:pPr>
            <a:br>
              <a:rPr lang="en-US" sz="1400" dirty="0"/>
            </a:br>
            <a:br>
              <a:rPr lang="en-US" sz="1400" dirty="0"/>
            </a:br>
            <a:br>
              <a:rPr lang="en-US" sz="1000" dirty="0"/>
            </a:br>
            <a:br>
              <a:rPr lang="en-US" sz="1100" dirty="0"/>
            </a:br>
            <a:endParaRPr lang="en-US" sz="1400" dirty="0"/>
          </a:p>
          <a:p>
            <a:pPr marL="0" indent="0">
              <a:buNone/>
            </a:pPr>
            <a:br>
              <a:rPr lang="en-US" sz="1400" dirty="0"/>
            </a:br>
            <a:r>
              <a:rPr lang="en-US" sz="1800" b="0" i="0" dirty="0">
                <a:solidFill>
                  <a:srgbClr val="242021"/>
                </a:solidFill>
                <a:effectLst/>
                <a:latin typeface="NewCaledoniaLTStd"/>
              </a:rPr>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47</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A889B1C2-4E3A-C525-AEBB-F1667B27BCDB}"/>
              </a:ext>
            </a:extLst>
          </p:cNvPr>
          <p:cNvPicPr>
            <a:picLocks noChangeAspect="1"/>
          </p:cNvPicPr>
          <p:nvPr/>
        </p:nvPicPr>
        <p:blipFill>
          <a:blip r:embed="rId3"/>
          <a:stretch>
            <a:fillRect/>
          </a:stretch>
        </p:blipFill>
        <p:spPr>
          <a:xfrm>
            <a:off x="2590800" y="3568700"/>
            <a:ext cx="7200900" cy="2743200"/>
          </a:xfrm>
          <a:prstGeom prst="rect">
            <a:avLst/>
          </a:prstGeom>
        </p:spPr>
      </p:pic>
    </p:spTree>
    <p:extLst>
      <p:ext uri="{BB962C8B-B14F-4D97-AF65-F5344CB8AC3E}">
        <p14:creationId xmlns:p14="http://schemas.microsoft.com/office/powerpoint/2010/main" val="23934064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b="0" i="0" dirty="0">
                <a:solidFill>
                  <a:srgbClr val="242021"/>
                </a:solidFill>
                <a:effectLst/>
                <a:latin typeface="NewCaledoniaLTStd"/>
              </a:rPr>
              <a:t>Each student has an advisor in his or her department; each advisor counsels several students. </a:t>
            </a:r>
          </a:p>
          <a:p>
            <a:r>
              <a:rPr lang="en-US" sz="1800" b="0" i="0" dirty="0">
                <a:solidFill>
                  <a:srgbClr val="242021"/>
                </a:solidFill>
                <a:effectLst/>
                <a:latin typeface="NewCaledoniaLTStd"/>
              </a:rPr>
              <a:t>An advisor is also a professor, but not all professors advise students.</a:t>
            </a:r>
            <a:r>
              <a:rPr lang="en-US" sz="1400" dirty="0"/>
              <a:t> </a:t>
            </a:r>
            <a:br>
              <a:rPr lang="en-US" sz="1400" dirty="0"/>
            </a:br>
            <a:br>
              <a:rPr lang="en-US" sz="1400" dirty="0"/>
            </a:br>
            <a:br>
              <a:rPr lang="en-US" sz="1400" dirty="0"/>
            </a:br>
            <a:br>
              <a:rPr lang="en-US" sz="1000" dirty="0"/>
            </a:br>
            <a:br>
              <a:rPr lang="en-US" sz="1100" dirty="0"/>
            </a:br>
            <a:endParaRPr lang="en-US" sz="1400" dirty="0"/>
          </a:p>
          <a:p>
            <a:pPr marL="0" indent="0">
              <a:buNone/>
            </a:pPr>
            <a:br>
              <a:rPr lang="en-US" sz="1400" dirty="0"/>
            </a:br>
            <a:r>
              <a:rPr lang="en-US" sz="1800" b="0" i="0" dirty="0">
                <a:solidFill>
                  <a:srgbClr val="242021"/>
                </a:solidFill>
                <a:effectLst/>
                <a:latin typeface="NewCaledoniaLTStd"/>
              </a:rPr>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48</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9" name="Picture 8">
            <a:extLst>
              <a:ext uri="{FF2B5EF4-FFF2-40B4-BE49-F238E27FC236}">
                <a16:creationId xmlns:a16="http://schemas.microsoft.com/office/drawing/2014/main" id="{34362ED8-993F-CEF1-259D-2A30B7476536}"/>
              </a:ext>
            </a:extLst>
          </p:cNvPr>
          <p:cNvPicPr>
            <a:picLocks noChangeAspect="1"/>
          </p:cNvPicPr>
          <p:nvPr/>
        </p:nvPicPr>
        <p:blipFill>
          <a:blip r:embed="rId3"/>
          <a:stretch>
            <a:fillRect/>
          </a:stretch>
        </p:blipFill>
        <p:spPr>
          <a:xfrm>
            <a:off x="2519362" y="2895600"/>
            <a:ext cx="7153275" cy="3143250"/>
          </a:xfrm>
          <a:prstGeom prst="rect">
            <a:avLst/>
          </a:prstGeom>
        </p:spPr>
      </p:pic>
    </p:spTree>
    <p:extLst>
      <p:ext uri="{BB962C8B-B14F-4D97-AF65-F5344CB8AC3E}">
        <p14:creationId xmlns:p14="http://schemas.microsoft.com/office/powerpoint/2010/main" val="1129812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BE04-A08E-5274-DC4F-4131A6B6D9D8}"/>
              </a:ext>
            </a:extLst>
          </p:cNvPr>
          <p:cNvSpPr>
            <a:spLocks noGrp="1"/>
          </p:cNvSpPr>
          <p:nvPr>
            <p:ph type="title"/>
          </p:nvPr>
        </p:nvSpPr>
        <p:spPr/>
        <p:txBody>
          <a:bodyPr/>
          <a:lstStyle/>
          <a:p>
            <a:r>
              <a:rPr lang="en-US" sz="3600" b="0" i="0" dirty="0">
                <a:solidFill>
                  <a:srgbClr val="242021"/>
                </a:solidFill>
                <a:effectLst/>
                <a:latin typeface="NewCaledoniaLTStd"/>
              </a:rPr>
              <a:t>Tiny College ERD</a:t>
            </a:r>
            <a:endParaRPr lang="en-US" dirty="0"/>
          </a:p>
        </p:txBody>
      </p:sp>
      <p:sp>
        <p:nvSpPr>
          <p:cNvPr id="3" name="Content Placeholder 2">
            <a:extLst>
              <a:ext uri="{FF2B5EF4-FFF2-40B4-BE49-F238E27FC236}">
                <a16:creationId xmlns:a16="http://schemas.microsoft.com/office/drawing/2014/main" id="{17BD741F-6099-651D-CF0C-4AAE87522885}"/>
              </a:ext>
            </a:extLst>
          </p:cNvPr>
          <p:cNvSpPr>
            <a:spLocks noGrp="1"/>
          </p:cNvSpPr>
          <p:nvPr>
            <p:ph idx="1"/>
          </p:nvPr>
        </p:nvSpPr>
        <p:spPr/>
        <p:txBody>
          <a:bodyPr/>
          <a:lstStyle/>
          <a:p>
            <a:r>
              <a:rPr lang="en-US" sz="1800" dirty="0">
                <a:solidFill>
                  <a:srgbClr val="242021"/>
                </a:solidFill>
                <a:latin typeface="NewCaledoniaLTStd"/>
              </a:rPr>
              <a:t>A </a:t>
            </a:r>
            <a:r>
              <a:rPr lang="en-US" sz="1800" b="0" i="0" dirty="0">
                <a:solidFill>
                  <a:srgbClr val="242021"/>
                </a:solidFill>
                <a:effectLst/>
                <a:latin typeface="NewCaledoniaLTStd"/>
              </a:rPr>
              <a:t>BUILDING can contain many ROOMs, but each ROOM is found in a single BUILDING. </a:t>
            </a:r>
          </a:p>
          <a:p>
            <a:r>
              <a:rPr lang="en-US" sz="1800" b="0" i="0" dirty="0">
                <a:solidFill>
                  <a:srgbClr val="242021"/>
                </a:solidFill>
                <a:effectLst/>
                <a:latin typeface="NewCaledoniaLTStd"/>
              </a:rPr>
              <a:t>Some buildings do not contain (class) rooms. For example, a storage building might not contain any named rooms at all.</a:t>
            </a:r>
            <a:r>
              <a:rPr lang="en-US" sz="1400" dirty="0"/>
              <a:t> </a:t>
            </a:r>
            <a:br>
              <a:rPr lang="en-US" sz="1000" dirty="0"/>
            </a:br>
            <a:br>
              <a:rPr lang="en-US" sz="1100" dirty="0"/>
            </a:br>
            <a:endParaRPr lang="en-US" sz="1400" dirty="0"/>
          </a:p>
          <a:p>
            <a:pPr marL="0" indent="0">
              <a:buNone/>
            </a:pPr>
            <a:br>
              <a:rPr lang="en-US" sz="1400" dirty="0"/>
            </a:br>
            <a:r>
              <a:rPr lang="en-US" sz="1800" b="0" i="0" dirty="0">
                <a:solidFill>
                  <a:srgbClr val="242021"/>
                </a:solidFill>
                <a:effectLst/>
                <a:latin typeface="NewCaledoniaLTStd"/>
              </a:rPr>
              <a:t> </a:t>
            </a:r>
            <a:br>
              <a:rPr lang="en-US" sz="1600" dirty="0"/>
            </a:br>
            <a:endParaRPr lang="en-US" dirty="0"/>
          </a:p>
        </p:txBody>
      </p:sp>
      <p:sp>
        <p:nvSpPr>
          <p:cNvPr id="4" name="Slide Number Placeholder 3">
            <a:extLst>
              <a:ext uri="{FF2B5EF4-FFF2-40B4-BE49-F238E27FC236}">
                <a16:creationId xmlns:a16="http://schemas.microsoft.com/office/drawing/2014/main" id="{17988CDA-D758-B74D-85EC-87A66412D341}"/>
              </a:ext>
            </a:extLst>
          </p:cNvPr>
          <p:cNvSpPr>
            <a:spLocks noGrp="1"/>
          </p:cNvSpPr>
          <p:nvPr>
            <p:ph type="sldNum" sz="quarter" idx="10"/>
          </p:nvPr>
        </p:nvSpPr>
        <p:spPr/>
        <p:txBody>
          <a:bodyPr/>
          <a:lstStyle/>
          <a:p>
            <a:pPr>
              <a:defRPr/>
            </a:pPr>
            <a:fld id="{34A84676-C444-4AC5-8B4E-405A7C81C0FB}" type="slidenum">
              <a:rPr lang="en-US" altLang="en-US" smtClean="0"/>
              <a:pPr>
                <a:defRPr/>
              </a:pPr>
              <a:t>49</a:t>
            </a:fld>
            <a:endParaRPr lang="en-US" altLang="en-US"/>
          </a:p>
        </p:txBody>
      </p:sp>
      <p:sp>
        <p:nvSpPr>
          <p:cNvPr id="5" name="Footer Placeholder 4">
            <a:extLst>
              <a:ext uri="{FF2B5EF4-FFF2-40B4-BE49-F238E27FC236}">
                <a16:creationId xmlns:a16="http://schemas.microsoft.com/office/drawing/2014/main" id="{25009394-0B98-889D-84F6-721BD49BB13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BF73961-1D0D-9CFA-5165-B88194B4992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BFC8D69D-6FE5-7233-B193-9DFE648745B2}"/>
              </a:ext>
            </a:extLst>
          </p:cNvPr>
          <p:cNvPicPr>
            <a:picLocks noChangeAspect="1"/>
          </p:cNvPicPr>
          <p:nvPr/>
        </p:nvPicPr>
        <p:blipFill>
          <a:blip r:embed="rId3"/>
          <a:stretch>
            <a:fillRect/>
          </a:stretch>
        </p:blipFill>
        <p:spPr>
          <a:xfrm>
            <a:off x="1600200" y="3463255"/>
            <a:ext cx="9429750" cy="2190750"/>
          </a:xfrm>
          <a:prstGeom prst="rect">
            <a:avLst/>
          </a:prstGeom>
        </p:spPr>
      </p:pic>
    </p:spTree>
    <p:extLst>
      <p:ext uri="{BB962C8B-B14F-4D97-AF65-F5344CB8AC3E}">
        <p14:creationId xmlns:p14="http://schemas.microsoft.com/office/powerpoint/2010/main" val="3598795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8427CC-A079-258F-27A5-894103EA161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5945CF2-17B6-8A00-92AC-5EB32B55D71C}"/>
              </a:ext>
            </a:extLst>
          </p:cNvPr>
          <p:cNvSpPr>
            <a:spLocks noGrp="1"/>
          </p:cNvSpPr>
          <p:nvPr>
            <p:ph type="sldNum" sz="quarter" idx="11"/>
          </p:nvPr>
        </p:nvSpPr>
        <p:spPr/>
        <p:txBody>
          <a:bodyPr/>
          <a:lstStyle/>
          <a:p>
            <a:pPr>
              <a:defRPr/>
            </a:pPr>
            <a:fld id="{D1AD3536-327C-4937-83AF-A64971CFA6D9}" type="slidenum">
              <a:rPr lang="en-US" smtClean="0"/>
              <a:pPr>
                <a:defRPr/>
              </a:pPr>
              <a:t>50</a:t>
            </a:fld>
            <a:endParaRPr lang="en-US"/>
          </a:p>
        </p:txBody>
      </p:sp>
      <p:sp>
        <p:nvSpPr>
          <p:cNvPr id="4" name="Footer Placeholder 3">
            <a:extLst>
              <a:ext uri="{FF2B5EF4-FFF2-40B4-BE49-F238E27FC236}">
                <a16:creationId xmlns:a16="http://schemas.microsoft.com/office/drawing/2014/main" id="{1D02DB9A-9125-EC9F-8D9D-5F337ABDA7B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B144F41-4D96-509D-7C4B-154662B3632E}"/>
              </a:ext>
            </a:extLst>
          </p:cNvPr>
          <p:cNvPicPr>
            <a:picLocks noChangeAspect="1"/>
          </p:cNvPicPr>
          <p:nvPr/>
        </p:nvPicPr>
        <p:blipFill>
          <a:blip r:embed="rId3"/>
          <a:stretch>
            <a:fillRect/>
          </a:stretch>
        </p:blipFill>
        <p:spPr>
          <a:xfrm>
            <a:off x="2500312" y="2628900"/>
            <a:ext cx="7191375" cy="1600200"/>
          </a:xfrm>
          <a:prstGeom prst="rect">
            <a:avLst/>
          </a:prstGeom>
        </p:spPr>
      </p:pic>
    </p:spTree>
    <p:extLst>
      <p:ext uri="{BB962C8B-B14F-4D97-AF65-F5344CB8AC3E}">
        <p14:creationId xmlns:p14="http://schemas.microsoft.com/office/powerpoint/2010/main" val="1365127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07AE2A-89A0-8475-116B-52001B12590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B42F543-4BD3-8829-8364-B1C98CA94D14}"/>
              </a:ext>
            </a:extLst>
          </p:cNvPr>
          <p:cNvSpPr>
            <a:spLocks noGrp="1"/>
          </p:cNvSpPr>
          <p:nvPr>
            <p:ph type="sldNum" sz="quarter" idx="11"/>
          </p:nvPr>
        </p:nvSpPr>
        <p:spPr/>
        <p:txBody>
          <a:bodyPr/>
          <a:lstStyle/>
          <a:p>
            <a:pPr>
              <a:defRPr/>
            </a:pPr>
            <a:fld id="{D1AD3536-327C-4937-83AF-A64971CFA6D9}" type="slidenum">
              <a:rPr lang="en-US" smtClean="0"/>
              <a:pPr>
                <a:defRPr/>
              </a:pPr>
              <a:t>51</a:t>
            </a:fld>
            <a:endParaRPr lang="en-US"/>
          </a:p>
        </p:txBody>
      </p:sp>
      <p:sp>
        <p:nvSpPr>
          <p:cNvPr id="4" name="Footer Placeholder 3">
            <a:extLst>
              <a:ext uri="{FF2B5EF4-FFF2-40B4-BE49-F238E27FC236}">
                <a16:creationId xmlns:a16="http://schemas.microsoft.com/office/drawing/2014/main" id="{D406A5B1-FB7E-C927-7167-7AFABD4257C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9209A68-991C-6E01-2B8C-F2FB2115F0F1}"/>
              </a:ext>
            </a:extLst>
          </p:cNvPr>
          <p:cNvPicPr>
            <a:picLocks noChangeAspect="1"/>
          </p:cNvPicPr>
          <p:nvPr/>
        </p:nvPicPr>
        <p:blipFill>
          <a:blip r:embed="rId3"/>
          <a:stretch>
            <a:fillRect/>
          </a:stretch>
        </p:blipFill>
        <p:spPr>
          <a:xfrm>
            <a:off x="1400175" y="1000125"/>
            <a:ext cx="9391650" cy="4857750"/>
          </a:xfrm>
          <a:prstGeom prst="rect">
            <a:avLst/>
          </a:prstGeom>
        </p:spPr>
      </p:pic>
    </p:spTree>
    <p:extLst>
      <p:ext uri="{BB962C8B-B14F-4D97-AF65-F5344CB8AC3E}">
        <p14:creationId xmlns:p14="http://schemas.microsoft.com/office/powerpoint/2010/main" val="28179734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6C9A40-11B6-2B47-CF25-16EBF7CA79E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BC64036-C1F1-4693-1276-3B91EF4B4711}"/>
              </a:ext>
            </a:extLst>
          </p:cNvPr>
          <p:cNvSpPr>
            <a:spLocks noGrp="1"/>
          </p:cNvSpPr>
          <p:nvPr>
            <p:ph type="sldNum" sz="quarter" idx="11"/>
          </p:nvPr>
        </p:nvSpPr>
        <p:spPr/>
        <p:txBody>
          <a:bodyPr/>
          <a:lstStyle/>
          <a:p>
            <a:pPr>
              <a:defRPr/>
            </a:pPr>
            <a:fld id="{D1AD3536-327C-4937-83AF-A64971CFA6D9}" type="slidenum">
              <a:rPr lang="en-US" smtClean="0"/>
              <a:pPr>
                <a:defRPr/>
              </a:pPr>
              <a:t>52</a:t>
            </a:fld>
            <a:endParaRPr lang="en-US"/>
          </a:p>
        </p:txBody>
      </p:sp>
      <p:sp>
        <p:nvSpPr>
          <p:cNvPr id="4" name="Footer Placeholder 3">
            <a:extLst>
              <a:ext uri="{FF2B5EF4-FFF2-40B4-BE49-F238E27FC236}">
                <a16:creationId xmlns:a16="http://schemas.microsoft.com/office/drawing/2014/main" id="{6819B4AF-7990-7AA3-CFD7-78F9490977A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995BE03-E773-FAE4-21CC-AE098EFFFEE2}"/>
              </a:ext>
            </a:extLst>
          </p:cNvPr>
          <p:cNvPicPr>
            <a:picLocks noChangeAspect="1"/>
          </p:cNvPicPr>
          <p:nvPr/>
        </p:nvPicPr>
        <p:blipFill>
          <a:blip r:embed="rId3"/>
          <a:stretch>
            <a:fillRect/>
          </a:stretch>
        </p:blipFill>
        <p:spPr>
          <a:xfrm>
            <a:off x="3146630" y="0"/>
            <a:ext cx="5898739" cy="6858000"/>
          </a:xfrm>
          <a:prstGeom prst="rect">
            <a:avLst/>
          </a:prstGeom>
        </p:spPr>
      </p:pic>
    </p:spTree>
    <p:extLst>
      <p:ext uri="{BB962C8B-B14F-4D97-AF65-F5344CB8AC3E}">
        <p14:creationId xmlns:p14="http://schemas.microsoft.com/office/powerpoint/2010/main" val="26455939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95AD01-AEB8-3F5E-EE49-F7354F976AF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82C912C-03A7-A508-8944-3724D25F6637}"/>
              </a:ext>
            </a:extLst>
          </p:cNvPr>
          <p:cNvSpPr>
            <a:spLocks noGrp="1"/>
          </p:cNvSpPr>
          <p:nvPr>
            <p:ph type="sldNum" sz="quarter" idx="11"/>
          </p:nvPr>
        </p:nvSpPr>
        <p:spPr/>
        <p:txBody>
          <a:bodyPr/>
          <a:lstStyle/>
          <a:p>
            <a:pPr>
              <a:defRPr/>
            </a:pPr>
            <a:fld id="{D1AD3536-327C-4937-83AF-A64971CFA6D9}" type="slidenum">
              <a:rPr lang="en-US" smtClean="0"/>
              <a:pPr>
                <a:defRPr/>
              </a:pPr>
              <a:t>53</a:t>
            </a:fld>
            <a:endParaRPr lang="en-US"/>
          </a:p>
        </p:txBody>
      </p:sp>
      <p:sp>
        <p:nvSpPr>
          <p:cNvPr id="4" name="Footer Placeholder 3">
            <a:extLst>
              <a:ext uri="{FF2B5EF4-FFF2-40B4-BE49-F238E27FC236}">
                <a16:creationId xmlns:a16="http://schemas.microsoft.com/office/drawing/2014/main" id="{2F6D04C7-1551-B6D3-E973-EB5F316E121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3835482-60CC-40FF-1E1C-2B686403A3CE}"/>
              </a:ext>
            </a:extLst>
          </p:cNvPr>
          <p:cNvPicPr>
            <a:picLocks noChangeAspect="1"/>
          </p:cNvPicPr>
          <p:nvPr/>
        </p:nvPicPr>
        <p:blipFill>
          <a:blip r:embed="rId3"/>
          <a:stretch>
            <a:fillRect/>
          </a:stretch>
        </p:blipFill>
        <p:spPr>
          <a:xfrm>
            <a:off x="2542543" y="0"/>
            <a:ext cx="7106914" cy="6858000"/>
          </a:xfrm>
          <a:prstGeom prst="rect">
            <a:avLst/>
          </a:prstGeom>
        </p:spPr>
      </p:pic>
    </p:spTree>
    <p:extLst>
      <p:ext uri="{BB962C8B-B14F-4D97-AF65-F5344CB8AC3E}">
        <p14:creationId xmlns:p14="http://schemas.microsoft.com/office/powerpoint/2010/main" val="969919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44386-5BF5-13B8-4D2B-5D306F8B8450}"/>
              </a:ext>
            </a:extLst>
          </p:cNvPr>
          <p:cNvSpPr>
            <a:spLocks noGrp="1"/>
          </p:cNvSpPr>
          <p:nvPr>
            <p:ph type="title"/>
          </p:nvPr>
        </p:nvSpPr>
        <p:spPr/>
        <p:txBody>
          <a:bodyPr/>
          <a:lstStyle/>
          <a:p>
            <a:r>
              <a:rPr lang="en-US" dirty="0"/>
              <a:t>4-3 Database Design Challenges: Conflicting Goals</a:t>
            </a:r>
          </a:p>
        </p:txBody>
      </p:sp>
      <p:sp>
        <p:nvSpPr>
          <p:cNvPr id="3" name="Date Placeholder 2">
            <a:extLst>
              <a:ext uri="{FF2B5EF4-FFF2-40B4-BE49-F238E27FC236}">
                <a16:creationId xmlns:a16="http://schemas.microsoft.com/office/drawing/2014/main" id="{F60A9EC7-5A10-6B1B-FD42-4D9CBB0A6BC1}"/>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50153C36-8108-911E-1567-E10DF105FB8A}"/>
              </a:ext>
            </a:extLst>
          </p:cNvPr>
          <p:cNvSpPr>
            <a:spLocks noGrp="1"/>
          </p:cNvSpPr>
          <p:nvPr>
            <p:ph type="sldNum" sz="quarter" idx="11"/>
          </p:nvPr>
        </p:nvSpPr>
        <p:spPr/>
        <p:txBody>
          <a:bodyPr/>
          <a:lstStyle/>
          <a:p>
            <a:pPr>
              <a:defRPr/>
            </a:pPr>
            <a:fld id="{F9126DDB-45DE-4D72-94FB-1E2D565E80AF}" type="slidenum">
              <a:rPr lang="en-US" smtClean="0"/>
              <a:pPr>
                <a:defRPr/>
              </a:pPr>
              <a:t>54</a:t>
            </a:fld>
            <a:endParaRPr lang="en-US"/>
          </a:p>
        </p:txBody>
      </p:sp>
      <p:sp>
        <p:nvSpPr>
          <p:cNvPr id="5" name="Footer Placeholder 4">
            <a:extLst>
              <a:ext uri="{FF2B5EF4-FFF2-40B4-BE49-F238E27FC236}">
                <a16:creationId xmlns:a16="http://schemas.microsoft.com/office/drawing/2014/main" id="{7A8CF2A6-DB00-61DB-214B-DBC853422662}"/>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901483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6502-D623-BC4F-8902-809B3510B073}"/>
              </a:ext>
            </a:extLst>
          </p:cNvPr>
          <p:cNvSpPr>
            <a:spLocks noGrp="1"/>
          </p:cNvSpPr>
          <p:nvPr>
            <p:ph type="title"/>
          </p:nvPr>
        </p:nvSpPr>
        <p:spPr/>
        <p:txBody>
          <a:bodyPr/>
          <a:lstStyle/>
          <a:p>
            <a:r>
              <a:rPr lang="en-US" dirty="0"/>
              <a:t>4-3 Database Design Challenges: Conflicting Goals</a:t>
            </a:r>
          </a:p>
        </p:txBody>
      </p:sp>
      <p:sp>
        <p:nvSpPr>
          <p:cNvPr id="3" name="Content Placeholder 2">
            <a:extLst>
              <a:ext uri="{FF2B5EF4-FFF2-40B4-BE49-F238E27FC236}">
                <a16:creationId xmlns:a16="http://schemas.microsoft.com/office/drawing/2014/main" id="{A4445C04-8704-2F2F-4069-6291B473A337}"/>
              </a:ext>
            </a:extLst>
          </p:cNvPr>
          <p:cNvSpPr>
            <a:spLocks noGrp="1"/>
          </p:cNvSpPr>
          <p:nvPr>
            <p:ph idx="1"/>
          </p:nvPr>
        </p:nvSpPr>
        <p:spPr/>
        <p:txBody>
          <a:bodyPr/>
          <a:lstStyle/>
          <a:p>
            <a:r>
              <a:rPr lang="en-US" sz="1800" b="0" i="0" dirty="0">
                <a:solidFill>
                  <a:srgbClr val="242021"/>
                </a:solidFill>
                <a:effectLst/>
                <a:latin typeface="NewCaledoniaLTStd"/>
              </a:rPr>
              <a:t>Conflicting</a:t>
            </a:r>
            <a:r>
              <a:rPr lang="en-US" sz="1800" dirty="0">
                <a:solidFill>
                  <a:srgbClr val="242021"/>
                </a:solidFill>
                <a:latin typeface="NewCaledoniaLTStd"/>
              </a:rPr>
              <a:t> </a:t>
            </a:r>
            <a:r>
              <a:rPr lang="en-US" sz="1800" b="0" i="0" dirty="0">
                <a:solidFill>
                  <a:srgbClr val="242021"/>
                </a:solidFill>
                <a:effectLst/>
                <a:latin typeface="NewCaledoniaLTStd"/>
              </a:rPr>
              <a:t>goals: design standards (design elegance), processing speed, and information requirements.</a:t>
            </a:r>
            <a:r>
              <a:rPr lang="en-US" dirty="0"/>
              <a:t> </a:t>
            </a:r>
          </a:p>
          <a:p>
            <a:r>
              <a:rPr lang="en-US" sz="1800" b="0" i="1" dirty="0">
                <a:solidFill>
                  <a:srgbClr val="242021"/>
                </a:solidFill>
                <a:effectLst/>
                <a:latin typeface="NewCaledoniaLTStd-It"/>
              </a:rPr>
              <a:t>Design standards</a:t>
            </a:r>
            <a:r>
              <a:rPr lang="en-US" sz="1800" dirty="0">
                <a:solidFill>
                  <a:srgbClr val="242021"/>
                </a:solidFill>
                <a:latin typeface="NewCaledoniaLTStd"/>
              </a:rPr>
              <a:t>:</a:t>
            </a:r>
            <a:r>
              <a:rPr lang="en-US" sz="1800" b="0" i="0" dirty="0">
                <a:solidFill>
                  <a:srgbClr val="242021"/>
                </a:solidFill>
                <a:effectLst/>
                <a:latin typeface="NewCaledoniaLTStd"/>
              </a:rPr>
              <a:t> conform to design standards. Design standards govern the presentation of all components within the database design.</a:t>
            </a:r>
            <a:r>
              <a:rPr lang="en-US" sz="1600" dirty="0"/>
              <a:t> </a:t>
            </a:r>
          </a:p>
          <a:p>
            <a:pPr lvl="1"/>
            <a:r>
              <a:rPr lang="en-US" sz="1500" b="0" i="0" dirty="0">
                <a:solidFill>
                  <a:srgbClr val="242021"/>
                </a:solidFill>
                <a:effectLst/>
                <a:latin typeface="NewCaledoniaLTStd"/>
              </a:rPr>
              <a:t>Minimize data redundancies, minimizing the likelihood that destructive data anomalies will occur. Avoid nulls to the greatest extent possible.  ...</a:t>
            </a:r>
          </a:p>
          <a:p>
            <a:r>
              <a:rPr lang="en-US" sz="1800" b="0" i="1" dirty="0">
                <a:solidFill>
                  <a:srgbClr val="242021"/>
                </a:solidFill>
                <a:effectLst/>
                <a:latin typeface="NewCaledoniaLTStd-It"/>
              </a:rPr>
              <a:t>Processing speed</a:t>
            </a:r>
            <a:r>
              <a:rPr lang="en-US" sz="1800" b="0" i="0" dirty="0">
                <a:solidFill>
                  <a:srgbClr val="242021"/>
                </a:solidFill>
                <a:effectLst/>
                <a:latin typeface="NewCaledoniaLTStd"/>
              </a:rPr>
              <a:t>. </a:t>
            </a:r>
            <a:r>
              <a:rPr lang="en-US" sz="1800" dirty="0">
                <a:solidFill>
                  <a:srgbClr val="242021"/>
                </a:solidFill>
                <a:latin typeface="NewCaledoniaLTStd"/>
              </a:rPr>
              <a:t>M</a:t>
            </a:r>
            <a:r>
              <a:rPr lang="en-US" sz="1800" b="0" i="0" dirty="0">
                <a:solidFill>
                  <a:srgbClr val="242021"/>
                </a:solidFill>
                <a:effectLst/>
                <a:latin typeface="NewCaledoniaLTStd"/>
              </a:rPr>
              <a:t>inimal access time, which may be achieved by minimizing the number and complexity of logically desirable relationships. </a:t>
            </a:r>
          </a:p>
          <a:p>
            <a:pPr lvl="1"/>
            <a:r>
              <a:rPr lang="en-US" sz="1500" b="0" i="0" dirty="0">
                <a:solidFill>
                  <a:srgbClr val="242021"/>
                </a:solidFill>
                <a:effectLst/>
                <a:latin typeface="NewCaledoniaLTStd"/>
              </a:rPr>
              <a:t>For example, a “perfect” design might use a 1:1 relationship to avoid nulls, while a design that emphasizes higher transaction speed might combine the two tables to avoid the use of an additional relationship, using dummy entries to avoid the nulls. </a:t>
            </a:r>
            <a:br>
              <a:rPr lang="en-US" sz="1500" b="0" i="0" dirty="0">
                <a:solidFill>
                  <a:srgbClr val="242021"/>
                </a:solidFill>
                <a:effectLst/>
                <a:latin typeface="NewCaledoniaLTStd"/>
              </a:rPr>
            </a:br>
            <a:r>
              <a:rPr lang="en-US" sz="1500" b="0" i="0" dirty="0">
                <a:solidFill>
                  <a:srgbClr val="242021"/>
                </a:solidFill>
                <a:effectLst/>
                <a:latin typeface="NewCaledoniaLTStd"/>
              </a:rPr>
              <a:t>also be forced to include derived attributes in the design.</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5F8C3FFD-65B6-9BA7-F78D-C0FC4E93FBF3}"/>
              </a:ext>
            </a:extLst>
          </p:cNvPr>
          <p:cNvSpPr>
            <a:spLocks noGrp="1"/>
          </p:cNvSpPr>
          <p:nvPr>
            <p:ph type="sldNum" sz="quarter" idx="10"/>
          </p:nvPr>
        </p:nvSpPr>
        <p:spPr/>
        <p:txBody>
          <a:bodyPr/>
          <a:lstStyle/>
          <a:p>
            <a:pPr>
              <a:defRPr/>
            </a:pPr>
            <a:fld id="{34A84676-C444-4AC5-8B4E-405A7C81C0FB}" type="slidenum">
              <a:rPr lang="en-US" altLang="en-US" smtClean="0"/>
              <a:pPr>
                <a:defRPr/>
              </a:pPr>
              <a:t>55</a:t>
            </a:fld>
            <a:endParaRPr lang="en-US" altLang="en-US"/>
          </a:p>
        </p:txBody>
      </p:sp>
      <p:sp>
        <p:nvSpPr>
          <p:cNvPr id="5" name="Footer Placeholder 4">
            <a:extLst>
              <a:ext uri="{FF2B5EF4-FFF2-40B4-BE49-F238E27FC236}">
                <a16:creationId xmlns:a16="http://schemas.microsoft.com/office/drawing/2014/main" id="{A3952D2C-7806-8D56-41A7-4E00A08DA78F}"/>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44F41A2-8A2C-C51C-A6AD-0244CFA9CF5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42117014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6502-D623-BC4F-8902-809B3510B073}"/>
              </a:ext>
            </a:extLst>
          </p:cNvPr>
          <p:cNvSpPr>
            <a:spLocks noGrp="1"/>
          </p:cNvSpPr>
          <p:nvPr>
            <p:ph type="title"/>
          </p:nvPr>
        </p:nvSpPr>
        <p:spPr/>
        <p:txBody>
          <a:bodyPr/>
          <a:lstStyle/>
          <a:p>
            <a:r>
              <a:rPr lang="en-US" dirty="0"/>
              <a:t>4-3 Database Design Challenges: Conflicting Goals</a:t>
            </a:r>
          </a:p>
        </p:txBody>
      </p:sp>
      <p:sp>
        <p:nvSpPr>
          <p:cNvPr id="3" name="Content Placeholder 2">
            <a:extLst>
              <a:ext uri="{FF2B5EF4-FFF2-40B4-BE49-F238E27FC236}">
                <a16:creationId xmlns:a16="http://schemas.microsoft.com/office/drawing/2014/main" id="{A4445C04-8704-2F2F-4069-6291B473A337}"/>
              </a:ext>
            </a:extLst>
          </p:cNvPr>
          <p:cNvSpPr>
            <a:spLocks noGrp="1"/>
          </p:cNvSpPr>
          <p:nvPr>
            <p:ph idx="1"/>
          </p:nvPr>
        </p:nvSpPr>
        <p:spPr/>
        <p:txBody>
          <a:bodyPr/>
          <a:lstStyle/>
          <a:p>
            <a:r>
              <a:rPr lang="en-US" sz="1800" b="0" i="0" dirty="0">
                <a:solidFill>
                  <a:srgbClr val="242021"/>
                </a:solidFill>
                <a:effectLst/>
                <a:latin typeface="NewCaledoniaLTStd"/>
              </a:rPr>
              <a:t>Conflicting</a:t>
            </a:r>
            <a:r>
              <a:rPr lang="en-US" sz="1800" dirty="0">
                <a:solidFill>
                  <a:srgbClr val="242021"/>
                </a:solidFill>
                <a:latin typeface="NewCaledoniaLTStd"/>
              </a:rPr>
              <a:t> </a:t>
            </a:r>
            <a:r>
              <a:rPr lang="en-US" sz="1800" b="0" i="0" dirty="0">
                <a:solidFill>
                  <a:srgbClr val="242021"/>
                </a:solidFill>
                <a:effectLst/>
                <a:latin typeface="NewCaledoniaLTStd"/>
              </a:rPr>
              <a:t>goals: design standards (design elegance), processing speed, and information requirements.</a:t>
            </a:r>
            <a:r>
              <a:rPr lang="en-US" dirty="0"/>
              <a:t> </a:t>
            </a:r>
          </a:p>
          <a:p>
            <a:r>
              <a:rPr lang="en-US" sz="1800" b="0" i="1" dirty="0">
                <a:solidFill>
                  <a:srgbClr val="242021"/>
                </a:solidFill>
                <a:effectLst/>
                <a:latin typeface="NewCaledoniaLTStd-It"/>
              </a:rPr>
              <a:t> Information requirements</a:t>
            </a:r>
            <a:r>
              <a:rPr lang="en-US" sz="1800" b="0" i="0" dirty="0">
                <a:solidFill>
                  <a:srgbClr val="242021"/>
                </a:solidFill>
                <a:effectLst/>
                <a:latin typeface="NewCaledoniaLTStd"/>
              </a:rPr>
              <a:t>: Complex information requirements may dictate data transformations, and they may expand the number of entities and attributes within the design. Database may have to sacrifice some of its “clean” design structures and high transaction speed to ensure maximum information generation.</a:t>
            </a:r>
          </a:p>
          <a:p>
            <a:pPr lvl="1"/>
            <a:r>
              <a:rPr lang="en-US" dirty="0"/>
              <a:t> </a:t>
            </a:r>
            <a:r>
              <a:rPr lang="en-US" sz="1800" b="0" i="0" dirty="0">
                <a:solidFill>
                  <a:srgbClr val="242021"/>
                </a:solidFill>
                <a:effectLst/>
                <a:latin typeface="NewCaledoniaLTStd"/>
              </a:rPr>
              <a:t>A detailed sales report must be generated periodically. The sales report includes all invoice subtotals, taxes, and totals; even the invoice lines include subtotals. </a:t>
            </a:r>
          </a:p>
          <a:p>
            <a:pPr lvl="1"/>
            <a:r>
              <a:rPr lang="en-US" sz="1800" b="0" i="0" dirty="0">
                <a:solidFill>
                  <a:srgbClr val="242021"/>
                </a:solidFill>
                <a:effectLst/>
                <a:latin typeface="NewCaledoniaLTStd"/>
              </a:rPr>
              <a:t>The sales report includes hundreds of thousands (or even millions) of invoices, computing the totals, taxes, and subtotals is likely to take some time. </a:t>
            </a:r>
          </a:p>
          <a:p>
            <a:pPr lvl="1"/>
            <a:r>
              <a:rPr lang="en-US" sz="1800" b="0" i="0" dirty="0">
                <a:solidFill>
                  <a:srgbClr val="242021"/>
                </a:solidFill>
                <a:effectLst/>
                <a:latin typeface="NewCaledoniaLTStd"/>
              </a:rPr>
              <a:t>If those computations had been made and stored as derived attributes in the INVOICE and LINE tables at the time of the transaction, the real-time transaction speed might have declined</a:t>
            </a:r>
            <a:r>
              <a:rPr lang="en-US" dirty="0"/>
              <a:t> </a:t>
            </a: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5F8C3FFD-65B6-9BA7-F78D-C0FC4E93FBF3}"/>
              </a:ext>
            </a:extLst>
          </p:cNvPr>
          <p:cNvSpPr>
            <a:spLocks noGrp="1"/>
          </p:cNvSpPr>
          <p:nvPr>
            <p:ph type="sldNum" sz="quarter" idx="10"/>
          </p:nvPr>
        </p:nvSpPr>
        <p:spPr/>
        <p:txBody>
          <a:bodyPr/>
          <a:lstStyle/>
          <a:p>
            <a:pPr>
              <a:defRPr/>
            </a:pPr>
            <a:fld id="{34A84676-C444-4AC5-8B4E-405A7C81C0FB}" type="slidenum">
              <a:rPr lang="en-US" altLang="en-US" smtClean="0"/>
              <a:pPr>
                <a:defRPr/>
              </a:pPr>
              <a:t>56</a:t>
            </a:fld>
            <a:endParaRPr lang="en-US" altLang="en-US"/>
          </a:p>
        </p:txBody>
      </p:sp>
      <p:sp>
        <p:nvSpPr>
          <p:cNvPr id="5" name="Footer Placeholder 4">
            <a:extLst>
              <a:ext uri="{FF2B5EF4-FFF2-40B4-BE49-F238E27FC236}">
                <a16:creationId xmlns:a16="http://schemas.microsoft.com/office/drawing/2014/main" id="{A3952D2C-7806-8D56-41A7-4E00A08DA78F}"/>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44F41A2-8A2C-C51C-A6AD-0244CFA9CF5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6755853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8216-2EB4-09E0-A6C2-532CC56F476E}"/>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C183208-23AA-0D6E-2D60-AE17A5CD4148}"/>
              </a:ext>
            </a:extLst>
          </p:cNvPr>
          <p:cNvSpPr>
            <a:spLocks noGrp="1"/>
          </p:cNvSpPr>
          <p:nvPr>
            <p:ph type="sldNum" sz="quarter" idx="11"/>
          </p:nvPr>
        </p:nvSpPr>
        <p:spPr/>
        <p:txBody>
          <a:bodyPr/>
          <a:lstStyle/>
          <a:p>
            <a:pPr>
              <a:defRPr/>
            </a:pPr>
            <a:fld id="{D1AD3536-327C-4937-83AF-A64971CFA6D9}" type="slidenum">
              <a:rPr lang="en-US" smtClean="0"/>
              <a:pPr>
                <a:defRPr/>
              </a:pPr>
              <a:t>57</a:t>
            </a:fld>
            <a:endParaRPr lang="en-US"/>
          </a:p>
        </p:txBody>
      </p:sp>
      <p:sp>
        <p:nvSpPr>
          <p:cNvPr id="4" name="Footer Placeholder 3">
            <a:extLst>
              <a:ext uri="{FF2B5EF4-FFF2-40B4-BE49-F238E27FC236}">
                <a16:creationId xmlns:a16="http://schemas.microsoft.com/office/drawing/2014/main" id="{5EC49918-5110-3803-5623-510153A2A86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E21F0E1-4011-8CAF-89C0-F99ED3303590}"/>
              </a:ext>
            </a:extLst>
          </p:cNvPr>
          <p:cNvPicPr>
            <a:picLocks noChangeAspect="1"/>
          </p:cNvPicPr>
          <p:nvPr/>
        </p:nvPicPr>
        <p:blipFill>
          <a:blip r:embed="rId3"/>
          <a:stretch>
            <a:fillRect/>
          </a:stretch>
        </p:blipFill>
        <p:spPr>
          <a:xfrm>
            <a:off x="1071562" y="95250"/>
            <a:ext cx="10048875" cy="6667500"/>
          </a:xfrm>
          <a:prstGeom prst="rect">
            <a:avLst/>
          </a:prstGeom>
        </p:spPr>
      </p:pic>
    </p:spTree>
    <p:extLst>
      <p:ext uri="{BB962C8B-B14F-4D97-AF65-F5344CB8AC3E}">
        <p14:creationId xmlns:p14="http://schemas.microsoft.com/office/powerpoint/2010/main" val="775486081"/>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2466</Words>
  <Application>Microsoft Office PowerPoint</Application>
  <PresentationFormat>Widescreen</PresentationFormat>
  <Paragraphs>387</Paragraphs>
  <Slides>57</Slides>
  <Notes>56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57</vt:i4>
      </vt:variant>
    </vt:vector>
  </HeadingPairs>
  <TitlesOfParts>
    <vt:vector size="70" baseType="lpstr">
      <vt:lpstr>Arial</vt:lpstr>
      <vt:lpstr>Calibri</vt:lpstr>
      <vt:lpstr>Calibri Light</vt:lpstr>
      <vt:lpstr>Courier New</vt:lpstr>
      <vt:lpstr>MyriadPro-Bold</vt:lpstr>
      <vt:lpstr>MyriadPro-BoldCond</vt:lpstr>
      <vt:lpstr>MyriadPro-SemiboldSemiCn</vt:lpstr>
      <vt:lpstr>NewCaledoniaLTStd</vt:lpstr>
      <vt:lpstr>NewCaledoniaLTStd-Bold</vt:lpstr>
      <vt:lpstr>NewCaledoniaLTStd-It</vt:lpstr>
      <vt:lpstr>Times New Roman</vt:lpstr>
      <vt:lpstr>Wingdings</vt:lpstr>
      <vt:lpstr>Vicostone Template</vt:lpstr>
      <vt:lpstr>Learning Objectives</vt:lpstr>
      <vt:lpstr>National Economics University Faculty of Data Science &amp; Artificial Intelligence</vt:lpstr>
      <vt:lpstr>Learning Objectives</vt:lpstr>
      <vt:lpstr>Introduction</vt:lpstr>
      <vt:lpstr>4-1 The Entity Relationship Model</vt:lpstr>
      <vt:lpstr>4-1 The Entity Relationship Model</vt:lpstr>
      <vt:lpstr>4-1 The Entity Relationship Model</vt:lpstr>
      <vt:lpstr>4-1 The Entity Relationship Model</vt:lpstr>
      <vt:lpstr>4-1 The Entity Relationship Model</vt:lpstr>
      <vt:lpstr>PowerPoint Presentation</vt:lpstr>
      <vt:lpstr>PowerPoint Presentation</vt:lpstr>
      <vt:lpstr>PowerPoint Presentation</vt:lpstr>
      <vt:lpstr>PowerPoint Presentation</vt:lpstr>
      <vt:lpstr>4-1 The Entity Relationship Model</vt:lpstr>
      <vt:lpstr>PowerPoint Presentation</vt:lpstr>
      <vt:lpstr>PowerPoint Presentation</vt:lpstr>
      <vt:lpstr>4-1 The Entity Relationship Model</vt:lpstr>
      <vt:lpstr>4-1 The Entity Relationship Model</vt:lpstr>
      <vt:lpstr>PowerPoint Presentation</vt:lpstr>
      <vt:lpstr>4-1 The Entity Relationship Model</vt:lpstr>
      <vt:lpstr>4-1 The Entity Relationship Model</vt:lpstr>
      <vt:lpstr>PowerPoint Presentation</vt:lpstr>
      <vt:lpstr>PowerPoint Presentation</vt:lpstr>
      <vt:lpstr>4-1 The Entity Relationship Model</vt:lpstr>
      <vt:lpstr>PowerPoint Presentation</vt:lpstr>
      <vt:lpstr>4-1 The Entity Relationship Model</vt:lpstr>
      <vt:lpstr>PowerPoint Presentation</vt:lpstr>
      <vt:lpstr>PowerPoint Presentation</vt:lpstr>
      <vt:lpstr>PowerPoint Presentation</vt:lpstr>
      <vt:lpstr>4-1 The Entity Relationship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4-2 Developing an ER Diagram</vt:lpstr>
      <vt:lpstr>4-2 Developing an ER Diagram</vt:lpstr>
      <vt:lpstr>Tiny College ERD</vt:lpstr>
      <vt:lpstr>PowerPoint Presentation</vt:lpstr>
      <vt:lpstr>Tiny College ERD</vt:lpstr>
      <vt:lpstr>Tiny College ERD</vt:lpstr>
      <vt:lpstr>PowerPoint Presentation</vt:lpstr>
      <vt:lpstr>Tiny College ERD</vt:lpstr>
      <vt:lpstr>Tiny College ERD</vt:lpstr>
      <vt:lpstr>Tiny College ERD</vt:lpstr>
      <vt:lpstr>Tiny College ERD</vt:lpstr>
      <vt:lpstr>Tiny College ERD</vt:lpstr>
      <vt:lpstr>PowerPoint Presentation</vt:lpstr>
      <vt:lpstr>PowerPoint Presentation</vt:lpstr>
      <vt:lpstr>PowerPoint Presentation</vt:lpstr>
      <vt:lpstr>PowerPoint Presentation</vt:lpstr>
      <vt:lpstr>4-3 Database Design Challenges: Conflicting Goals</vt:lpstr>
      <vt:lpstr>4-3 Database Design Challenges: Conflicting Goals</vt:lpstr>
      <vt:lpstr>4-3 Database Design Challenges: Conflicting Goals</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
  <dc:creator/>
  <cp:lastModifiedBy/>
  <cp:revision>462</cp:revision>
  <dcterms:created xsi:type="dcterms:W3CDTF">2009-09-28T17:47:54Z</dcterms:created>
  <dcterms:modified xsi:type="dcterms:W3CDTF">2024-12-19T10:53:24Z</dcterms:modified>
</cp:coreProperties>
</file>