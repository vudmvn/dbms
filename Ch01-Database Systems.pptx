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8" r:id="rId1"/>
  </p:sldMasterIdLst>
  <p:notesMasterIdLst>
    <p:notesMasterId r:id="rId65"/>
  </p:notesMasterIdLst>
  <p:handoutMasterIdLst>
    <p:handoutMasterId r:id="rId66"/>
  </p:handoutMasterIdLst>
  <p:sldIdLst>
    <p:sldId id="392" r:id="rId2"/>
    <p:sldId id="384" r:id="rId3"/>
    <p:sldId id="257" r:id="rId4"/>
    <p:sldId id="369" r:id="rId5"/>
    <p:sldId id="377" r:id="rId6"/>
    <p:sldId id="370" r:id="rId7"/>
    <p:sldId id="323" r:id="rId8"/>
    <p:sldId id="325" r:id="rId9"/>
    <p:sldId id="378" r:id="rId10"/>
    <p:sldId id="324" r:id="rId11"/>
    <p:sldId id="327" r:id="rId12"/>
    <p:sldId id="326" r:id="rId13"/>
    <p:sldId id="328" r:id="rId14"/>
    <p:sldId id="329" r:id="rId15"/>
    <p:sldId id="330" r:id="rId16"/>
    <p:sldId id="331" r:id="rId17"/>
    <p:sldId id="380" r:id="rId18"/>
    <p:sldId id="381" r:id="rId19"/>
    <p:sldId id="332" r:id="rId20"/>
    <p:sldId id="333" r:id="rId21"/>
    <p:sldId id="382" r:id="rId22"/>
    <p:sldId id="383" r:id="rId23"/>
    <p:sldId id="334" r:id="rId24"/>
    <p:sldId id="335" r:id="rId25"/>
    <p:sldId id="338" r:id="rId26"/>
    <p:sldId id="337" r:id="rId27"/>
    <p:sldId id="336" r:id="rId28"/>
    <p:sldId id="339" r:id="rId29"/>
    <p:sldId id="375" r:id="rId30"/>
    <p:sldId id="340" r:id="rId31"/>
    <p:sldId id="341" r:id="rId32"/>
    <p:sldId id="342" r:id="rId33"/>
    <p:sldId id="343" r:id="rId34"/>
    <p:sldId id="346" r:id="rId35"/>
    <p:sldId id="347" r:id="rId36"/>
    <p:sldId id="386" r:id="rId37"/>
    <p:sldId id="348" r:id="rId38"/>
    <p:sldId id="349" r:id="rId39"/>
    <p:sldId id="350" r:id="rId40"/>
    <p:sldId id="351" r:id="rId41"/>
    <p:sldId id="352" r:id="rId42"/>
    <p:sldId id="353" r:id="rId43"/>
    <p:sldId id="374" r:id="rId44"/>
    <p:sldId id="354" r:id="rId45"/>
    <p:sldId id="355" r:id="rId46"/>
    <p:sldId id="387" r:id="rId47"/>
    <p:sldId id="356" r:id="rId48"/>
    <p:sldId id="357" r:id="rId49"/>
    <p:sldId id="358" r:id="rId50"/>
    <p:sldId id="359" r:id="rId51"/>
    <p:sldId id="360" r:id="rId52"/>
    <p:sldId id="361" r:id="rId53"/>
    <p:sldId id="362" r:id="rId54"/>
    <p:sldId id="363" r:id="rId55"/>
    <p:sldId id="364" r:id="rId56"/>
    <p:sldId id="376" r:id="rId57"/>
    <p:sldId id="365" r:id="rId58"/>
    <p:sldId id="366" r:id="rId59"/>
    <p:sldId id="367" r:id="rId60"/>
    <p:sldId id="368" r:id="rId61"/>
    <p:sldId id="388" r:id="rId62"/>
    <p:sldId id="389" r:id="rId63"/>
    <p:sldId id="390" r:id="rId6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105" d="100"/>
          <a:sy n="105" d="100"/>
        </p:scale>
        <p:origin x="79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1E0CD608-9C48-CFFC-091C-1EB0A50DD5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0A79EA3-0E2A-9BC8-92DE-DE60AD7ACB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FDF3F9D9-6B1E-F3FB-1EE2-507A2BF5352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C807B6BD-FE77-FDDF-E76E-F014CE39446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AC33DE4-4784-45D4-BD47-64193262C5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09328F3-5DC5-1B4F-AC31-7F7B3EBD07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C90B5EC-E3BF-D965-C636-268E0CF481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F7C882E-B38E-4AF0-3755-55D00B742B1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25345C98-55FA-262F-4EBB-C287BE5D31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7644B954-D13F-DFA1-B30A-F36EC7DE0E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2E0066C6-C608-29FA-EB14-B3E0F66870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FC1F20-5EAB-41FB-B210-370B9C2C46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99F73F7-2B99-BEC6-CE62-E00219107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D6BCF7-8E9F-41C5-A608-0D41664076BA}" type="slidenum">
              <a:rPr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A82C24E-40D0-0AA6-6604-71E8A34BF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AEAAEAB-07EC-3E8B-79E7-643BBF984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25966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99F73F7-2B99-BEC6-CE62-E00219107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D6BCF7-8E9F-41C5-A608-0D41664076BA}" type="slidenum">
              <a:rPr lang="en-US" altLang="en-US" sz="1200" smtClean="0">
                <a:latin typeface="Times New Roman" panose="02020603050405020304" pitchFamily="18" charset="0"/>
              </a:rPr>
              <a:pPr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A82C24E-40D0-0AA6-6604-71E8A34BF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AEAAEAB-07EC-3E8B-79E7-643BBF984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391B5252-16C6-80AB-C623-DFB0BA76D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22910E35-9775-39F1-BEA4-7AE5267A5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01A75D0E-06ED-6423-4046-46A6B10AD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9B8064-7F42-41EE-BEFE-60077C03D710}" type="slidenum">
              <a:rPr lang="en-US" altLang="en-US" sz="1200" smtClean="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B964D356-4787-6715-EC4E-FF5E6347FB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B79412EA-291E-6331-0DF0-2C5D3711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758285CA-74F0-913D-A80E-1B3225A1D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7B00A3-857A-44D5-97CC-9D94FC651846}" type="slidenum">
              <a:rPr lang="en-US" altLang="en-US" sz="1200" smtClean="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7D3D501E-75BA-E706-F9FB-BEA94E3795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2C88676D-8EAA-6B95-F4E3-6C22733B0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E62BDD88-93C1-2DFA-E9AE-0E4A5254E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9FD893-BD05-45C0-9181-67B42670A1D2}" type="slidenum">
              <a:rPr lang="en-US" altLang="en-US" sz="1200" smtClean="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494C1FF6-3C1B-862B-CB12-A0191FD091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E6FA308E-7E8B-712F-2DA1-AA0298855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4B82C790-4E84-DD22-1806-88407AAEF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49682E-36AE-489C-B400-A6E13623742E}" type="slidenum">
              <a:rPr lang="en-US" altLang="en-US" sz="1200" smtClean="0">
                <a:latin typeface="Times New Roman" panose="02020603050405020304" pitchFamily="18" charset="0"/>
              </a:rPr>
              <a:pPr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1BF0BAF3-2CA8-439E-AA35-6A793638D4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95B8AF9C-9A6B-4DFB-7708-BE7628C12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0C11F494-F1F9-2997-2E91-E170F1037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68FBB6E-DB7E-4DFF-8B2B-B64C376966BF}" type="slidenum">
              <a:rPr lang="en-US" altLang="en-US" sz="1200" smtClean="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E7A5AB05-7C57-10BF-FF2C-8844739096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5CCBEE1F-DBC0-0B93-A66B-95B4E76B3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A6DE7B1B-E850-D536-63AE-1515C62DC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D97F16-7D69-4673-BD8D-017A5790C81B}" type="slidenum">
              <a:rPr lang="en-US" altLang="en-US" sz="1200" smtClean="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A61ED0A1-F61E-198E-26A2-C0DBDFF71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3A59A824-86D6-8731-6823-EFEAC25C5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D6F1047A-3331-0078-AF6A-3961FE2CC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B705C33-5AE8-4A5A-9D7E-1731FB9EA201}" type="slidenum">
              <a:rPr lang="en-US" altLang="en-US" sz="120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CE01839D-BCF8-0438-BE13-8E396E2B01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2B109023-227C-FD86-5BD1-29C62C54A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F099B76A-16B2-59DF-10DA-212C157CD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477F461-AC98-4633-9479-24B2CE7E7CBC}" type="slidenum">
              <a:rPr lang="en-US" altLang="en-US" sz="120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440BB0C0-9AA3-7A16-EBB4-C44E58C768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DCDBA891-2FC8-1666-5729-54999EE09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6CACE0EA-6AAA-D3E2-93A2-84710FBDE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36F8EC7-63C4-4A4F-A09C-003F187BC50E}" type="slidenum">
              <a:rPr lang="en-US" altLang="en-US" sz="1200" smtClean="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BE9E11E6-22A1-D9FA-1B9C-8C63AF719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AD7E6363-66D6-6490-F450-8030263B9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376BE815-9818-538E-A736-D908BA4FB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0609803-47B8-4945-A199-7643D812E206}" type="slidenum">
              <a:rPr lang="en-US" altLang="en-US" sz="1200" smtClean="0">
                <a:latin typeface="Times New Roman" panose="02020603050405020304" pitchFamily="18" charset="0"/>
              </a:rPr>
              <a:pPr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6BEFF503-233F-F0C1-5839-4DA30993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4F697D73-7648-1BA5-E170-3DAF29082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2486189E-445F-686F-D887-6FB164A06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39291A-1E10-4A61-83E8-7D973E959627}" type="slidenum">
              <a:rPr lang="en-US" altLang="en-US" sz="1200" smtClean="0">
                <a:latin typeface="Times New Roman" panose="02020603050405020304" pitchFamily="18" charset="0"/>
              </a:rPr>
              <a:pPr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A66A5409-953A-AB92-6514-B66E839338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15CCD5AF-86B4-DE21-A7BA-9552088E2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A54D33F6-6439-791B-4FE6-FE59FC512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0930F95-030D-42D6-9C6A-2AB2C41A326A}" type="slidenum">
              <a:rPr lang="en-US" altLang="en-US" sz="1200" smtClean="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220A396C-3502-E867-DE76-7B674AE42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B6FE85A3-4177-19DD-9A16-97F839A2C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35E5C6B6-51C1-E3D7-EC5F-C01B597BA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34536FE-7E73-4F4F-A957-E210FF27AA06}" type="slidenum">
              <a:rPr lang="en-US" altLang="en-US" sz="1200" smtClean="0">
                <a:latin typeface="Times New Roman" panose="02020603050405020304" pitchFamily="18" charset="0"/>
              </a:rPr>
              <a:pPr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A96E3BE2-6354-FAE4-8766-43A1FDBE91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D79E32A2-4586-9A50-8174-5398603FD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D07CBF6B-83BC-A2EF-D0B5-12D7C35C9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32517D3-72AB-4741-A063-680332FCBBCB}" type="slidenum">
              <a:rPr lang="en-US" altLang="en-US" sz="1200" smtClean="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DFDFFAB4-4A6F-4690-7250-327C917D4F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ABD4D574-19EA-6911-BCE9-CAAC25FAD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58E35207-43A7-6416-AEEF-E2507C160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D4A594A-629B-402D-8A13-12CBA38DB185}" type="slidenum">
              <a:rPr lang="en-US" altLang="en-US" sz="1200" smtClean="0">
                <a:latin typeface="Times New Roman" panose="02020603050405020304" pitchFamily="18" charset="0"/>
              </a:rPr>
              <a:pPr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F8224261-F122-E18A-4804-0B58F8FA5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4E7956CD-0DD9-4FC0-1BC0-255C5E66E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A3770597-2A42-A46D-8DC7-495B3906F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1B0FF1E-E02C-4FA6-8BCE-604A84DE5F2A}" type="slidenum">
              <a:rPr lang="en-US" altLang="en-US" sz="1200" smtClean="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D7735D02-FFBE-8321-6278-71AC2A05E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C95D9731-28FF-ECA1-B7F0-B0E1234B7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DC29DC0C-5D2C-F7FE-7E91-C9F295FDF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D4DDB93-96CF-4027-923F-053C6BD6EB5E}" type="slidenum">
              <a:rPr lang="en-US" altLang="en-US" sz="1200" smtClean="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FC92CC55-1075-E2E2-4645-C256502782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34C287CE-52FA-2009-F150-BB0D56209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68C1DF2D-EC37-D5C3-D107-D6463A024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7822350-A5A7-4CAC-ACEC-3A774C327B81}" type="slidenum">
              <a:rPr lang="en-US" altLang="en-US" sz="1200" smtClean="0">
                <a:latin typeface="Times New Roman" panose="02020603050405020304" pitchFamily="18" charset="0"/>
              </a:rPr>
              <a:pPr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2B71BE43-0141-38B8-D7A8-10AEAFB37A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0ED96C89-6660-C225-077E-52B782ECB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68068F08-0847-3567-3871-5961E8D79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C153DDF-9509-4542-8816-F0A490F20A1F}" type="slidenum">
              <a:rPr lang="en-US" altLang="en-US" sz="1200" smtClean="0">
                <a:latin typeface="Times New Roman" panose="02020603050405020304" pitchFamily="18" charset="0"/>
              </a:rPr>
              <a:pPr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DE8811EF-5464-0B2A-C859-21C04A55C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556EB09C-7875-D374-7D85-9E66990DA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63EF784A-F944-0E63-5D67-A5E421954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778752B-0E8D-4779-B1AC-B57138ACA9AC}" type="slidenum">
              <a:rPr lang="en-US" altLang="en-US" sz="1200" smtClean="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F8CD234D-9BEE-847C-F2C7-510DA7660B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51B7A61A-945D-A8D7-D16B-5549A66E0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AB3E66A5-1131-A706-0D23-96C3DC427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F1DCF7-E214-4FCA-8F29-51325552199C}" type="slidenum">
              <a:rPr lang="en-US" altLang="en-US" sz="1200" smtClean="0">
                <a:latin typeface="Times New Roman" panose="02020603050405020304" pitchFamily="18" charset="0"/>
              </a:rPr>
              <a:pPr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35D80A53-64E4-C9FD-1CD1-98C34D10FF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CC5F74DE-558D-89D0-B68A-885AF0E24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1CC40255-C036-09A8-A768-23796EB78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CDB3F12-6251-432F-9206-ACEAB98193F2}" type="slidenum">
              <a:rPr lang="en-US" altLang="en-US" sz="1200" smtClean="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3D9DE364-900A-C57A-40F9-429FAA4445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72D5B9C5-C3B0-072F-193B-884E05122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1FBB5B92-F64E-31D2-5606-FF34FA4AB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936B36-97D8-48CF-8985-C96213494A33}" type="slidenum">
              <a:rPr lang="en-US" altLang="en-US" sz="1200" smtClean="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ACEF4B81-B553-FFC0-3E7F-9600B31867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09C9544E-B8D8-DA76-A061-415CEF8B8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A6CD402A-9AE1-AF01-7923-AE94348BD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7752AF3-C08E-4236-9055-3C43E05FBFD7}" type="slidenum">
              <a:rPr lang="en-US" altLang="en-US" sz="1200" smtClean="0">
                <a:latin typeface="Times New Roman" panose="02020603050405020304" pitchFamily="18" charset="0"/>
              </a:rPr>
              <a:pPr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9FE9B319-8680-FDA9-B93B-905FAAD5BC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C4EA0BB8-B14E-A797-642E-BD33872BD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4A370571-6A05-5A24-7701-ECE57C2FE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B691B64-DCAC-4E79-8AE6-0D6B2EC8834A}" type="slidenum">
              <a:rPr lang="en-US" altLang="en-US" sz="1200" smtClean="0">
                <a:latin typeface="Times New Roman" panose="02020603050405020304" pitchFamily="18" charset="0"/>
              </a:rPr>
              <a:pPr/>
              <a:t>32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C947F82-6C17-A13C-1FB4-4EDAB4824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DB9B6CCB-953C-1245-4D8C-D54B1074A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82AF86A1-B15F-2DC2-83DB-E6C3C24DE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8DB9021-1EA8-4020-B868-1BBEDBC3392F}" type="slidenum">
              <a:rPr lang="en-US" altLang="en-US" sz="1200" smtClean="0">
                <a:latin typeface="Times New Roman" panose="02020603050405020304" pitchFamily="18" charset="0"/>
              </a:rPr>
              <a:pPr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695023FF-1D95-3BF5-F016-E74D2A7F93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EA63250E-A981-3348-AED2-3AF6C6CFB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AC6944A9-DFDE-5F30-96CF-8A3EF4B2C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EF8359B-B1A8-4871-8E2C-61D00669DA42}" type="slidenum">
              <a:rPr lang="en-US" altLang="en-US" sz="1200" smtClean="0">
                <a:latin typeface="Times New Roman" panose="02020603050405020304" pitchFamily="18" charset="0"/>
              </a:rPr>
              <a:pPr/>
              <a:t>34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A4B88841-FC5A-1B63-0FDD-6F76D23298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287D15BB-6A20-C134-9738-DFD6660D0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794660EF-35FD-49E6-2754-72F9C493A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21C93E-7FFE-4D97-8892-8774E52A7284}" type="slidenum">
              <a:rPr lang="en-US" altLang="en-US" sz="1200" smtClean="0">
                <a:latin typeface="Times New Roman" panose="02020603050405020304" pitchFamily="18" charset="0"/>
              </a:rPr>
              <a:pPr/>
              <a:t>35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>
            <a:extLst>
              <a:ext uri="{FF2B5EF4-FFF2-40B4-BE49-F238E27FC236}">
                <a16:creationId xmlns:a16="http://schemas.microsoft.com/office/drawing/2014/main" id="{7FAA998E-5CF9-001C-EECF-C6730FEFD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>
            <a:extLst>
              <a:ext uri="{FF2B5EF4-FFF2-40B4-BE49-F238E27FC236}">
                <a16:creationId xmlns:a16="http://schemas.microsoft.com/office/drawing/2014/main" id="{4CE7D754-89C8-443A-503D-E972B270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F3525DF6-9C87-5D4C-8A17-5BCAF5289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F637A91-FAE0-463E-887C-6C7D7F2896E8}" type="slidenum">
              <a:rPr lang="en-US" altLang="en-US" sz="1200" smtClean="0">
                <a:latin typeface="Times New Roman" panose="02020603050405020304" pitchFamily="18" charset="0"/>
              </a:rPr>
              <a:pPr/>
              <a:t>36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>
            <a:extLst>
              <a:ext uri="{FF2B5EF4-FFF2-40B4-BE49-F238E27FC236}">
                <a16:creationId xmlns:a16="http://schemas.microsoft.com/office/drawing/2014/main" id="{539CFC91-606E-09BA-3331-4FA3D037F8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>
            <a:extLst>
              <a:ext uri="{FF2B5EF4-FFF2-40B4-BE49-F238E27FC236}">
                <a16:creationId xmlns:a16="http://schemas.microsoft.com/office/drawing/2014/main" id="{A3CC9A6A-6FE4-FD12-259E-DA24334BB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69CC9588-CD1A-D25B-9A13-5B6ACD9E8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09BD1AB-186E-4A45-932E-E143B3444F7E}" type="slidenum">
              <a:rPr lang="en-US" altLang="en-US" sz="1200" smtClean="0">
                <a:latin typeface="Times New Roman" panose="02020603050405020304" pitchFamily="18" charset="0"/>
              </a:rPr>
              <a:pPr/>
              <a:t>37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>
            <a:extLst>
              <a:ext uri="{FF2B5EF4-FFF2-40B4-BE49-F238E27FC236}">
                <a16:creationId xmlns:a16="http://schemas.microsoft.com/office/drawing/2014/main" id="{E5A9B908-8F50-449F-1C14-71759BD57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>
            <a:extLst>
              <a:ext uri="{FF2B5EF4-FFF2-40B4-BE49-F238E27FC236}">
                <a16:creationId xmlns:a16="http://schemas.microsoft.com/office/drawing/2014/main" id="{DF8EB721-C0BA-3A1E-11A1-2D7E8F953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EBC6CCBE-EA56-94AC-3B08-5EF2D12FD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A1168A-A719-4CA1-B469-4DCF727D400B}" type="slidenum">
              <a:rPr lang="en-US" altLang="en-US" sz="1200" smtClean="0">
                <a:latin typeface="Times New Roman" panose="02020603050405020304" pitchFamily="18" charset="0"/>
              </a:rPr>
              <a:pPr/>
              <a:t>38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28D38582-2003-F611-8610-62E1F412D1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CAF18195-7D7A-F458-97B7-480EE39CE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36C82062-E679-54BC-F7D5-B0BAA3ADF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568EDDF-D2D7-4D13-9DA9-DA941C964F2E}" type="slidenum">
              <a:rPr lang="en-US" altLang="en-US" sz="1200" smtClean="0">
                <a:latin typeface="Times New Roman" panose="02020603050405020304" pitchFamily="18" charset="0"/>
              </a:rPr>
              <a:pPr/>
              <a:t>39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39CD433B-06AD-1F41-CA49-D8D90A929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83B300D1-9F6E-538B-521A-14662B515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98ECCBF3-2EFC-BA02-7336-4B572E7BB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CC04C77-28F0-40FB-934A-E0C9D51BA36D}" type="slidenum">
              <a:rPr lang="en-US" altLang="en-US" sz="1200" smtClean="0">
                <a:latin typeface="Times New Roman" panose="02020603050405020304" pitchFamily="18" charset="0"/>
              </a:rPr>
              <a:pPr/>
              <a:t>40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>
            <a:extLst>
              <a:ext uri="{FF2B5EF4-FFF2-40B4-BE49-F238E27FC236}">
                <a16:creationId xmlns:a16="http://schemas.microsoft.com/office/drawing/2014/main" id="{1CB7ABCE-9B71-4809-B740-121F27D34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>
            <a:extLst>
              <a:ext uri="{FF2B5EF4-FFF2-40B4-BE49-F238E27FC236}">
                <a16:creationId xmlns:a16="http://schemas.microsoft.com/office/drawing/2014/main" id="{63B548CA-2B4F-25FE-759B-57D75BF11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5BE63A6E-C367-72FC-693D-3A86E2374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B08718E-9B53-473D-BD11-BFF9682E96D5}" type="slidenum">
              <a:rPr lang="en-US" altLang="en-US" sz="1200" smtClean="0">
                <a:latin typeface="Times New Roman" panose="02020603050405020304" pitchFamily="18" charset="0"/>
              </a:rPr>
              <a:pPr/>
              <a:t>41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>
            <a:extLst>
              <a:ext uri="{FF2B5EF4-FFF2-40B4-BE49-F238E27FC236}">
                <a16:creationId xmlns:a16="http://schemas.microsoft.com/office/drawing/2014/main" id="{3FB21C8E-1456-530D-9FE1-014602BA81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>
            <a:extLst>
              <a:ext uri="{FF2B5EF4-FFF2-40B4-BE49-F238E27FC236}">
                <a16:creationId xmlns:a16="http://schemas.microsoft.com/office/drawing/2014/main" id="{EA354516-9ADB-EA69-E30C-2374F4535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5236" name="Slide Number Placeholder 3">
            <a:extLst>
              <a:ext uri="{FF2B5EF4-FFF2-40B4-BE49-F238E27FC236}">
                <a16:creationId xmlns:a16="http://schemas.microsoft.com/office/drawing/2014/main" id="{754DFF1E-3F14-69F5-A386-A4F5E789D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DE9C9CB-FDF2-44F3-9210-D627F13B79EC}" type="slidenum">
              <a:rPr lang="en-US" altLang="en-US" sz="1200" smtClean="0">
                <a:latin typeface="Times New Roman" panose="02020603050405020304" pitchFamily="18" charset="0"/>
              </a:rPr>
              <a:pPr/>
              <a:t>42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C9A2EC0C-949B-DDA0-ACFC-D0AFAE96A4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4BFB9D48-E707-0E6B-91DF-874F81C87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62CF04F0-2562-4022-2EA5-1ECB52BB3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9390AD-FAF3-4AF0-A878-119A99F134C2}" type="slidenum">
              <a:rPr lang="en-US" altLang="en-US" sz="1200" smtClean="0">
                <a:latin typeface="Times New Roman" panose="02020603050405020304" pitchFamily="18" charset="0"/>
              </a:rPr>
              <a:pPr/>
              <a:t>43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>
            <a:extLst>
              <a:ext uri="{FF2B5EF4-FFF2-40B4-BE49-F238E27FC236}">
                <a16:creationId xmlns:a16="http://schemas.microsoft.com/office/drawing/2014/main" id="{C3F2C0ED-2CA1-9037-09C5-DB84B1272F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>
            <a:extLst>
              <a:ext uri="{FF2B5EF4-FFF2-40B4-BE49-F238E27FC236}">
                <a16:creationId xmlns:a16="http://schemas.microsoft.com/office/drawing/2014/main" id="{EB6A27F8-1DBE-4534-990F-6728D0C73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9332" name="Slide Number Placeholder 3">
            <a:extLst>
              <a:ext uri="{FF2B5EF4-FFF2-40B4-BE49-F238E27FC236}">
                <a16:creationId xmlns:a16="http://schemas.microsoft.com/office/drawing/2014/main" id="{6D6558DB-2740-6117-03CD-4B62C9E73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90DE1D-464A-4FD0-819A-1F3FB12B2953}" type="slidenum">
              <a:rPr lang="en-US" altLang="en-US" sz="1200" smtClean="0">
                <a:latin typeface="Times New Roman" panose="02020603050405020304" pitchFamily="18" charset="0"/>
              </a:rPr>
              <a:pPr/>
              <a:t>44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>
            <a:extLst>
              <a:ext uri="{FF2B5EF4-FFF2-40B4-BE49-F238E27FC236}">
                <a16:creationId xmlns:a16="http://schemas.microsoft.com/office/drawing/2014/main" id="{CCDE4906-8A3D-DF03-7E7B-FDE5D12CF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>
            <a:extLst>
              <a:ext uri="{FF2B5EF4-FFF2-40B4-BE49-F238E27FC236}">
                <a16:creationId xmlns:a16="http://schemas.microsoft.com/office/drawing/2014/main" id="{65FC3948-7029-494E-B847-D936B2999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01380" name="Slide Number Placeholder 3">
            <a:extLst>
              <a:ext uri="{FF2B5EF4-FFF2-40B4-BE49-F238E27FC236}">
                <a16:creationId xmlns:a16="http://schemas.microsoft.com/office/drawing/2014/main" id="{32C1EF77-BB5C-4FAC-6763-E5F688D96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4EA76EE-AB49-48CB-9252-DCFC017A34EB}" type="slidenum">
              <a:rPr lang="en-US" altLang="en-US" sz="1200" smtClean="0">
                <a:latin typeface="Times New Roman" panose="02020603050405020304" pitchFamily="18" charset="0"/>
              </a:rPr>
              <a:pPr/>
              <a:t>45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>
            <a:extLst>
              <a:ext uri="{FF2B5EF4-FFF2-40B4-BE49-F238E27FC236}">
                <a16:creationId xmlns:a16="http://schemas.microsoft.com/office/drawing/2014/main" id="{090A3680-4C6F-04A8-662B-F7D8E038F4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>
            <a:extLst>
              <a:ext uri="{FF2B5EF4-FFF2-40B4-BE49-F238E27FC236}">
                <a16:creationId xmlns:a16="http://schemas.microsoft.com/office/drawing/2014/main" id="{89E9C008-193E-7F8A-D925-87C66E7CD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04452" name="Slide Number Placeholder 3">
            <a:extLst>
              <a:ext uri="{FF2B5EF4-FFF2-40B4-BE49-F238E27FC236}">
                <a16:creationId xmlns:a16="http://schemas.microsoft.com/office/drawing/2014/main" id="{E1D244D6-5726-ED82-FAAE-08B3E8367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9A50DAC-2C30-4006-A29F-BB194CEADB98}" type="slidenum">
              <a:rPr lang="en-US" altLang="en-US" sz="1200" smtClean="0">
                <a:latin typeface="Times New Roman" panose="02020603050405020304" pitchFamily="18" charset="0"/>
              </a:rPr>
              <a:pPr/>
              <a:t>47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>
            <a:extLst>
              <a:ext uri="{FF2B5EF4-FFF2-40B4-BE49-F238E27FC236}">
                <a16:creationId xmlns:a16="http://schemas.microsoft.com/office/drawing/2014/main" id="{6162B679-E5C6-2F17-9807-43D44C952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>
            <a:extLst>
              <a:ext uri="{FF2B5EF4-FFF2-40B4-BE49-F238E27FC236}">
                <a16:creationId xmlns:a16="http://schemas.microsoft.com/office/drawing/2014/main" id="{A7A9DFE7-9034-BF11-AF0E-7DEFF936B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06500" name="Slide Number Placeholder 3">
            <a:extLst>
              <a:ext uri="{FF2B5EF4-FFF2-40B4-BE49-F238E27FC236}">
                <a16:creationId xmlns:a16="http://schemas.microsoft.com/office/drawing/2014/main" id="{BFB77944-9348-F1D9-49B2-21FF69A42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E75ADF1-9382-4DE3-B421-736FE7A2E998}" type="slidenum">
              <a:rPr lang="en-US" altLang="en-US" sz="1200" smtClean="0">
                <a:latin typeface="Times New Roman" panose="02020603050405020304" pitchFamily="18" charset="0"/>
              </a:rPr>
              <a:pPr/>
              <a:t>48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>
            <a:extLst>
              <a:ext uri="{FF2B5EF4-FFF2-40B4-BE49-F238E27FC236}">
                <a16:creationId xmlns:a16="http://schemas.microsoft.com/office/drawing/2014/main" id="{95A8E05C-40B0-DA23-A202-04813F3D96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>
            <a:extLst>
              <a:ext uri="{FF2B5EF4-FFF2-40B4-BE49-F238E27FC236}">
                <a16:creationId xmlns:a16="http://schemas.microsoft.com/office/drawing/2014/main" id="{4832A6EC-6747-268A-8E7A-4381E7A4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08548" name="Slide Number Placeholder 3">
            <a:extLst>
              <a:ext uri="{FF2B5EF4-FFF2-40B4-BE49-F238E27FC236}">
                <a16:creationId xmlns:a16="http://schemas.microsoft.com/office/drawing/2014/main" id="{8559148B-A0C3-54EA-28D8-CD73B71B4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BA2499-6D24-46F7-A2D6-01E990B2CF45}" type="slidenum">
              <a:rPr lang="en-US" altLang="en-US" sz="1200" smtClean="0">
                <a:latin typeface="Times New Roman" panose="02020603050405020304" pitchFamily="18" charset="0"/>
              </a:rPr>
              <a:pPr/>
              <a:t>49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>
            <a:extLst>
              <a:ext uri="{FF2B5EF4-FFF2-40B4-BE49-F238E27FC236}">
                <a16:creationId xmlns:a16="http://schemas.microsoft.com/office/drawing/2014/main" id="{870EC864-E5E0-C849-4012-9A72C2EAB0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>
            <a:extLst>
              <a:ext uri="{FF2B5EF4-FFF2-40B4-BE49-F238E27FC236}">
                <a16:creationId xmlns:a16="http://schemas.microsoft.com/office/drawing/2014/main" id="{7C27CA2F-FE5F-D4A3-A4A4-4200914D3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0596" name="Slide Number Placeholder 3">
            <a:extLst>
              <a:ext uri="{FF2B5EF4-FFF2-40B4-BE49-F238E27FC236}">
                <a16:creationId xmlns:a16="http://schemas.microsoft.com/office/drawing/2014/main" id="{887DAC0C-90B9-FA83-B88B-9F5262E88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1BA906-413C-478A-9897-174A680E9391}" type="slidenum">
              <a:rPr lang="en-US" altLang="en-US" sz="1200" smtClean="0">
                <a:latin typeface="Times New Roman" panose="02020603050405020304" pitchFamily="18" charset="0"/>
              </a:rPr>
              <a:pPr/>
              <a:t>50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42C6528C-4E0B-8B54-3F54-30AA3D6BAC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6C7E1B16-7CB5-8B17-EC12-04434228D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4A093D6B-F0EE-0A80-57A7-D21A5CE2B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18124A5-2FB8-4E36-95E0-3718D5AB4FDB}" type="slidenum">
              <a:rPr lang="en-US" altLang="en-US" sz="1200" smtClean="0">
                <a:latin typeface="Times New Roman" panose="02020603050405020304" pitchFamily="18" charset="0"/>
              </a:rPr>
              <a:pPr/>
              <a:t>51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EE41BB42-FA83-2FB6-166A-A7ACE490B8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97EF42E1-98A3-B823-C8BC-AAB5FC1C6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CBF61BEE-CB73-44AE-86DF-78DA799E0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34771F4-A6EC-4161-B2EB-808C49412C83}" type="slidenum">
              <a:rPr lang="en-US" altLang="en-US" sz="1200" smtClean="0">
                <a:latin typeface="Times New Roman" panose="02020603050405020304" pitchFamily="18" charset="0"/>
              </a:rPr>
              <a:pPr/>
              <a:t>52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>
            <a:extLst>
              <a:ext uri="{FF2B5EF4-FFF2-40B4-BE49-F238E27FC236}">
                <a16:creationId xmlns:a16="http://schemas.microsoft.com/office/drawing/2014/main" id="{3C36676C-3495-1D10-F1D0-E63D5DEB2A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>
            <a:extLst>
              <a:ext uri="{FF2B5EF4-FFF2-40B4-BE49-F238E27FC236}">
                <a16:creationId xmlns:a16="http://schemas.microsoft.com/office/drawing/2014/main" id="{0C52D89F-C35C-A9FB-6CB5-B470E1CA7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4D2247B1-6663-B2A8-637E-B641BED9D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6E4F19-BEA2-4D42-98E2-3AFB2972BA72}" type="slidenum">
              <a:rPr lang="en-US" altLang="en-US" sz="1200" smtClean="0">
                <a:latin typeface="Times New Roman" panose="02020603050405020304" pitchFamily="18" charset="0"/>
              </a:rPr>
              <a:pPr/>
              <a:t>53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>
            <a:extLst>
              <a:ext uri="{FF2B5EF4-FFF2-40B4-BE49-F238E27FC236}">
                <a16:creationId xmlns:a16="http://schemas.microsoft.com/office/drawing/2014/main" id="{8943B976-03FB-EE08-09A2-04F3C9C91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>
            <a:extLst>
              <a:ext uri="{FF2B5EF4-FFF2-40B4-BE49-F238E27FC236}">
                <a16:creationId xmlns:a16="http://schemas.microsoft.com/office/drawing/2014/main" id="{CAA82FED-48FD-488C-0603-E63EBA8A9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8788" name="Slide Number Placeholder 3">
            <a:extLst>
              <a:ext uri="{FF2B5EF4-FFF2-40B4-BE49-F238E27FC236}">
                <a16:creationId xmlns:a16="http://schemas.microsoft.com/office/drawing/2014/main" id="{E87842A6-6E1A-CF16-1F3A-9ABB98E1B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FEA4CB6-F276-40BC-B142-8A607727FD44}" type="slidenum">
              <a:rPr lang="en-US" altLang="en-US" sz="1200" smtClean="0">
                <a:latin typeface="Times New Roman" panose="02020603050405020304" pitchFamily="18" charset="0"/>
              </a:rPr>
              <a:pPr/>
              <a:t>54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DFC5F79D-5EC8-30BF-B2C7-63FFEB2C89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1F1AD718-C3AA-9BF3-94AF-556116B31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9C4DFDFD-101D-000D-ED8F-A1F7EAD77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5E4468F-6C15-4DCF-9BBC-15CF2AED0CAC}" type="slidenum">
              <a:rPr lang="en-US" altLang="en-US" sz="1200" smtClean="0">
                <a:latin typeface="Times New Roman" panose="02020603050405020304" pitchFamily="18" charset="0"/>
              </a:rPr>
              <a:pPr/>
              <a:t>55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>
            <a:extLst>
              <a:ext uri="{FF2B5EF4-FFF2-40B4-BE49-F238E27FC236}">
                <a16:creationId xmlns:a16="http://schemas.microsoft.com/office/drawing/2014/main" id="{F7CD65C6-938E-9738-0471-F07EC63768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>
            <a:extLst>
              <a:ext uri="{FF2B5EF4-FFF2-40B4-BE49-F238E27FC236}">
                <a16:creationId xmlns:a16="http://schemas.microsoft.com/office/drawing/2014/main" id="{8075F328-2F6E-5A53-471A-CEC78D6C2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2884" name="Slide Number Placeholder 3">
            <a:extLst>
              <a:ext uri="{FF2B5EF4-FFF2-40B4-BE49-F238E27FC236}">
                <a16:creationId xmlns:a16="http://schemas.microsoft.com/office/drawing/2014/main" id="{179BE0C3-6571-1CEE-5020-99F3FA7AE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9751E7F-715E-42C1-B17A-886DE5DB9B3D}" type="slidenum">
              <a:rPr lang="en-US" altLang="en-US" sz="1200" smtClean="0">
                <a:latin typeface="Times New Roman" panose="02020603050405020304" pitchFamily="18" charset="0"/>
              </a:rPr>
              <a:pPr/>
              <a:t>56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>
            <a:extLst>
              <a:ext uri="{FF2B5EF4-FFF2-40B4-BE49-F238E27FC236}">
                <a16:creationId xmlns:a16="http://schemas.microsoft.com/office/drawing/2014/main" id="{4A45C692-11AC-6D5E-F5A5-0FD703C6B2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>
            <a:extLst>
              <a:ext uri="{FF2B5EF4-FFF2-40B4-BE49-F238E27FC236}">
                <a16:creationId xmlns:a16="http://schemas.microsoft.com/office/drawing/2014/main" id="{FB8E2946-4140-17AE-6533-3F3DA3E06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4932" name="Slide Number Placeholder 3">
            <a:extLst>
              <a:ext uri="{FF2B5EF4-FFF2-40B4-BE49-F238E27FC236}">
                <a16:creationId xmlns:a16="http://schemas.microsoft.com/office/drawing/2014/main" id="{67636916-1FDB-D313-F379-FFD14E819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4799C66-28A4-4C4D-B677-E5E40FC79450}" type="slidenum">
              <a:rPr lang="en-US" altLang="en-US" sz="1200" smtClean="0">
                <a:latin typeface="Times New Roman" panose="02020603050405020304" pitchFamily="18" charset="0"/>
              </a:rPr>
              <a:pPr/>
              <a:t>57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97569026-DC98-722A-9861-ADF708DCBD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349674C6-83D5-5E37-FBB0-5B6E56409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981FE1A5-0401-05D6-5C2F-B4E2AE525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18C7BF-25B1-4A8F-9F98-AC21DA14807E}" type="slidenum">
              <a:rPr lang="en-US" altLang="en-US" sz="1200" smtClean="0">
                <a:latin typeface="Times New Roman" panose="02020603050405020304" pitchFamily="18" charset="0"/>
              </a:rPr>
              <a:pPr/>
              <a:t>58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94F9DBC6-CE04-64A7-E314-1D22CAA12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F1B924A9-B468-D8F7-CF3E-CBC824FDE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9028" name="Slide Number Placeholder 3">
            <a:extLst>
              <a:ext uri="{FF2B5EF4-FFF2-40B4-BE49-F238E27FC236}">
                <a16:creationId xmlns:a16="http://schemas.microsoft.com/office/drawing/2014/main" id="{13E8930D-CD2C-6600-DD0F-F8609BB11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AF796A8-9976-4373-8983-B002DEDDBF46}" type="slidenum">
              <a:rPr lang="en-US" altLang="en-US" sz="1200" smtClean="0">
                <a:latin typeface="Times New Roman" panose="02020603050405020304" pitchFamily="18" charset="0"/>
              </a:rPr>
              <a:pPr/>
              <a:t>59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8A7259CF-0B46-B792-06A3-47755C3C97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6B33AE90-571D-58E1-A524-C9F97CB2C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C7D24609-61CA-1972-099A-2854B0D96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9995974-11B9-4E4B-A749-78FC433120EA}" type="slidenum">
              <a:rPr lang="en-US" altLang="en-US" sz="1200" smtClean="0">
                <a:latin typeface="Times New Roman" panose="02020603050405020304" pitchFamily="18" charset="0"/>
              </a:rPr>
              <a:pPr/>
              <a:t>60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BF734D-FA21-46CC-B337-08991588F7D2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3"/>
            <a:ext cx="2743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</a:defRPr>
            </a:lvl1pPr>
          </a:lstStyle>
          <a:p>
            <a:pPr>
              <a:defRPr/>
            </a:pPr>
            <a:fld id="{775A0816-9807-4CA3-A3C5-68577B5C95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263300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2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19230D7-F585-4615-8690-EE47007A6E78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668E2E4-C289-40FA-803B-52DC86338CE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181658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88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53EECD-5EF2-4F97-996E-6CBAC1BF3011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0" y="6589713"/>
            <a:ext cx="2743200" cy="3143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F9126DDB-45DE-4D72-94FB-1E2D565E80A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291930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8" y="243491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0" y="1169082"/>
            <a:ext cx="11551617" cy="49541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53D200-00AA-42A7-802D-F180C1D57E6B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BC9EDAA9-37F3-4614-95D5-5B7FFAB71D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16217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6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2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6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1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7A147622-DF6C-4AD4-B05B-A94F62E38A8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342900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4FC3DE7D-4EEA-43B2-9617-70FD3CFD63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5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6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2475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1607DA-A9BC-4664-80C0-A8EF5A98972C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03C63-2273-46E4-B7DF-3CCA315B6C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268103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899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0A3BB5-049D-4035-BBD7-C54E04C91C61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FE967A2B-7DC3-460F-82C1-37366D5A5F1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265462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35270F-5CE6-4EF5-9A71-BDCE233B4E76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160066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28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2F541BA-B8B3-45BF-9568-D96FA3A28EA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2BE77ECF-F060-4D46-A3D9-128B9B0DFB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34848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0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buClr>
                <a:schemeClr val="accent2"/>
              </a:buClr>
              <a:buFont typeface="Wingdings" panose="05000000000000000000" pitchFamily="2" charset="2"/>
              <a:buChar char="q"/>
              <a:defRPr/>
            </a:lvl1pPr>
            <a:lvl2pPr marL="514350" indent="-171450"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2pPr>
            <a:lvl3pPr marL="857250" indent="-171450">
              <a:buClr>
                <a:schemeClr val="accent2"/>
              </a:buClr>
              <a:buFont typeface="Wingdings" panose="05000000000000000000" pitchFamily="2" charset="2"/>
              <a:buChar char="ü"/>
              <a:defRPr/>
            </a:lvl3pPr>
            <a:lvl4pPr marL="12001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lvl4pPr>
            <a:lvl5pPr marL="1543050" indent="-17145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44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7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1F23F4-6AD8-94D5-2C85-4CB1F4DB44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44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B0510DBD-B54C-4BB2-9910-15204BA8081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28E7F04-0F8E-0741-CB89-B9A5C1DC8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00BDC9-ED95-ECCB-3AA2-7C715A291A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A030487-9D51-47BB-A72F-F6EC4F3B8B43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49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-5751" y="6484938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3429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fld id="{B77A7909-E221-4E66-A5EF-13497EA60D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1300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342900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fld id="{AE5C34FE-8DBA-47D2-B92C-42DE287139A6}" type="datetime1">
              <a:rPr lang="en-US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3" y="6594475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55D12DE-3880-DE12-CE17-D7CD7AFD7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Objectives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5AFAA60-0CDA-A322-906A-3A5AB6B6D2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Define the difference between data and information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Describe what a database is, the various types of databases, and why they are valuable assets for decision making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Explain the importance of database design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Outline how modern databases evolved from file systems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Identify flaws in file system data management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Outline the main components of the database system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Describe the main functions of a database management system (DBMS)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56535-3CEC-D929-4BC5-BFFFA746272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70935733-0070-4FC4-AA67-45D4DA740129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8437" name="Footer Placeholder 5">
            <a:extLst>
              <a:ext uri="{FF2B5EF4-FFF2-40B4-BE49-F238E27FC236}">
                <a16:creationId xmlns:a16="http://schemas.microsoft.com/office/drawing/2014/main" id="{485A426D-6530-9FB2-88B2-A3A185067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8438" name="Slide Number Placeholder 6">
            <a:extLst>
              <a:ext uri="{FF2B5EF4-FFF2-40B4-BE49-F238E27FC236}">
                <a16:creationId xmlns:a16="http://schemas.microsoft.com/office/drawing/2014/main" id="{B056787B-F6F1-4E67-9330-2245C057F8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/>
              <a:t>1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93202BEA-2638-74DD-C797-07253743C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10" y="76200"/>
            <a:ext cx="11904379" cy="623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National Economics University</a:t>
            </a:r>
            <a:br>
              <a:rPr lang="en-US" altLang="en-US" dirty="0"/>
            </a:br>
            <a:r>
              <a:rPr lang="en-US" altLang="en-US" dirty="0"/>
              <a:t>Faculty of Data Science &amp; Artificial Intelligence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dirty="0"/>
              <a:t>Database System Design, Implementation And Management Course – Database System</a:t>
            </a:r>
          </a:p>
          <a:p>
            <a:pPr eaLnBrk="1" hangingPunct="1"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(FDA – SLSCM Lab)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</a:t>
            </a:r>
            <a:r>
              <a:rPr lang="en-US" dirty="0" err="1"/>
              <a:t>minhvd</a:t>
            </a:r>
            <a:r>
              <a:rPr lang="en-US" dirty="0"/>
              <a:t> [at] neu.edu.vn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76F99BE-16D2-D698-B84F-294467AC8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034" y="204634"/>
            <a:ext cx="1243166" cy="124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9BFC2BE-16EA-CF2A-0193-BCC3544BE7F1}"/>
              </a:ext>
            </a:extLst>
          </p:cNvPr>
          <p:cNvSpPr txBox="1">
            <a:spLocks/>
          </p:cNvSpPr>
          <p:nvPr/>
        </p:nvSpPr>
        <p:spPr>
          <a:xfrm>
            <a:off x="0" y="6600825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70935733-0070-4FC4-AA67-45D4DA740129}" type="datetime1">
              <a:rPr lang="en-US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6BB0-D354-C3A9-B5A0-5D1CD2961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6604000"/>
            <a:ext cx="4967287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EC19-2A29-080D-84C0-C504A808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600825"/>
            <a:ext cx="2743200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 algn="r"/>
              <a:t>2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11910D4C-A8E1-69FA-9253-D7771B263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0955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55D12DE-3880-DE12-CE17-D7CD7AFD7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Objectives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5AFAA60-0CDA-A322-906A-3A5AB6B6D2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Define the difference between data and information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Describe what a database is, the various types of databases, and why they are valuable assets for decision making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Explain the importance of database design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Outline how modern databases evolved from file systems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Identify flaws in file system data management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Outline the main components of the database system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Describe the main functions of a database management system (DBMS)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56535-3CEC-D929-4BC5-BFFFA746272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70935733-0070-4FC4-AA67-45D4DA740129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18437" name="Footer Placeholder 5">
            <a:extLst>
              <a:ext uri="{FF2B5EF4-FFF2-40B4-BE49-F238E27FC236}">
                <a16:creationId xmlns:a16="http://schemas.microsoft.com/office/drawing/2014/main" id="{485A426D-6530-9FB2-88B2-A3A185067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dirty="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8438" name="Slide Number Placeholder 6">
            <a:extLst>
              <a:ext uri="{FF2B5EF4-FFF2-40B4-BE49-F238E27FC236}">
                <a16:creationId xmlns:a16="http://schemas.microsoft.com/office/drawing/2014/main" id="{B056787B-F6F1-4E67-9330-2245C057F8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/>
              <a:t>3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1DCB29D-D534-B857-7C83-DE4C3BDFA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1F3EEDD-860D-60D3-AD02-6DD47DB021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/>
              <a:t>Good decisions require good information derived from raw facts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Data is managed most efficiently when stored in a database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Databases evolved from computer file systems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Understanding file system characteristics is important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C2DE5-019B-3B11-82F4-2D9677E8426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7A4C30CC-4197-428E-AFC0-406C73B0ED5C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20485" name="Footer Placeholder 5">
            <a:extLst>
              <a:ext uri="{FF2B5EF4-FFF2-40B4-BE49-F238E27FC236}">
                <a16:creationId xmlns:a16="http://schemas.microsoft.com/office/drawing/2014/main" id="{E4AC8304-634C-9454-375E-510C49AC9C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20486" name="Slide Number Placeholder 6">
            <a:extLst>
              <a:ext uri="{FF2B5EF4-FFF2-40B4-BE49-F238E27FC236}">
                <a16:creationId xmlns:a16="http://schemas.microsoft.com/office/drawing/2014/main" id="{858B14FA-ADB0-CDA2-307C-681CB0F88A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072680-6AB0-491B-8B57-14E3B9BF6F78}" type="slidenum">
              <a:rPr lang="en-US" altLang="en-US" sz="900" smtClean="0">
                <a:solidFill>
                  <a:schemeClr val="bg1"/>
                </a:solidFill>
              </a:rPr>
              <a:pPr/>
              <a:t>4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15245-E404-AB74-2352-D48C3900EF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6EF617-BEE9-FD9C-CBB4-421AC8064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01754-4AE3-4CCF-9E43-AE798FE08FA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3">
            <a:extLst>
              <a:ext uri="{FF2B5EF4-FFF2-40B4-BE49-F238E27FC236}">
                <a16:creationId xmlns:a16="http://schemas.microsoft.com/office/drawing/2014/main" id="{E493E4A4-1FD2-5070-8935-957066BE3CD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3CC39AE6-84A2-0835-5116-78490288F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228600"/>
            <a:ext cx="8191500" cy="610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F71A3E5-5358-9342-1415-859526D19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1-1 Why Databases?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4776EFE-F819-8E23-1F0E-20D4D11C83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sz="2400" dirty="0"/>
              <a:t>Data is ubiquitous (abundant, global, everywhere) and pervasive (unescapable, prevalent, persistent).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sz="2000" dirty="0"/>
              <a:t>From birth to death, we generate and consume data.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400" dirty="0"/>
              <a:t>Data is also essential for organizations to survive and prosper.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400" dirty="0"/>
              <a:t>Business information systems is to help businesses use information as an organizational resource. 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sz="2000" dirty="0"/>
              <a:t>At the heart of all of these systems are the collection, storage, aggregation, manipulation, dissemination, and management of data.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300" dirty="0"/>
              <a:t>Databases are specialized structures that allow computer-based systems to store, manage, and retrieve data very quickly.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E2363-379F-11E0-55C7-AAF38B7E13E7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8E6C8F7E-25A2-48EF-90CC-2521E839A2A5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23557" name="Footer Placeholder 5">
            <a:extLst>
              <a:ext uri="{FF2B5EF4-FFF2-40B4-BE49-F238E27FC236}">
                <a16:creationId xmlns:a16="http://schemas.microsoft.com/office/drawing/2014/main" id="{526D8DFE-B3CE-E678-10A2-9A9BD953EF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23558" name="Slide Number Placeholder 6">
            <a:extLst>
              <a:ext uri="{FF2B5EF4-FFF2-40B4-BE49-F238E27FC236}">
                <a16:creationId xmlns:a16="http://schemas.microsoft.com/office/drawing/2014/main" id="{5E357859-01D7-6BF1-4BBD-1B7E2FB51E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EAB96A-97DB-4DF2-BF26-C2CEA16BF1A7}" type="slidenum">
              <a:rPr lang="en-US" altLang="en-US" sz="900" smtClean="0">
                <a:solidFill>
                  <a:schemeClr val="bg1"/>
                </a:solidFill>
              </a:rPr>
              <a:pPr/>
              <a:t>6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CC20480-695C-3103-F974-EBEABDE1F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1-2 Data versus Information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0BFE7DE-951F-D363-ECE1-667740485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 are raw facts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Information is the result of processing raw data to reveal meaning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Information requires context to reveal meaning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Raw data must be formatted for storage, processing, and presentation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Data are the foundation of information, which is the bedrock of knowledge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C999B-7E8C-1B8C-D445-76905B5244A0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B71AFFB5-6A3D-41A8-A186-9484EED955B3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25605" name="Footer Placeholder 5">
            <a:extLst>
              <a:ext uri="{FF2B5EF4-FFF2-40B4-BE49-F238E27FC236}">
                <a16:creationId xmlns:a16="http://schemas.microsoft.com/office/drawing/2014/main" id="{7890BB98-314F-3E56-581B-60F43ADB7D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25606" name="Slide Number Placeholder 6">
            <a:extLst>
              <a:ext uri="{FF2B5EF4-FFF2-40B4-BE49-F238E27FC236}">
                <a16:creationId xmlns:a16="http://schemas.microsoft.com/office/drawing/2014/main" id="{66BA026F-E633-38EA-D002-22830BA5B9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8947574-A4F2-4312-AED3-F68C5ABD1610}" type="slidenum">
              <a:rPr lang="en-US" altLang="en-US" sz="900" smtClean="0">
                <a:solidFill>
                  <a:schemeClr val="bg1"/>
                </a:solidFill>
              </a:rPr>
              <a:pPr/>
              <a:t>7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B6C2D9B-BCDE-F208-1849-C0EEAF663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1-2 Data versus Information (cont’d.)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6311A3A-7897-A18E-F3C0-ABA7B420B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153400" cy="4351338"/>
          </a:xfrm>
        </p:spPr>
        <p:txBody>
          <a:bodyPr rtlCol="0">
            <a:normAutofit lnSpcReduction="1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Data: building blocks of information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Information produced by processing data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Information used to reveal meaning in data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Accurate, relevant, timely information is the key to good decision making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Good decision making is the key to organizational survival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Data management: focuses on proper generation, storage, and retrieval of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FEE9D-698B-0D90-84BB-EC39A2BF77D0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D22ACBD0-0528-4445-B728-03AFF935D48A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27653" name="Footer Placeholder 5">
            <a:extLst>
              <a:ext uri="{FF2B5EF4-FFF2-40B4-BE49-F238E27FC236}">
                <a16:creationId xmlns:a16="http://schemas.microsoft.com/office/drawing/2014/main" id="{24B6F768-DA7C-8F3A-5317-841957750D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27654" name="Slide Number Placeholder 6">
            <a:extLst>
              <a:ext uri="{FF2B5EF4-FFF2-40B4-BE49-F238E27FC236}">
                <a16:creationId xmlns:a16="http://schemas.microsoft.com/office/drawing/2014/main" id="{35BF539B-C437-5ABE-CCD3-D8E4F07210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638AD0-537B-4AFD-804B-FBA9FEEFF3E3}" type="slidenum">
              <a:rPr lang="en-US" altLang="en-US" sz="900" smtClean="0">
                <a:solidFill>
                  <a:schemeClr val="bg1"/>
                </a:solidFill>
              </a:rPr>
              <a:pPr/>
              <a:t>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27655" name="Picture 7">
            <a:extLst>
              <a:ext uri="{FF2B5EF4-FFF2-40B4-BE49-F238E27FC236}">
                <a16:creationId xmlns:a16="http://schemas.microsoft.com/office/drawing/2014/main" id="{2FBD71EC-2B2B-7B79-09CC-AAAE16367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8813" y="1062038"/>
            <a:ext cx="22002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Picture 8">
            <a:extLst>
              <a:ext uri="{FF2B5EF4-FFF2-40B4-BE49-F238E27FC236}">
                <a16:creationId xmlns:a16="http://schemas.microsoft.com/office/drawing/2014/main" id="{F4148364-9D7D-5B0E-25DA-D8F383B05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2281238"/>
            <a:ext cx="215265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EDF25-0717-BEC2-19BD-171863E98E7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D23055-F2EA-30A2-A131-D16E593C6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DBEEEF-7777-4EC1-BE0B-32A830F7D7A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9700" name="Footer Placeholder 3">
            <a:extLst>
              <a:ext uri="{FF2B5EF4-FFF2-40B4-BE49-F238E27FC236}">
                <a16:creationId xmlns:a16="http://schemas.microsoft.com/office/drawing/2014/main" id="{1C27382A-E50C-C941-2C3A-11F8A9661E8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29701" name="Picture 5">
            <a:extLst>
              <a:ext uri="{FF2B5EF4-FFF2-40B4-BE49-F238E27FC236}">
                <a16:creationId xmlns:a16="http://schemas.microsoft.com/office/drawing/2014/main" id="{934FF82F-4908-0CD7-0E2E-72F2F1DAA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561975"/>
            <a:ext cx="8134350" cy="573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30092D-41E0-30A7-A8E1-C4C50B154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1-3 Introducing the Database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50D79B0-A7B0-3E53-859E-7485378D0F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001000" cy="4351338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en-US" sz="2400" dirty="0"/>
              <a:t>Database: shared, integrated computer structure that stores a collection of:</a:t>
            </a:r>
          </a:p>
          <a:p>
            <a:pPr lvl="1" eaLnBrk="1" hangingPunct="1">
              <a:defRPr/>
            </a:pPr>
            <a:r>
              <a:rPr lang="en-US" altLang="en-US" sz="2000" dirty="0">
                <a:ea typeface="ＭＳ Ｐゴシック" panose="020B0600070205080204" pitchFamily="34" charset="-128"/>
              </a:rPr>
              <a:t>End-user data: raw facts of interest to end user</a:t>
            </a:r>
          </a:p>
          <a:p>
            <a:pPr lvl="1" eaLnBrk="1" hangingPunct="1">
              <a:defRPr/>
            </a:pPr>
            <a:r>
              <a:rPr lang="en-US" altLang="en-US" sz="2000" dirty="0">
                <a:ea typeface="ＭＳ Ｐゴシック" panose="020B0600070205080204" pitchFamily="34" charset="-128"/>
              </a:rPr>
              <a:t>Metadata: data about data</a:t>
            </a:r>
          </a:p>
          <a:p>
            <a:pPr lvl="2" eaLnBrk="1" hangingPunct="1">
              <a:defRPr/>
            </a:pPr>
            <a:r>
              <a:rPr lang="en-US" altLang="en-US" sz="1600" dirty="0">
                <a:ea typeface="ＭＳ Ｐゴシック" panose="020B0600070205080204" pitchFamily="34" charset="-128"/>
              </a:rPr>
              <a:t>Provides description of data characteristics and relationships in data</a:t>
            </a:r>
          </a:p>
          <a:p>
            <a:pPr lvl="2" eaLnBrk="1" hangingPunct="1">
              <a:defRPr/>
            </a:pPr>
            <a:r>
              <a:rPr lang="en-US" altLang="en-US" sz="1600" dirty="0">
                <a:ea typeface="ＭＳ Ｐゴシック" panose="020B0600070205080204" pitchFamily="34" charset="-128"/>
              </a:rPr>
              <a:t>Complements and expands value of data</a:t>
            </a:r>
          </a:p>
          <a:p>
            <a:pPr marL="685800" lvl="2" indent="0" eaLnBrk="1" hangingPunct="1">
              <a:buFont typeface="Courier New" panose="02070309020205020404" pitchFamily="49" charset="0"/>
              <a:buNone/>
              <a:defRPr/>
            </a:pPr>
            <a:endParaRPr lang="en-US" altLang="en-US" sz="1600" dirty="0">
              <a:ea typeface="ＭＳ Ｐゴシック" panose="020B0600070205080204" pitchFamily="34" charset="-128"/>
            </a:endParaRPr>
          </a:p>
          <a:p>
            <a:pPr eaLnBrk="1" hangingPunct="1">
              <a:defRPr/>
            </a:pPr>
            <a:r>
              <a:rPr lang="en-US" altLang="en-US" sz="2400" dirty="0"/>
              <a:t>Database management system (DBMS): collection of programs that manages the database structure and controls access to the data stored in the database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4F00B-C1D9-AE66-5979-64A67E1B5A71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9C6D6AA8-BBF4-4C3B-B577-97A002B28E4F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0725" name="Footer Placeholder 5">
            <a:extLst>
              <a:ext uri="{FF2B5EF4-FFF2-40B4-BE49-F238E27FC236}">
                <a16:creationId xmlns:a16="http://schemas.microsoft.com/office/drawing/2014/main" id="{D2391D93-55E5-DF22-CEDD-157707E070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30726" name="Slide Number Placeholder 6">
            <a:extLst>
              <a:ext uri="{FF2B5EF4-FFF2-40B4-BE49-F238E27FC236}">
                <a16:creationId xmlns:a16="http://schemas.microsoft.com/office/drawing/2014/main" id="{CB518532-E291-38FE-3241-81FEBB9334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3C255FB-B4BD-4AF0-832A-4CAC0014B7B4}" type="slidenum">
              <a:rPr lang="en-US" altLang="en-US" sz="900" smtClean="0">
                <a:solidFill>
                  <a:schemeClr val="bg1"/>
                </a:solidFill>
              </a:rPr>
              <a:pPr/>
              <a:t>10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30727" name="Picture 8">
            <a:extLst>
              <a:ext uri="{FF2B5EF4-FFF2-40B4-BE49-F238E27FC236}">
                <a16:creationId xmlns:a16="http://schemas.microsoft.com/office/drawing/2014/main" id="{22466509-2BB1-6B9D-094B-ADD587DDF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275" y="2743200"/>
            <a:ext cx="21717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8" name="Picture 10">
            <a:extLst>
              <a:ext uri="{FF2B5EF4-FFF2-40B4-BE49-F238E27FC236}">
                <a16:creationId xmlns:a16="http://schemas.microsoft.com/office/drawing/2014/main" id="{6F49A26C-6CDE-92FA-2C15-B6A2EAEA3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638" y="1339850"/>
            <a:ext cx="22002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9" name="Picture 12">
            <a:extLst>
              <a:ext uri="{FF2B5EF4-FFF2-40B4-BE49-F238E27FC236}">
                <a16:creationId xmlns:a16="http://schemas.microsoft.com/office/drawing/2014/main" id="{6E9BD035-341D-B60D-F1BB-05D7571B1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638" y="4768850"/>
            <a:ext cx="214312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BBA9F7D-112D-EDB1-2126-6850202F3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1-3a Role and Advantages of the DBMS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A2F5B2A-ED0F-CF0E-80B3-02066594B5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DBMS is the intermediary between the user and the database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Database structure stored as file collection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Can only access files through the DBMS</a:t>
            </a: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/>
              <a:t>DBMS enables data to be shared 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DBMS integrates many users’ views of the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E734A-A1E6-DD79-BC13-6B33BC321F04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CD5E45EF-9222-49C9-BFFC-CAA0CEEC13C6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2773" name="Footer Placeholder 5">
            <a:extLst>
              <a:ext uri="{FF2B5EF4-FFF2-40B4-BE49-F238E27FC236}">
                <a16:creationId xmlns:a16="http://schemas.microsoft.com/office/drawing/2014/main" id="{58F1653C-4DC4-4713-0D19-2FA4E41759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32774" name="Slide Number Placeholder 6">
            <a:extLst>
              <a:ext uri="{FF2B5EF4-FFF2-40B4-BE49-F238E27FC236}">
                <a16:creationId xmlns:a16="http://schemas.microsoft.com/office/drawing/2014/main" id="{5C9A6EE1-FD51-470A-5FEA-CB12A4D7305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17C2C73-B10C-40FB-B2BD-E5ABC0B16DDE}" type="slidenum">
              <a:rPr lang="en-US" altLang="en-US" sz="900" smtClean="0">
                <a:solidFill>
                  <a:schemeClr val="bg1"/>
                </a:solidFill>
              </a:rPr>
              <a:pPr/>
              <a:t>11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4FE7F-1EC0-BB75-9B60-A0709FBA26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FD62D4F-ACE0-4D2A-9125-AA90D03E1B5A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4819" name="Footer Placeholder 5">
            <a:extLst>
              <a:ext uri="{FF2B5EF4-FFF2-40B4-BE49-F238E27FC236}">
                <a16:creationId xmlns:a16="http://schemas.microsoft.com/office/drawing/2014/main" id="{5B36409F-B787-AEF9-6045-539EC811796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843AF-5629-90A9-748E-B6F1CACD25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B1C8F1-EE53-4F6C-A70C-3D336992B5D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34821" name="Picture 8">
            <a:extLst>
              <a:ext uri="{FF2B5EF4-FFF2-40B4-BE49-F238E27FC236}">
                <a16:creationId xmlns:a16="http://schemas.microsoft.com/office/drawing/2014/main" id="{BFA58010-4BB9-8C15-A1FF-3E37ABBBA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8" y="766763"/>
            <a:ext cx="10144125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D3B053C-225C-6344-48F6-D6B21B422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Role and Advantages of the DBMS (cont’d.)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44EA56A-8090-52CC-ED12-F186107F0A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Advantages of a DBMS: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Improved data sharing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Improved data security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Better data integration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Minimized data inconsistency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Improved data access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Improved decision making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Increased end-user productivity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CB98E-51F8-DC15-D6C7-226586688950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D27D7000-4CD1-40CC-8568-0B849EAB55B2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6869" name="Footer Placeholder 5">
            <a:extLst>
              <a:ext uri="{FF2B5EF4-FFF2-40B4-BE49-F238E27FC236}">
                <a16:creationId xmlns:a16="http://schemas.microsoft.com/office/drawing/2014/main" id="{E24B27C2-44B0-F166-2D76-C6E7DBA381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36870" name="Slide Number Placeholder 6">
            <a:extLst>
              <a:ext uri="{FF2B5EF4-FFF2-40B4-BE49-F238E27FC236}">
                <a16:creationId xmlns:a16="http://schemas.microsoft.com/office/drawing/2014/main" id="{52F20590-60CE-2746-AEF5-776585E7362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A48A60-49F6-4FB9-9BE1-0993D0C39DDB}" type="slidenum">
              <a:rPr lang="en-US" altLang="en-US" sz="900" smtClean="0">
                <a:solidFill>
                  <a:schemeClr val="bg1"/>
                </a:solidFill>
              </a:rPr>
              <a:pPr/>
              <a:t>13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36871" name="Picture 8">
            <a:extLst>
              <a:ext uri="{FF2B5EF4-FFF2-40B4-BE49-F238E27FC236}">
                <a16:creationId xmlns:a16="http://schemas.microsoft.com/office/drawing/2014/main" id="{1F155930-AE5B-99B2-0EBD-89D0C89C2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858963"/>
            <a:ext cx="25146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Picture 10">
            <a:extLst>
              <a:ext uri="{FF2B5EF4-FFF2-40B4-BE49-F238E27FC236}">
                <a16:creationId xmlns:a16="http://schemas.microsoft.com/office/drawing/2014/main" id="{821A0B0D-C6AE-B7E3-DEF7-CB83B4272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429000"/>
            <a:ext cx="27813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12">
            <a:extLst>
              <a:ext uri="{FF2B5EF4-FFF2-40B4-BE49-F238E27FC236}">
                <a16:creationId xmlns:a16="http://schemas.microsoft.com/office/drawing/2014/main" id="{2BD0ECA7-A1FB-FA0A-B2CD-8BA0F96A5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944688"/>
            <a:ext cx="24765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333F22C-1DFE-DDD8-812E-81B80BA29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Databases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3F867CE-836B-5460-0AE2-E655CAC937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8077200" cy="4572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Databases can be classified according to: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Number of users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Database location(s)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Expected type and extent of use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Single-user database supports only one user at a time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Desktop database: single-user; runs on PC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Multiuser database supports multiple users at the same time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Workgroup and enterprise databases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B4D4D-22DA-01D2-ED3D-CCA35569FDE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909248F3-27BF-4FA4-9163-B5C3F843A67A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8917" name="Footer Placeholder 5">
            <a:extLst>
              <a:ext uri="{FF2B5EF4-FFF2-40B4-BE49-F238E27FC236}">
                <a16:creationId xmlns:a16="http://schemas.microsoft.com/office/drawing/2014/main" id="{B918DF3E-4DA9-DAC2-88B6-1506D7BED8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38918" name="Slide Number Placeholder 6">
            <a:extLst>
              <a:ext uri="{FF2B5EF4-FFF2-40B4-BE49-F238E27FC236}">
                <a16:creationId xmlns:a16="http://schemas.microsoft.com/office/drawing/2014/main" id="{2BB209E3-06DD-D13F-BD8B-94F63A069E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EB7415A-01DC-4D7A-9BD5-2D090FDDB030}" type="slidenum">
              <a:rPr lang="en-US" altLang="en-US" sz="900" smtClean="0">
                <a:solidFill>
                  <a:schemeClr val="bg1"/>
                </a:solidFill>
              </a:rPr>
              <a:pPr/>
              <a:t>14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38919" name="Picture 10">
            <a:extLst>
              <a:ext uri="{FF2B5EF4-FFF2-40B4-BE49-F238E27FC236}">
                <a16:creationId xmlns:a16="http://schemas.microsoft.com/office/drawing/2014/main" id="{6BAEAAED-BC1A-8B2F-D3AC-C990DE94E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388" y="981075"/>
            <a:ext cx="207645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0FD9435-67AA-7956-7639-A259AFC016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Databases (cont’d.)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F3B96A9-B9CA-5642-00F5-C3F110F2A2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6096000" cy="435133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Centralized database: data located at a single site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Distributed database: data distributed across several different sites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Cloud database: is a database that is created and maintained using cloud data services, such as Microsoft Azure or Amazon AWS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8643FE-1991-9CD9-26A5-5B8584E5201E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D93DBFC4-1843-4979-AA12-8A9706ABF066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40965" name="Footer Placeholder 5">
            <a:extLst>
              <a:ext uri="{FF2B5EF4-FFF2-40B4-BE49-F238E27FC236}">
                <a16:creationId xmlns:a16="http://schemas.microsoft.com/office/drawing/2014/main" id="{B815599C-E86F-7B75-2D14-80C733F870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40966" name="Slide Number Placeholder 6">
            <a:extLst>
              <a:ext uri="{FF2B5EF4-FFF2-40B4-BE49-F238E27FC236}">
                <a16:creationId xmlns:a16="http://schemas.microsoft.com/office/drawing/2014/main" id="{BDA1D504-FCFA-CB9D-F0A5-80AC7B349F4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129775-8584-48D9-ADFC-6A8E6130F093}" type="slidenum">
              <a:rPr lang="en-US" altLang="en-US" sz="900" smtClean="0">
                <a:solidFill>
                  <a:schemeClr val="bg1"/>
                </a:solidFill>
              </a:rPr>
              <a:pPr/>
              <a:t>15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40967" name="Picture 8">
            <a:extLst>
              <a:ext uri="{FF2B5EF4-FFF2-40B4-BE49-F238E27FC236}">
                <a16:creationId xmlns:a16="http://schemas.microsoft.com/office/drawing/2014/main" id="{B9E885BB-6936-4FCF-1598-07A114CD8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0" y="1858963"/>
            <a:ext cx="251460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7FFF00D-5C40-9C9A-0256-14F284979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Databases (cont'd.)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95B195B6-314C-D05D-96F7-E1690C45A3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en-US" dirty="0"/>
              <a:t>General-purpose database: contain a wide variety of data used in multiple disciplines—for example, a census database that contains general demographic data and the LexisNexis and ProQuest databases that contain newspaper, magazine, and journal articles for a variety of topics.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Discipline-specific databases: contain data focused on specific subject areas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CF3F80-85C7-EE5C-FCAA-966E60D5B628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CA3EEF42-2D08-49A4-A4B7-02BED761CD67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43013" name="Footer Placeholder 5">
            <a:extLst>
              <a:ext uri="{FF2B5EF4-FFF2-40B4-BE49-F238E27FC236}">
                <a16:creationId xmlns:a16="http://schemas.microsoft.com/office/drawing/2014/main" id="{13696567-7DB1-DAB0-42C0-46346D0532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43014" name="Slide Number Placeholder 6">
            <a:extLst>
              <a:ext uri="{FF2B5EF4-FFF2-40B4-BE49-F238E27FC236}">
                <a16:creationId xmlns:a16="http://schemas.microsoft.com/office/drawing/2014/main" id="{372817C7-5079-F5C8-E43A-8EAEE4DDC7F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AC95E02-CF36-4DBE-BB90-D7199D3C231B}" type="slidenum">
              <a:rPr lang="en-US" altLang="en-US" sz="900" smtClean="0">
                <a:solidFill>
                  <a:schemeClr val="bg1"/>
                </a:solidFill>
              </a:rPr>
              <a:pPr/>
              <a:t>16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43015" name="Picture 10">
            <a:extLst>
              <a:ext uri="{FF2B5EF4-FFF2-40B4-BE49-F238E27FC236}">
                <a16:creationId xmlns:a16="http://schemas.microsoft.com/office/drawing/2014/main" id="{D864B710-FC9C-4463-73B9-71E10370A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905000"/>
            <a:ext cx="2505075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7957A91-B93A-BCBF-86FA-DDEFFB2DA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Databases (cont'd.)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33EFA1B-C4EB-D0F8-C3C1-50777D46AF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410200" cy="4351338"/>
          </a:xfrm>
        </p:spPr>
        <p:txBody>
          <a:bodyPr/>
          <a:lstStyle/>
          <a:p>
            <a:pPr eaLnBrk="1" hangingPunct="1"/>
            <a:r>
              <a:rPr lang="en-US" altLang="en-US" dirty="0"/>
              <a:t>Operational database - online transaction processing (OLTP) database – transactional database - or production database: a database that is designed primarily to support a company’s day-to-day operations.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Analytical database focuses primarily on storing historical data and business metrics used exclusively for tactical or strategic decision making.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5A174-0DA5-BEDC-7453-72D467A7C1E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CA3EEF42-2D08-49A4-A4B7-02BED761CD67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45061" name="Footer Placeholder 5">
            <a:extLst>
              <a:ext uri="{FF2B5EF4-FFF2-40B4-BE49-F238E27FC236}">
                <a16:creationId xmlns:a16="http://schemas.microsoft.com/office/drawing/2014/main" id="{FDF72CE9-23E1-F9CE-A051-DDD00EFF1A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45062" name="Slide Number Placeholder 6">
            <a:extLst>
              <a:ext uri="{FF2B5EF4-FFF2-40B4-BE49-F238E27FC236}">
                <a16:creationId xmlns:a16="http://schemas.microsoft.com/office/drawing/2014/main" id="{738C699C-1FCC-04E0-294C-CC6F52402BC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C6FD6CA-81A1-4DEF-B7D4-BAF6B67B5862}" type="slidenum">
              <a:rPr lang="en-US" altLang="en-US" sz="900" smtClean="0">
                <a:solidFill>
                  <a:schemeClr val="bg1"/>
                </a:solidFill>
              </a:rPr>
              <a:pPr/>
              <a:t>17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45063" name="Picture 3">
            <a:extLst>
              <a:ext uri="{FF2B5EF4-FFF2-40B4-BE49-F238E27FC236}">
                <a16:creationId xmlns:a16="http://schemas.microsoft.com/office/drawing/2014/main" id="{401C276A-DBDC-1472-04C8-87BF60B84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889000"/>
            <a:ext cx="2449513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595BB1C-36C3-EB2E-1FB6-DC8925B16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Databases (cont'd.)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0C9F9C1-749F-1519-0C40-07330EFF96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7010400" cy="4351338"/>
          </a:xfrm>
        </p:spPr>
        <p:txBody>
          <a:bodyPr rtlCol="0">
            <a:normAutofit lnSpcReduction="1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Unstructured data exist in their original state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Structured data result from formatting 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Structure applied based on type of processing to be performed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Semi-structured data have been processed to some extent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Extensible Markup Language (XML) represents data elements in textual format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XML database supports semi-structured XML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034DE-AC36-0F26-0CF0-653901F95B4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CA3EEF42-2D08-49A4-A4B7-02BED761CD67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47109" name="Footer Placeholder 5">
            <a:extLst>
              <a:ext uri="{FF2B5EF4-FFF2-40B4-BE49-F238E27FC236}">
                <a16:creationId xmlns:a16="http://schemas.microsoft.com/office/drawing/2014/main" id="{A19BFB4C-0525-F46D-682C-7C37DF0113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47110" name="Slide Number Placeholder 6">
            <a:extLst>
              <a:ext uri="{FF2B5EF4-FFF2-40B4-BE49-F238E27FC236}">
                <a16:creationId xmlns:a16="http://schemas.microsoft.com/office/drawing/2014/main" id="{C87E6840-73A1-1C74-A92E-D8CC5D29AD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08BDF52-C8A8-465D-A9A3-F2FD02B26167}" type="slidenum">
              <a:rPr lang="en-US" altLang="en-US" sz="900" smtClean="0">
                <a:solidFill>
                  <a:schemeClr val="bg1"/>
                </a:solidFill>
              </a:rPr>
              <a:pPr/>
              <a:t>18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47111" name="Picture 3">
            <a:extLst>
              <a:ext uri="{FF2B5EF4-FFF2-40B4-BE49-F238E27FC236}">
                <a16:creationId xmlns:a16="http://schemas.microsoft.com/office/drawing/2014/main" id="{5878CA23-FDBC-F785-65A3-BE647B0CD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163" y="2057400"/>
            <a:ext cx="263207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2" name="Picture 7">
            <a:extLst>
              <a:ext uri="{FF2B5EF4-FFF2-40B4-BE49-F238E27FC236}">
                <a16:creationId xmlns:a16="http://schemas.microsoft.com/office/drawing/2014/main" id="{E9EF163E-0F40-7291-C5F0-750FF098A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0288" y="731838"/>
            <a:ext cx="2271712" cy="546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F41428-3A5A-0402-D96B-DE31FB0E52A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CB0426-19E3-499F-B480-BA8162B97D78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49155" name="Footer Placeholder 5">
            <a:extLst>
              <a:ext uri="{FF2B5EF4-FFF2-40B4-BE49-F238E27FC236}">
                <a16:creationId xmlns:a16="http://schemas.microsoft.com/office/drawing/2014/main" id="{73D3C738-4AA4-FB4B-0864-17391DC7603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F5727-7A24-7716-A3E3-D45642AAAE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FE766B-3F90-4FDD-8A73-1C7659FC787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49157" name="Picture 8">
            <a:extLst>
              <a:ext uri="{FF2B5EF4-FFF2-40B4-BE49-F238E27FC236}">
                <a16:creationId xmlns:a16="http://schemas.microsoft.com/office/drawing/2014/main" id="{325B7A1C-A9D5-53AD-2FB7-60DC3F97E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1381125"/>
            <a:ext cx="1205865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3A7242D-E7A1-544A-44A2-62260A0D6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1-4 Why Database Design Is Important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4C8EC8F-6001-8C97-05D7-ED997D0371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Database design focuses on design of database structure used for end-user data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Designer must identify database’s expected use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Well-designed database: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Facilitates data management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Generates accurate and valuable information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Poorly designed database: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Causes difficult-to-trace errors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67CB05-0A5E-F5E3-E87D-4693C6A74F8C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175E88A0-CD1C-4274-9E94-30898B79DF6B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51205" name="Footer Placeholder 5">
            <a:extLst>
              <a:ext uri="{FF2B5EF4-FFF2-40B4-BE49-F238E27FC236}">
                <a16:creationId xmlns:a16="http://schemas.microsoft.com/office/drawing/2014/main" id="{A07717BA-AB44-CBC1-93A0-539E22CEBA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51206" name="Slide Number Placeholder 6">
            <a:extLst>
              <a:ext uri="{FF2B5EF4-FFF2-40B4-BE49-F238E27FC236}">
                <a16:creationId xmlns:a16="http://schemas.microsoft.com/office/drawing/2014/main" id="{BE86E73E-D6B3-9B5C-D5B3-1AFB8719CE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E3A4303-2BC7-4FD7-B372-A9F72D68CFE8}" type="slidenum">
              <a:rPr lang="en-US" altLang="en-US" sz="900" smtClean="0">
                <a:solidFill>
                  <a:schemeClr val="bg1"/>
                </a:solidFill>
              </a:rPr>
              <a:pPr/>
              <a:t>20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51207" name="Picture 8">
            <a:extLst>
              <a:ext uri="{FF2B5EF4-FFF2-40B4-BE49-F238E27FC236}">
                <a16:creationId xmlns:a16="http://schemas.microsoft.com/office/drawing/2014/main" id="{117190E7-FB45-1CAF-0D0F-EEAC8F455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2895600"/>
            <a:ext cx="26289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432AA5-F0B7-F897-6A97-3729C18400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0E2E71-BEEF-A8B3-2E7F-208ACAB75D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F5C2E3-34E0-4AA8-9EF7-FDB68AF4EA9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3252" name="Footer Placeholder 3">
            <a:extLst>
              <a:ext uri="{FF2B5EF4-FFF2-40B4-BE49-F238E27FC236}">
                <a16:creationId xmlns:a16="http://schemas.microsoft.com/office/drawing/2014/main" id="{CE02F832-06ED-EFD0-336A-10F2A0606EB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3814FE73-1782-981E-A312-4D02D9D08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395288"/>
            <a:ext cx="12020550" cy="606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B21BD-7A7B-388F-7FDE-33CFEF23184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2041A-1C8C-A3DE-EC52-7FA7EE1DA4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8289B1-3911-4B7E-B01B-C26EDA7D43C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4276" name="Footer Placeholder 3">
            <a:extLst>
              <a:ext uri="{FF2B5EF4-FFF2-40B4-BE49-F238E27FC236}">
                <a16:creationId xmlns:a16="http://schemas.microsoft.com/office/drawing/2014/main" id="{02D040FB-802C-353B-E568-6DE89B6155B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54277" name="Picture 5">
            <a:extLst>
              <a:ext uri="{FF2B5EF4-FFF2-40B4-BE49-F238E27FC236}">
                <a16:creationId xmlns:a16="http://schemas.microsoft.com/office/drawing/2014/main" id="{FB5F84E1-6FA0-B16F-CD36-13136F6F8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685800"/>
            <a:ext cx="6096000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7">
            <a:extLst>
              <a:ext uri="{FF2B5EF4-FFF2-40B4-BE49-F238E27FC236}">
                <a16:creationId xmlns:a16="http://schemas.microsoft.com/office/drawing/2014/main" id="{C1F9DD69-A654-CFBC-5FF2-E351C534F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590800"/>
            <a:ext cx="6958013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A0DFF7B-5545-7DF8-F6D7-BE6949E4B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1-5 Evolution of File System Data Processing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360267F-D260-9FCE-6931-013A41EE6D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7543800" cy="4351338"/>
          </a:xfrm>
        </p:spPr>
        <p:txBody>
          <a:bodyPr rtlCol="0"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Reasons for studying file systems: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Complexity of database design is easier to understand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Understanding file system problems helps to avoid problems with DBMS systems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Knowledge of file system is useful for converting file system to database system</a:t>
            </a:r>
          </a:p>
          <a:p>
            <a:pPr marL="3429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File systems typically composed of collection of file folders, each tagged and kept in cabinet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Organized by expected use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2D93-4A34-3BFC-BC6C-6295D3AAC05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B7A62781-F494-4038-99CE-7FD7F5357AFE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55301" name="Footer Placeholder 5">
            <a:extLst>
              <a:ext uri="{FF2B5EF4-FFF2-40B4-BE49-F238E27FC236}">
                <a16:creationId xmlns:a16="http://schemas.microsoft.com/office/drawing/2014/main" id="{85448B52-1960-B0E3-EB55-ACA8D67FA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55302" name="Slide Number Placeholder 6">
            <a:extLst>
              <a:ext uri="{FF2B5EF4-FFF2-40B4-BE49-F238E27FC236}">
                <a16:creationId xmlns:a16="http://schemas.microsoft.com/office/drawing/2014/main" id="{868DF404-C41A-C100-F338-6C7C45D491A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307888C-7113-4F65-A264-5F3BDE2D659A}" type="slidenum">
              <a:rPr lang="en-US" altLang="en-US" sz="900" smtClean="0">
                <a:solidFill>
                  <a:schemeClr val="bg1"/>
                </a:solidFill>
              </a:rPr>
              <a:pPr/>
              <a:t>23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55303" name="Picture 8">
            <a:extLst>
              <a:ext uri="{FF2B5EF4-FFF2-40B4-BE49-F238E27FC236}">
                <a16:creationId xmlns:a16="http://schemas.microsoft.com/office/drawing/2014/main" id="{5BCE23BC-6C31-A6A9-C301-BB715A403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0" y="1143000"/>
            <a:ext cx="2093913" cy="511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5E73F75E-8DF6-EDAE-B69C-AFE5A5599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1-5 Evolution of File System Data Processing (cont'd.)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3FFF59E1-E5B2-72FC-F8DC-5689068249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Contents of each file folder are logically related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Manual file systems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Served as a data repository for small data collections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Cumbersome for large collections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Computerized file systems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Data processing (DP) specialist converted computer file structure from manual system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Wrote software that managed the data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Designed the application programs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801C7-4753-BDF5-F768-C4083B0239A6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402370DA-5EBC-459B-B2DB-25AF49CF7B59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57349" name="Footer Placeholder 5">
            <a:extLst>
              <a:ext uri="{FF2B5EF4-FFF2-40B4-BE49-F238E27FC236}">
                <a16:creationId xmlns:a16="http://schemas.microsoft.com/office/drawing/2014/main" id="{93F16363-524C-1146-2463-5D77C78093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57350" name="Slide Number Placeholder 6">
            <a:extLst>
              <a:ext uri="{FF2B5EF4-FFF2-40B4-BE49-F238E27FC236}">
                <a16:creationId xmlns:a16="http://schemas.microsoft.com/office/drawing/2014/main" id="{23197162-BBFC-32A2-6E28-4E93A98F57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1380A8-F70C-4AF1-A5D4-643E0A8E4370}" type="slidenum">
              <a:rPr lang="en-US" altLang="en-US" sz="900" smtClean="0">
                <a:solidFill>
                  <a:schemeClr val="bg1"/>
                </a:solidFill>
              </a:rPr>
              <a:pPr/>
              <a:t>24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0B6F1900-C8B5-DE89-F2EB-263784F6F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1-5 Evolution of File System Data Processing (cont'd.)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3157556-422A-76D3-9270-EAC9F6C1C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Initially, computer file systems resembled manual systems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As number of files increased, file systems evolved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Each file used its own application program to store, retrieve, and modify data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Each file was owned by individual or department that commissioned its creation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B9A9F-009B-F451-3170-49D759C30A1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E913244C-16C4-46C0-B2D8-D5932E64BCA6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59397" name="Footer Placeholder 5">
            <a:extLst>
              <a:ext uri="{FF2B5EF4-FFF2-40B4-BE49-F238E27FC236}">
                <a16:creationId xmlns:a16="http://schemas.microsoft.com/office/drawing/2014/main" id="{699E3738-FFE2-EDD7-4600-F285DD7B39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59398" name="Slide Number Placeholder 6">
            <a:extLst>
              <a:ext uri="{FF2B5EF4-FFF2-40B4-BE49-F238E27FC236}">
                <a16:creationId xmlns:a16="http://schemas.microsoft.com/office/drawing/2014/main" id="{1403D83E-68E1-BD96-8E8B-948D19560F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A6FF821-8240-4BB5-A7CD-33F1A54BD7C5}" type="slidenum">
              <a:rPr lang="en-US" altLang="en-US" sz="900" smtClean="0">
                <a:solidFill>
                  <a:schemeClr val="bg1"/>
                </a:solidFill>
              </a:rPr>
              <a:pPr/>
              <a:t>25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25970-FB8F-1EDA-756A-3B60C27702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102B982-7EC9-4BE4-AE7A-74880B574B5C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61443" name="Footer Placeholder 5">
            <a:extLst>
              <a:ext uri="{FF2B5EF4-FFF2-40B4-BE49-F238E27FC236}">
                <a16:creationId xmlns:a16="http://schemas.microsoft.com/office/drawing/2014/main" id="{B8297BD8-B62B-E424-5E98-5741E9ED1A7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2CC19-895D-BC81-260B-1F96204A9C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2E20D5-7978-4844-904B-1DAC03FEF06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1445" name="Picture 8">
            <a:extLst>
              <a:ext uri="{FF2B5EF4-FFF2-40B4-BE49-F238E27FC236}">
                <a16:creationId xmlns:a16="http://schemas.microsoft.com/office/drawing/2014/main" id="{6FC5F58D-8B33-255E-4D1D-1396075A7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63" y="1104900"/>
            <a:ext cx="1012507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C174B-074E-5622-3B3E-2173733231E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38300BF-F355-48DB-BD14-415E0D6D04E0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63491" name="Footer Placeholder 5">
            <a:extLst>
              <a:ext uri="{FF2B5EF4-FFF2-40B4-BE49-F238E27FC236}">
                <a16:creationId xmlns:a16="http://schemas.microsoft.com/office/drawing/2014/main" id="{F0B93AE4-2C5D-8F64-821D-0530ACB3F57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8F167-E962-F9A0-7981-D2FCF595C6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8682A1-8A6F-4C46-A241-A6FAA830EE5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63493" name="Picture 8">
            <a:extLst>
              <a:ext uri="{FF2B5EF4-FFF2-40B4-BE49-F238E27FC236}">
                <a16:creationId xmlns:a16="http://schemas.microsoft.com/office/drawing/2014/main" id="{13F5DD94-A505-0261-FA94-FFDB8AB6A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63" y="762000"/>
            <a:ext cx="9063037" cy="233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4" name="Picture 11">
            <a:extLst>
              <a:ext uri="{FF2B5EF4-FFF2-40B4-BE49-F238E27FC236}">
                <a16:creationId xmlns:a16="http://schemas.microsoft.com/office/drawing/2014/main" id="{F5C02C20-7555-1CE9-302F-382218A00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3451225"/>
            <a:ext cx="9053512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 descr="C:\Users\Amster\Documents\AmityWork\DBSystems\Figures\C7888_01\C7888_01\Fig01-07.bmp">
            <a:extLst>
              <a:ext uri="{FF2B5EF4-FFF2-40B4-BE49-F238E27FC236}">
                <a16:creationId xmlns:a16="http://schemas.microsoft.com/office/drawing/2014/main" id="{5BB2FA89-874F-4092-C5ED-BB8B1C99D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80343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34219-5A9F-C66B-B594-486680A4EFA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EA0589-000E-470E-96F4-AFB933B0953A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65540" name="Footer Placeholder 5">
            <a:extLst>
              <a:ext uri="{FF2B5EF4-FFF2-40B4-BE49-F238E27FC236}">
                <a16:creationId xmlns:a16="http://schemas.microsoft.com/office/drawing/2014/main" id="{DEBF5C02-97C9-3B6F-5E2F-99BF9A1FB29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7DD1C-C1B6-D4C3-E5B6-0494D9A571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68500F3-0B13-4721-9A4E-756F74D9598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65542" name="Picture 8">
            <a:extLst>
              <a:ext uri="{FF2B5EF4-FFF2-40B4-BE49-F238E27FC236}">
                <a16:creationId xmlns:a16="http://schemas.microsoft.com/office/drawing/2014/main" id="{2B42C1AF-4F7F-F5E4-E52F-4EC8E5249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994150"/>
            <a:ext cx="77724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3">
            <a:extLst>
              <a:ext uri="{FF2B5EF4-FFF2-40B4-BE49-F238E27FC236}">
                <a16:creationId xmlns:a16="http://schemas.microsoft.com/office/drawing/2014/main" id="{404DBD74-8A4C-C5F0-D3E6-013005535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File System Redux: Modern End-User Productivity Tools</a:t>
            </a:r>
          </a:p>
        </p:txBody>
      </p:sp>
      <p:sp>
        <p:nvSpPr>
          <p:cNvPr id="67587" name="Content Placeholder 4">
            <a:extLst>
              <a:ext uri="{FF2B5EF4-FFF2-40B4-BE49-F238E27FC236}">
                <a16:creationId xmlns:a16="http://schemas.microsoft.com/office/drawing/2014/main" id="{41139978-A08C-CF6B-29E9-8A0FA16792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Ubiquitous use of personal productivity tools can introduce the same problems as the old file systems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Microsoft Excel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Widely used by business users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Users have become so adept at working with spreadsheets, they tend to use them to complete tasks for which spreadsheets are not appropriate – database substitute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F46621-C2B5-7CB6-B45D-7ABEF2F3AD04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5C54DAA4-8AEE-47BB-AEC3-0D9D9141D965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67589" name="Footer Placeholder 5">
            <a:extLst>
              <a:ext uri="{FF2B5EF4-FFF2-40B4-BE49-F238E27FC236}">
                <a16:creationId xmlns:a16="http://schemas.microsoft.com/office/drawing/2014/main" id="{47E8B634-BCB7-F50F-AC12-4F4F11653C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67590" name="Slide Number Placeholder 6">
            <a:extLst>
              <a:ext uri="{FF2B5EF4-FFF2-40B4-BE49-F238E27FC236}">
                <a16:creationId xmlns:a16="http://schemas.microsoft.com/office/drawing/2014/main" id="{B86DE137-7AF3-BDEA-580B-1679D8E7D7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EBED42C-1E31-4920-BBC6-234613135752}" type="slidenum">
              <a:rPr lang="en-US" altLang="en-US" sz="900" smtClean="0">
                <a:solidFill>
                  <a:schemeClr val="bg1"/>
                </a:solidFill>
              </a:rPr>
              <a:pPr/>
              <a:t>29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584B6A72-9A67-E1ED-84F6-7E6DD940E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1-6 Problems with File System Data Processing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9479DCC-9C69-4FEF-FC86-AE41FDC0A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File systems were an improvement over manual system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File systems used for more than two decades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Understanding the shortcomings of file systems aids in development of modern databases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Many problems not unique to file systems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Even simple file system retrieval task required extensive programming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Ad hoc queries impossible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Changing existing structure difficult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0E6282-B923-BBA8-14FB-4F7308D23E6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E6EAD187-1AE1-48A6-9A50-50FD58173400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69637" name="Footer Placeholder 5">
            <a:extLst>
              <a:ext uri="{FF2B5EF4-FFF2-40B4-BE49-F238E27FC236}">
                <a16:creationId xmlns:a16="http://schemas.microsoft.com/office/drawing/2014/main" id="{535B9A17-84A5-6DBE-D158-E99A594DF3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69638" name="Slide Number Placeholder 6">
            <a:extLst>
              <a:ext uri="{FF2B5EF4-FFF2-40B4-BE49-F238E27FC236}">
                <a16:creationId xmlns:a16="http://schemas.microsoft.com/office/drawing/2014/main" id="{B96C965B-BA5E-30CB-6569-96DC70FD0D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7D8A5F3-F170-467C-822D-AC39C4F19482}" type="slidenum">
              <a:rPr lang="en-US" altLang="en-US" sz="900" smtClean="0">
                <a:solidFill>
                  <a:schemeClr val="bg1"/>
                </a:solidFill>
              </a:rPr>
              <a:pPr/>
              <a:t>30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703B787-B308-506C-75B6-B7250D5F8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1-6 Problems with File System Data Processing (cont'd.)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66A760FB-1E37-9A74-4D7F-3A6BE75C1B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Security features difficult to program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Often omitted in file system environments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Summary of file system limitations: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Requires extensive programming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Cannot perform ad hoc queries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System administration is complex and difficult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Difficult to make changes to existing structures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Security features are likely to be inadequate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46220-9724-1789-53A5-40DFBA20240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17F50E3E-29F4-4230-BC9B-DC71A5BCE3E6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71685" name="Footer Placeholder 5">
            <a:extLst>
              <a:ext uri="{FF2B5EF4-FFF2-40B4-BE49-F238E27FC236}">
                <a16:creationId xmlns:a16="http://schemas.microsoft.com/office/drawing/2014/main" id="{5614FA17-B93A-237D-CF2F-2D5F7136D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1686" name="Slide Number Placeholder 6">
            <a:extLst>
              <a:ext uri="{FF2B5EF4-FFF2-40B4-BE49-F238E27FC236}">
                <a16:creationId xmlns:a16="http://schemas.microsoft.com/office/drawing/2014/main" id="{18860BAA-B5A7-FF28-DEF8-B5C5E8D44E6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2EAD8F-0000-4EB2-9741-D9D467705251}" type="slidenum">
              <a:rPr lang="en-US" altLang="en-US" sz="900" smtClean="0">
                <a:solidFill>
                  <a:schemeClr val="bg1"/>
                </a:solidFill>
              </a:rPr>
              <a:pPr/>
              <a:t>31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BF5424B-B3C6-A258-56CE-A5120E94C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1-6a Structural and Data Dependence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CAB699B-9CE0-6A08-48EE-74421367C6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791200" cy="4351338"/>
          </a:xfrm>
        </p:spPr>
        <p:txBody>
          <a:bodyPr rtlCol="0">
            <a:normAutofit fontScale="92500" lnSpcReduction="2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Structural dependence: access to a file is dependent on its own structure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All file system programs must be modified to conform to a new file structure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Structural independence: change file structure without affecting data access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Data dependence: data access changes when data storage characteristics change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Data independence: data storage characteristics do not affect data access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9D577-A850-367B-EB74-7448F642D637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4198B670-FF21-4E16-9969-8FDF88595B71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73733" name="Footer Placeholder 5">
            <a:extLst>
              <a:ext uri="{FF2B5EF4-FFF2-40B4-BE49-F238E27FC236}">
                <a16:creationId xmlns:a16="http://schemas.microsoft.com/office/drawing/2014/main" id="{D399D923-8C8F-1511-32A3-742EEB7504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dirty="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3734" name="Slide Number Placeholder 6">
            <a:extLst>
              <a:ext uri="{FF2B5EF4-FFF2-40B4-BE49-F238E27FC236}">
                <a16:creationId xmlns:a16="http://schemas.microsoft.com/office/drawing/2014/main" id="{79BD3F3A-CB57-D096-D073-E7030344532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27DFF2E-FDB4-42ED-9EF9-4A080195F5BB}" type="slidenum">
              <a:rPr lang="en-US" altLang="en-US" sz="900" smtClean="0">
                <a:solidFill>
                  <a:schemeClr val="bg1"/>
                </a:solidFill>
              </a:rPr>
              <a:pPr/>
              <a:t>32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3735" name="Picture 8">
            <a:extLst>
              <a:ext uri="{FF2B5EF4-FFF2-40B4-BE49-F238E27FC236}">
                <a16:creationId xmlns:a16="http://schemas.microsoft.com/office/drawing/2014/main" id="{B433AE05-098E-812C-E0EF-AE8FBC820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343025"/>
            <a:ext cx="2303463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6" name="Picture 10">
            <a:extLst>
              <a:ext uri="{FF2B5EF4-FFF2-40B4-BE49-F238E27FC236}">
                <a16:creationId xmlns:a16="http://schemas.microsoft.com/office/drawing/2014/main" id="{9D66E986-7B2F-DD43-C1DD-731DB9DF8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75" y="1512888"/>
            <a:ext cx="2432050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BA9102A-D5FA-8877-346C-ECA333A7D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1-6a Structural and Data Dependence (cont'd.)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3BF0CACB-8788-43F4-033A-5FEA5F6723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Practical significance of data dependence is difference between logical and physical format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Logical data format: how human views the data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Physical data format: how computer must work with data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Each program must contain: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Lines specifying opening of specific file type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Record specification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Field definitions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2CEA9-7306-9596-2C3A-BD451170566F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4728AA44-912D-4AC7-BB53-88E9C4061C0F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75781" name="Footer Placeholder 5">
            <a:extLst>
              <a:ext uri="{FF2B5EF4-FFF2-40B4-BE49-F238E27FC236}">
                <a16:creationId xmlns:a16="http://schemas.microsoft.com/office/drawing/2014/main" id="{72864902-9827-AD5A-783D-8A3549875C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5782" name="Slide Number Placeholder 6">
            <a:extLst>
              <a:ext uri="{FF2B5EF4-FFF2-40B4-BE49-F238E27FC236}">
                <a16:creationId xmlns:a16="http://schemas.microsoft.com/office/drawing/2014/main" id="{D1FEBEC5-634C-678C-CBB7-8D7D1117FB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4C2447F-F415-413E-9D2E-6C930C84B3F0}" type="slidenum">
              <a:rPr lang="en-US" altLang="en-US" sz="900" smtClean="0">
                <a:solidFill>
                  <a:schemeClr val="bg1"/>
                </a:solidFill>
              </a:rPr>
              <a:pPr/>
              <a:t>33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9C4113E7-2455-3F0C-ABE8-9C1C18F39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1-6b Data Redundancy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FEFBE02-BCEF-016E-ECC2-23DEC6081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6096000" cy="4572000"/>
          </a:xfrm>
        </p:spPr>
        <p:txBody>
          <a:bodyPr rtlCol="0"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File system structure makes it difficult to combine data from multiple sources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Vulnerable to security breaches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Organizational structure promotes storage of same data in different locations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Islands of information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Data stored in different locations is unlikely to be updated consistently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dirty="0"/>
              <a:t>Data redundancy: same data stored unnecessarily in different places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6890A-61FA-382E-D373-194815B38EAE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C2F58DF8-8B06-4AAA-8D20-785C1F293AE3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77829" name="Footer Placeholder 5">
            <a:extLst>
              <a:ext uri="{FF2B5EF4-FFF2-40B4-BE49-F238E27FC236}">
                <a16:creationId xmlns:a16="http://schemas.microsoft.com/office/drawing/2014/main" id="{7B18DA25-FEDD-B3E3-74E8-3CB69B8F02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7830" name="Slide Number Placeholder 6">
            <a:extLst>
              <a:ext uri="{FF2B5EF4-FFF2-40B4-BE49-F238E27FC236}">
                <a16:creationId xmlns:a16="http://schemas.microsoft.com/office/drawing/2014/main" id="{35B1432D-3768-1A22-FDE0-CBC2E760569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50FBBC7-DA17-4A8E-BEEE-2DE48113AC04}" type="slidenum">
              <a:rPr lang="en-US" altLang="en-US" sz="900" smtClean="0">
                <a:solidFill>
                  <a:schemeClr val="bg1"/>
                </a:solidFill>
              </a:rPr>
              <a:pPr/>
              <a:t>34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7831" name="Picture 8">
            <a:extLst>
              <a:ext uri="{FF2B5EF4-FFF2-40B4-BE49-F238E27FC236}">
                <a16:creationId xmlns:a16="http://schemas.microsoft.com/office/drawing/2014/main" id="{61E1E19A-2E43-50AE-B6C4-9942E3255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447800"/>
            <a:ext cx="2705100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9A13ADD0-8504-1200-BAF7-38047568C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1-6b Data Redundancy (cont'd.)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BFBA1F0-3C24-A9E1-4C9A-75F305064B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 inconsistency: different and conflicting versions of same data occur at different places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Poor data security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Data inconsistency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Data-entry errors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Data integrity problems</a:t>
            </a:r>
          </a:p>
          <a:p>
            <a:pPr eaLnBrk="1" hangingPunct="1">
              <a:lnSpc>
                <a:spcPct val="150000"/>
              </a:lnSpc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F81A4-152F-31BF-6AC6-0043EEB9F890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CC198776-6C63-4217-91EE-9D12162EB96D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79877" name="Footer Placeholder 5">
            <a:extLst>
              <a:ext uri="{FF2B5EF4-FFF2-40B4-BE49-F238E27FC236}">
                <a16:creationId xmlns:a16="http://schemas.microsoft.com/office/drawing/2014/main" id="{855C5E3A-A66A-37A8-8C3F-5CD10A38CD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9878" name="Slide Number Placeholder 6">
            <a:extLst>
              <a:ext uri="{FF2B5EF4-FFF2-40B4-BE49-F238E27FC236}">
                <a16:creationId xmlns:a16="http://schemas.microsoft.com/office/drawing/2014/main" id="{15B3BBDA-1DA3-DB20-3B74-EA00DD1DA5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E479BF-3B84-4085-903D-6A7CA9B332D6}" type="slidenum">
              <a:rPr lang="en-US" altLang="en-US" sz="900" smtClean="0">
                <a:solidFill>
                  <a:schemeClr val="bg1"/>
                </a:solidFill>
              </a:rPr>
              <a:pPr/>
              <a:t>35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7BB3E17-1894-D907-72E8-7F2EE5F1B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1-6c Data Anomalies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4B3A936-59FA-BFD2-BFBA-AAFBBF91A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638800" cy="435133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 anomalies: abnormalities when all changes in redundant data are not made correctly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Update anomalies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Insertion anomalies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Deletion anomalies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A72F74-4F71-39F4-CB42-82CFAC104E10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CC198776-6C63-4217-91EE-9D12162EB96D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81925" name="Footer Placeholder 5">
            <a:extLst>
              <a:ext uri="{FF2B5EF4-FFF2-40B4-BE49-F238E27FC236}">
                <a16:creationId xmlns:a16="http://schemas.microsoft.com/office/drawing/2014/main" id="{D835CF70-8359-B844-68F7-DABDAC9039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81926" name="Slide Number Placeholder 6">
            <a:extLst>
              <a:ext uri="{FF2B5EF4-FFF2-40B4-BE49-F238E27FC236}">
                <a16:creationId xmlns:a16="http://schemas.microsoft.com/office/drawing/2014/main" id="{EDFC579A-0F85-4627-903B-C1A35D6A801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2F0FE8E-F5E0-41DE-A1E1-797A36981CD0}" type="slidenum">
              <a:rPr lang="en-US" altLang="en-US" sz="900" smtClean="0">
                <a:solidFill>
                  <a:schemeClr val="bg1"/>
                </a:solidFill>
              </a:rPr>
              <a:pPr/>
              <a:t>36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81927" name="Picture 3">
            <a:extLst>
              <a:ext uri="{FF2B5EF4-FFF2-40B4-BE49-F238E27FC236}">
                <a16:creationId xmlns:a16="http://schemas.microsoft.com/office/drawing/2014/main" id="{CE141D4A-2FDD-2EDF-1B8E-1D81FB4C3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362200"/>
            <a:ext cx="28575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AF90275D-11A3-9B66-1362-19BBB8D47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1-7 Database Systems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43015E17-9413-3C05-E09D-225AD015B6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382000" cy="435133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Database system consists of logically related data stored in a single logical data repository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May be physically distributed among multiple storage facilities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eliminates most of file system’s problems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Current generation stores data structures, relationships between structures, and access paths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Also defines, stores, and manages all access paths and components</a:t>
            </a:r>
          </a:p>
          <a:p>
            <a:pPr eaLnBrk="1" hangingPunct="1">
              <a:lnSpc>
                <a:spcPct val="150000"/>
              </a:lnSpc>
            </a:pP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5D0BE7-C018-226D-94FB-8359FF340E82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EDD2CC3A-7781-4846-909E-255A1DD128C7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83973" name="Footer Placeholder 5">
            <a:extLst>
              <a:ext uri="{FF2B5EF4-FFF2-40B4-BE49-F238E27FC236}">
                <a16:creationId xmlns:a16="http://schemas.microsoft.com/office/drawing/2014/main" id="{87CFC30C-F765-F502-0166-475AC8FFD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83974" name="Slide Number Placeholder 6">
            <a:extLst>
              <a:ext uri="{FF2B5EF4-FFF2-40B4-BE49-F238E27FC236}">
                <a16:creationId xmlns:a16="http://schemas.microsoft.com/office/drawing/2014/main" id="{D5A24DC4-FB69-A581-9CCC-BD37591FE7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360E6A-8925-4EFC-A8E5-1F1CE5A56A24}" type="slidenum">
              <a:rPr lang="en-US" altLang="en-US" sz="900" smtClean="0">
                <a:solidFill>
                  <a:schemeClr val="bg1"/>
                </a:solidFill>
              </a:rPr>
              <a:pPr/>
              <a:t>37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83975" name="Picture 8">
            <a:extLst>
              <a:ext uri="{FF2B5EF4-FFF2-40B4-BE49-F238E27FC236}">
                <a16:creationId xmlns:a16="http://schemas.microsoft.com/office/drawing/2014/main" id="{BE7FB6A7-84C0-7926-E20F-822D9E057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1981200"/>
            <a:ext cx="211455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72B93C-A62B-5DBA-A97F-795859F373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8648943-57DF-469F-A6C6-E51A541C5F63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86019" name="Footer Placeholder 5">
            <a:extLst>
              <a:ext uri="{FF2B5EF4-FFF2-40B4-BE49-F238E27FC236}">
                <a16:creationId xmlns:a16="http://schemas.microsoft.com/office/drawing/2014/main" id="{D9951872-3A9C-EF89-4E53-F00085D2FF8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DBE94-8585-0BDE-B181-063C13681D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490428-079C-4B27-AB02-66188DB50E23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86021" name="Picture 8">
            <a:extLst>
              <a:ext uri="{FF2B5EF4-FFF2-40B4-BE49-F238E27FC236}">
                <a16:creationId xmlns:a16="http://schemas.microsoft.com/office/drawing/2014/main" id="{2D781278-52CA-33E9-C165-F5A06E035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838200"/>
            <a:ext cx="8177213" cy="526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A67B2E3-7AE5-36CD-C119-609FC8440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1-7a The Database System Environment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B248F9ED-52E5-3170-40DC-C485D3268B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Database system: defines and regulates the collection, storage, management, use of data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Five major parts of a database system: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Hardware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Software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People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Procedures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B952C-4BBE-DF15-FB00-AF813125EB3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A0266300-FC78-4B31-8C29-0FE62F622ED9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88069" name="Footer Placeholder 5">
            <a:extLst>
              <a:ext uri="{FF2B5EF4-FFF2-40B4-BE49-F238E27FC236}">
                <a16:creationId xmlns:a16="http://schemas.microsoft.com/office/drawing/2014/main" id="{DA4516D2-D5B9-716B-A269-8EF0D9C9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88070" name="Slide Number Placeholder 6">
            <a:extLst>
              <a:ext uri="{FF2B5EF4-FFF2-40B4-BE49-F238E27FC236}">
                <a16:creationId xmlns:a16="http://schemas.microsoft.com/office/drawing/2014/main" id="{6B6915F8-B25E-EA89-6667-A542E4B8DB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A40BAD7-CB78-4776-A2B4-8C7892E27190}" type="slidenum">
              <a:rPr lang="en-US" altLang="en-US" sz="900" smtClean="0">
                <a:solidFill>
                  <a:schemeClr val="bg1"/>
                </a:solidFill>
              </a:rPr>
              <a:pPr/>
              <a:t>39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5" descr="C:\Users\Amster\Documents\AmityWork\DBSystems\Figures\C7888_01\C7888_01\Fig01-09.bmp">
            <a:extLst>
              <a:ext uri="{FF2B5EF4-FFF2-40B4-BE49-F238E27FC236}">
                <a16:creationId xmlns:a16="http://schemas.microsoft.com/office/drawing/2014/main" id="{DDCC351E-DDAD-2D0C-AA92-763EA5470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762000"/>
            <a:ext cx="83851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37DF0-7236-EB83-1538-6CA17857D8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95B4FD6-C0FB-44E2-B142-177A10BDB513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90116" name="Footer Placeholder 5">
            <a:extLst>
              <a:ext uri="{FF2B5EF4-FFF2-40B4-BE49-F238E27FC236}">
                <a16:creationId xmlns:a16="http://schemas.microsoft.com/office/drawing/2014/main" id="{FD30CC33-79D1-3FEA-1376-7DFD865FFEC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24314-3213-D66E-F6E9-81CD9A74A9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CD26EC-3D00-46CB-AC31-1783A9D8DFA9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EED3AF00-EAFB-A44D-975E-0A3502354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1-7a The Database System Environment (cont'd.)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EE1D1E5-51D1-118C-DBF2-F32D669F5A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Hardware: all the system’s physical devices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Software: three types of software required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Operating system software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software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Application programs and utility software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2FAB1-4D72-F17B-D1EE-4F65F91BF628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052F2DF6-78C3-43C2-8C6E-CCC305B2C708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92165" name="Footer Placeholder 5">
            <a:extLst>
              <a:ext uri="{FF2B5EF4-FFF2-40B4-BE49-F238E27FC236}">
                <a16:creationId xmlns:a16="http://schemas.microsoft.com/office/drawing/2014/main" id="{30E95B05-D22A-8CBB-9F47-6B23872704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92166" name="Slide Number Placeholder 6">
            <a:extLst>
              <a:ext uri="{FF2B5EF4-FFF2-40B4-BE49-F238E27FC236}">
                <a16:creationId xmlns:a16="http://schemas.microsoft.com/office/drawing/2014/main" id="{024530BE-D598-0571-A1FF-6717C034368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23E41FD-F24D-421A-BA78-7914F8CB19F6}" type="slidenum">
              <a:rPr lang="en-US" altLang="en-US" sz="900" smtClean="0">
                <a:solidFill>
                  <a:schemeClr val="bg1"/>
                </a:solidFill>
              </a:rPr>
              <a:pPr/>
              <a:t>41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91C11183-C3DC-22CE-4C08-203E6B119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1-7a The Database System Environment (cont'd.)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D294E5A1-ECEE-778E-3F6F-9E70D05E4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People: all users of the database system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System and database administrators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Database designers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Systems analysts and programmers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End users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Procedures: instructions and rules that govern the design and use of the database system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Data: the collection of facts stored in the database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CA175-A041-76D3-8A5C-E5D73260E0D6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60D12AD9-D453-4968-A68F-97FE3E3BB722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94213" name="Footer Placeholder 5">
            <a:extLst>
              <a:ext uri="{FF2B5EF4-FFF2-40B4-BE49-F238E27FC236}">
                <a16:creationId xmlns:a16="http://schemas.microsoft.com/office/drawing/2014/main" id="{9907C42D-32AD-6310-91EE-87C7326CC7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94214" name="Slide Number Placeholder 6">
            <a:extLst>
              <a:ext uri="{FF2B5EF4-FFF2-40B4-BE49-F238E27FC236}">
                <a16:creationId xmlns:a16="http://schemas.microsoft.com/office/drawing/2014/main" id="{8AB359AF-B4B5-559C-0C5E-B48FBA4EA6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D47389-36FB-4FE3-95A2-2B9A3FBFA57E}" type="slidenum">
              <a:rPr lang="en-US" altLang="en-US" sz="900" smtClean="0">
                <a:solidFill>
                  <a:schemeClr val="bg1"/>
                </a:solidFill>
              </a:rPr>
              <a:pPr/>
              <a:t>42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974741DE-D6A2-7AB2-2BB5-CF69CE8C8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1-7a The Database System Environment (cont'd.)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666A8B54-A567-9496-89C4-C6F9629676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Database systems are created and managed at different levels of complexity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Database solutions must be cost-effective as well as tactically and strategically effective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Database technology already in use affects selection of a database system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3D6B8-0E0D-AA0F-0595-EDC0833579AC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9F9E3B41-13F5-40FF-89A0-AFA15603246C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96261" name="Footer Placeholder 5">
            <a:extLst>
              <a:ext uri="{FF2B5EF4-FFF2-40B4-BE49-F238E27FC236}">
                <a16:creationId xmlns:a16="http://schemas.microsoft.com/office/drawing/2014/main" id="{C2838977-49FC-5021-27CA-8F7665A8A1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96262" name="Slide Number Placeholder 6">
            <a:extLst>
              <a:ext uri="{FF2B5EF4-FFF2-40B4-BE49-F238E27FC236}">
                <a16:creationId xmlns:a16="http://schemas.microsoft.com/office/drawing/2014/main" id="{F70F1892-7DC8-B865-909B-B551112FD2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056F8AA-99EA-4E18-9B9F-E8FB1135668E}" type="slidenum">
              <a:rPr lang="en-US" altLang="en-US" sz="900" smtClean="0">
                <a:solidFill>
                  <a:schemeClr val="bg1"/>
                </a:solidFill>
              </a:rPr>
              <a:pPr/>
              <a:t>43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067FD439-CC1C-4064-9C02-78F3D55F6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1-7b DBMS Functions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63530494-08E0-3A0F-EE27-4752DB107A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077200" cy="435133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Most functions are transparent to end users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Can only be achieved through the DBMS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Data dictionary management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stores definitions of data elements and relationships (metadata) in a data dictionary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looks up required data component structures and relationships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Changes automatically recorded in the dictionary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provides data abstraction and removes structural and data dependency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09B49-9640-860F-9FF9-85F8A5F816C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1424D520-61B1-48C6-88C2-FB8255D1A59E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98309" name="Footer Placeholder 5">
            <a:extLst>
              <a:ext uri="{FF2B5EF4-FFF2-40B4-BE49-F238E27FC236}">
                <a16:creationId xmlns:a16="http://schemas.microsoft.com/office/drawing/2014/main" id="{6AD80C18-D5AF-C8CC-E16C-4B66F28DDD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98310" name="Slide Number Placeholder 6">
            <a:extLst>
              <a:ext uri="{FF2B5EF4-FFF2-40B4-BE49-F238E27FC236}">
                <a16:creationId xmlns:a16="http://schemas.microsoft.com/office/drawing/2014/main" id="{8DAD5B86-1504-70F8-0FB5-F9174F21B2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5FCD117-9E78-41DF-AA06-AE56CB359991}" type="slidenum">
              <a:rPr lang="en-US" altLang="en-US" sz="900" smtClean="0">
                <a:solidFill>
                  <a:schemeClr val="bg1"/>
                </a:solidFill>
              </a:rPr>
              <a:pPr/>
              <a:t>44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98311" name="Picture 10">
            <a:extLst>
              <a:ext uri="{FF2B5EF4-FFF2-40B4-BE49-F238E27FC236}">
                <a16:creationId xmlns:a16="http://schemas.microsoft.com/office/drawing/2014/main" id="{84E9B44F-E31F-C3EF-12D4-8475AA6F6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1219200"/>
            <a:ext cx="2257425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2883A-2603-DA0B-F912-7CFDD86860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9E485F4-9D18-4827-886B-E1E0780BC941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00355" name="Footer Placeholder 5">
            <a:extLst>
              <a:ext uri="{FF2B5EF4-FFF2-40B4-BE49-F238E27FC236}">
                <a16:creationId xmlns:a16="http://schemas.microsoft.com/office/drawing/2014/main" id="{64BD4706-870F-12D3-06B8-52108BF28E2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E6974-761F-671F-2D45-A7EC2F345C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4C1D6F-DBC2-4515-8A32-7E070F4F97D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pic>
        <p:nvPicPr>
          <p:cNvPr id="100357" name="Picture 8">
            <a:extLst>
              <a:ext uri="{FF2B5EF4-FFF2-40B4-BE49-F238E27FC236}">
                <a16:creationId xmlns:a16="http://schemas.microsoft.com/office/drawing/2014/main" id="{B98EDADF-E84F-B9B0-E86A-8664A66DF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838200"/>
            <a:ext cx="81343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74C8A-8542-FE59-8B91-460E44E22A9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804E0-672D-DE81-7759-9F4D3D4798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063224-B580-46D3-A235-30E49C1AB78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102404" name="Footer Placeholder 3">
            <a:extLst>
              <a:ext uri="{FF2B5EF4-FFF2-40B4-BE49-F238E27FC236}">
                <a16:creationId xmlns:a16="http://schemas.microsoft.com/office/drawing/2014/main" id="{D5886C84-9238-ABA4-0CD2-813B6DBB988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102405" name="Picture 5">
            <a:extLst>
              <a:ext uri="{FF2B5EF4-FFF2-40B4-BE49-F238E27FC236}">
                <a16:creationId xmlns:a16="http://schemas.microsoft.com/office/drawing/2014/main" id="{49582E16-28BC-F1FA-0A6F-1D916B986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3" y="1133475"/>
            <a:ext cx="6124575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6" name="Picture 7">
            <a:extLst>
              <a:ext uri="{FF2B5EF4-FFF2-40B4-BE49-F238E27FC236}">
                <a16:creationId xmlns:a16="http://schemas.microsoft.com/office/drawing/2014/main" id="{B915F662-2915-C2CE-1CCC-F5D9D16C9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914400"/>
            <a:ext cx="1895475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8E358E82-9961-7347-F630-58FC9545D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1-7b DBMS Functions (cont’d)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832AB746-2824-D565-9ACB-F3F70ACE1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 storage management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creates and manages complex structures required for data storage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Also stores related data entry forms, screen definitions, report definitions, etc.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Performance tuning: activities that make the database perform more efficiently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stores the database in multiple physical data files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763F8-7104-7203-B6AE-247490FBABC4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CFB1D5D6-AC1C-41C4-9275-4E221CBE155A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03429" name="Footer Placeholder 5">
            <a:extLst>
              <a:ext uri="{FF2B5EF4-FFF2-40B4-BE49-F238E27FC236}">
                <a16:creationId xmlns:a16="http://schemas.microsoft.com/office/drawing/2014/main" id="{7FF3A0C9-9456-7049-37F5-C132EC5905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03430" name="Slide Number Placeholder 6">
            <a:extLst>
              <a:ext uri="{FF2B5EF4-FFF2-40B4-BE49-F238E27FC236}">
                <a16:creationId xmlns:a16="http://schemas.microsoft.com/office/drawing/2014/main" id="{ED6C5FDC-E47B-DF36-CB0C-788AFAFAA19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15D5CC1-FF55-41AB-B089-98A324065059}" type="slidenum">
              <a:rPr lang="en-US" altLang="en-US" sz="900" smtClean="0">
                <a:solidFill>
                  <a:schemeClr val="bg1"/>
                </a:solidFill>
              </a:rPr>
              <a:pPr/>
              <a:t>47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103431" name="Picture 8">
            <a:extLst>
              <a:ext uri="{FF2B5EF4-FFF2-40B4-BE49-F238E27FC236}">
                <a16:creationId xmlns:a16="http://schemas.microsoft.com/office/drawing/2014/main" id="{70166CA3-9698-D9E8-6AE7-86E881622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418013"/>
            <a:ext cx="5205413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5" descr="C:\Users\Amster\Documents\AmityWork\DBSystems\Figures\C7888_01\C7888_01\Fig01-11.bmp">
            <a:extLst>
              <a:ext uri="{FF2B5EF4-FFF2-40B4-BE49-F238E27FC236}">
                <a16:creationId xmlns:a16="http://schemas.microsoft.com/office/drawing/2014/main" id="{AF1BE0C7-1BD1-31BF-3415-57EAD629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609600"/>
            <a:ext cx="7391400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970C44-A651-444D-3118-3C0E220E609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180197D-763F-4E8F-B34B-5240B79452A8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05476" name="Footer Placeholder 5">
            <a:extLst>
              <a:ext uri="{FF2B5EF4-FFF2-40B4-BE49-F238E27FC236}">
                <a16:creationId xmlns:a16="http://schemas.microsoft.com/office/drawing/2014/main" id="{6B71EBFC-0B77-7242-C104-FC62E04994A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323E9-C702-34BF-E2E4-134FB79C26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C57872-82D8-4CDD-8F44-602A40F514A2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1D7AB902-D817-FE32-BC6C-410521490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DBMS Functions (cont'd.)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8264AD4F-F412-FB04-8597-AF4660AA41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 transformation and presentation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transforms data entered to conform to required data structures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transforms physically retrieved data to conform to user’s logical expectations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Security management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creates a security system that enforces user security and data privacy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Security rules determine which users can access the database, which items can be accessed, etc.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22E68-2E2C-8B6F-1DF8-867A1A3FB87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5FCA6BB4-212B-4697-88F6-6AAD1CAAABED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07525" name="Footer Placeholder 5">
            <a:extLst>
              <a:ext uri="{FF2B5EF4-FFF2-40B4-BE49-F238E27FC236}">
                <a16:creationId xmlns:a16="http://schemas.microsoft.com/office/drawing/2014/main" id="{517574F6-2932-7C0D-E0D0-9D25C9A1F2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07526" name="Slide Number Placeholder 6">
            <a:extLst>
              <a:ext uri="{FF2B5EF4-FFF2-40B4-BE49-F238E27FC236}">
                <a16:creationId xmlns:a16="http://schemas.microsoft.com/office/drawing/2014/main" id="{20CE9A5A-0958-D0B9-3E2F-37201A3E286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24B90E-CE2C-4421-B38C-32857DBE98ED}" type="slidenum">
              <a:rPr lang="en-US" altLang="en-US" sz="900" smtClean="0">
                <a:solidFill>
                  <a:schemeClr val="bg1"/>
                </a:solidFill>
              </a:rPr>
              <a:pPr/>
              <a:t>49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88129A6F-140D-AA3E-FD70-01F01EB1D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DBMS Functions (cont'd.)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2E9F584D-3367-2005-BDDD-2FDB690AAB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Multiuser access control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uses sophisticated algorithms to ensure concurrent access does not affect integrity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Backup and recovery management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provides backup and data recovery to ensure data safety and integrity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Recovery management deals with recovery of database after a failure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Critical to preserving database’s integrity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C3DB59-6B7B-A6BD-D953-C6500277E97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86BB7D6A-5174-42DE-9A58-1EFDD0BE43EA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09573" name="Footer Placeholder 5">
            <a:extLst>
              <a:ext uri="{FF2B5EF4-FFF2-40B4-BE49-F238E27FC236}">
                <a16:creationId xmlns:a16="http://schemas.microsoft.com/office/drawing/2014/main" id="{8596BF13-3A9E-8E13-532C-7F333EDBC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09574" name="Slide Number Placeholder 6">
            <a:extLst>
              <a:ext uri="{FF2B5EF4-FFF2-40B4-BE49-F238E27FC236}">
                <a16:creationId xmlns:a16="http://schemas.microsoft.com/office/drawing/2014/main" id="{5BCAD439-DB5F-B5D9-C3FF-C91E2A3EFC7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14216C4-78CD-4974-AFF4-28F82C8DDEE1}" type="slidenum">
              <a:rPr lang="en-US" altLang="en-US" sz="900" smtClean="0">
                <a:solidFill>
                  <a:schemeClr val="bg1"/>
                </a:solidFill>
              </a:rPr>
              <a:pPr/>
              <a:t>50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0E84B07C-8DC2-73D4-4283-08A7C73BF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DBMS Functions (cont'd.)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F2008522-6059-DCE6-B812-6FFDDACE96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 integrity management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promotes and enforces integrity rules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Minimizes redundancy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Maximizes consistency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Data relationships stored in data dictionary used to enforce data integrity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Integrity is especially important in transaction-oriented database systems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9FC1B9-0F75-9B49-C9EC-F4F0B668849C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7D6897B8-2D68-475F-B6BE-CAD9E8CA554C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11621" name="Footer Placeholder 5">
            <a:extLst>
              <a:ext uri="{FF2B5EF4-FFF2-40B4-BE49-F238E27FC236}">
                <a16:creationId xmlns:a16="http://schemas.microsoft.com/office/drawing/2014/main" id="{BA0702C5-4810-0301-CFF4-2E53E1B2EA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11622" name="Slide Number Placeholder 6">
            <a:extLst>
              <a:ext uri="{FF2B5EF4-FFF2-40B4-BE49-F238E27FC236}">
                <a16:creationId xmlns:a16="http://schemas.microsoft.com/office/drawing/2014/main" id="{C7DD294B-7E7F-9DC9-DDA8-69F5B668410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C7E61CC-500E-4C56-8804-0F22DE682679}" type="slidenum">
              <a:rPr lang="en-US" altLang="en-US" sz="900" smtClean="0">
                <a:solidFill>
                  <a:schemeClr val="bg1"/>
                </a:solidFill>
              </a:rPr>
              <a:pPr/>
              <a:t>51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560FC111-FFBC-419E-8C14-02BB77F5C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DBMS Functions (cont'd.)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660248F3-A6F8-4D8E-1A96-5894DB90C7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Database access languages and application programming interfaces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provides access through a query language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Query language is a nonprocedural language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Structured Query Language (SQL) is the de facto query language 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Standard supported by majority of DBMS vendors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2381CE-7C1B-5412-141A-828265028EC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F4CDF912-FD53-40B2-B563-44015E0B57E2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13669" name="Footer Placeholder 5">
            <a:extLst>
              <a:ext uri="{FF2B5EF4-FFF2-40B4-BE49-F238E27FC236}">
                <a16:creationId xmlns:a16="http://schemas.microsoft.com/office/drawing/2014/main" id="{3C56C5A1-325E-A58E-02C8-48452D99BD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13670" name="Slide Number Placeholder 6">
            <a:extLst>
              <a:ext uri="{FF2B5EF4-FFF2-40B4-BE49-F238E27FC236}">
                <a16:creationId xmlns:a16="http://schemas.microsoft.com/office/drawing/2014/main" id="{CF3436A8-5B73-0835-81B5-19007C57D0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9E7031-915C-4725-9C46-31D68BBB57AA}" type="slidenum">
              <a:rPr lang="en-US" altLang="en-US" sz="900" smtClean="0">
                <a:solidFill>
                  <a:schemeClr val="bg1"/>
                </a:solidFill>
              </a:rPr>
              <a:pPr/>
              <a:t>52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3325600C-0FAE-D35D-6C10-08E120C95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DBMS Functions (cont'd.)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019411EB-9B07-D73C-6EFE-35E47E69E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Database communication interfaces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Current DBMSs accept end-user requests via multiple different network environments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Communications accomplished in several ways: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End users generate answers to queries by filling in screen forms through Web browser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automatically publishes predefined reports on a Web site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DBMS connects to third-party systems to distribute information via e-mail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175B8-FAC7-C951-9ACD-13DCBA7B33E8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4BBE1DBE-021E-45DE-BCD2-9552777ACBBD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15717" name="Footer Placeholder 5">
            <a:extLst>
              <a:ext uri="{FF2B5EF4-FFF2-40B4-BE49-F238E27FC236}">
                <a16:creationId xmlns:a16="http://schemas.microsoft.com/office/drawing/2014/main" id="{1F45A970-111D-59AD-F35A-13E8F015EC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15718" name="Slide Number Placeholder 6">
            <a:extLst>
              <a:ext uri="{FF2B5EF4-FFF2-40B4-BE49-F238E27FC236}">
                <a16:creationId xmlns:a16="http://schemas.microsoft.com/office/drawing/2014/main" id="{047F0EC5-F339-A295-F801-6DFFE2C7D6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A5242DE-D139-47D9-952A-4FE052071FFE}" type="slidenum">
              <a:rPr lang="en-US" altLang="en-US" sz="900" smtClean="0">
                <a:solidFill>
                  <a:schemeClr val="bg1"/>
                </a:solidFill>
              </a:rPr>
              <a:pPr/>
              <a:t>53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41EDDD48-5C7A-2828-9D66-AB561514E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1-7c Managing the Database System: A Shift in Focus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9AF17C6D-1140-ACF8-195C-91F04EE7ED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/>
              <a:t>Database system provides a framework in which strict procedures and standards enforced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sz="2400" dirty="0">
                <a:ea typeface="ＭＳ Ｐゴシック" panose="020B0600070205080204" pitchFamily="34" charset="-128"/>
              </a:rPr>
              <a:t>Role of human changes from programming to managing organization’s resources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/>
              <a:t>Database system enables more sophisticated use of the data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/>
              <a:t>Data structures created within the database and their relationships determine effectiveness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21885-DE83-0D39-130A-BD453ABC3581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1852AFC0-4109-4D32-A7F9-6C29AC12A3A9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17765" name="Footer Placeholder 5">
            <a:extLst>
              <a:ext uri="{FF2B5EF4-FFF2-40B4-BE49-F238E27FC236}">
                <a16:creationId xmlns:a16="http://schemas.microsoft.com/office/drawing/2014/main" id="{B42A673F-DA3F-2A8D-ED15-CBAEEA261B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17766" name="Slide Number Placeholder 6">
            <a:extLst>
              <a:ext uri="{FF2B5EF4-FFF2-40B4-BE49-F238E27FC236}">
                <a16:creationId xmlns:a16="http://schemas.microsoft.com/office/drawing/2014/main" id="{07E20609-4665-22C9-26E0-25152DA488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1123880-33C4-4D2F-BCA2-31CD699BD744}" type="slidenum">
              <a:rPr lang="en-US" altLang="en-US" sz="900" smtClean="0">
                <a:solidFill>
                  <a:schemeClr val="bg1"/>
                </a:solidFill>
              </a:rPr>
              <a:pPr/>
              <a:t>54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F3B4AD06-2B31-A123-101F-4F2380B20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1-7c Managing the Database System: A Shift in Focus (cont'd.)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ED3D894E-EF98-0964-825C-FCD07EFF44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Disadvantages of database systems: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Increased costs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Management complexity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Maintaining currency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Vendor dependence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Frequent upgrade/replacement cycles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8A7A35-A56A-1505-7BC0-BAB8F705AA6C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44402760-6435-4EDE-B8D0-5F727092BF25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19813" name="Footer Placeholder 5">
            <a:extLst>
              <a:ext uri="{FF2B5EF4-FFF2-40B4-BE49-F238E27FC236}">
                <a16:creationId xmlns:a16="http://schemas.microsoft.com/office/drawing/2014/main" id="{2C6AF138-C442-208E-06B9-F833BB5B87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19814" name="Slide Number Placeholder 6">
            <a:extLst>
              <a:ext uri="{FF2B5EF4-FFF2-40B4-BE49-F238E27FC236}">
                <a16:creationId xmlns:a16="http://schemas.microsoft.com/office/drawing/2014/main" id="{A52ECD43-AC9E-DA4B-A632-F893A1F3E8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1FA4C64-2BBA-4002-8303-49493B653B6E}" type="slidenum">
              <a:rPr lang="en-US" altLang="en-US" sz="900" smtClean="0">
                <a:solidFill>
                  <a:schemeClr val="bg1"/>
                </a:solidFill>
              </a:rPr>
              <a:pPr/>
              <a:t>55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itle 1">
            <a:extLst>
              <a:ext uri="{FF2B5EF4-FFF2-40B4-BE49-F238E27FC236}">
                <a16:creationId xmlns:a16="http://schemas.microsoft.com/office/drawing/2014/main" id="{402EBEC8-C8AE-AFB8-DCF5-D35402E51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Preparing for Your Database Professional Career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7D021-1807-7E79-EAA1-89A1B1068185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7412E483-960A-4B10-B217-57185E62681D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21860" name="Footer Placeholder 5">
            <a:extLst>
              <a:ext uri="{FF2B5EF4-FFF2-40B4-BE49-F238E27FC236}">
                <a16:creationId xmlns:a16="http://schemas.microsoft.com/office/drawing/2014/main" id="{5D6C5420-F47E-B082-F897-2F346A4D0E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21861" name="Slide Number Placeholder 6">
            <a:extLst>
              <a:ext uri="{FF2B5EF4-FFF2-40B4-BE49-F238E27FC236}">
                <a16:creationId xmlns:a16="http://schemas.microsoft.com/office/drawing/2014/main" id="{0AD295EA-8B0E-3EE1-649F-4E17536DA7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FC1E8F-CDDC-4845-8688-66DC6F9020E6}" type="slidenum">
              <a:rPr lang="en-US" altLang="en-US" sz="900" smtClean="0">
                <a:solidFill>
                  <a:schemeClr val="bg1"/>
                </a:solidFill>
              </a:rPr>
              <a:pPr/>
              <a:t>56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121862" name="Picture 8">
            <a:extLst>
              <a:ext uri="{FF2B5EF4-FFF2-40B4-BE49-F238E27FC236}">
                <a16:creationId xmlns:a16="http://schemas.microsoft.com/office/drawing/2014/main" id="{D486C86B-5E19-4498-AE94-5D7B97802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524000"/>
            <a:ext cx="8934450" cy="443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2EE8EA9-A54B-EDD2-3AEB-41BCC585B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B260C66D-B259-EB68-7A72-5D1B0CF72A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/>
              <a:t>Data are raw facts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Information is the result of processing data to reveal its meaning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Accurate, relevant, and timely information is the key to good decision making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Data are usually stored in a database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DBMS implements a database and manages its contents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5E49AF-2AD4-D8E9-CBC8-C9EF3CE6E379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ED6F3DAC-F680-4F6E-92D2-235068C64E59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23909" name="Footer Placeholder 5">
            <a:extLst>
              <a:ext uri="{FF2B5EF4-FFF2-40B4-BE49-F238E27FC236}">
                <a16:creationId xmlns:a16="http://schemas.microsoft.com/office/drawing/2014/main" id="{5C907F2C-A497-5E09-845C-A82CC02B53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23910" name="Slide Number Placeholder 6">
            <a:extLst>
              <a:ext uri="{FF2B5EF4-FFF2-40B4-BE49-F238E27FC236}">
                <a16:creationId xmlns:a16="http://schemas.microsoft.com/office/drawing/2014/main" id="{8EDA6F62-E738-9C7C-9E7C-666C153A5D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C10425-265D-4BB3-8B1C-C4D6E3FBA97B}" type="slidenum">
              <a:rPr lang="en-US" altLang="en-US" sz="900" smtClean="0">
                <a:solidFill>
                  <a:schemeClr val="bg1"/>
                </a:solidFill>
              </a:rPr>
              <a:pPr/>
              <a:t>57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7C76F054-5A8C-C750-C31E-2AA111C4E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 (cont'd.)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2E2517F3-3B61-78F8-DA69-83CD96C143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Metadata is data about data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Database design defines the database structure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Well-designed database facilitates data management and generates valuable information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Poorly designed database leads to bad decision making and organizational failure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Databases evolved from manual and computerized file systems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4CB212-E673-0344-0680-B29597A5D26C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4B8AE9B6-78A9-4721-90AD-5B3DC9A1119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25957" name="Footer Placeholder 5">
            <a:extLst>
              <a:ext uri="{FF2B5EF4-FFF2-40B4-BE49-F238E27FC236}">
                <a16:creationId xmlns:a16="http://schemas.microsoft.com/office/drawing/2014/main" id="{84346EDF-05FE-060E-716A-B368E72CF1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25958" name="Slide Number Placeholder 6">
            <a:extLst>
              <a:ext uri="{FF2B5EF4-FFF2-40B4-BE49-F238E27FC236}">
                <a16:creationId xmlns:a16="http://schemas.microsoft.com/office/drawing/2014/main" id="{4F357752-77C3-F4FD-C64A-514E70B509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52136A1-4139-4D81-9063-12B36845C956}" type="slidenum">
              <a:rPr lang="en-US" altLang="en-US" sz="900" smtClean="0">
                <a:solidFill>
                  <a:schemeClr val="bg1"/>
                </a:solidFill>
              </a:rPr>
              <a:pPr/>
              <a:t>58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10C2C80-AA77-447F-875F-F4C18160E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 (cont'd.)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BB0261E9-417A-EE53-9924-E05EEBBFA7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8077200" cy="4572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In a file system, data stored in independent files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Each requires its own management program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Some limitations of file system data management: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Requires extensive programming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System administration is complex and difficult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Changing existing structures is difficult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Security features are likely inadequate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Independent files tend to contain redundant data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Structural and data dependency problems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0FA53-EF85-4432-C4C2-AC50CD0A4E3E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4A659AD2-CBE8-4DD2-A60D-14CD894A9D4D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28005" name="Footer Placeholder 5">
            <a:extLst>
              <a:ext uri="{FF2B5EF4-FFF2-40B4-BE49-F238E27FC236}">
                <a16:creationId xmlns:a16="http://schemas.microsoft.com/office/drawing/2014/main" id="{85BC7DF2-44D9-7E8A-FD39-320D8E7524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28006" name="Slide Number Placeholder 6">
            <a:extLst>
              <a:ext uri="{FF2B5EF4-FFF2-40B4-BE49-F238E27FC236}">
                <a16:creationId xmlns:a16="http://schemas.microsoft.com/office/drawing/2014/main" id="{35FC9B8C-53E4-7FB9-071D-59393C7350E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90F6A90-7AE5-4D84-82D8-867097A8D5EA}" type="slidenum">
              <a:rPr lang="en-US" altLang="en-US" sz="900" smtClean="0">
                <a:solidFill>
                  <a:schemeClr val="bg1"/>
                </a:solidFill>
              </a:rPr>
              <a:pPr/>
              <a:t>59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969378BF-19D9-DAE9-CAB0-37110F7EF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 (cont'd.)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83B409DB-0397-0F0D-7114-D68DF575CC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/>
              <a:t>Database management systems were developed to address file system’s inherent weaknesses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DBMS present database to end user as single repository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Promotes data sharing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Eliminates islands of information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DBMS enforces data integrity, eliminates redundancy, and promotes security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8CB703-E7FB-5395-9675-8CF19D9D21EF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0E768AC7-D73A-4CC9-9C63-256E89458E37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30053" name="Footer Placeholder 5">
            <a:extLst>
              <a:ext uri="{FF2B5EF4-FFF2-40B4-BE49-F238E27FC236}">
                <a16:creationId xmlns:a16="http://schemas.microsoft.com/office/drawing/2014/main" id="{7E384E08-5E80-E14A-274A-7B565FAF5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30054" name="Slide Number Placeholder 6">
            <a:extLst>
              <a:ext uri="{FF2B5EF4-FFF2-40B4-BE49-F238E27FC236}">
                <a16:creationId xmlns:a16="http://schemas.microsoft.com/office/drawing/2014/main" id="{D209A770-D861-DD4D-32DD-346B790E635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47A9117-6BFF-428D-9EDB-C35BB18CFC3E}" type="slidenum">
              <a:rPr lang="en-US" altLang="en-US" sz="900" smtClean="0">
                <a:solidFill>
                  <a:schemeClr val="bg1"/>
                </a:solidFill>
              </a:rPr>
              <a:pPr/>
              <a:t>60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94C86-65FB-508D-43C4-0C988E1BE9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9C047A-AC25-51A7-D9D9-77CA10066B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F18A574-AEF5-4030-A74E-06723C1C0BB7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132100" name="Footer Placeholder 3">
            <a:extLst>
              <a:ext uri="{FF2B5EF4-FFF2-40B4-BE49-F238E27FC236}">
                <a16:creationId xmlns:a16="http://schemas.microsoft.com/office/drawing/2014/main" id="{BACA8C65-727E-C2BF-3CE7-BF29494C3CC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132101" name="Picture 5">
            <a:extLst>
              <a:ext uri="{FF2B5EF4-FFF2-40B4-BE49-F238E27FC236}">
                <a16:creationId xmlns:a16="http://schemas.microsoft.com/office/drawing/2014/main" id="{B25305C5-02F8-00CB-6A00-B748BF95D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463" y="0"/>
            <a:ext cx="98710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17BC4-4393-E959-C2D0-A3E8B9F2458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3795B6-6EBB-66B2-1DB2-3E78207270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6054182-907E-4773-A29E-283E1A0B0713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sp>
        <p:nvSpPr>
          <p:cNvPr id="133124" name="Footer Placeholder 3">
            <a:extLst>
              <a:ext uri="{FF2B5EF4-FFF2-40B4-BE49-F238E27FC236}">
                <a16:creationId xmlns:a16="http://schemas.microsoft.com/office/drawing/2014/main" id="{707C1A12-DA2B-8025-E26D-A708BFA1283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133125" name="Picture 5">
            <a:extLst>
              <a:ext uri="{FF2B5EF4-FFF2-40B4-BE49-F238E27FC236}">
                <a16:creationId xmlns:a16="http://schemas.microsoft.com/office/drawing/2014/main" id="{DDA59421-F733-F510-3AA4-30DBF0589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609600"/>
            <a:ext cx="7856538" cy="202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6" name="Picture 8">
            <a:extLst>
              <a:ext uri="{FF2B5EF4-FFF2-40B4-BE49-F238E27FC236}">
                <a16:creationId xmlns:a16="http://schemas.microsoft.com/office/drawing/2014/main" id="{705FD296-5132-2153-B09F-4B830547B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362200"/>
            <a:ext cx="7923213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BE29C-DD1F-BFF6-7760-14AFE2AA399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5FA215-7668-2436-D94D-2DA431777E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871D53-AA07-4F19-A29D-034AD906B03E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sp>
        <p:nvSpPr>
          <p:cNvPr id="134148" name="Footer Placeholder 3">
            <a:extLst>
              <a:ext uri="{FF2B5EF4-FFF2-40B4-BE49-F238E27FC236}">
                <a16:creationId xmlns:a16="http://schemas.microsoft.com/office/drawing/2014/main" id="{20270453-6834-F8C2-7BF9-FC6BCE97EA7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134149" name="Picture 5">
            <a:extLst>
              <a:ext uri="{FF2B5EF4-FFF2-40B4-BE49-F238E27FC236}">
                <a16:creationId xmlns:a16="http://schemas.microsoft.com/office/drawing/2014/main" id="{D445095A-8C82-6CF5-B372-346EE04D9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0"/>
            <a:ext cx="10429875" cy="641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2958</Words>
  <Application>Microsoft Office PowerPoint</Application>
  <PresentationFormat>Widescreen</PresentationFormat>
  <Paragraphs>547</Paragraphs>
  <Slides>63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ＭＳ Ｐゴシック</vt:lpstr>
      <vt:lpstr>Arial</vt:lpstr>
      <vt:lpstr>Calibri</vt:lpstr>
      <vt:lpstr>Calibri Light</vt:lpstr>
      <vt:lpstr>Courier New</vt:lpstr>
      <vt:lpstr>Times New Roman</vt:lpstr>
      <vt:lpstr>Wingdings</vt:lpstr>
      <vt:lpstr>Vicostone Template</vt:lpstr>
      <vt:lpstr>Learning Objectives</vt:lpstr>
      <vt:lpstr>National Economics University Faculty of Data Science &amp; Artificial Intelligence</vt:lpstr>
      <vt:lpstr>Learning Objectives</vt:lpstr>
      <vt:lpstr>Introduction</vt:lpstr>
      <vt:lpstr>PowerPoint Presentation</vt:lpstr>
      <vt:lpstr>1-1 Why Databases?</vt:lpstr>
      <vt:lpstr>1-2 Data versus Information</vt:lpstr>
      <vt:lpstr>1-2 Data versus Information (cont’d.)</vt:lpstr>
      <vt:lpstr>PowerPoint Presentation</vt:lpstr>
      <vt:lpstr>1-3 Introducing the Database</vt:lpstr>
      <vt:lpstr>1-3a Role and Advantages of the DBMS</vt:lpstr>
      <vt:lpstr>PowerPoint Presentation</vt:lpstr>
      <vt:lpstr>Role and Advantages of the DBMS (cont’d.)</vt:lpstr>
      <vt:lpstr>Types of Databases</vt:lpstr>
      <vt:lpstr>Types of Databases (cont’d.)</vt:lpstr>
      <vt:lpstr>Types of Databases (cont'd.)</vt:lpstr>
      <vt:lpstr>Types of Databases (cont'd.)</vt:lpstr>
      <vt:lpstr>Types of Databases (cont'd.)</vt:lpstr>
      <vt:lpstr>PowerPoint Presentation</vt:lpstr>
      <vt:lpstr>1-4 Why Database Design Is Important</vt:lpstr>
      <vt:lpstr>PowerPoint Presentation</vt:lpstr>
      <vt:lpstr>PowerPoint Presentation</vt:lpstr>
      <vt:lpstr>1-5 Evolution of File System Data Processing</vt:lpstr>
      <vt:lpstr>1-5 Evolution of File System Data Processing (cont'd.)</vt:lpstr>
      <vt:lpstr>1-5 Evolution of File System Data Processing (cont'd.)</vt:lpstr>
      <vt:lpstr>PowerPoint Presentation</vt:lpstr>
      <vt:lpstr>PowerPoint Presentation</vt:lpstr>
      <vt:lpstr>PowerPoint Presentation</vt:lpstr>
      <vt:lpstr>File System Redux: Modern End-User Productivity Tools</vt:lpstr>
      <vt:lpstr>1-6 Problems with File System Data Processing</vt:lpstr>
      <vt:lpstr>1-6 Problems with File System Data Processing (cont'd.)</vt:lpstr>
      <vt:lpstr>1-6a Structural and Data Dependence</vt:lpstr>
      <vt:lpstr>1-6a Structural and Data Dependence (cont'd.)</vt:lpstr>
      <vt:lpstr>1-6b Data Redundancy</vt:lpstr>
      <vt:lpstr>1-6b Data Redundancy (cont'd.)</vt:lpstr>
      <vt:lpstr>1-6c Data Anomalies</vt:lpstr>
      <vt:lpstr>1-7 Database Systems</vt:lpstr>
      <vt:lpstr>PowerPoint Presentation</vt:lpstr>
      <vt:lpstr>1-7a The Database System Environment</vt:lpstr>
      <vt:lpstr>PowerPoint Presentation</vt:lpstr>
      <vt:lpstr>1-7a The Database System Environment (cont'd.)</vt:lpstr>
      <vt:lpstr>1-7a The Database System Environment (cont'd.)</vt:lpstr>
      <vt:lpstr>1-7a The Database System Environment (cont'd.)</vt:lpstr>
      <vt:lpstr>1-7b DBMS Functions</vt:lpstr>
      <vt:lpstr>PowerPoint Presentation</vt:lpstr>
      <vt:lpstr>PowerPoint Presentation</vt:lpstr>
      <vt:lpstr>1-7b DBMS Functions (cont’d)</vt:lpstr>
      <vt:lpstr>PowerPoint Presentation</vt:lpstr>
      <vt:lpstr>DBMS Functions (cont'd.)</vt:lpstr>
      <vt:lpstr>DBMS Functions (cont'd.)</vt:lpstr>
      <vt:lpstr>DBMS Functions (cont'd.)</vt:lpstr>
      <vt:lpstr>DBMS Functions (cont'd.)</vt:lpstr>
      <vt:lpstr>DBMS Functions (cont'd.)</vt:lpstr>
      <vt:lpstr>1-7c Managing the Database System: A Shift in Focus</vt:lpstr>
      <vt:lpstr>1-7c Managing the Database System: A Shift in Focus (cont'd.)</vt:lpstr>
      <vt:lpstr>Preparing for Your Database Professional Career</vt:lpstr>
      <vt:lpstr>Summary</vt:lpstr>
      <vt:lpstr>Summary (cont'd.)</vt:lpstr>
      <vt:lpstr>Summary (cont'd.)</vt:lpstr>
      <vt:lpstr>Summary (cont'd.)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subject/>
  <dc:creator/>
  <cp:lastModifiedBy/>
  <cp:revision>462</cp:revision>
  <dcterms:created xsi:type="dcterms:W3CDTF">2009-09-28T17:47:54Z</dcterms:created>
  <dcterms:modified xsi:type="dcterms:W3CDTF">2024-12-19T10:52:59Z</dcterms:modified>
</cp:coreProperties>
</file>