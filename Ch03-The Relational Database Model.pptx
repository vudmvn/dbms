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8" r:id="rId1"/>
  </p:sldMasterIdLst>
  <p:notesMasterIdLst>
    <p:notesMasterId r:id="rId65"/>
  </p:notesMasterIdLst>
  <p:handoutMasterIdLst>
    <p:handoutMasterId r:id="rId66"/>
  </p:handoutMasterIdLst>
  <p:sldIdLst>
    <p:sldId id="392" r:id="rId2"/>
    <p:sldId id="449" r:id="rId3"/>
    <p:sldId id="257" r:id="rId4"/>
    <p:sldId id="369" r:id="rId5"/>
    <p:sldId id="377" r:id="rId6"/>
    <p:sldId id="370" r:id="rId7"/>
    <p:sldId id="323" r:id="rId8"/>
    <p:sldId id="378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03" r:id="rId20"/>
    <p:sldId id="404" r:id="rId21"/>
    <p:sldId id="405" r:id="rId22"/>
    <p:sldId id="406" r:id="rId23"/>
    <p:sldId id="409" r:id="rId24"/>
    <p:sldId id="411" r:id="rId25"/>
    <p:sldId id="408" r:id="rId26"/>
    <p:sldId id="410" r:id="rId27"/>
    <p:sldId id="412" r:id="rId28"/>
    <p:sldId id="413" r:id="rId29"/>
    <p:sldId id="414" r:id="rId30"/>
    <p:sldId id="415" r:id="rId31"/>
    <p:sldId id="416" r:id="rId32"/>
    <p:sldId id="417" r:id="rId33"/>
    <p:sldId id="418" r:id="rId34"/>
    <p:sldId id="419" r:id="rId35"/>
    <p:sldId id="420" r:id="rId36"/>
    <p:sldId id="421" r:id="rId37"/>
    <p:sldId id="423" r:id="rId38"/>
    <p:sldId id="427" r:id="rId39"/>
    <p:sldId id="428" r:id="rId40"/>
    <p:sldId id="422" r:id="rId41"/>
    <p:sldId id="424" r:id="rId42"/>
    <p:sldId id="425" r:id="rId43"/>
    <p:sldId id="426" r:id="rId44"/>
    <p:sldId id="429" r:id="rId45"/>
    <p:sldId id="430" r:id="rId46"/>
    <p:sldId id="431" r:id="rId47"/>
    <p:sldId id="432" r:id="rId48"/>
    <p:sldId id="433" r:id="rId49"/>
    <p:sldId id="447" r:id="rId50"/>
    <p:sldId id="448" r:id="rId51"/>
    <p:sldId id="434" r:id="rId52"/>
    <p:sldId id="435" r:id="rId53"/>
    <p:sldId id="436" r:id="rId54"/>
    <p:sldId id="437" r:id="rId55"/>
    <p:sldId id="438" r:id="rId56"/>
    <p:sldId id="439" r:id="rId57"/>
    <p:sldId id="440" r:id="rId58"/>
    <p:sldId id="441" r:id="rId59"/>
    <p:sldId id="442" r:id="rId60"/>
    <p:sldId id="443" r:id="rId61"/>
    <p:sldId id="444" r:id="rId62"/>
    <p:sldId id="445" r:id="rId63"/>
    <p:sldId id="446" r:id="rId6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105" d="100"/>
          <a:sy n="105" d="100"/>
        </p:scale>
        <p:origin x="798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912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1E0CD608-9C48-CFFC-091C-1EB0A50DD5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40A79EA3-0E2A-9BC8-92DE-DE60AD7ACB2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>
            <a:extLst>
              <a:ext uri="{FF2B5EF4-FFF2-40B4-BE49-F238E27FC236}">
                <a16:creationId xmlns:a16="http://schemas.microsoft.com/office/drawing/2014/main" id="{FDF3F9D9-6B1E-F3FB-1EE2-507A2BF5352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>
            <a:extLst>
              <a:ext uri="{FF2B5EF4-FFF2-40B4-BE49-F238E27FC236}">
                <a16:creationId xmlns:a16="http://schemas.microsoft.com/office/drawing/2014/main" id="{C807B6BD-FE77-FDDF-E76E-F014CE39446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AC33DE4-4784-45D4-BD47-64193262C5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09328F3-5DC5-1B4F-AC31-7F7B3EBD07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0C90B5EC-E3BF-D965-C636-268E0CF481C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4F7C882E-B38E-4AF0-3755-55D00B742B1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25345C98-55FA-262F-4EBB-C287BE5D311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7644B954-D13F-DFA1-B30A-F36EC7DE0E5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2E0066C6-C608-29FA-EB14-B3E0F66870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4FC1F20-5EAB-41FB-B210-370B9C2C46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599F73F7-2B99-BEC6-CE62-E002191078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DD6BCF7-8E9F-41C5-A608-0D41664076BA}" type="slidenum">
              <a:rPr lang="en-US" altLang="en-US" sz="1200" smtClean="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A82C24E-40D0-0AA6-6604-71E8A34BF2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2AEAAEAB-07EC-3E8B-79E7-643BBF9841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225966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599F73F7-2B99-BEC6-CE62-E002191078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DD6BCF7-8E9F-41C5-A608-0D41664076BA}" type="slidenum">
              <a:rPr lang="en-US" altLang="en-US" sz="1200" smtClean="0">
                <a:latin typeface="Times New Roman" panose="02020603050405020304" pitchFamily="18" charset="0"/>
              </a:rPr>
              <a:pPr/>
              <a:t>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A82C24E-40D0-0AA6-6604-71E8A34BF2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2AEAAEAB-07EC-3E8B-79E7-643BBF9841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391B5252-16C6-80AB-C623-DFB0BA76DB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22910E35-9775-39F1-BEA4-7AE5267A5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01A75D0E-06ED-6423-4046-46A6B10AD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69B8064-7F42-41EE-BEFE-60077C03D710}" type="slidenum">
              <a:rPr lang="en-US" altLang="en-US" sz="1200" smtClean="0">
                <a:latin typeface="Times New Roman" panose="02020603050405020304" pitchFamily="18" charset="0"/>
              </a:rPr>
              <a:pPr/>
              <a:t>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B964D356-4787-6715-EC4E-FF5E6347FB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B79412EA-291E-6331-0DF0-2C5D37119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758285CA-74F0-913D-A80E-1B3225A1D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27B00A3-857A-44D5-97CC-9D94FC651846}" type="slidenum">
              <a:rPr lang="en-US" altLang="en-US" sz="1200" smtClean="0">
                <a:latin typeface="Times New Roman" panose="02020603050405020304" pitchFamily="18" charset="0"/>
              </a:rPr>
              <a:pPr/>
              <a:t>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7D3D501E-75BA-E706-F9FB-BEA94E3795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2C88676D-8EAA-6B95-F4E3-6C22733B0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E62BDD88-93C1-2DFA-E9AE-0E4A5254E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79FD893-BD05-45C0-9181-67B42670A1D2}" type="slidenum">
              <a:rPr lang="en-US" altLang="en-US" sz="1200" smtClean="0">
                <a:latin typeface="Times New Roman" panose="02020603050405020304" pitchFamily="18" charset="0"/>
              </a:rPr>
              <a:pPr/>
              <a:t>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964BB1-7357-BCBC-C333-4CA5E7116E2E}"/>
              </a:ext>
            </a:extLst>
          </p:cNvPr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41219" y="3243264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EFE6BCEB-9D04-0A31-13FD-E54A7886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38913"/>
            <a:ext cx="27432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BF734D-FA21-46CC-B337-08991588F7D2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21C2B440-578D-B562-B0A6-B54BDB743A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0" y="6538913"/>
            <a:ext cx="2743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</a:defRPr>
            </a:lvl1pPr>
          </a:lstStyle>
          <a:p>
            <a:pPr>
              <a:defRPr/>
            </a:pPr>
            <a:fld id="{775A0816-9807-4CA3-A3C5-68577B5C95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BBDFAC-3ABC-7AF1-C80F-B9A80EC5DAE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2633009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A55295-5DC2-C569-6312-199AFA24EE07}"/>
              </a:ext>
            </a:extLst>
          </p:cNvPr>
          <p:cNvSpPr/>
          <p:nvPr userDrawn="1"/>
        </p:nvSpPr>
        <p:spPr>
          <a:xfrm>
            <a:off x="392907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82252" y="277962"/>
            <a:ext cx="7928429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75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29624-F3B5-070E-14EF-70CC1B48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80188"/>
            <a:ext cx="2743200" cy="277812"/>
          </a:xfrm>
        </p:spPr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fld id="{619230D7-F585-4615-8690-EE47007A6E78}" type="datetime1">
              <a:rPr lang="en-US" smtClean="0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5519A-3558-75C9-7D9D-2CD34FE860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12288" y="6623050"/>
            <a:ext cx="2743200" cy="234950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3668E2E4-C289-40FA-803B-52DC86338CE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78CD4D-49EF-4866-C3F2-B2A61D010B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Database System Design, Implementation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1816587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98A4D7-51AA-2B15-3D26-501BAE3FD3F8}"/>
              </a:ext>
            </a:extLst>
          </p:cNvPr>
          <p:cNvSpPr/>
          <p:nvPr userDrawn="1"/>
        </p:nvSpPr>
        <p:spPr>
          <a:xfrm>
            <a:off x="392907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87476" y="294938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508C-232F-8AA0-F1C6-36CFF9AC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2888"/>
            <a:ext cx="2743200" cy="268287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F53EECD-5EF2-4F97-996E-6CBAC1BF3011}" type="datetime1">
              <a:rPr lang="en-US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118D7B-5BE4-D162-C63C-02493336AE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66250" y="6589713"/>
            <a:ext cx="2743200" cy="314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126DDB-45DE-4D72-94FB-1E2D565E80A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007CFB-2610-ACA1-B2EA-E3DDAC766C9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291930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858F73B4-3EA4-F35A-3D60-2923D5658ED7}"/>
              </a:ext>
            </a:extLst>
          </p:cNvPr>
          <p:cNvSpPr/>
          <p:nvPr userDrawn="1"/>
        </p:nvSpPr>
        <p:spPr>
          <a:xfrm>
            <a:off x="311261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0858" y="243491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75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309220" y="1169082"/>
            <a:ext cx="11551617" cy="49541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778A0-1739-29FF-2284-D0326B623CD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953D200-00AA-42A7-802D-F180C1D57E6B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C1F769-2EA0-3B74-8A9C-9BD515A3FA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421813" y="6600825"/>
            <a:ext cx="2743200" cy="274638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BC9EDAA9-37F3-4614-95D5-5B7FFAB71D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EB4D491-05E9-53AB-E987-C6383C7B7C83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16217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3686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420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63686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aseline="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1" y="862151"/>
            <a:ext cx="7096259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1888363-DACF-4CD3-2499-6E28B3D696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A147622-DF6C-4AD4-B05B-A94F62E38A86}" type="datetime1">
              <a:rPr lang="en-US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A37517-8DD7-EEA6-F2E6-49FC8CC73A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1913" y="6604000"/>
            <a:ext cx="4114800" cy="254000"/>
          </a:xfrm>
        </p:spPr>
        <p:txBody>
          <a:bodyPr/>
          <a:lstStyle>
            <a:lvl1pPr defTabSz="3429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06BDF5-0E4B-7D5D-4DE0-26F369F0EB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4FC3DE7D-4EEA-43B2-9617-70FD3CFD639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05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97F7F79-C88E-7534-6D6C-7E21232DD335}"/>
              </a:ext>
            </a:extLst>
          </p:cNvPr>
          <p:cNvSpPr/>
          <p:nvPr userDrawn="1"/>
        </p:nvSpPr>
        <p:spPr>
          <a:xfrm>
            <a:off x="392907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392906" y="278800"/>
            <a:ext cx="5813199" cy="457200"/>
          </a:xfrm>
          <a:prstGeom prst="rect">
            <a:avLst/>
          </a:prstGeom>
        </p:spPr>
        <p:txBody>
          <a:bodyPr/>
          <a:lstStyle>
            <a:lvl1pPr>
              <a:defRPr lang="en-VN" sz="2475" b="1" baseline="0" dirty="0">
                <a:solidFill>
                  <a:srgbClr val="223771"/>
                </a:solidFill>
                <a:ea typeface="+mj-e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E8D8520-2EEF-7DFE-992F-B17199C9D3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91607DA-A9BC-4664-80C0-A8EF5A98972C}" type="datetime1">
              <a:rPr lang="en-US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6DAE71-5E4C-AD44-94BB-40E3E9BE3B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B9B03C63-2273-46E4-B7DF-3CCA315B6CB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74D9259-758C-E063-00D3-B9F2238CDAAB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Database System Design, Implementation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268103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3">
            <a:extLst>
              <a:ext uri="{FF2B5EF4-FFF2-40B4-BE49-F238E27FC236}">
                <a16:creationId xmlns:a16="http://schemas.microsoft.com/office/drawing/2014/main" id="{E54F1EF8-213B-FF64-8429-F8F6501B5178}"/>
              </a:ext>
            </a:extLst>
          </p:cNvPr>
          <p:cNvSpPr/>
          <p:nvPr userDrawn="1"/>
        </p:nvSpPr>
        <p:spPr>
          <a:xfrm>
            <a:off x="701899" y="515148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00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50" b="1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899" y="1639781"/>
            <a:ext cx="333670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1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E9E4F77-455A-34FF-7394-C19D63B430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90A3BB5-049D-4035-BBD7-C54E04C91C61}" type="datetime1">
              <a:rPr lang="en-US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A7C627D-779A-8D83-E2C4-C40DC84F78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967A2B-7DC3-460F-82C1-37366D5A5F1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E03B860-9F7C-2731-9CAC-7601DE48A514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Database System Design, Implementation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265462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3916733C-FBD8-62DA-599D-9BAE44D8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135270F-5CE6-4EF5-9A71-BDCE233B4E76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71387-83EF-1FFD-724E-49A6E970C5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812D8D-EA8D-1B75-F994-BA3986DCE52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160066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41484" y="785428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75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5DDBC1F-BF9C-7B51-59FB-F19B698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2F541BA-B8B3-45BF-9568-D96FA3A28EA4}" type="datetime1">
              <a:rPr lang="en-US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C17964-6658-65D0-C4E0-286261C6CE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2BE77ECF-F060-4D46-A3D9-128B9B0DFB4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83511F7-1E66-04C0-64CE-2CA8940B2D7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Database System Design, Implementation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34848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3">
            <a:extLst>
              <a:ext uri="{FF2B5EF4-FFF2-40B4-BE49-F238E27FC236}">
                <a16:creationId xmlns:a16="http://schemas.microsoft.com/office/drawing/2014/main" id="{AB79923C-0D24-F53B-D9C9-FA068E03CBFF}"/>
              </a:ext>
            </a:extLst>
          </p:cNvPr>
          <p:cNvSpPr/>
          <p:nvPr userDrawn="1"/>
        </p:nvSpPr>
        <p:spPr>
          <a:xfrm>
            <a:off x="851140" y="711200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q"/>
              <a:defRPr/>
            </a:lvl1pPr>
            <a:lvl2pPr marL="514350" indent="-1714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  <a:defRPr/>
            </a:lvl2pPr>
            <a:lvl3pPr marL="857250" indent="-1714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ü"/>
              <a:defRPr/>
            </a:lvl3pPr>
            <a:lvl4pPr marL="1200150" indent="-171450">
              <a:lnSpc>
                <a:spcPct val="150000"/>
              </a:lnSpc>
              <a:buClr>
                <a:schemeClr val="accent2"/>
              </a:buClr>
              <a:buFont typeface="Courier New" panose="02070309020205020404" pitchFamily="49" charset="0"/>
              <a:buChar char="o"/>
              <a:defRPr/>
            </a:lvl4pPr>
            <a:lvl5pPr marL="1543050" indent="-17145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3AFBE-2234-186F-5F0C-22D156916C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9144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64D1F0-47D7-5B21-B6DA-1122FAFAAB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Database System Design, Implementation And Management 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AD08CD51-62C0-58FD-6E1D-88EF84F0130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D947E3C-0B49-413F-8928-2C02ECEF5B61}" type="datetime1">
              <a:rPr lang="en-US"/>
              <a:pPr>
                <a:defRPr/>
              </a:pPr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677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>
            <a:extLst>
              <a:ext uri="{FF2B5EF4-FFF2-40B4-BE49-F238E27FC236}">
                <a16:creationId xmlns:a16="http://schemas.microsoft.com/office/drawing/2014/main" id="{95787B45-CCD1-2665-35CA-26FF8EFF88D7}"/>
              </a:ext>
            </a:extLst>
          </p:cNvPr>
          <p:cNvGrpSpPr>
            <a:grpSpLocks/>
          </p:cNvGrpSpPr>
          <p:nvPr/>
        </p:nvGrpSpPr>
        <p:grpSpPr bwMode="auto">
          <a:xfrm>
            <a:off x="0" y="6494463"/>
            <a:ext cx="12192000" cy="373062"/>
            <a:chOff x="0" y="1661375"/>
            <a:chExt cx="12192000" cy="3730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A8C841-F6D0-23B2-733A-1CD90B3F4DAD}"/>
                </a:ext>
              </a:extLst>
            </p:cNvPr>
            <p:cNvSpPr/>
            <p:nvPr/>
          </p:nvSpPr>
          <p:spPr>
            <a:xfrm>
              <a:off x="0" y="1661375"/>
              <a:ext cx="12192000" cy="109546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3429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0B988D-9418-5175-B8F1-38CA646ADBA2}"/>
                </a:ext>
              </a:extLst>
            </p:cNvPr>
            <p:cNvSpPr/>
            <p:nvPr/>
          </p:nvSpPr>
          <p:spPr>
            <a:xfrm>
              <a:off x="0" y="1759808"/>
              <a:ext cx="12192000" cy="274658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3429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B3991-06E6-1D64-C030-E5657676D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3429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defRPr/>
            </a:pPr>
            <a:fld id="{B77A7909-E221-4E66-A5EF-13497EA60DD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7D17-CBC3-C51E-EB1C-7963F0F1D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00825"/>
            <a:ext cx="2743200" cy="257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342900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defRPr/>
            </a:pPr>
            <a:fld id="{AE5C34FE-8DBA-47D2-B92C-42DE287139A6}" type="datetime1">
              <a:rPr lang="en-US" smtClean="0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B3DE4959-DECB-5DE9-5280-05B3FE6EB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810CF440-6E0B-2021-0C2C-5CE6B0FDC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D044D3-EBD5-9CF6-2CD8-89513494DC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871913" y="6604000"/>
            <a:ext cx="4967287" cy="254000"/>
          </a:xfrm>
          <a:prstGeom prst="rect">
            <a:avLst/>
          </a:prstGeom>
          <a:ln/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Database System Design, Implementation And Management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</p:sldLayoutIdLst>
  <p:hf hd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55D12DE-3880-DE12-CE17-D7CD7AFD7B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 Objectives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5AFAA60-0CDA-A322-906A-3A5AB6B6D2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Define the difference between data and information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Describe what a database is, the various types of databases, and why they are valuable assets for decision making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Explain the importance of database design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Outline how modern databases evolved from file systems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Identify flaws in file system data management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Outline the main components of the database system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Describe the main functions of a database management system (DBMS)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F56535-3CEC-D929-4BC5-BFFFA746272B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70935733-0070-4FC4-AA67-45D4DA740129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18437" name="Footer Placeholder 5">
            <a:extLst>
              <a:ext uri="{FF2B5EF4-FFF2-40B4-BE49-F238E27FC236}">
                <a16:creationId xmlns:a16="http://schemas.microsoft.com/office/drawing/2014/main" id="{485A426D-6530-9FB2-88B2-A3A1850670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8438" name="Slide Number Placeholder 6">
            <a:extLst>
              <a:ext uri="{FF2B5EF4-FFF2-40B4-BE49-F238E27FC236}">
                <a16:creationId xmlns:a16="http://schemas.microsoft.com/office/drawing/2014/main" id="{B056787B-F6F1-4E67-9330-2245C057F8F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E4E02F-8D0B-4F73-B3DD-858F1DB63CB0}" type="slidenum">
              <a:rPr lang="en-US" altLang="en-US" sz="900" smtClean="0">
                <a:solidFill>
                  <a:schemeClr val="bg1"/>
                </a:solidFill>
              </a:rPr>
              <a:pPr/>
              <a:t>1</a:t>
            </a:fld>
            <a:endParaRPr lang="en-US" altLang="en-US" sz="900" dirty="0">
              <a:solidFill>
                <a:schemeClr val="bg1"/>
              </a:solidFill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93202BEA-2638-74DD-C797-07253743C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10" y="76200"/>
            <a:ext cx="11904379" cy="623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23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0FFC1CF-C6D1-C190-5CBD-BA8BD4CDF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10515600" cy="1325563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National Economics University</a:t>
            </a:r>
            <a:br>
              <a:rPr lang="en-US" altLang="en-US" dirty="0"/>
            </a:br>
            <a:r>
              <a:rPr lang="en-US" altLang="en-US" dirty="0"/>
              <a:t>Faculty of Data Science &amp; Artificial Intelligence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0F7E22-523E-06DC-63AF-3DDDA301838E}"/>
              </a:ext>
            </a:extLst>
          </p:cNvPr>
          <p:cNvSpPr txBox="1">
            <a:spLocks/>
          </p:cNvSpPr>
          <p:nvPr/>
        </p:nvSpPr>
        <p:spPr bwMode="auto">
          <a:xfrm>
            <a:off x="83820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dirty="0"/>
              <a:t>Database System Design, Implementation And Management Course – The Relation Database Model </a:t>
            </a:r>
          </a:p>
          <a:p>
            <a:pPr eaLnBrk="1" hangingPunct="1">
              <a:defRPr/>
            </a:pPr>
            <a:endParaRPr lang="en-US" dirty="0"/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Instructor: Duc Minh Vu (FDA – SLSCM Lab)</a:t>
            </a:r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Email: </a:t>
            </a:r>
            <a:r>
              <a:rPr lang="en-US" dirty="0" err="1"/>
              <a:t>minhvd</a:t>
            </a:r>
            <a:r>
              <a:rPr lang="en-US" dirty="0"/>
              <a:t> [at] neu.edu.vn</a:t>
            </a:r>
            <a:br>
              <a:rPr lang="en-US" dirty="0"/>
            </a:br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76F99BE-16D2-D698-B84F-294467AC8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4034" y="204634"/>
            <a:ext cx="1243166" cy="124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9BFC2BE-16EA-CF2A-0193-BCC3544BE7F1}"/>
              </a:ext>
            </a:extLst>
          </p:cNvPr>
          <p:cNvSpPr txBox="1">
            <a:spLocks/>
          </p:cNvSpPr>
          <p:nvPr/>
        </p:nvSpPr>
        <p:spPr>
          <a:xfrm>
            <a:off x="0" y="6600825"/>
            <a:ext cx="2743200" cy="257175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fld id="{70935733-0070-4FC4-AA67-45D4DA740129}" type="datetime1">
              <a:rPr lang="en-US" sz="900" smtClean="0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36BB0-D354-C3A9-B5A0-5D1CD2961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1913" y="6604000"/>
            <a:ext cx="4967287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342900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en-US" sz="900" dirty="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EEC19-2A29-080D-84C0-C504A808E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6600825"/>
            <a:ext cx="2743200" cy="27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defTabSz="342900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25E4E02F-8D0B-4F73-B3DD-858F1DB63CB0}" type="slidenum">
              <a:rPr lang="en-US" altLang="en-US" sz="900" smtClean="0">
                <a:solidFill>
                  <a:schemeClr val="bg1"/>
                </a:solidFill>
              </a:rPr>
              <a:pPr algn="r"/>
              <a:t>2</a:t>
            </a:fld>
            <a:endParaRPr lang="en-US" altLang="en-US" sz="900" dirty="0">
              <a:solidFill>
                <a:schemeClr val="bg1"/>
              </a:solidFill>
            </a:endParaRPr>
          </a:p>
        </p:txBody>
      </p:sp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11910D4C-A8E1-69FA-9253-D7771B263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09550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55D12DE-3880-DE12-CE17-D7CD7AFD7B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 Objectives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5AFAA60-0CDA-A322-906A-3A5AB6B6D2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MyriadPro-SemiboldSemiCn"/>
              </a:rPr>
              <a:t>Describe the relational database model’s logical structure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MyriadPro-SemiboldSemiCn"/>
              </a:rPr>
              <a:t>Identify the relational model’s basic components and explain the structure, contents, and characteristics of a relational table</a:t>
            </a:r>
            <a:endParaRPr lang="en-US" sz="1800" dirty="0">
              <a:solidFill>
                <a:srgbClr val="242021"/>
              </a:solidFill>
              <a:latin typeface="MyriadPro-SemiboldSemiCn"/>
            </a:endParaRP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MyriadPro-SemiboldSemiCn"/>
              </a:rPr>
              <a:t>Use relational database operators to manipulate relational table contents</a:t>
            </a:r>
            <a:endParaRPr lang="en-US" sz="1800" dirty="0">
              <a:solidFill>
                <a:srgbClr val="242021"/>
              </a:solidFill>
              <a:latin typeface="MyriadPro-SemiboldSemiCn"/>
            </a:endParaRP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MyriadPro-SemiboldSemiCn"/>
              </a:rPr>
              <a:t>Explain the purpose and components of the data dictionary and system catalog</a:t>
            </a:r>
            <a:r>
              <a:rPr lang="en-US" sz="1400" dirty="0"/>
              <a:t> 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MyriadPro-SemiboldSemiCn"/>
              </a:rPr>
              <a:t>Identify appropriate entities and then the relationships among the entities in the relational database model</a:t>
            </a:r>
            <a:endParaRPr lang="en-US" sz="1800" dirty="0">
              <a:solidFill>
                <a:srgbClr val="242021"/>
              </a:solidFill>
              <a:latin typeface="MyriadPro-SemiboldSemiCn"/>
            </a:endParaRP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MyriadPro-SemiboldSemiCn"/>
              </a:rPr>
              <a:t>Describe how data redundancy is handled in the relational database model</a:t>
            </a:r>
            <a:endParaRPr lang="en-US" sz="1800" dirty="0">
              <a:solidFill>
                <a:srgbClr val="242021"/>
              </a:solidFill>
              <a:latin typeface="MyriadPro-SemiboldSemiCn"/>
            </a:endParaRP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MyriadPro-SemiboldSemiCn"/>
              </a:rPr>
              <a:t>Explain the purpose of indexing in a relational database</a:t>
            </a:r>
            <a:r>
              <a:rPr lang="en-US" sz="1100" dirty="0"/>
              <a:t> </a:t>
            </a:r>
            <a:br>
              <a:rPr lang="en-US" sz="1100" dirty="0"/>
            </a:br>
            <a:br>
              <a:rPr lang="en-US" sz="1400" dirty="0"/>
            </a:br>
            <a:endParaRPr lang="en-US" altLang="en-US" sz="18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F56535-3CEC-D929-4BC5-BFFFA746272B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70935733-0070-4FC4-AA67-45D4DA740129}" type="datetime1">
              <a:rPr lang="en-US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18437" name="Footer Placeholder 5">
            <a:extLst>
              <a:ext uri="{FF2B5EF4-FFF2-40B4-BE49-F238E27FC236}">
                <a16:creationId xmlns:a16="http://schemas.microsoft.com/office/drawing/2014/main" id="{485A426D-6530-9FB2-88B2-A3A1850670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dirty="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8438" name="Slide Number Placeholder 6">
            <a:extLst>
              <a:ext uri="{FF2B5EF4-FFF2-40B4-BE49-F238E27FC236}">
                <a16:creationId xmlns:a16="http://schemas.microsoft.com/office/drawing/2014/main" id="{B056787B-F6F1-4E67-9330-2245C057F8F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E4E02F-8D0B-4F73-B3DD-858F1DB63CB0}" type="slidenum">
              <a:rPr lang="en-US" altLang="en-US" sz="900" smtClean="0">
                <a:solidFill>
                  <a:schemeClr val="bg1"/>
                </a:solidFill>
              </a:rPr>
              <a:pPr/>
              <a:t>3</a:t>
            </a:fld>
            <a:endParaRPr lang="en-US" alt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1DCB29D-D534-B857-7C83-DE4C3BDFA4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1F3EEDD-860D-60D3-AD02-6DD47DB021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/>
              <a:t>Good decisions require good information derived from raw facts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/>
              <a:t>Data is managed most efficiently when stored in a database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/>
              <a:t>Databases evolved from computer file systems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/>
              <a:t>Understanding file system characteristics is important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C2DE5-019B-3B11-82F4-2D9677E84263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7A4C30CC-4197-428E-AFC0-406C73B0ED5C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20485" name="Footer Placeholder 5">
            <a:extLst>
              <a:ext uri="{FF2B5EF4-FFF2-40B4-BE49-F238E27FC236}">
                <a16:creationId xmlns:a16="http://schemas.microsoft.com/office/drawing/2014/main" id="{E4AC8304-634C-9454-375E-510C49AC9C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20486" name="Slide Number Placeholder 6">
            <a:extLst>
              <a:ext uri="{FF2B5EF4-FFF2-40B4-BE49-F238E27FC236}">
                <a16:creationId xmlns:a16="http://schemas.microsoft.com/office/drawing/2014/main" id="{858B14FA-ADB0-CDA2-307C-681CB0F88A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1072680-6AB0-491B-8B57-14E3B9BF6F78}" type="slidenum">
              <a:rPr lang="en-US" altLang="en-US" sz="900" smtClean="0">
                <a:solidFill>
                  <a:schemeClr val="bg1"/>
                </a:solidFill>
              </a:rPr>
              <a:pPr/>
              <a:t>4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15245-E404-AB74-2352-D48C3900EF2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41C699-3A05-4BD2-AB80-12248A61DEF4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6EF617-BEE9-FD9C-CBB4-421AC8064F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601754-4AE3-4CCF-9E43-AE798FE08FA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3">
            <a:extLst>
              <a:ext uri="{FF2B5EF4-FFF2-40B4-BE49-F238E27FC236}">
                <a16:creationId xmlns:a16="http://schemas.microsoft.com/office/drawing/2014/main" id="{E493E4A4-1FD2-5070-8935-957066BE3CD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492266-9CA2-011A-8ACD-ACE54A629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462" y="681037"/>
            <a:ext cx="10125075" cy="5495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F71A3E5-5358-9342-1415-859526D199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3-1 A Logical View of Data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4776EFE-F819-8E23-1F0E-20D4D11C83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Database stores and manages both data and metadata.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DBMS manages and controls access to the data and the database structure.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Such an arrangement—placing the DBMS between the application and the database—eliminates most of the file system’s inherent limitations. The result of such flexibility, however, is a far more complex physical structure.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Database structures required by both the hierarchical and network database models often become</a:t>
            </a:r>
            <a:b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</a:b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complicated enough to diminish efficient database design.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The relational data model allows the designer to focus on the logical representation of the data and its relationships, rather than on the physical storage details.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The relational model enables you to view data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NewCaledoniaLTStd-It"/>
              </a:rPr>
              <a:t>logically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rather than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NewCaledoniaLTStd-It"/>
              </a:rPr>
              <a:t>physically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.</a:t>
            </a:r>
            <a:r>
              <a:rPr lang="en-US" sz="2000" dirty="0"/>
              <a:t> </a:t>
            </a:r>
            <a:br>
              <a:rPr lang="en-US" sz="2000" dirty="0"/>
            </a:br>
            <a:endParaRPr lang="en-US" altLang="en-US" sz="23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BE2363-379F-11E0-55C7-AAF38B7E13E7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8E6C8F7E-25A2-48EF-90CC-2521E839A2A5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23557" name="Footer Placeholder 5">
            <a:extLst>
              <a:ext uri="{FF2B5EF4-FFF2-40B4-BE49-F238E27FC236}">
                <a16:creationId xmlns:a16="http://schemas.microsoft.com/office/drawing/2014/main" id="{526D8DFE-B3CE-E678-10A2-9A9BD953EF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23558" name="Slide Number Placeholder 6">
            <a:extLst>
              <a:ext uri="{FF2B5EF4-FFF2-40B4-BE49-F238E27FC236}">
                <a16:creationId xmlns:a16="http://schemas.microsoft.com/office/drawing/2014/main" id="{5E357859-01D7-6BF1-4BBD-1B7E2FB51E8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0EAB96A-97DB-4DF2-BF26-C2CEA16BF1A7}" type="slidenum">
              <a:rPr lang="en-US" altLang="en-US" sz="900" smtClean="0">
                <a:solidFill>
                  <a:schemeClr val="bg1"/>
                </a:solidFill>
              </a:rPr>
              <a:pPr/>
              <a:t>6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CC20480-695C-3103-F974-EBEABDE1F3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3-1a Tables and Their Characteristics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0BFE7DE-951F-D363-ECE1-6677404852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dirty="0"/>
              <a:t>A table is perceived as a two-dimensional structure composed of rows and columns.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A table is also called a relation because the relational model’s creator, E. F. Codd, used the two terms as synonyms.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Think of a table as a persistent representation of a logical relation—that is, a relation whose contents can be permanently saved for future use.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A table contains a group of related entity occurrences—that is, an entity set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The terms entity set and table are often used interchangeably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7C999B-7E8C-1B8C-D445-76905B5244A0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B71AFFB5-6A3D-41A8-A186-9484EED955B3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25605" name="Footer Placeholder 5">
            <a:extLst>
              <a:ext uri="{FF2B5EF4-FFF2-40B4-BE49-F238E27FC236}">
                <a16:creationId xmlns:a16="http://schemas.microsoft.com/office/drawing/2014/main" id="{7890BB98-314F-3E56-581B-60F43ADB7D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25606" name="Slide Number Placeholder 6">
            <a:extLst>
              <a:ext uri="{FF2B5EF4-FFF2-40B4-BE49-F238E27FC236}">
                <a16:creationId xmlns:a16="http://schemas.microsoft.com/office/drawing/2014/main" id="{66BA026F-E633-38EA-D002-22830BA5B92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8947574-A4F2-4312-AED3-F68C5ABD1610}" type="slidenum">
              <a:rPr lang="en-US" altLang="en-US" sz="900" smtClean="0">
                <a:solidFill>
                  <a:schemeClr val="bg1"/>
                </a:solidFill>
              </a:rPr>
              <a:pPr/>
              <a:t>7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EEDF25-0717-BEC2-19BD-171863E98E7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41C699-3A05-4BD2-AB80-12248A61DEF4}" type="datetime1">
              <a:rPr lang="en-US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D23055-F2EA-30A2-A131-D16E593C6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DDBEEEF-7777-4EC1-BE0B-32A830F7D7A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29700" name="Footer Placeholder 3">
            <a:extLst>
              <a:ext uri="{FF2B5EF4-FFF2-40B4-BE49-F238E27FC236}">
                <a16:creationId xmlns:a16="http://schemas.microsoft.com/office/drawing/2014/main" id="{1C27382A-E50C-C941-2C3A-11F8A9661E8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CDF32-4A29-8FFB-8821-359CF0864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785937"/>
            <a:ext cx="10306050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F28A54-6DFC-7745-4B5E-5A0AD0239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7D2010-16A2-F0A4-8338-4E62223B2C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838A5-C99A-3AD7-F798-E1DFA5D20D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45E446-749C-1189-7462-DD77CA183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2" y="561975"/>
            <a:ext cx="10086975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07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E7203-6AF3-E70E-9791-8B3AE4ADE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3-2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3700B-5A8C-9786-2A35-899171303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 key consists of one or more attributes that determine other attributes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4BC8A-1D0E-F17A-B8EA-C3449B73BD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34681-1005-6552-3BCA-DECFCEA92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86F78A4-AE69-51E4-1A98-E2FB922A7F0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CF40BC-6240-8D6E-6439-756C3B648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488407"/>
            <a:ext cx="2257425" cy="3314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15DBB7-A2EE-BFC4-29A1-A95DDFE64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808" y="2590800"/>
            <a:ext cx="257175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01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5EA36-F219-6FF9-A025-93721C823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3-2a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24084-7149-E693-878B-CD8E8B972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26689"/>
            <a:ext cx="7620000" cy="4351338"/>
          </a:xfrm>
        </p:spPr>
        <p:txBody>
          <a:bodyPr/>
          <a:lstStyle/>
          <a:p>
            <a:r>
              <a:rPr lang="en-US" dirty="0"/>
              <a:t>Determination is the state in which knowing the value of one attribute makes it possible to determine the value of another.</a:t>
            </a:r>
          </a:p>
          <a:p>
            <a:r>
              <a:rPr lang="en-US" dirty="0"/>
              <a:t>Functional dependence: the value of one or more attributes determines the value of one or more other attributes. </a:t>
            </a:r>
          </a:p>
          <a:p>
            <a:r>
              <a:rPr lang="en-US" dirty="0"/>
              <a:t>Key - Determinant: Attribute whose value determines another</a:t>
            </a:r>
          </a:p>
          <a:p>
            <a:r>
              <a:rPr lang="en-US" dirty="0"/>
              <a:t>Dependent: Attribute whose value is determined by the other attribute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F816A-E80C-F09A-DFD5-F2A9FFD3B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AA534-71EF-D902-370B-91939691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7675FC-6F19-5C49-2517-B53F51BA621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39D62-D39D-66CD-1687-57379B62A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281" y="1279014"/>
            <a:ext cx="2247900" cy="2400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15C357-5BCB-4689-8ED2-B6CE5BAF4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281" y="1261678"/>
            <a:ext cx="2286000" cy="26765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B45508-BC5E-E9A6-705C-BD6C0799B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762" y="4156792"/>
            <a:ext cx="2428875" cy="18859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E45748-4D69-D124-11FD-9A0A5B9C54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2481" y="4237397"/>
            <a:ext cx="217170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61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864D-38F2-89CB-9475-AE176171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3-2b Types of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CE3C6-1125-756B-BCDB-A57358E29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63662"/>
            <a:ext cx="9067800" cy="4351338"/>
          </a:xfrm>
        </p:spPr>
        <p:txBody>
          <a:bodyPr/>
          <a:lstStyle/>
          <a:p>
            <a:r>
              <a:rPr lang="en-US" dirty="0"/>
              <a:t>A composite key is a key that is composed of more than one attribute.</a:t>
            </a:r>
          </a:p>
          <a:p>
            <a:r>
              <a:rPr lang="en-US" dirty="0"/>
              <a:t>An attribute that is a part of a key is called a key attribute.</a:t>
            </a:r>
          </a:p>
          <a:p>
            <a:r>
              <a:rPr lang="en-US" dirty="0"/>
              <a:t>A </a:t>
            </a:r>
            <a:r>
              <a:rPr lang="en-US" dirty="0" err="1"/>
              <a:t>superkey</a:t>
            </a:r>
            <a:r>
              <a:rPr lang="en-US" dirty="0"/>
              <a:t> is a key that can uniquely identify any row in the table</a:t>
            </a:r>
          </a:p>
          <a:p>
            <a:r>
              <a:rPr lang="en-US" dirty="0"/>
              <a:t>A candidate key is a minimal </a:t>
            </a:r>
            <a:r>
              <a:rPr lang="en-US" dirty="0" err="1"/>
              <a:t>superkey</a:t>
            </a:r>
            <a:r>
              <a:rPr lang="en-US" dirty="0"/>
              <a:t>—that is, a </a:t>
            </a:r>
            <a:r>
              <a:rPr lang="en-US" dirty="0" err="1"/>
              <a:t>superkey</a:t>
            </a:r>
            <a:r>
              <a:rPr lang="en-US" dirty="0"/>
              <a:t> without any unnecessary attributes.</a:t>
            </a:r>
          </a:p>
          <a:p>
            <a:r>
              <a:rPr lang="en-US" dirty="0"/>
              <a:t>Entity integrity is the condition in which each row (entity instance) in the table has its own known, unique identity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92E2A-0EFF-58D2-F339-3AEF1F7BFD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BEB23-2D48-1259-E2C1-5D04FE71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DB48BF5-DFB5-D51E-CA01-423653117EF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765C00-0591-9521-EA98-2EBB5C483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0" y="2057400"/>
            <a:ext cx="216217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58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C05552-D48D-61B0-22F0-7CDCD1D13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D2F7BC-2BAE-CE63-48ED-AF47C1653C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54D8F6-59C6-DD18-32DC-4E81ED6D4D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5EF702-11D7-314D-67B8-4AA21E2C0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1042987"/>
            <a:ext cx="1010602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00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864D-38F2-89CB-9475-AE176171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3-2b Types of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CE3C6-1125-756B-BCDB-A57358E29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63662"/>
            <a:ext cx="9067800" cy="4351338"/>
          </a:xfrm>
        </p:spPr>
        <p:txBody>
          <a:bodyPr/>
          <a:lstStyle/>
          <a:p>
            <a:r>
              <a:rPr lang="en-US" dirty="0"/>
              <a:t>A foreign key (FK) is the primary key of one table that has been placed into another table to create a common attribute.</a:t>
            </a:r>
          </a:p>
          <a:p>
            <a:r>
              <a:rPr lang="en-US" dirty="0"/>
              <a:t>Foreign keys are used to ensure referential integrity, the condition in which every reference to an entity instance by another entity instance is valid.</a:t>
            </a:r>
          </a:p>
          <a:p>
            <a:r>
              <a:rPr lang="en-US" dirty="0"/>
              <a:t>A secondary key is defined as a key that is used strictly for data retrieval purposes and does not require a functional dependency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92E2A-0EFF-58D2-F339-3AEF1F7BFD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BEB23-2D48-1259-E2C1-5D04FE71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DB48BF5-DFB5-D51E-CA01-423653117EF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2F2976-522A-CD2E-4E11-675639518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975" y="838200"/>
            <a:ext cx="222885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82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D00CB1-3BD4-3C98-6013-62A40A4E2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02E313-4405-C230-E04C-5D59C5C55E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1E51B-71E1-B875-3EF0-CB2C97B0DC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E3ADE0-D7FA-B573-5DC4-01D6E4400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612" y="1885950"/>
            <a:ext cx="772477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975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2BA4-EF47-1868-7FCF-BD8A3C5CD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3-3 Integrity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4C20F-244F-BBE1-6F9F-3D29E38B2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1AF23-89F3-635B-E888-A384BA8CF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02AAC-8498-651E-F261-6AD799C6B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10AAD6C-BD53-6EE6-A96A-81EC2715F97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E8A51D-5D4D-EAA4-F0D0-B118A78F4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5957"/>
            <a:ext cx="100965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790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56310B-FECA-965E-2B5F-4239E11C2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C13DCA-89C6-2E07-2552-53E2FC91CF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80A2E9-93A3-C5E5-BE7F-833D7845C1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9FFB6B-493A-2FC1-18E7-FE8AD556A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12" y="23812"/>
            <a:ext cx="10696575" cy="68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866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E2B67-0F38-028B-3FED-3E2AA98FC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3-3 Integrity Rules (cont’d.)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CE519-E60B-8BA0-3022-A15E514E2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i="1" dirty="0">
                <a:solidFill>
                  <a:srgbClr val="242021"/>
                </a:solidFill>
                <a:effectLst/>
                <a:latin typeface="NewCaledoniaLTStd-It"/>
              </a:rPr>
              <a:t>Entity integrity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. </a:t>
            </a:r>
          </a:p>
          <a:p>
            <a:pPr lvl="1"/>
            <a:r>
              <a:rPr lang="en-US" sz="1600" b="0" i="0" dirty="0">
                <a:solidFill>
                  <a:srgbClr val="242021"/>
                </a:solidFill>
                <a:effectLst/>
                <a:latin typeface="NewCaledoniaLTStd"/>
              </a:rPr>
              <a:t>The CUSTOMER table’s primary key is CUS_CODE. The CUSTOMER primary key column has no null entries, and all entries are unique. </a:t>
            </a:r>
          </a:p>
          <a:p>
            <a:pPr lvl="1"/>
            <a:r>
              <a:rPr lang="en-US" sz="1600" b="0" i="0" dirty="0">
                <a:solidFill>
                  <a:srgbClr val="242021"/>
                </a:solidFill>
                <a:effectLst/>
                <a:latin typeface="NewCaledoniaLTStd"/>
              </a:rPr>
              <a:t>The AGENT table’s primary key is AGENT_CODE, and this primary key column is also free of null entries.</a:t>
            </a:r>
            <a:r>
              <a:rPr lang="en-US" sz="2000" dirty="0"/>
              <a:t> </a:t>
            </a:r>
          </a:p>
          <a:p>
            <a:r>
              <a:rPr lang="en-US" sz="2000" b="0" i="1" dirty="0">
                <a:solidFill>
                  <a:srgbClr val="242021"/>
                </a:solidFill>
                <a:effectLst/>
                <a:latin typeface="NewCaledoniaLTStd-It"/>
              </a:rPr>
              <a:t>Referential integrity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. </a:t>
            </a:r>
          </a:p>
          <a:p>
            <a:pPr lvl="1"/>
            <a:r>
              <a:rPr lang="en-US" sz="1600" b="0" i="0" dirty="0">
                <a:solidFill>
                  <a:srgbClr val="242021"/>
                </a:solidFill>
                <a:effectLst/>
                <a:latin typeface="NewCaledoniaLTStd"/>
              </a:rPr>
              <a:t>The CUSTOMER table contains a foreign key, AGENT_CODE, that links entries in the CUSTOMER table to the AGENT table. </a:t>
            </a:r>
          </a:p>
          <a:p>
            <a:pPr lvl="1"/>
            <a:r>
              <a:rPr lang="en-US" sz="1600" b="0" i="0" dirty="0">
                <a:solidFill>
                  <a:srgbClr val="242021"/>
                </a:solidFill>
                <a:effectLst/>
                <a:latin typeface="NewCaledoniaLTStd"/>
              </a:rPr>
              <a:t>The CUS_CODE row identified by the (primary key) number 10013 contains a null entry in its AGENT_CODE foreign key because Paul F. </a:t>
            </a:r>
            <a:r>
              <a:rPr lang="en-US" sz="1600" b="0" i="0" dirty="0" err="1">
                <a:solidFill>
                  <a:srgbClr val="242021"/>
                </a:solidFill>
                <a:effectLst/>
                <a:latin typeface="NewCaledoniaLTStd"/>
              </a:rPr>
              <a:t>Olowski</a:t>
            </a:r>
            <a:r>
              <a:rPr lang="en-US" sz="1600" b="0" i="0" dirty="0">
                <a:solidFill>
                  <a:srgbClr val="242021"/>
                </a:solidFill>
                <a:effectLst/>
                <a:latin typeface="NewCaledoniaLTStd"/>
              </a:rPr>
              <a:t> does not yet have a sales representative assigned to him. The remaining AGENT_CODE entries in the CUSTOMER table all match the AGENT_CODE entries in the AGENT table.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0831E-2090-2276-DAAE-8CC0576852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1D1A9-FAA3-E883-B8B1-CFA9DB8DF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CFF4245-7D40-09EA-24A0-68067997325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23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7B8873-A009-ACD0-8841-64DCAFED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8178F-6F74-6418-EE4C-4A47ABA309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464A5A-C579-CEC0-A6BA-7831AF3C52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B7C7E7-3361-E3B2-ACF8-CA50AEFAD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514600"/>
            <a:ext cx="7239000" cy="12418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B34BFD-3D0E-0036-F6BE-FB4AA8F7C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752600"/>
            <a:ext cx="3000375" cy="31527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2FE2A9-364B-F7F9-8C80-921421530BCD}"/>
              </a:ext>
            </a:extLst>
          </p:cNvPr>
          <p:cNvSpPr txBox="1"/>
          <p:nvPr/>
        </p:nvSpPr>
        <p:spPr>
          <a:xfrm>
            <a:off x="4191000" y="4069074"/>
            <a:ext cx="7239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To avoid nulls, some designers use special codes, known as flags, to indicate the absence of some value</a:t>
            </a:r>
          </a:p>
        </p:txBody>
      </p:sp>
    </p:spTree>
    <p:extLst>
      <p:ext uri="{BB962C8B-B14F-4D97-AF65-F5344CB8AC3E}">
        <p14:creationId xmlns:p14="http://schemas.microsoft.com/office/powerpoint/2010/main" val="1435080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C4B6-4198-B43E-6E06-62BBA3F4A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3-4 Relational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C3D16-E878-CDFE-55FF-8A0661CC7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54175"/>
            <a:ext cx="6858000" cy="4351338"/>
          </a:xfrm>
        </p:spPr>
        <p:txBody>
          <a:bodyPr/>
          <a:lstStyle/>
          <a:p>
            <a:r>
              <a:rPr lang="en-US" sz="2400" b="1" i="0" dirty="0">
                <a:solidFill>
                  <a:srgbClr val="007DAF"/>
                </a:solidFill>
                <a:effectLst/>
                <a:latin typeface="MyriadPro-Bold"/>
              </a:rPr>
              <a:t>Relational algebra </a:t>
            </a:r>
            <a:r>
              <a:rPr lang="en-US" sz="2400" b="0" i="0" dirty="0">
                <a:solidFill>
                  <a:srgbClr val="242021"/>
                </a:solidFill>
                <a:effectLst/>
                <a:latin typeface="NewCaledoniaLTStd"/>
              </a:rPr>
              <a:t>defines the theoretical way of manipulating table contents using relational operators.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13F5D-A103-96CD-4DB4-4FF823008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F7F35-8A88-8BD3-D11F-FF123EB7C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9651DC-7169-E077-89C4-56121DC2F68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59482-6B90-C276-8A3B-64E2190AC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800" y="596082"/>
            <a:ext cx="2914650" cy="3009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235D34-E6B4-FC80-B2FF-F24632C4F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4029844"/>
            <a:ext cx="1069657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421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A87DA-C780-95C4-AF03-509A9EE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3-4a Formal Definitions and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68A6C-4A6F-3D65-43AB-963BA400A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81800" cy="4351338"/>
          </a:xfrm>
        </p:spPr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</a:rPr>
              <a:t>A relation is the data in your tables.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</a:rPr>
              <a:t>A </a:t>
            </a:r>
            <a:r>
              <a:rPr lang="en-US" sz="1800" b="1" i="0" dirty="0" err="1">
                <a:solidFill>
                  <a:srgbClr val="007DAF"/>
                </a:solidFill>
                <a:effectLst/>
              </a:rPr>
              <a:t>relvar</a:t>
            </a:r>
            <a:r>
              <a:rPr lang="en-US" sz="1800" b="1" i="0" dirty="0">
                <a:solidFill>
                  <a:srgbClr val="007DAF"/>
                </a:solidFill>
                <a:effectLst/>
              </a:rPr>
              <a:t> </a:t>
            </a:r>
            <a:r>
              <a:rPr lang="en-US" sz="1800" b="0" i="0" dirty="0">
                <a:solidFill>
                  <a:srgbClr val="242021"/>
                </a:solidFill>
                <a:effectLst/>
              </a:rPr>
              <a:t>is a variable that holds a relation.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</a:rPr>
              <a:t>A </a:t>
            </a:r>
            <a:r>
              <a:rPr lang="en-US" sz="1800" b="0" i="0" dirty="0" err="1">
                <a:solidFill>
                  <a:srgbClr val="242021"/>
                </a:solidFill>
                <a:effectLst/>
              </a:rPr>
              <a:t>relvar</a:t>
            </a:r>
            <a:r>
              <a:rPr lang="en-US" sz="1800" b="0" i="0" dirty="0">
                <a:solidFill>
                  <a:srgbClr val="242021"/>
                </a:solidFill>
                <a:effectLst/>
              </a:rPr>
              <a:t> has two parts: the heading and the body. </a:t>
            </a:r>
          </a:p>
          <a:p>
            <a:pPr lvl="1"/>
            <a:r>
              <a:rPr lang="en-US" sz="1500" b="0" i="0" dirty="0">
                <a:solidFill>
                  <a:srgbClr val="242021"/>
                </a:solidFill>
                <a:effectLst/>
              </a:rPr>
              <a:t>The </a:t>
            </a:r>
            <a:r>
              <a:rPr lang="en-US" sz="1500" b="0" i="0" dirty="0" err="1">
                <a:solidFill>
                  <a:srgbClr val="242021"/>
                </a:solidFill>
                <a:effectLst/>
              </a:rPr>
              <a:t>relvar</a:t>
            </a:r>
            <a:r>
              <a:rPr lang="en-US" sz="1500" b="0" i="0" dirty="0">
                <a:solidFill>
                  <a:srgbClr val="242021"/>
                </a:solidFill>
                <a:effectLst/>
              </a:rPr>
              <a:t> heading contains the names of the attributes, while the </a:t>
            </a:r>
            <a:r>
              <a:rPr lang="en-US" sz="1500" b="0" i="0" dirty="0" err="1">
                <a:solidFill>
                  <a:srgbClr val="242021"/>
                </a:solidFill>
                <a:effectLst/>
              </a:rPr>
              <a:t>relvar</a:t>
            </a:r>
            <a:r>
              <a:rPr lang="en-US" sz="1500" b="0" i="0" dirty="0">
                <a:solidFill>
                  <a:srgbClr val="242021"/>
                </a:solidFill>
                <a:effectLst/>
              </a:rPr>
              <a:t> body contains the relation. </a:t>
            </a:r>
          </a:p>
          <a:p>
            <a:pPr lvl="1"/>
            <a:r>
              <a:rPr lang="en-US" sz="1500" b="0" i="0" dirty="0">
                <a:solidFill>
                  <a:srgbClr val="242021"/>
                </a:solidFill>
                <a:effectLst/>
              </a:rPr>
              <a:t>To conveniently maintain this distinction in formulas, an unspecified relation is often assigned a lowercase letter (e.g., “r”),</a:t>
            </a:r>
            <a:br>
              <a:rPr lang="en-US" sz="1500" b="0" i="0" dirty="0">
                <a:solidFill>
                  <a:srgbClr val="242021"/>
                </a:solidFill>
                <a:effectLst/>
              </a:rPr>
            </a:br>
            <a:r>
              <a:rPr lang="en-US" sz="1500" b="0" i="0" dirty="0">
                <a:solidFill>
                  <a:srgbClr val="242021"/>
                </a:solidFill>
                <a:effectLst/>
              </a:rPr>
              <a:t>while the </a:t>
            </a:r>
            <a:r>
              <a:rPr lang="en-US" sz="1500" b="0" i="0" dirty="0" err="1">
                <a:solidFill>
                  <a:srgbClr val="242021"/>
                </a:solidFill>
                <a:effectLst/>
              </a:rPr>
              <a:t>relvar</a:t>
            </a:r>
            <a:r>
              <a:rPr lang="en-US" sz="1500" b="0" i="0" dirty="0">
                <a:solidFill>
                  <a:srgbClr val="242021"/>
                </a:solidFill>
                <a:effectLst/>
              </a:rPr>
              <a:t> is assigned an uppercase letter (e.g., “R”). </a:t>
            </a:r>
          </a:p>
          <a:p>
            <a:pPr lvl="1"/>
            <a:r>
              <a:rPr lang="en-US" sz="1500" b="0" i="0" dirty="0">
                <a:solidFill>
                  <a:srgbClr val="242021"/>
                </a:solidFill>
                <a:effectLst/>
              </a:rPr>
              <a:t>You could then say that </a:t>
            </a:r>
            <a:r>
              <a:rPr lang="en-US" sz="1500" b="0" i="1" dirty="0">
                <a:solidFill>
                  <a:srgbClr val="242021"/>
                </a:solidFill>
                <a:effectLst/>
              </a:rPr>
              <a:t>r </a:t>
            </a:r>
            <a:r>
              <a:rPr lang="en-US" sz="1500" b="0" i="0" dirty="0">
                <a:solidFill>
                  <a:srgbClr val="242021"/>
                </a:solidFill>
                <a:effectLst/>
              </a:rPr>
              <a:t>is a relation of type </a:t>
            </a:r>
            <a:r>
              <a:rPr lang="en-US" sz="1500" b="0" i="1" dirty="0">
                <a:solidFill>
                  <a:srgbClr val="242021"/>
                </a:solidFill>
                <a:effectLst/>
              </a:rPr>
              <a:t>R</a:t>
            </a:r>
            <a:r>
              <a:rPr lang="en-US" sz="1500" b="0" i="0" dirty="0">
                <a:solidFill>
                  <a:srgbClr val="242021"/>
                </a:solidFill>
                <a:effectLst/>
              </a:rPr>
              <a:t>, or </a:t>
            </a:r>
            <a:r>
              <a:rPr lang="en-US" sz="1500" b="0" i="1" dirty="0">
                <a:solidFill>
                  <a:srgbClr val="242021"/>
                </a:solidFill>
                <a:effectLst/>
              </a:rPr>
              <a:t>r(R)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29DA3-B001-AFCB-CE0A-7B045F2F9B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24EEE-3358-D072-8E5A-A5BFC557A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03320B2-9DF2-4F3A-6D4A-D0E82DE6CC7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FC83EA-9558-2F3D-99C7-8F8D64E00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675" y="2514600"/>
            <a:ext cx="290512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82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A989-0397-D29E-98B4-3AEF646D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3-4b Relational Set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A0ACF-2784-C395-519E-C13B438E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62800" cy="4351338"/>
          </a:xfrm>
        </p:spPr>
        <p:txBody>
          <a:bodyPr/>
          <a:lstStyle/>
          <a:p>
            <a:r>
              <a:rPr lang="en-US" sz="2400" b="0" i="0" dirty="0">
                <a:solidFill>
                  <a:srgbClr val="242021"/>
                </a:solidFill>
                <a:effectLst/>
                <a:latin typeface="NewCaledoniaLTStd"/>
              </a:rPr>
              <a:t>The relational operators have the property of </a:t>
            </a:r>
            <a:r>
              <a:rPr lang="en-US" sz="2400" b="1" i="0" dirty="0">
                <a:solidFill>
                  <a:srgbClr val="007DAF"/>
                </a:solidFill>
                <a:effectLst/>
                <a:latin typeface="MyriadPro-Bold"/>
              </a:rPr>
              <a:t>closure</a:t>
            </a:r>
            <a:r>
              <a:rPr lang="en-US" sz="2400" b="0" i="0" dirty="0">
                <a:solidFill>
                  <a:srgbClr val="242021"/>
                </a:solidFill>
                <a:effectLst/>
                <a:latin typeface="NewCaledoniaLTStd"/>
              </a:rPr>
              <a:t>; </a:t>
            </a:r>
          </a:p>
          <a:p>
            <a:pPr lvl="1"/>
            <a:r>
              <a:rPr lang="en-US" b="0" i="0" dirty="0">
                <a:solidFill>
                  <a:srgbClr val="242021"/>
                </a:solidFill>
                <a:effectLst/>
                <a:latin typeface="NewCaledoniaLTStd"/>
              </a:rPr>
              <a:t>The use of relational algebra operators on existing relations (tables) produces new relations</a:t>
            </a:r>
            <a:r>
              <a:rPr lang="en-US" sz="2400" dirty="0"/>
              <a:t> </a:t>
            </a:r>
          </a:p>
          <a:p>
            <a:r>
              <a:rPr lang="en-US" sz="2400" b="0" i="0" dirty="0">
                <a:solidFill>
                  <a:srgbClr val="242021"/>
                </a:solidFill>
                <a:effectLst/>
                <a:latin typeface="NewCaledoniaLTStd"/>
              </a:rPr>
              <a:t>the focus will be on the SELECT (or RESTRICT), PROJECT, UNION, INTERSECT, DIFFERENCE, PRODUCT, JOIN, and DIVIDE operators.</a:t>
            </a:r>
            <a:r>
              <a:rPr lang="en-US" sz="2800" dirty="0"/>
              <a:t> 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374E6-1E3D-7849-C207-BEB42ED17D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84BFE-C7AC-3840-741A-F18F3E9EE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94942A6-A694-A79E-EA24-C296037A411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57BB46-82D0-66EB-1473-B028F133E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122641"/>
            <a:ext cx="29718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120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A989-0397-D29E-98B4-3AEF646D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3-4b Relational Set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A0ACF-2784-C395-519E-C13B438E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10800" cy="4351338"/>
          </a:xfrm>
        </p:spPr>
        <p:txBody>
          <a:bodyPr/>
          <a:lstStyle/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SELECT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, also known as </a:t>
            </a:r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RESTRICT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, yields values for all rows found in the table that satisfy a given condition</a:t>
            </a:r>
            <a:r>
              <a:rPr lang="en-US" sz="1600" dirty="0"/>
              <a:t>.</a:t>
            </a:r>
          </a:p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PROJECT </a:t>
            </a:r>
            <a:r>
              <a:rPr lang="en-US" sz="1800" dirty="0">
                <a:solidFill>
                  <a:srgbClr val="242021"/>
                </a:solidFill>
                <a:latin typeface="NewCaledoniaLTStd"/>
              </a:rPr>
              <a:t>y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ields all values for selected attributes. PROJECT yields a vertical subset of a table.</a:t>
            </a:r>
            <a:r>
              <a:rPr lang="en-US" sz="2000" dirty="0"/>
              <a:t> </a:t>
            </a:r>
          </a:p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UNION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combines all rows from two tables, excluding duplicate rows. The tables must have the same attribute characteristics (</a:t>
            </a:r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union-compatible)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.</a:t>
            </a:r>
          </a:p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INTERSECT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yields only the rows that appear in both tables. The tables must be union-compatible.</a:t>
            </a:r>
          </a:p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DIFFERENCE (subtraction)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yields all rows in one table that are not found in the other table.</a:t>
            </a:r>
          </a:p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PRODUCT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yields all possible pairs of rows from two tables—also known as the Cartesian product.</a:t>
            </a:r>
            <a:r>
              <a:rPr lang="en-US" sz="1050" dirty="0"/>
              <a:t> 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374E6-1E3D-7849-C207-BEB42ED17D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84BFE-C7AC-3840-741A-F18F3E9EE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94942A6-A694-A79E-EA24-C296037A411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07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FD14C-B634-1061-7C71-9435EF1E3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3DC46A-2B1B-D499-FE94-DC2D60B7BE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5847E5-13AC-BECF-22AC-6EE9EB6426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47D338-FE16-D84A-B2F9-4E852BB5B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31824"/>
            <a:ext cx="2952750" cy="2628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909BC5-4C6F-5247-589F-2E2778ED0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7" y="4110037"/>
            <a:ext cx="3038475" cy="1495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450507-6BC2-FF66-4A9B-49E8E2648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828675"/>
            <a:ext cx="3248025" cy="43529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52B4A1-198F-805E-7CC7-A666781D4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0" y="828675"/>
            <a:ext cx="2933700" cy="16668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82080E0-F991-1E7C-33C5-D672C39D81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9977" y="3460724"/>
            <a:ext cx="283845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248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BBDF9F-9625-A2DB-3FA9-7E6A940E8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0B87E0-2D10-7F81-D3DB-8F9748F98D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EF925-7227-96FE-C2A2-69F957F0D0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E04489-4F9D-1F23-176D-660AD0236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748"/>
            <a:ext cx="12192000" cy="492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094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62563F-18CE-9762-E5DB-DB64E8B35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61A820-A871-C33A-EF32-27F0C96915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E6AD2D-7A94-3F4F-081D-E693DD656A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2D2ED0-7526-4F66-215D-D33B6587C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7" y="1985962"/>
            <a:ext cx="10563225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74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012B36-755F-1DA4-7632-7DA24FF65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CCF949-E420-E7BA-54BF-64B4836385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89043-B8AA-2FF2-62C4-5644C11E98B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F85E91-2500-2C06-1405-095207226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569" y="0"/>
            <a:ext cx="93108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27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CA0B86-5D5E-D234-D61D-66DB79F3F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8961B1-6280-2E11-FA7C-3B09287CD1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A6309-9913-9364-05E2-05689B73A10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A35CDB-1DF9-0445-C785-DF9D17516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" y="552450"/>
            <a:ext cx="10620375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878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C88790-B798-60DB-669D-F3B904DC9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5F90B9-E1AD-A9A1-ABEC-67559E110D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1CA9F6-13FA-A7EE-8609-39052B44CC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45C549-97A7-EE71-A282-BC19823EA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7110"/>
            <a:ext cx="12192000" cy="286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9845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0AF60-6703-DA06-53CB-278540310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16276F-F922-6CAD-C2BD-459B22C9BB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73E7B6-FA2B-A0FD-8ED4-F30EF1E9160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65350A-8664-844F-C675-ED1A6D930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7" y="1104900"/>
            <a:ext cx="1056322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0300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D6DA23-99B0-076A-2AB4-A4C9336CF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910A0E-9F57-8416-6B00-1A8B60F8E4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634506-8B4F-99F1-1317-90202108F8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1C55F4-4219-BE4B-EE86-67B6E0609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1088"/>
            <a:ext cx="12192000" cy="259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8439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F99261-0060-84C4-CB7E-774FD40B4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B37FB3-D434-5B2A-D256-603E6CB8CD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EC95C-BDEE-4A6A-1558-BFC2C034D9D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EEACCE-E573-76CC-C9AD-E86B02C9A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2" y="938212"/>
            <a:ext cx="10544175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6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DD8910-4C50-0EC8-6BF2-031E0ED6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884B78-B521-C22F-3C0C-4512953185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58163-2E59-2B21-BE31-48B0FB6F60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9E3196-3BD3-4766-2841-06D657FA6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4506"/>
            <a:ext cx="12192000" cy="260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935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B3E592-2AC6-D976-F77B-04A9E2577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1E53DF-F68C-6671-5205-5EED59DC6E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D1BC8-C3AA-FCED-7915-2E7B037C56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0D6333-73CE-5F9C-8554-E22AE8C38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271587"/>
            <a:ext cx="105918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4727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37614A-1F44-9E27-42C1-64C39BBD3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70C9F-2BC3-2D48-29F6-E9B3528E7A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1596-7DE9-E0CB-4DEE-7D889C4A5A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0EDB9C-57AD-797C-4343-641CAF731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1609"/>
            <a:ext cx="12192000" cy="477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4649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9767A7-9067-A14A-C24D-64A05D745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53174A-3A68-FBBC-DC10-D7D2B87360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D2757D-A6C6-15A5-011C-80731C51B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2C1C00-952E-2D11-8F84-104A5CF25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1690687"/>
            <a:ext cx="10572750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374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A989-0397-D29E-98B4-3AEF646D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3-4b Relational Set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A0ACF-2784-C395-519E-C13B438E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90688"/>
            <a:ext cx="5715000" cy="4351338"/>
          </a:xfrm>
        </p:spPr>
        <p:txBody>
          <a:bodyPr/>
          <a:lstStyle/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JOIN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allows information to be intelligently combined from two or more tables. </a:t>
            </a:r>
          </a:p>
          <a:p>
            <a:pPr lvl="1"/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A </a:t>
            </a:r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natural join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links tables by selecting only the rows with common values in their common</a:t>
            </a:r>
            <a:b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</a:b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attribute(s)</a:t>
            </a:r>
            <a:r>
              <a:rPr lang="en-US" sz="1100" dirty="0">
                <a:solidFill>
                  <a:srgbClr val="242021"/>
                </a:solidFill>
                <a:latin typeface="NewCaledoniaLTStd"/>
              </a:rPr>
              <a:t>.</a:t>
            </a:r>
          </a:p>
          <a:p>
            <a:pPr lvl="1"/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Equijoin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, links tables on the basis of an equality condition that compares specified columns of each table. The outcome of the equijoin does not eliminate duplicate columns.</a:t>
            </a:r>
          </a:p>
          <a:p>
            <a:pPr lvl="1"/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If any other comparison operator is used, the join is called a </a:t>
            </a:r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theta join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.</a:t>
            </a:r>
            <a:br>
              <a:rPr lang="en-US" sz="2000" dirty="0"/>
            </a:br>
            <a:br>
              <a:rPr lang="en-US" sz="2400" dirty="0"/>
            </a:br>
            <a:endParaRPr lang="en-US" sz="3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374E6-1E3D-7849-C207-BEB42ED17D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84BFE-C7AC-3840-741A-F18F3E9EE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94942A6-A694-A79E-EA24-C296037A411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60E56E-4B5F-51A3-2CC1-5AEAA6821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36713"/>
            <a:ext cx="2905125" cy="4686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E59230-2A3F-4FF5-65A9-AEFFAE282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518" y="1909584"/>
            <a:ext cx="268605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805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3C22C2-67E6-A6D1-A060-AA983163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A6C842-FB9B-A814-95CD-F427BF0EEE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57FB2-F66E-E072-6247-F58B606487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F638FB-7311-BADA-0A98-B3F280DEE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890587"/>
            <a:ext cx="10506075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703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980DFD-8794-B173-E8E1-45381306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34039A-9E79-D5E8-574C-FDD8636D5D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D489D-6C6B-A9AA-80B7-CB710E204E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3DF441-D037-99E6-C288-34F4FEFA6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2" y="2371725"/>
            <a:ext cx="1054417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240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9D2792-CDFD-4F73-DF0F-25551749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EFB4C1-6AEA-0DB5-AD66-414EC0E28D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7CC54-9051-7D33-5F78-7524609AC5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F0F76B-913D-DD25-7256-0D6E5DABD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5322"/>
            <a:ext cx="12192000" cy="32673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92997B-5708-EED2-3C93-24150BBEAC75}"/>
              </a:ext>
            </a:extLst>
          </p:cNvPr>
          <p:cNvSpPr txBox="1"/>
          <p:nvPr/>
        </p:nvSpPr>
        <p:spPr>
          <a:xfrm>
            <a:off x="1828800" y="5181600"/>
            <a:ext cx="8686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A </a:t>
            </a:r>
            <a:r>
              <a:rPr lang="en-US" sz="2000" b="1" i="0" dirty="0">
                <a:solidFill>
                  <a:srgbClr val="007DAF"/>
                </a:solidFill>
                <a:effectLst/>
                <a:latin typeface="MyriadPro-Bold"/>
              </a:rPr>
              <a:t>natural join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links tables by selecting only the rows with common values in their common attribute(s). A natural join is the result of a three-stage process:</a:t>
            </a:r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930059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83328E-DD60-6D75-827E-F76B0C1F9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649A4A-D55F-9455-9AD1-4406C0205A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33C614-8D3A-7ECC-0A41-389D629047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9684AA-79FB-0907-F27E-C9AE556E0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49"/>
            <a:ext cx="12192000" cy="67165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5F216C-009A-741D-CAC6-AFCBEEE0143E}"/>
              </a:ext>
            </a:extLst>
          </p:cNvPr>
          <p:cNvSpPr txBox="1"/>
          <p:nvPr/>
        </p:nvSpPr>
        <p:spPr>
          <a:xfrm>
            <a:off x="228600" y="2362200"/>
            <a:ext cx="1524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242021"/>
                </a:solidFill>
                <a:effectLst/>
                <a:latin typeface="NewCaledoniaLTStd-Bold"/>
              </a:rPr>
              <a:t>1.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First, a PRODUCT of the tables is created, yielding the results shown in Figure 3.11.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824141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4A2775-B03A-F1D9-B5F1-D87F0EDC2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FE9AD1-E327-FC3E-4F32-3A679EA7AF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19B0D7-1C0A-435B-B4CE-8FF81BA849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DE59C4-AC01-5936-04C1-1B5470C87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28700"/>
            <a:ext cx="10572750" cy="3086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6E3030-6A12-284E-E3E1-F669888D9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364743"/>
            <a:ext cx="2990850" cy="1714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9E287F-672C-1C94-E5BE-8EAE992DBD56}"/>
              </a:ext>
            </a:extLst>
          </p:cNvPr>
          <p:cNvSpPr txBox="1"/>
          <p:nvPr/>
        </p:nvSpPr>
        <p:spPr>
          <a:xfrm>
            <a:off x="685800" y="4560274"/>
            <a:ext cx="7086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242021"/>
                </a:solidFill>
                <a:effectLst/>
                <a:latin typeface="NewCaledoniaLTStd-Bold"/>
              </a:rPr>
              <a:t>2.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Second, a SELECT is performed on the output of Step 1 to yield only the rows for which the AGENT_CODE values are equal. The common columns are referred to as the </a:t>
            </a:r>
            <a:r>
              <a:rPr lang="en-US" sz="2000" b="1" i="0" dirty="0">
                <a:solidFill>
                  <a:srgbClr val="007DAF"/>
                </a:solidFill>
                <a:effectLst/>
                <a:latin typeface="MyriadPro-Bold"/>
              </a:rPr>
              <a:t>join columns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. Step 2 yields the results shown in Figure 3.12.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57232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E9DDCC-E9FD-D4F8-CD73-0A9B444DD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5FFD6B-6228-114A-E500-9A3992E33D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D156F-27A1-F7AD-0BC9-A2C73FFDB6A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F1F0EB-23EC-4483-6A07-75C78F066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54" y="1600200"/>
            <a:ext cx="10648950" cy="3019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2D0880-BE03-3768-5FC3-010C38AF9657}"/>
              </a:ext>
            </a:extLst>
          </p:cNvPr>
          <p:cNvSpPr txBox="1"/>
          <p:nvPr/>
        </p:nvSpPr>
        <p:spPr>
          <a:xfrm>
            <a:off x="914401" y="5105400"/>
            <a:ext cx="105060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242021"/>
                </a:solidFill>
                <a:effectLst/>
                <a:latin typeface="NewCaledoniaLTStd-Bold"/>
              </a:rPr>
              <a:t>3.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A PROJECT is performed on the results of Step 2 to yield a single copy of each attribute,</a:t>
            </a:r>
            <a:b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</a:br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thereby eliminating duplicate columns. Step 3 yields the output shown in Figure 3.13.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18114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A989-0397-D29E-98B4-3AEF646D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3-4b Relational Set Operators (cont’d.)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A0ACF-2784-C395-519E-C13B438E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90688"/>
            <a:ext cx="3643313" cy="4351338"/>
          </a:xfrm>
        </p:spPr>
        <p:txBody>
          <a:bodyPr/>
          <a:lstStyle/>
          <a:p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An </a:t>
            </a:r>
            <a:r>
              <a:rPr lang="en-US" sz="2000" b="1" i="0" dirty="0">
                <a:solidFill>
                  <a:srgbClr val="007DAF"/>
                </a:solidFill>
                <a:effectLst/>
                <a:latin typeface="MyriadPro-Bold"/>
              </a:rPr>
              <a:t>inner join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returns matched records from the tables that are being joined</a:t>
            </a:r>
            <a:r>
              <a:rPr lang="en-US" sz="1600" dirty="0">
                <a:solidFill>
                  <a:srgbClr val="242021"/>
                </a:solidFill>
                <a:latin typeface="NewCaledoniaLTStd"/>
              </a:rPr>
              <a:t>.</a:t>
            </a:r>
          </a:p>
          <a:p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In an </a:t>
            </a:r>
            <a:r>
              <a:rPr lang="en-US" sz="2000" b="1" i="0" dirty="0">
                <a:solidFill>
                  <a:srgbClr val="007DAF"/>
                </a:solidFill>
                <a:effectLst/>
                <a:latin typeface="MyriadPro-Bold"/>
              </a:rPr>
              <a:t>outer join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, the matched pairs would be retained, and any unmatched values in the other table would be left null.</a:t>
            </a:r>
            <a:r>
              <a:rPr lang="en-US" sz="1200" dirty="0"/>
              <a:t> 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374E6-1E3D-7849-C207-BEB42ED17D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84BFE-C7AC-3840-741A-F18F3E9EE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94942A6-A694-A79E-EA24-C296037A411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0C8A99-8488-5D89-EC2C-7D57E7981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369911"/>
            <a:ext cx="2429549" cy="45672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1E4146-1DAE-B3DE-37BB-303B16749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152" y="2209800"/>
            <a:ext cx="2445564" cy="357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1977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4FA4BB-A7AE-1399-D95C-EDCC3560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B0F0CC-8EFC-230C-2952-B23197BAFA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516D3-144E-BEC0-2C5E-6CCEE8B68E0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C593A5-866B-60FB-3745-2555623FF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2" y="914400"/>
            <a:ext cx="10582275" cy="30575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D4452B-60D3-023F-9FC5-F63DBA107BBF}"/>
              </a:ext>
            </a:extLst>
          </p:cNvPr>
          <p:cNvSpPr txBox="1"/>
          <p:nvPr/>
        </p:nvSpPr>
        <p:spPr>
          <a:xfrm>
            <a:off x="2514600" y="4267200"/>
            <a:ext cx="7696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A </a:t>
            </a:r>
            <a:r>
              <a:rPr lang="en-US" sz="2000" b="1" i="0" dirty="0">
                <a:solidFill>
                  <a:srgbClr val="007DAF"/>
                </a:solidFill>
                <a:effectLst/>
                <a:latin typeface="MyriadPro-Bold"/>
              </a:rPr>
              <a:t>left outer join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yields all of the rows in the CUSTOMER table, including those that do not have a matching value in the AGENT table. An example of such a join is shown in Figure 3.14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14421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4FA4BB-A7AE-1399-D95C-EDCC3560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B0F0CC-8EFC-230C-2952-B23197BAFA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516D3-144E-BEC0-2C5E-6CCEE8B68E0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4452B-60D3-023F-9FC5-F63DBA107BBF}"/>
              </a:ext>
            </a:extLst>
          </p:cNvPr>
          <p:cNvSpPr txBox="1"/>
          <p:nvPr/>
        </p:nvSpPr>
        <p:spPr>
          <a:xfrm>
            <a:off x="2371725" y="4495800"/>
            <a:ext cx="7696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A </a:t>
            </a:r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right outer join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yields all of the rows in the AGENT table, including those that do not have matching values in the CUSTOMER table. An example of such a join is shown in Figure 3.15.</a:t>
            </a:r>
            <a:r>
              <a:rPr lang="en-US" sz="2800" dirty="0"/>
              <a:t> 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57EAF8-42B0-0A72-154E-8BC371BB5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610850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9410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A989-0397-D29E-98B4-3AEF646D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3-4b Relational Set Operators (cont’d.)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A0ACF-2784-C395-519E-C13B438E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90688"/>
            <a:ext cx="6553200" cy="4351338"/>
          </a:xfrm>
        </p:spPr>
        <p:txBody>
          <a:bodyPr/>
          <a:lstStyle/>
          <a:p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The </a:t>
            </a:r>
            <a:r>
              <a:rPr lang="en-US" sz="2000" b="1" i="0" dirty="0">
                <a:solidFill>
                  <a:srgbClr val="007DAF"/>
                </a:solidFill>
                <a:effectLst/>
                <a:latin typeface="MyriadPro-Bold"/>
              </a:rPr>
              <a:t>DIVIDE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operator is used to answer questions about one set of data being associated with</a:t>
            </a:r>
            <a:b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</a:br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all values of data in another set of data. </a:t>
            </a:r>
          </a:p>
          <a:p>
            <a:r>
              <a:rPr lang="en-US" sz="2000" b="0" i="0" dirty="0">
                <a:solidFill>
                  <a:srgbClr val="242021"/>
                </a:solidFill>
                <a:effectLst/>
                <a:latin typeface="NewCaledoniaLTStd"/>
              </a:rPr>
              <a:t>The DIVIDE operation uses one double-column table (Table 1) as the dividend and one single-column table (Table 2) as the divisor.</a:t>
            </a:r>
            <a:r>
              <a:rPr lang="en-US" sz="1800" dirty="0"/>
              <a:t> 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374E6-1E3D-7849-C207-BEB42ED17D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84BFE-C7AC-3840-741A-F18F3E9EE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94942A6-A694-A79E-EA24-C296037A411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8E77E7-6C89-15B2-5BF9-0887A9CC6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175" y="2036507"/>
            <a:ext cx="2943225" cy="2162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33E5A5-4821-6C65-F53F-CB0A32FF8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993" y="4729163"/>
            <a:ext cx="976312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7586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1B81A-0F8D-461B-2967-C14C6168E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D0300B-86C8-B113-4434-B68D75EF83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C01E72-257E-4BF7-C2E1-DB15AEB4EC2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A4D945-2A4C-E5C3-3E25-A3CE68F20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1500187"/>
            <a:ext cx="976312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563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3A59-F963-2EE2-5830-98B99687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3-5 The Data Dictionary and the System Catalog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29EC7-0B92-A72E-BF52-0A9E4E2D1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90688"/>
            <a:ext cx="6705600" cy="4351338"/>
          </a:xfrm>
        </p:spPr>
        <p:txBody>
          <a:bodyPr/>
          <a:lstStyle/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Data dictionary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provides a detailed description of all tables in the database.</a:t>
            </a:r>
          </a:p>
          <a:p>
            <a:pPr lvl="1"/>
            <a:r>
              <a:rPr lang="en-US" sz="1500" b="0" i="0" dirty="0">
                <a:solidFill>
                  <a:srgbClr val="242021"/>
                </a:solidFill>
                <a:effectLst/>
                <a:latin typeface="NewCaledoniaLTStd"/>
              </a:rPr>
              <a:t>Contains at least all of the attribute names and characteristics for each table in the system. The data dictionary contains metadata—data about data.</a:t>
            </a:r>
          </a:p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System catalog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can be described as a detailed system data dictionary that describes all objects within the database (table names, a table’s creator and creation date, number of columns in each table …)</a:t>
            </a:r>
          </a:p>
          <a:p>
            <a:pPr lvl="1"/>
            <a:r>
              <a:rPr lang="en-US" sz="1500" b="0" i="0" dirty="0">
                <a:solidFill>
                  <a:srgbClr val="242021"/>
                </a:solidFill>
                <a:effectLst/>
                <a:latin typeface="NewCaledoniaLTStd"/>
              </a:rPr>
              <a:t>System catalog is a</a:t>
            </a:r>
            <a:r>
              <a:rPr lang="en-US" sz="1500" dirty="0">
                <a:solidFill>
                  <a:srgbClr val="242021"/>
                </a:solidFill>
                <a:latin typeface="NewCaledoniaLTStd"/>
              </a:rPr>
              <a:t> </a:t>
            </a:r>
            <a:r>
              <a:rPr lang="en-US" sz="1500" b="0" i="0" dirty="0">
                <a:solidFill>
                  <a:srgbClr val="242021"/>
                </a:solidFill>
                <a:effectLst/>
                <a:latin typeface="NewCaledoniaLTStd"/>
              </a:rPr>
              <a:t>system-created database whose tables store the user/designer-created database characteristics and contents. </a:t>
            </a:r>
          </a:p>
          <a:p>
            <a:pPr lvl="1"/>
            <a:r>
              <a:rPr lang="en-US" sz="1500" b="0" i="0" dirty="0">
                <a:solidFill>
                  <a:srgbClr val="242021"/>
                </a:solidFill>
                <a:effectLst/>
                <a:latin typeface="NewCaledoniaLTStd"/>
              </a:rPr>
              <a:t>Can be queried just like any user/designer created table.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65DBB-7413-A140-0010-3DA2E65F2A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11340-76D6-5B56-6797-B88A9C05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DD83370-AB09-A723-E5E9-5A612892616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41238B-5615-340D-C004-9E4F201B2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25" y="1713707"/>
            <a:ext cx="2733675" cy="430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7775FF-3800-A78F-02A0-2CB9C881F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950" y="2812256"/>
            <a:ext cx="26289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112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3A59-F963-2EE2-5830-98B99687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3-5 The Data Dictionary and the System Catalog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29EC7-0B92-A72E-BF52-0A9E4E2D1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1216"/>
            <a:ext cx="6705600" cy="4351338"/>
          </a:xfrm>
        </p:spPr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System catalog automatically produces database documentation.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As new tables are added to the database, that documentation also allows the RDBMS to check for and eliminate homonyms and synonyms.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The word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NewCaledoniaLTStd-It"/>
              </a:rPr>
              <a:t>homonym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indicates the use of the same name to label different attributes.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a </a:t>
            </a:r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synonym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is the opposite of a homonym and indicates the use of</a:t>
            </a:r>
            <a:b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</a:b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different names to describe the same attribute.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65DBB-7413-A140-0010-3DA2E65F2A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11340-76D6-5B56-6797-B88A9C05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DD83370-AB09-A723-E5E9-5A612892616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B5C55B-66F2-C5F8-B9D5-760C1DFBE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399" y="3967163"/>
            <a:ext cx="2619375" cy="23526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E2F93D-DA6C-6574-8929-6F3C03DD8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723" y="1890713"/>
            <a:ext cx="2752725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0091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B627-44A4-96BC-036E-905358856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3-6 Relationships within the Relational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8989A-9C3E-D32B-C776-741388FA3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33713" cy="4351338"/>
          </a:xfrm>
        </p:spPr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MyriadPro-Regular"/>
              </a:rPr>
              <a:t>The one-to-many (1:M) relationship is easily implemented in the relational model by putting the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MyriadPro-It"/>
              </a:rPr>
              <a:t>primary key of the “1” side into the table of the “many” side as a foreign key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Regular"/>
              </a:rPr>
              <a:t>.</a:t>
            </a:r>
            <a:r>
              <a:rPr lang="en-US" dirty="0"/>
              <a:t>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4CD0-2DCE-ECBD-7A0C-C6F9CC8EB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51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7D4F8-EC64-7474-7A7A-04D4685DD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2D2AEA8-F05C-F130-4F41-4AF2B48DDCD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0E590B-6FF8-4492-808C-ADB3893D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82160"/>
            <a:ext cx="7177088" cy="440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0745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B627-44A4-96BC-036E-905358856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3-6 Relationships within the Relational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8989A-9C3E-D32B-C776-741388FA3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8201" cy="4351338"/>
          </a:xfrm>
        </p:spPr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One entity in a 1:1 relationship can be related to only one other entity, and vice versa. </a:t>
            </a:r>
          </a:p>
          <a:p>
            <a:pPr lvl="1"/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one department chair—a professor—can chair only one department, and one department can have only one department chair</a:t>
            </a:r>
            <a:r>
              <a:rPr lang="en-US" sz="1100" dirty="0"/>
              <a:t> </a:t>
            </a:r>
            <a:br>
              <a:rPr lang="en-US" sz="1100" dirty="0"/>
            </a:br>
            <a:br>
              <a:rPr lang="en-US" sz="1100" dirty="0"/>
            </a:b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4CD0-2DCE-ECBD-7A0C-C6F9CC8EB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7D4F8-EC64-7474-7A7A-04D4685DD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2D2AEA8-F05C-F130-4F41-4AF2B48DDCD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54B3F8-65A8-A1B5-B4B3-56025820C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809999"/>
            <a:ext cx="9494349" cy="236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993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B8B540-F958-8A0E-CACE-01B0B0D48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227573-5315-5E9A-0E37-C40FD6CCE1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A8153B-41B6-832D-82C8-DE817C52506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5185CA-7972-8D0A-634B-3150AA9A6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231" y="418680"/>
            <a:ext cx="8335538" cy="6020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0BA728-3931-C096-DCB9-10A1724839D6}"/>
              </a:ext>
            </a:extLst>
          </p:cNvPr>
          <p:cNvSpPr txBox="1"/>
          <p:nvPr/>
        </p:nvSpPr>
        <p:spPr>
          <a:xfrm>
            <a:off x="7772400" y="1600200"/>
            <a:ext cx="426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Each professor belongs to a department</a:t>
            </a:r>
          </a:p>
        </p:txBody>
      </p:sp>
    </p:spTree>
    <p:extLst>
      <p:ext uri="{BB962C8B-B14F-4D97-AF65-F5344CB8AC3E}">
        <p14:creationId xmlns:p14="http://schemas.microsoft.com/office/powerpoint/2010/main" val="27866601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CA3B21-7429-8757-3793-4BFB9568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106231-B0F7-97BC-F925-BCB53292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5FB36F-00F9-E27D-92A6-34A8C3B7899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656887-FE69-C262-BDC1-BACA308B9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390650"/>
            <a:ext cx="10306050" cy="4076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C4BD1F-2644-FE6E-0A12-B03B97DCA3EF}"/>
              </a:ext>
            </a:extLst>
          </p:cNvPr>
          <p:cNvSpPr txBox="1"/>
          <p:nvPr/>
        </p:nvSpPr>
        <p:spPr>
          <a:xfrm>
            <a:off x="9601200" y="2736502"/>
            <a:ext cx="2209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Each department is chaired by a professor.</a:t>
            </a:r>
          </a:p>
          <a:p>
            <a:endParaRPr lang="en-US" sz="2800" dirty="0"/>
          </a:p>
          <a:p>
            <a:r>
              <a:rPr lang="en-US" sz="2800" dirty="0"/>
              <a:t>So 1:1?</a:t>
            </a:r>
          </a:p>
        </p:txBody>
      </p:sp>
    </p:spTree>
    <p:extLst>
      <p:ext uri="{BB962C8B-B14F-4D97-AF65-F5344CB8AC3E}">
        <p14:creationId xmlns:p14="http://schemas.microsoft.com/office/powerpoint/2010/main" val="37807569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4D23-14E6-95E4-9A63-1B0B6854A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3-6c The M:N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84383-C10C-0D5B-8141-0B3F1167A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A many-to-many (M:N) relationship is not supported directly in the relational environment.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M:N relationships can be implemented by creating a new entity in 1:M relationships with the original entities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B52BA-FA67-4E9D-CE42-6F73773E61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55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C32E7-3007-A851-9AE1-90CEDE08B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78AE08E-5423-AA86-9D06-17D02E77B22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0D93EA-181F-9778-796E-E3937B0D4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3124200"/>
            <a:ext cx="979170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4572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BA53F-E43E-9D6B-8EEC-B39E5BE8B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84D7CE-9591-2406-333C-8C0D3A57CD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7213F-ED7F-98B5-CDBC-56C3B60CC4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48A825-16A0-47FC-E1B6-CCCBA7664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173"/>
            <a:ext cx="12192000" cy="629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454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69A7E2-806C-8260-554D-02B0B3992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C235E3-C9C5-F1C9-F5DD-0ADC804E03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399795-6C4D-CDA1-4923-3F85A9DC39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3674C7-5B9A-B1C3-4543-844E2E869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41" y="0"/>
            <a:ext cx="11441317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1E360B-931C-ED0F-D2D3-F08ECB554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0" y="1355315"/>
            <a:ext cx="2390073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2425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5A1C4-5950-E898-B564-1C89F628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162731-F5F7-F0DA-52D5-E665CC7CB8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D913A4-A383-1397-852B-7CEB4E25E3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073029-E8AF-B7C1-6928-A8B63EB0C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1252537"/>
            <a:ext cx="965835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4404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A082-5DBF-5E19-0874-A94D4AE2E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3-9 Codd’s Relational Database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4CCFD-45D9-7EF2-2F3C-88A7529E4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12D1A-392D-CDFC-2401-CE47A4AEF6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59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4775F-393D-9684-EF6F-DF3F465E1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177DD8-3CB6-5739-EA77-411BB101F4A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CC978D-D862-F6C6-175F-71DCAA226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" y="1690688"/>
            <a:ext cx="12192000" cy="430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4338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D59A0-9633-2764-8052-2A66C616A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3-9 Codd’s Relational Database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49281-77EB-F1C2-F1A9-427A66DB8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1FA2B-5258-7E2D-986C-47AF85A6C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60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F4520-55F8-9229-8081-653EEE22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7B273E5-50E5-AC1A-0CAA-F60A90331BF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D86E7A-0849-D6F5-35E6-40E2A2E88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042"/>
            <a:ext cx="12192000" cy="518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6245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E1C94-F8C3-C2DC-4238-355B6642A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308B78-6C79-6C2A-D58F-9FBF7EABDC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27AEC5-F4FE-9BB2-BEFA-86A295CE15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143121-570A-4C3E-CB1C-47E032063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1875"/>
            <a:ext cx="12192000" cy="403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1071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8804C-E500-8C94-905C-5374200DE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CAFF10-37F9-B9C9-33D2-C7B10072C0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6BE93-B206-E088-411F-2BE335B62C6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3A7337-BBD5-BC7F-07D8-C8CF5B5E0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9524"/>
            <a:ext cx="12192000" cy="46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2992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FFA7F3-2AE5-3E85-FFD8-9D67BE240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pPr>
                <a:defRPr/>
              </a:pPr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4A261E-3433-A239-C274-6E3C66403A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E141F7-ED8E-4609-2167-94D0154F3BF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BD51C6-C143-8791-7B5B-248B30D31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822" y="0"/>
            <a:ext cx="89723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042237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2538</Words>
  <Application>Microsoft Office PowerPoint</Application>
  <PresentationFormat>Widescreen</PresentationFormat>
  <Paragraphs>324</Paragraphs>
  <Slides>63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7" baseType="lpstr">
      <vt:lpstr>Arial</vt:lpstr>
      <vt:lpstr>Calibri</vt:lpstr>
      <vt:lpstr>Calibri Light</vt:lpstr>
      <vt:lpstr>Courier New</vt:lpstr>
      <vt:lpstr>MyriadPro-Bold</vt:lpstr>
      <vt:lpstr>MyriadPro-It</vt:lpstr>
      <vt:lpstr>MyriadPro-Regular</vt:lpstr>
      <vt:lpstr>MyriadPro-SemiboldSemiCn</vt:lpstr>
      <vt:lpstr>NewCaledoniaLTStd</vt:lpstr>
      <vt:lpstr>NewCaledoniaLTStd-Bold</vt:lpstr>
      <vt:lpstr>NewCaledoniaLTStd-It</vt:lpstr>
      <vt:lpstr>Times New Roman</vt:lpstr>
      <vt:lpstr>Wingdings</vt:lpstr>
      <vt:lpstr>Vicostone Template</vt:lpstr>
      <vt:lpstr>Learning Objectives</vt:lpstr>
      <vt:lpstr>National Economics University Faculty of Data Science &amp; Artificial Intelligence</vt:lpstr>
      <vt:lpstr>Learning Objectives</vt:lpstr>
      <vt:lpstr>Introduction</vt:lpstr>
      <vt:lpstr>PowerPoint Presentation</vt:lpstr>
      <vt:lpstr>3-1 A Logical View of Data</vt:lpstr>
      <vt:lpstr>3-1a Tables and Their Characteristics</vt:lpstr>
      <vt:lpstr>PowerPoint Presentation</vt:lpstr>
      <vt:lpstr>PowerPoint Presentation</vt:lpstr>
      <vt:lpstr>3-2 Keys</vt:lpstr>
      <vt:lpstr>3-2a Dependencies</vt:lpstr>
      <vt:lpstr>3-2b Types of Keys</vt:lpstr>
      <vt:lpstr>PowerPoint Presentation</vt:lpstr>
      <vt:lpstr>3-2b Types of Keys</vt:lpstr>
      <vt:lpstr>PowerPoint Presentation</vt:lpstr>
      <vt:lpstr>3-3 Integrity Rules</vt:lpstr>
      <vt:lpstr>PowerPoint Presentation</vt:lpstr>
      <vt:lpstr>3-3 Integrity Rules (cont’d.)</vt:lpstr>
      <vt:lpstr>PowerPoint Presentation</vt:lpstr>
      <vt:lpstr>3-4 Relational Algebra</vt:lpstr>
      <vt:lpstr>3-4a Formal Definitions and Terminology</vt:lpstr>
      <vt:lpstr>3-4b Relational Set Operators</vt:lpstr>
      <vt:lpstr>3-4b Relational Set Operators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3-4b Relational Set Operators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3-4b Relational Set Operators (cont’d.)</vt:lpstr>
      <vt:lpstr>PowerPoint Presentation</vt:lpstr>
      <vt:lpstr>PowerPoint Presentation</vt:lpstr>
      <vt:lpstr>3-4b Relational Set Operators (cont’d.)</vt:lpstr>
      <vt:lpstr>PowerPoint Presentation</vt:lpstr>
      <vt:lpstr>3-5 The Data Dictionary and the System Catalog</vt:lpstr>
      <vt:lpstr>3-5 The Data Dictionary and the System Catalog</vt:lpstr>
      <vt:lpstr>3-6 Relationships within the Relational Database</vt:lpstr>
      <vt:lpstr>3-6 Relationships within the Relational Database</vt:lpstr>
      <vt:lpstr>PowerPoint Presentation</vt:lpstr>
      <vt:lpstr>PowerPoint Presentation</vt:lpstr>
      <vt:lpstr>3-6c The M:N Relationship</vt:lpstr>
      <vt:lpstr>PowerPoint Presentation</vt:lpstr>
      <vt:lpstr>PowerPoint Presentation</vt:lpstr>
      <vt:lpstr>PowerPoint Presentation</vt:lpstr>
      <vt:lpstr>3-9 Codd’s Relational Database Rules</vt:lpstr>
      <vt:lpstr>3-9 Codd’s Relational Database Rules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subject/>
  <dc:creator/>
  <cp:lastModifiedBy/>
  <cp:revision>462</cp:revision>
  <dcterms:created xsi:type="dcterms:W3CDTF">2009-09-28T17:47:54Z</dcterms:created>
  <dcterms:modified xsi:type="dcterms:W3CDTF">2024-12-19T10:51:12Z</dcterms:modified>
</cp:coreProperties>
</file>