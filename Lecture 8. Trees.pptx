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85"/>
  </p:notesMasterIdLst>
  <p:handoutMasterIdLst>
    <p:handoutMasterId r:id="rId86"/>
  </p:handoutMasterIdLst>
  <p:sldIdLst>
    <p:sldId id="349" r:id="rId2"/>
    <p:sldId id="384" r:id="rId3"/>
    <p:sldId id="257" r:id="rId4"/>
    <p:sldId id="386" r:id="rId5"/>
    <p:sldId id="387" r:id="rId6"/>
    <p:sldId id="408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8" r:id="rId27"/>
    <p:sldId id="417" r:id="rId28"/>
    <p:sldId id="419" r:id="rId29"/>
    <p:sldId id="421" r:id="rId30"/>
    <p:sldId id="420" r:id="rId31"/>
    <p:sldId id="422" r:id="rId32"/>
    <p:sldId id="399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01" r:id="rId44"/>
    <p:sldId id="433" r:id="rId45"/>
    <p:sldId id="434" r:id="rId46"/>
    <p:sldId id="402" r:id="rId47"/>
    <p:sldId id="403" r:id="rId48"/>
    <p:sldId id="404" r:id="rId49"/>
    <p:sldId id="405" r:id="rId50"/>
    <p:sldId id="435" r:id="rId51"/>
    <p:sldId id="436" r:id="rId52"/>
    <p:sldId id="437" r:id="rId53"/>
    <p:sldId id="438" r:id="rId54"/>
    <p:sldId id="439" r:id="rId55"/>
    <p:sldId id="440" r:id="rId56"/>
    <p:sldId id="441" r:id="rId57"/>
    <p:sldId id="442" r:id="rId58"/>
    <p:sldId id="443" r:id="rId59"/>
    <p:sldId id="444" r:id="rId60"/>
    <p:sldId id="445" r:id="rId61"/>
    <p:sldId id="446" r:id="rId62"/>
    <p:sldId id="447" r:id="rId63"/>
    <p:sldId id="448" r:id="rId64"/>
    <p:sldId id="449" r:id="rId65"/>
    <p:sldId id="450" r:id="rId66"/>
    <p:sldId id="452" r:id="rId67"/>
    <p:sldId id="453" r:id="rId68"/>
    <p:sldId id="451" r:id="rId69"/>
    <p:sldId id="406" r:id="rId70"/>
    <p:sldId id="455" r:id="rId71"/>
    <p:sldId id="456" r:id="rId72"/>
    <p:sldId id="407" r:id="rId73"/>
    <p:sldId id="457" r:id="rId74"/>
    <p:sldId id="458" r:id="rId75"/>
    <p:sldId id="459" r:id="rId76"/>
    <p:sldId id="460" r:id="rId77"/>
    <p:sldId id="464" r:id="rId78"/>
    <p:sldId id="465" r:id="rId79"/>
    <p:sldId id="461" r:id="rId80"/>
    <p:sldId id="463" r:id="rId81"/>
    <p:sldId id="462" r:id="rId82"/>
    <p:sldId id="466" r:id="rId83"/>
    <p:sldId id="467" r:id="rId84"/>
  </p:sldIdLst>
  <p:sldSz cx="12192000" cy="6858000"/>
  <p:notesSz cx="7102475" cy="9388475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863" y="704850"/>
            <a:ext cx="62547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1000" smtClean="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0AB240B4-1A2E-4C00-9336-DA12AFA09EB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00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90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83F9286B-6EB0-415E-9FD7-53754A124BCC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C1CF96D5-A543-45D5-8992-B94C1177E4C6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DF507722-439B-4523-9CE9-B70AFEB2097E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88C9D86-E730-E613-2489-76191531AF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3F34B5DD-F4AF-4694-A8F2-2077CF15276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D956F7ED-D063-4ECE-9B57-E455597CA49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92E5D540-A172-47D4-6805-9B492CBB4B8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6670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4000" b="1"/>
              <a:t>Database Systems: </a:t>
            </a:r>
            <a:br>
              <a:rPr lang="en-US" altLang="en-US" sz="4000" b="1"/>
            </a:br>
            <a:r>
              <a:rPr lang="en-US" altLang="en-US" sz="4000" b="1"/>
              <a:t>Design, Implementation, and Management</a:t>
            </a:r>
            <a:br>
              <a:rPr lang="en-US" altLang="en-US" sz="4000" b="1"/>
            </a:br>
            <a:r>
              <a:rPr lang="en-US" altLang="en-US" sz="4000" b="1"/>
              <a:t>14</a:t>
            </a:r>
            <a:r>
              <a:rPr lang="en-US" altLang="en-US" sz="2800" b="1"/>
              <a:t>th Edition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8246-CEB8-0971-5EF9-56854AD436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63D60C-B233-4073-9E4F-853A6F50270F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 Structures and Algorithms in Python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FF61F-2683-08B0-9745-3DDA87C7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"/>
            <a:ext cx="12192000" cy="6654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National Economics University</a:t>
            </a:r>
            <a:br>
              <a:rPr lang="en-US" altLang="en-US" dirty="0"/>
            </a:br>
            <a:r>
              <a:rPr lang="en-US" altLang="en-US" dirty="0"/>
              <a:t>Faculty of Mathematical Economics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None/>
              <a:defRPr/>
            </a:pPr>
            <a:r>
              <a:rPr lang="en-US" dirty="0"/>
              <a:t>EP03.TITH1121 - DATA STRUCTURES AND ALGORITHMS: Trees</a:t>
            </a:r>
          </a:p>
          <a:p>
            <a:pPr eaLnBrk="1" hangingPunct="1">
              <a:buNone/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(MFE)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119810" name="Picture 2">
            <a:extLst>
              <a:ext uri="{FF2B5EF4-FFF2-40B4-BE49-F238E27FC236}">
                <a16:creationId xmlns:a16="http://schemas.microsoft.com/office/drawing/2014/main" id="{5E8352BB-95F8-731F-2EE2-CDB382ECF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72281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FF2E9559-A610-6BCA-EEBA-A8DDB5882BF8}"/>
              </a:ext>
            </a:extLst>
          </p:cNvPr>
          <p:cNvSpPr txBox="1">
            <a:spLocks/>
          </p:cNvSpPr>
          <p:nvPr/>
        </p:nvSpPr>
        <p:spPr>
          <a:xfrm>
            <a:off x="0" y="6600827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75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51F7BAB8-80DB-4E62-842E-B5FE49FBC773}" type="datetime1">
              <a:rPr lang="en-US" sz="1000" smtClean="0">
                <a:latin typeface="+mn-lt"/>
              </a:rPr>
              <a:pPr>
                <a:defRPr/>
              </a:pPr>
              <a:t>12/19/2024</a:t>
            </a:fld>
            <a:endParaRPr lang="en-US" sz="1000" dirty="0">
              <a:latin typeface="+mn-lt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296C59F-53C6-1B43-72EC-A1FCFF66E337}"/>
              </a:ext>
            </a:extLst>
          </p:cNvPr>
          <p:cNvSpPr txBox="1">
            <a:spLocks/>
          </p:cNvSpPr>
          <p:nvPr/>
        </p:nvSpPr>
        <p:spPr>
          <a:xfrm>
            <a:off x="3871914" y="6604000"/>
            <a:ext cx="496728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>
              <a:buFont typeface="Monotype Sorts" charset="2"/>
              <a:buNone/>
              <a:defRPr/>
            </a:pPr>
            <a:r>
              <a:rPr lang="en-US" sz="1000" dirty="0">
                <a:latin typeface="+mn-lt"/>
              </a:rPr>
              <a:t>Data Structures and Algorithms in Python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6ECC19A-CE8F-18B3-D359-9CCECB6EABCC}"/>
              </a:ext>
            </a:extLst>
          </p:cNvPr>
          <p:cNvSpPr txBox="1">
            <a:spLocks/>
          </p:cNvSpPr>
          <p:nvPr/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>
              <a:defRPr/>
            </a:pPr>
            <a:fld id="{34A84676-C444-4AC5-8B4E-405A7C81C0FB}" type="slidenum">
              <a:rPr lang="en-US" altLang="en-US" sz="1000" smtClean="0">
                <a:latin typeface="+mn-lt"/>
              </a:rPr>
              <a:pPr algn="r">
                <a:defRPr/>
              </a:pPr>
              <a:t>2</a:t>
            </a:fld>
            <a:endParaRPr lang="en-US" altLang="en-US" sz="100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various types of tree traversals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three common applications where it is appropriate to use a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binary search tree and the operations on it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the three common applications where it is appropriate to use a binary search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an expression tree and the operations on it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7C4DE-CC03-B7D4-1ECF-F374CDF3F5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ABE9123-2607-4938-9511-9CCBFBB1BFEF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Translating infix expressions to postfix form and evaluating postfix expressions. </a:t>
            </a:r>
          </a:p>
          <a:p>
            <a:r>
              <a:rPr lang="en-US" sz="2000" dirty="0"/>
              <a:t>CPU access—Processes are queued for access to a shared CPU.</a:t>
            </a:r>
          </a:p>
          <a:p>
            <a:r>
              <a:rPr lang="en-US" sz="2000" dirty="0"/>
              <a:t>Disk access—Processes are queued for access to a shared secondary storage device.</a:t>
            </a:r>
          </a:p>
          <a:p>
            <a:r>
              <a:rPr lang="en-US" sz="2000" dirty="0"/>
              <a:t>Printer access—Print jobs are queued for access to a shared laser printer.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4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9EF1-E773-49B7-FA76-BD0FF686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BA453-EEC6-C52D-402F-5AE37DD3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4526D-43A7-3D58-0E7E-63D6D33F5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AAC88-3033-E4CB-91C2-C9D0FEEAC5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7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A92E4-0677-F4A8-95E1-7D5BDB18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C87473-B3C2-2143-93BB-8F808C3C48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BD3B5-BDE8-5F10-4DD9-A5B14E384E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B7338-D070-9E85-AFED-00FD63D3E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4" y="0"/>
            <a:ext cx="10078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0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07F5-BE87-3A58-0DA0-C7992A90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DCF4-0A63-2C24-9488-66721CD9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linear data structures, all items except for the first have a distinct predecessor, and all items except the last have a distinct successor.</a:t>
            </a:r>
          </a:p>
          <a:p>
            <a:r>
              <a:rPr lang="en-US" dirty="0"/>
              <a:t>In a tree, the ideas of predecessor and successor are replaced with those of </a:t>
            </a:r>
            <a:r>
              <a:rPr lang="en-US" b="1" dirty="0"/>
              <a:t>parent</a:t>
            </a:r>
            <a:r>
              <a:rPr lang="en-US" dirty="0"/>
              <a:t> and </a:t>
            </a:r>
            <a:r>
              <a:rPr lang="en-US" b="1" dirty="0"/>
              <a:t>child</a:t>
            </a:r>
            <a:r>
              <a:rPr lang="en-US" dirty="0"/>
              <a:t>. Trees have two main characteristics:</a:t>
            </a:r>
          </a:p>
          <a:p>
            <a:pPr lvl="1"/>
            <a:r>
              <a:rPr lang="en-US" dirty="0"/>
              <a:t>Each item can have multiple children.</a:t>
            </a:r>
          </a:p>
          <a:p>
            <a:pPr lvl="1"/>
            <a:r>
              <a:rPr lang="en-US" dirty="0"/>
              <a:t>All items, except an item called the </a:t>
            </a:r>
            <a:r>
              <a:rPr lang="en-US" b="1" dirty="0"/>
              <a:t>root</a:t>
            </a:r>
            <a:r>
              <a:rPr lang="en-US" dirty="0"/>
              <a:t>, have exactly one parent. The root has no parent.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5E796-5D40-139F-5CB9-9ACCF82B3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B7B0F-BE45-E538-9FB6-03F2FE9F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A0210C-9CB2-93A1-FEDC-DBC8000D609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140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694D-EF33-47A6-DA78-7C150AD8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Terminology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358B0-67DE-23B2-2A9C-03E021DC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0FEE3-E76B-B19C-825E-F0F0986BAC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DBF5-A7F7-926D-2C01-287BF360BC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8D9D4-C94B-D259-6465-AB0C8BCC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607"/>
            <a:ext cx="12192000" cy="613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0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3F69-374D-1664-DC81-6678560D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3663C-450E-50AE-0A45-C312B19D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9EBB9-84D7-67FE-CBEA-460B42AB77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BBD6B-AB9B-F4D6-3417-A7660123AC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47837-0B2E-A343-0EB1-5060C6D6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869"/>
            <a:ext cx="12192000" cy="64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0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FB3A1-4E1E-6568-4ACC-27FEBCBE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E4103-F01D-0479-ECC0-75173C042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1988D-1A55-B6E8-60CE-CBDC6C2C67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96686-E886-DE56-8A77-4DCC8E43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674"/>
            <a:ext cx="12192000" cy="535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4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9F4F-70F2-E624-F550-4D0F9F05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Trees and 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738D-8333-CB18-68D4-C02B97235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The tree shown in Figure 10-1 is sometimes called a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general tree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to distinguish it from a special category called a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binary tree.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In a binary tree, each node has at most two children, referred to as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left child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and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right child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AB30E-B339-D8F8-541E-6535C5C95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10C24-D15C-5434-E5BE-448962B5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EF94A1-3473-9290-8F53-DF8B4181F3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88DB3B-F137-7DFA-A4BA-712CF6AF6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264574"/>
            <a:ext cx="7977188" cy="320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9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A4CC-423B-F9FC-D3A9-5EF41AEF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Definitions of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59F34-EB29-C1A9-1635-7D6F7CF18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021"/>
                </a:solidFill>
                <a:effectLst/>
                <a:latin typeface="WarnockPro-Bold"/>
              </a:rPr>
              <a:t>General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—A general tree is either empty or consists of a finite set of nodes 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T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. One node 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r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is distinguished from all others and is called the root. In addition, the set 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T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– {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r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} is partitioned into disjointed subsets, each of which is a general tree.</a:t>
            </a:r>
          </a:p>
          <a:p>
            <a:r>
              <a:rPr lang="en-US" b="1" i="0" dirty="0">
                <a:solidFill>
                  <a:srgbClr val="242021"/>
                </a:solidFill>
                <a:effectLst/>
                <a:latin typeface="WarnockPro-Bold"/>
              </a:rPr>
              <a:t>Binary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—A binary tree is either empty or consists of a root plus a left subtree and a right subtree, each of which is a binary tree.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E8FBF-679D-BC38-03D8-F0FAE2A7B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D880A-145F-D196-E6C2-DB76FD73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E9B200-E890-0EF4-7220-E26C365A1C3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557AEC-846F-7BFB-3142-86BEDCE0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79A995-42E1-16BF-FDE8-6CD23E7F9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83A6C-0BF3-F3F9-1BA0-9A39AA458F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C8F44-1949-E90E-4C3C-2537E3CB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" y="752475"/>
            <a:ext cx="8058150" cy="5353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A8C8B-5DC6-9D9F-38CC-F84480695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969" y="2887662"/>
            <a:ext cx="5665611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91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1649-3C99-D7B8-FA28-A417CB9F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5286F-E7FB-3799-E1F7-008EB7ED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A2A4-53EE-C029-1250-BE5E76537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DDE8C-F098-F124-CE9C-30AEBF7B12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49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035DC-842C-5A0A-81E2-05C6D194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3D44AA-D5C1-57C6-B63B-548F0FC14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C2994-2A62-D225-8A9D-24BAAF756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DC2B55-D0E7-73CC-7DFE-8B934AD06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200025"/>
            <a:ext cx="8010525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11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135BF-F822-4DAC-4973-53A808F3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EEA17-5564-CA8A-291F-015D47A301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D9EFF-CC99-54C9-F2F7-6F7F062E6E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97EDF-27EC-302C-416F-8FD87825B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75" y="542925"/>
            <a:ext cx="520065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39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20F51-A9D2-279B-0B38-ECF43949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E378CC-85FF-B1B8-4485-57E86709FE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6651C-28FC-1611-7630-D66F13141E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19759-9276-ED99-1946-7A16D0C6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2" y="1052512"/>
            <a:ext cx="73818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0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3543A-7981-FA28-136E-3E554E62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 General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F3556-6DEA-46DB-499B-67E92A7D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1CD5F-5089-6A3A-14C4-C1A0544144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6E69C-34A6-8B55-D609-6872ECF85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410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3A8A-2377-6C73-0E6E-EA10ED0B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8.1.2 The Tree Abstract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27CE2-00D4-CBAA-CD61-A6F27B0EA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A position object for a tree supports the method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: </a:t>
            </a:r>
          </a:p>
          <a:p>
            <a:pPr lvl="1"/>
            <a:r>
              <a:rPr lang="en-US" sz="1800" b="0" i="0" dirty="0" err="1">
                <a:solidFill>
                  <a:srgbClr val="000000"/>
                </a:solidFill>
                <a:effectLst/>
                <a:latin typeface="CMSSBX10"/>
              </a:rPr>
              <a:t>p.element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SSBX10"/>
              </a:rPr>
              <a:t>( )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-Bold"/>
              </a:rPr>
              <a:t>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Return the element stored at position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SS10"/>
              </a:rPr>
              <a:t>p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.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accessor methods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, allowing a user to navigate the various positions of a tree:</a:t>
            </a:r>
            <a:r>
              <a:rPr lang="en-US" sz="36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B5D3-2CA1-34C9-92DD-AFF0495E2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8228D-4E0B-718A-A7D9-8C70B228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D840C4-83DC-0391-4552-1FA56E41BA6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81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91593F-00D4-944A-E38D-B8E08907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95CEC4-E3A8-8525-7A7D-428CBA730D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AF055-8EF2-D00D-BFAD-B0BFAB9F75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38C22-7003-BC80-E3EC-7A741605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39" y="0"/>
            <a:ext cx="9564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22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5F49-EF72-6439-931D-0A9F858D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77" y="76200"/>
            <a:ext cx="8061101" cy="553289"/>
          </a:xfrm>
        </p:spPr>
        <p:txBody>
          <a:bodyPr>
            <a:normAutofit/>
          </a:bodyPr>
          <a:lstStyle/>
          <a:p>
            <a:r>
              <a:rPr lang="en-US" sz="2400" dirty="0"/>
              <a:t>A Tree Abstract Base Class in 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58A0B-A557-A7EE-624D-88A045B8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93A10-5126-278E-1883-3B09595E9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2D0BA-71A1-1E3D-9635-7BC22A0D3C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CE7BE-7EB7-E9E4-B6BE-C67EAA31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" y="0"/>
            <a:ext cx="10872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8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AB0BB-D9F8-F543-0778-F3A36004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FAD42D-3481-FC61-607B-189D05B8C5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0C18E-2508-2355-A4B0-19AEC57C455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C8DFB7-C36C-61A7-C83F-68D6A9644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17" y="0"/>
            <a:ext cx="11187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95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6DDC2-F9C6-5E79-7C5A-006F5506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F0BCFA-C4B2-E3E4-ECF7-AE716ABDBD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7F65E-C3E4-4AAE-A0B3-DF1EBBBE46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063F7D-0BB0-57AB-18D3-C6BFE1FFB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544"/>
            <a:ext cx="12192000" cy="276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2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1F2BA1-2A2A-4383-CA29-107F07D8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047FCB-941D-7ED7-1B0E-9F19C3C94B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4370F-1F22-425A-A494-E42A9CC830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4213D0-F695-5DA4-F350-2F9187769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667"/>
            <a:ext cx="12192000" cy="59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26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6B01-F2F9-7FA8-591E-75B69FFC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8.1.3 Computing Depth and Height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ECC3A-58D1-8AB8-3B83-CC8DD13E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FC597-E05D-8035-630B-B87950EC45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44884-6213-FF00-1B41-287C4D3508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39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D41D-97A6-636B-A67A-0086C25B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8.1.3 Computing Depth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008D-E8A7-2737-6E4A-662A3F2D4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Let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be the position of a node of a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. The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depth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the number of ancestors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, excluding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itself.</a:t>
            </a:r>
            <a:r>
              <a:rPr lang="en-US" sz="1800" dirty="0"/>
              <a:t> </a:t>
            </a:r>
            <a:endParaRPr lang="en-US" b="0" i="0" dirty="0">
              <a:solidFill>
                <a:srgbClr val="000000"/>
              </a:solidFill>
              <a:effectLst/>
              <a:latin typeface="Times-Roman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depth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can also be recursively defined as follows: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the root, then the depth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0.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Otherwise, the depth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one plus the depth of the parent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BA796-6947-CEAA-4032-1BFE7186B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CBAFF-0150-EA84-B64A-5B226626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F35D00-A6D5-2B79-100B-01ED83FF296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646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76DB6-1822-99C9-06E0-82B82A07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E6EA50-230E-79F9-D3AA-A4A1318965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29944-7D4B-EAC3-5D39-FD02525862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CD42E-D64A-BEDE-28FA-716B71AD4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6856"/>
            <a:ext cx="12192000" cy="330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00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5F80-2427-770F-B14F-A1DE8E74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B344-9486-8E79-A474-06D9D212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8.1.3 Computing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04F3-D40E-3EB3-AF96-10441C36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height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a position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in a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also defined recursively: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a leaf, then the height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0.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Otherwise, the height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one more than the maximum of the heights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’s children.</a:t>
            </a:r>
            <a:r>
              <a:rPr lang="en-US" dirty="0"/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height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a nonempty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the height of the root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height of a nonempty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equal to the maximum of the depths of its leaf positions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0CFED-6518-A777-8D12-769BB3164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E625D-8905-E666-D804-66AB08F6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2BAECC-C72A-C728-91D9-2A45AE9B212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875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59186-A194-12C0-8885-D9F8E05F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6E35F-0985-F0D3-9DB0-2C239D44E3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3C68C-B7DB-D90C-390A-326A49961F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5C40-BAE2-3C8C-069D-2ADF03D6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8008"/>
            <a:ext cx="12192000" cy="2261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BC3ED4-7705-4244-FA51-EB984B0C47E6}"/>
              </a:ext>
            </a:extLst>
          </p:cNvPr>
          <p:cNvSpPr txBox="1"/>
          <p:nvPr/>
        </p:nvSpPr>
        <p:spPr>
          <a:xfrm>
            <a:off x="685800" y="5334000"/>
            <a:ext cx="975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Complexity: O(n^2) where n is the number of nodes of the subtree with root p.</a:t>
            </a:r>
          </a:p>
        </p:txBody>
      </p:sp>
    </p:spTree>
    <p:extLst>
      <p:ext uri="{BB962C8B-B14F-4D97-AF65-F5344CB8AC3E}">
        <p14:creationId xmlns:p14="http://schemas.microsoft.com/office/powerpoint/2010/main" val="3244641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1378-4C18-E66C-FC2C-423790E5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68CAD-C3FB-1587-FC6D-41B0B5F5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600AA-E827-6594-DEE9-C7F0C3D43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32C1A-D966-A946-B80B-9AB1541D02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0E28E3-BB65-B70B-7C9C-5CF6AC518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5800"/>
            <a:ext cx="12192000" cy="3586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008822-B7A0-6D22-5B3A-E336A3BAE5F2}"/>
              </a:ext>
            </a:extLst>
          </p:cNvPr>
          <p:cNvSpPr txBox="1"/>
          <p:nvPr/>
        </p:nvSpPr>
        <p:spPr>
          <a:xfrm>
            <a:off x="1600200" y="5334000"/>
            <a:ext cx="883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Complexity: O(n) where n is the number of nodes of the subtree with root p.</a:t>
            </a:r>
          </a:p>
        </p:txBody>
      </p:sp>
    </p:spTree>
    <p:extLst>
      <p:ext uri="{BB962C8B-B14F-4D97-AF65-F5344CB8AC3E}">
        <p14:creationId xmlns:p14="http://schemas.microsoft.com/office/powerpoint/2010/main" val="3048209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92484-671B-54DF-BCD6-BCD7F878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BE51C6-0BB2-9D5A-5E99-FF19707A2B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8AD39-5018-E999-2EF5-8694ADC3A1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DD78D5-E72C-5CFD-EA02-2382D6285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328"/>
            <a:ext cx="12192000" cy="446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91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9FB2-7B0F-8DD6-4A0A-EBC79962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22B9C-2ACF-FA7D-5A6D-6F2BC23E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2C321-B4BE-5721-967B-FDBBA43066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AB0D5-3406-5AB5-D0FA-E4847BC77B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518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83712-4061-8533-8963-04C1F607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0DD5F-C3BD-F8F2-B705-224B6052AA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21A83-F001-3BD4-8EA2-C1B8532270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6296F-3A6A-3EFD-E479-5147FB88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60" y="0"/>
            <a:ext cx="8924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91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5E6D0-C1CB-4B17-5A38-8030C82F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89BF6-060F-B2DC-5732-7CA7258FE7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6E338-82D2-13D3-6CFA-40E194AD139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7F075-76D5-6446-6E3A-90FA15A34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79" y="0"/>
            <a:ext cx="10528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7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5C77-A190-CCF2-2906-92E2F63C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Recursive Binary Tree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1B04-2ECE-7B6F-5744-62DFB7CCC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node r, called the root of T , that stores an element</a:t>
            </a:r>
          </a:p>
          <a:p>
            <a:r>
              <a:rPr lang="en-US" dirty="0"/>
              <a:t>A binary tree (possibly empty), called the left subtree of T</a:t>
            </a:r>
          </a:p>
          <a:p>
            <a:r>
              <a:rPr lang="en-US" dirty="0"/>
              <a:t>A binary tree (possibly empty), called the right subtree of 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B1B06-D109-9B98-7838-D9ADAC69A2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35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02EE9-ABC9-66B9-81FB-1A8C05A0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010223-526A-CA0C-8C86-5419F1E9C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0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8B36-C621-09F4-D2CC-F747A9D3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8.2.1 The Binary Tree Abstract Data Type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33543-635B-1F5F-EF6D-A8E429DC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9426-7CC6-16C8-A24F-B4DAEE691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65976-DE1F-DB46-0EE6-85D938C4CB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383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D6CD-D9E8-EBEC-5ABC-07BDB67B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950128-9715-82F5-C4E4-5B090B808C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F2D0D-BB55-8054-5F97-ED56B185FF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F51DD-F1D8-C84B-A4F4-A9D3B608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814"/>
            <a:ext cx="12192000" cy="48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3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75DF-3655-0824-44C0-E86EC491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BinaryTree</a:t>
            </a:r>
            <a:r>
              <a:rPr lang="en-US" dirty="0"/>
              <a:t> Abstract Base Class in 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11B05-CA25-C480-819B-C55CD269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AF5BD-54DB-4814-5CC8-C69F9E429D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DF7FB-D412-72B1-DFF0-880D241CD5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785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B56FC-0075-8B6F-B385-B540F022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7AA30-32E3-8C67-4CAF-F19884E4A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E64DF-D4B7-361B-B0BA-BAB82B6975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07335-9421-3BB2-F042-3067A2171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82" y="0"/>
            <a:ext cx="11032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81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50D68-E412-9152-3B71-E23687F8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DCABE3-6AC0-5E84-DCF5-82B841DB26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577BD-B36D-A5A2-2E9A-218C4823A5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BCA717-94CA-FFD9-67A8-8F1A7FBD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0"/>
            <a:ext cx="9944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27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5950-AA37-9CDF-A301-381FECD6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8.2.2 Properties of Binary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01F7A-1502-D029-5CE1-7ABB1FD6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0D6C6-8E3E-7CB8-9997-E83B1BDFE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41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E1074-BFF8-A216-15C4-1E94E94EF4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282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35C9D-52E5-7385-2FA1-5AAC492B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A5A410-94ED-374C-2521-A86AB34A5D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96ACD-1430-9836-9399-F87BD97A4F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F65D0-BA48-F82E-695D-56FE128A9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65" y="0"/>
            <a:ext cx="9979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77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356C-E65E-CC7F-3C90-D0DCA784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9C34-696C-FCDE-D6D1-C2393B4B37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800" b="0" i="0" dirty="0">
                <a:solidFill>
                  <a:srgbClr val="242021"/>
                </a:solidFill>
                <a:effectLst/>
                <a:latin typeface="WarnockPro-Light"/>
              </a:rPr>
              <a:t> Contains the maximum number of nodes for a given height </a:t>
            </a:r>
            <a:r>
              <a:rPr lang="en-US" sz="2800" b="0" i="1" dirty="0">
                <a:solidFill>
                  <a:srgbClr val="242021"/>
                </a:solidFill>
                <a:effectLst/>
                <a:latin typeface="WarnockPro-LightIt"/>
              </a:rPr>
              <a:t>H</a:t>
            </a:r>
            <a:r>
              <a:rPr lang="en-US" sz="36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70BEC-4E1C-3F4B-E899-E647B5E718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EE603-217A-E61B-3DD7-A057400941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43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8649F-B421-8A2F-E25D-72A02A3375A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E41246-976B-78D7-29CD-A65970C2D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47" y="2057400"/>
            <a:ext cx="12192000" cy="39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03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EDE98-CA68-A186-6244-B5B341EC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D0E41-8F42-937F-2706-3E2226D3C3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E1432-7D48-A7B3-C0DE-DAE0ACE45E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490FD-5623-0131-4E5D-F8F612FB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03"/>
            <a:ext cx="12192000" cy="577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203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28E70-1A07-77E4-85D4-AE3765E7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DF104-2AB7-FE03-08E0-1B76FE76E2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DBC37-54B4-C868-759A-88920CC3EB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A37AE-DE8C-D307-228F-CA92923C4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9696"/>
            <a:ext cx="12192000" cy="95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84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2667-D718-72CA-D6A7-2CC5BEF1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of full binary tree given its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55D9A-6EA0-CB9A-7D05-0DC6DF30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27D8D-4C9A-640C-5759-E48F2B39E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1BFA-2902-BE87-CC54-ECF2570D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0BA112-8BFE-53DA-0316-5F1B638911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1537AE-5F2F-8F1A-0FDC-17B614CB2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74" y="2092429"/>
            <a:ext cx="12192000" cy="378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02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765C-87E4-748D-91EE-7C155A67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FEE14-F7C3-6740-0945-75716F02F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42021"/>
                </a:solidFill>
                <a:latin typeface="NewsGothicStd-Bold"/>
              </a:rPr>
              <a:t>A full binary tree: level k has exactly 2^k – 1 nodes</a:t>
            </a:r>
            <a:endParaRPr lang="en-US" i="0" dirty="0">
              <a:solidFill>
                <a:srgbClr val="242021"/>
              </a:solidFill>
              <a:effectLst/>
              <a:latin typeface="NewsGothicStd-Bold"/>
            </a:endParaRPr>
          </a:p>
          <a:p>
            <a:r>
              <a:rPr lang="en-US" i="0" dirty="0">
                <a:solidFill>
                  <a:srgbClr val="242021"/>
                </a:solidFill>
                <a:effectLst/>
                <a:latin typeface="NewsGothicStd-Bold"/>
              </a:rPr>
              <a:t>A</a:t>
            </a:r>
            <a:r>
              <a:rPr lang="en-US" b="1" i="0" dirty="0">
                <a:solidFill>
                  <a:srgbClr val="242021"/>
                </a:solidFill>
                <a:effectLst/>
                <a:latin typeface="NewsGothicStd-Bold"/>
              </a:rPr>
              <a:t> perfectly balanced binary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, which includes a complete complement of nodes at each level but the last one, is bushy enough to support worst-case logarithmic access to leaf nodes.</a:t>
            </a:r>
          </a:p>
          <a:p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A </a:t>
            </a:r>
            <a:r>
              <a:rPr lang="en-US" b="1" i="0" dirty="0">
                <a:solidFill>
                  <a:srgbClr val="242021"/>
                </a:solidFill>
                <a:effectLst/>
                <a:latin typeface="NewsGothicStd-Bold"/>
              </a:rPr>
              <a:t>complete binary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, in which any nodes on the last level are filled in from left to right, is, like a full binary tree, a special case of a perfectly balanced binary tree.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C748-AAF8-8163-6BA2-D424A20E9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1AAC8-5739-02AE-DA70-F1ADA77A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4A1667-21D7-B490-D9B9-28B27F55EF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258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63778-07FC-2FA9-62A3-DC62E24F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29656E-C83B-E481-91B0-A003BB3295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CA009-E227-35F8-FD96-748BE5F6C0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7E07C-A818-0A10-21B0-7E08F0A81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39" y="0"/>
            <a:ext cx="94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19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03C74-18FC-724D-ED37-58C42CC8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3EC03-DA6E-E549-6D8A-C8C723300F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D5EED-49BB-73F5-072F-13DD1A2524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60064-8EBA-BED5-6CF2-92992ADB4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2" y="1504950"/>
            <a:ext cx="97440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147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A706-BAB9-C606-7529-B2F75BAD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 Implementing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D2ECD-3BBB-5C4C-93AA-2310EDA4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4BB23-D187-B625-2831-77FD227A2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11528-5E80-6407-9F7A-8BFDFE38FD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5278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2B59-7F50-6CAB-FF45-668FB9B8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8.3.1 Linked Structure for Binary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5D1F90-9632-1BFF-2500-71480ED9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C0ACB-B245-B5FD-5B6F-64629BC20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51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B8F2-8269-C85E-C3AE-0CB713B85C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80540-82A8-A430-635B-862A8CF1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88726"/>
            <a:ext cx="918039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591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E57A-970A-79C4-BBAA-2B37A61D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 of a Linked Binary Tree Structure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4E074-B6AA-8680-0C22-FC04207A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E5D62-7448-EBC5-8E78-B08DB8FFF3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7EE5C-9300-1488-6897-B92BE1A993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7197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9967-3765-C743-D5D1-D7F582B3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for Updating a Linked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5D2A7-25CE-DB7B-66AD-D8E5A07BDA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63100-C27E-C170-D66F-3D0CB8B55F2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577AD-AED8-48CD-FDB1-4D81D0D245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53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804FF-6729-259F-5351-438527831E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4802F-1CF2-D63E-12E4-86D5E374E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744" y="1102551"/>
            <a:ext cx="7289192" cy="50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77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6F8D8E-3BCA-0B2E-58AD-B13795FD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031571-B509-3BF0-634E-C8AF33BB2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AF89B-D778-AEDC-2C21-986CF9C2F0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40CEFD-F7B3-C502-9AD6-6CA3F1713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80" y="0"/>
            <a:ext cx="10172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36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DE9B7-7F46-1241-9B21-DA9F3E5E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78B4C-2906-7F71-60F7-D03D96B69F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DB7B3-42C8-B470-3FB3-67C2256F18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366359-3037-6876-A5AF-5674B8902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53" y="0"/>
            <a:ext cx="11040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678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5C93A-9C98-1959-09D8-29F374F9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2DE15-0029-3067-13AB-5D104CD23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362D8-1D3B-110F-5206-1109215AAE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B0BAE4-245C-101A-D574-3996A03CB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6138"/>
            <a:ext cx="12192000" cy="260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457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F5D4C-F20E-C594-D66A-DC552284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8A119-4066-5527-3364-FA4C67DDFC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B8121-07B7-AA31-E4F7-379DFF808D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AF906-7275-4C2A-28CD-C62196D20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503"/>
            <a:ext cx="12192000" cy="645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16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B9E8FF-6CA3-51E1-5457-40A28436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D4444-9DDF-33C9-BB26-DF49693B78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9C4EE-EFBA-605E-5EED-9AA05E557D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CD4A3-4361-3104-DCCD-DB4E25A2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676"/>
            <a:ext cx="12192000" cy="629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184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ABD91-B087-96C3-8175-AEC62B95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E39C3D-5349-0A76-311B-AE1CA89038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58FE9-74A7-8677-287F-F8523C28CB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EEFF3-1B32-762E-74B8-C5685F71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206"/>
            <a:ext cx="12192000" cy="484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003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12FD3-A129-50DB-BD7A-6F284A2F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03ED31-8C0D-F781-B42F-7769F9546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45504-A5D4-4074-6110-69EC0AE4B6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1B5ED-8775-FFA7-4645-83AB8205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818"/>
            <a:ext cx="12192000" cy="568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196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95666-0B3D-4F98-C01B-91F4C376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7A2F95-23ED-AD1D-18E5-58B1EB21C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8DF46-D1EB-C030-7BEC-FEF6A17CFA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504B6-0ED6-7A59-6CAD-C5E4215BD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86" y="0"/>
            <a:ext cx="10240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266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C8CEC-5C73-33AE-F745-65953209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24A12-FA69-B435-FB04-45C3C3FA7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BBFDB-75BD-CCF8-F429-93389A4FB8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E890E8-0F21-632B-AFA8-51E40FB8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8101"/>
            <a:ext cx="12192000" cy="386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888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9A2CF-00CE-AA45-C626-09B5703D8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519F1-2581-B662-7FD7-826F755D0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3D7AF-1F73-F8DE-39D5-2F8EDD251B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69F45-36F4-F5F8-1DEA-2F063713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64" y="0"/>
            <a:ext cx="9096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73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72C91-7A08-2D16-7582-62D5AD67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03966-E3A7-DDC6-33BF-6EDC109723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10C49-EC60-91CE-6D1C-97E5446D98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8B089F-3A36-17C9-9870-D925F023C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94" y="0"/>
            <a:ext cx="10393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36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E66FE-E6C6-EC0C-B819-B8853DF3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100C3E-497D-4AAE-AA0A-3009A7AFFD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672F8-835F-00CA-100B-4D1D050108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B8F16-5C8D-DB7E-5F89-7D9CE9BE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510"/>
            <a:ext cx="12192000" cy="498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601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C876-AB12-82CB-7F54-6B6D49E7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8.3.3 Linked Structure for General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4C279-A7D4-3E4E-5F98-70BC43A0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84EBD-4582-9E4D-DB31-28A8EF304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66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1184A-1FC9-41F7-2EC6-6271B7151B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169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882B5-C213-8857-7BB7-7E370FC4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BC3D94-FE1B-9784-5400-9F2BC10DF0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FE54A-B260-F4B2-C1BF-D707C58DB2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11E01-0D49-E747-1775-EFAF60F80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258"/>
            <a:ext cx="12192000" cy="47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996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FC9CE-385E-CA02-7401-A2420310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0D1EA-A3A9-00BB-20BB-32CC6817E8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BC67E-3188-EE80-3672-B091D70FE1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FC60F-C1AB-F01E-DFF9-6C18B4631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19"/>
            <a:ext cx="12192000" cy="66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542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933B-16BC-B321-AB3E-C4F1E8D0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 Tree Traversal Algorithms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E8F3A-90F5-21F1-B33C-633DB422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41652-4CCC-7EAA-3635-DFF0CAE0A9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69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8F422-0329-4395-C2B2-98169F5160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456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0EDF-7957-ACDA-4C12-EC28E5DC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 Tree Traversal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A8B3E-D85B-8AF7-15D8-765D4016D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A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traversal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a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a systematic way of accessing, or “visiting,” all the positions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. 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preorder traversal: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 the root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visited first and then the subtrees rooted at its children are traversed recursively.</a:t>
            </a:r>
          </a:p>
          <a:p>
            <a:r>
              <a:rPr lang="en-US" b="1" i="1" dirty="0" err="1">
                <a:solidFill>
                  <a:srgbClr val="000000"/>
                </a:solidFill>
                <a:effectLst/>
                <a:latin typeface="Times-BoldItalic"/>
              </a:rPr>
              <a:t>postorder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 traversal: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 recursively traverses the subtrees rooted at the children of the root first, and then visits the root (hence, the name “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-Roman"/>
              </a:rPr>
              <a:t>postorder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”)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C6AD8-539F-CEAB-1E9B-2E3E53E4F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DC4EE-21BC-EEF8-EE95-64AE6B33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8CC1C1-2313-5075-247B-FB4CA548DAA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9806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199C-2769-AB21-439B-DACD3FB4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8.4.1 Preorder of General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6FA9-189E-C6C6-A8A5-F4B08E62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E7AEC-2A72-699B-F72B-0AB465981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4A3BB-A145-EFBA-E61F-C98E4C49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EDCA78-AF2A-DB51-4C3E-16A548788F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8B798-08DE-43AA-4CDA-5193B480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4552"/>
            <a:ext cx="12192000" cy="323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414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EA27-98DC-1FEB-68DC-51EFF0A7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05EF4-C940-8A5D-39C9-E40EEA47D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The </a:t>
            </a:r>
            <a:r>
              <a:rPr lang="en-US" b="1" i="0" dirty="0">
                <a:solidFill>
                  <a:srgbClr val="242021"/>
                </a:solidFill>
                <a:effectLst/>
                <a:latin typeface="NewsGothicStd-Bold"/>
              </a:rPr>
              <a:t>preorder traversal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algorithm visits a tree’s root node and then traverses the left subtree and the right subtree in a similar manner.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00A1A-ACB4-ACAB-DBBC-453105231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D6D0-28C5-88DC-5E57-F962D7BB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4B46AB-CE8C-2DE3-A982-1CAB69F21CB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782225-8DBB-072F-35DD-1810F51E7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7" y="3063873"/>
            <a:ext cx="57626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699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AEF02-0FD2-C1EC-3124-9CEC8C8E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2B43D-8BD0-F18F-B1AE-25ED170F95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73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B1802-BF67-4584-5486-3E687ABFF8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96DE2-1CF4-0D4E-8C64-7E7942500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09"/>
            <a:ext cx="12192000" cy="55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356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89F5-5600-B41C-C9FF-47E295AA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7262-9519-8DA9-E16F-0FE8B99C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8.4.1 </a:t>
            </a:r>
            <a:r>
              <a:rPr lang="en-US" dirty="0" err="1"/>
              <a:t>Postorder</a:t>
            </a:r>
            <a:r>
              <a:rPr lang="en-US" dirty="0"/>
              <a:t> of General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AFD10-11A0-D673-6FDC-73BD4C83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DE4CB-1724-0F5A-A305-2856FFE23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FDD0F-B18B-81FB-82CB-39AEBE89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B83BA0-918A-652E-E2A7-5FFE75EBEFC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B6F192-980D-94DB-46FD-8BB135F17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2689"/>
            <a:ext cx="12192000" cy="31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67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5E59-1E6F-0B2C-49B8-623FED2D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73AF-8581-6E26-3538-4A846900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1A5-49B7-A82D-0908-5C1A39C86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The </a:t>
            </a:r>
            <a:r>
              <a:rPr lang="en-US" sz="1800" b="1" i="0" dirty="0" err="1">
                <a:solidFill>
                  <a:srgbClr val="242021"/>
                </a:solidFill>
                <a:effectLst/>
                <a:latin typeface="NewsGothicStd-Bold"/>
              </a:rPr>
              <a:t>postorder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 traversal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algorithm traverses the left subtree, traverses the right subtree, and visits the root node. </a:t>
            </a:r>
            <a:br>
              <a:rPr lang="en-US" sz="14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48200-0887-CAB8-326C-968A83902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8FC7-04FC-11EC-5FC8-602025DE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2F6325-2103-10B9-B302-343B9288C21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746D5F-7792-67E9-6329-FA774C77E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243" y="2891206"/>
            <a:ext cx="6005513" cy="345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578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A378-36BE-DA03-5A96-3D2777CB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C2AB5-B3A2-5A48-6820-20813C98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F04CF3-20F8-91B3-73AF-F1B85509EA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76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3DC86-1D9C-0B4C-D7E3-C3CD5EBBCE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84CF2B-C351-2716-A21E-5B040C3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963"/>
            <a:ext cx="12192000" cy="563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571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852A-E0A7-CB01-0235-A1B1A640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8.4.3 </a:t>
            </a:r>
            <a:r>
              <a:rPr lang="en-US" dirty="0" err="1"/>
              <a:t>Inorder</a:t>
            </a:r>
            <a:r>
              <a:rPr lang="en-US" dirty="0"/>
              <a:t> Traversal of a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BFC2-C577-0C48-8295-2DDCB6C61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>
                <a:solidFill>
                  <a:srgbClr val="000000"/>
                </a:solidFill>
                <a:effectLst/>
                <a:latin typeface="Times-BoldItalic"/>
              </a:rPr>
              <a:t>inorder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 traversal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: we visit a position between the recursive traversals of its left and right subtrees.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F7D1-411B-E703-0772-2B9906F12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3A49-6A3A-73D3-5702-CF1661B2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319C5CE-82BA-10BF-BD6A-46B652CFEF7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36AA-63A3-055B-D214-9F470DD60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59479"/>
            <a:ext cx="10363200" cy="34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525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7E497-E23E-172D-07A3-1350D67B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2ED97A-3AF5-494F-013F-FFEA370C3A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78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FCF1D-6C3C-2269-8E62-72CDF6ED2F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B407D-967E-D1ED-D3F1-F92A4A4F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228600"/>
            <a:ext cx="1190625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195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DF4F-BB61-4124-0A61-ED42460A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8.4.2 Breadth-First Tree Traversal (Level order)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83EC-0B7D-FE3D-D175-B2C794487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1" dirty="0">
                <a:solidFill>
                  <a:srgbClr val="000000"/>
                </a:solidFill>
                <a:effectLst/>
                <a:latin typeface="Times-BoldItalic"/>
              </a:rPr>
              <a:t>breadth-first traversal</a:t>
            </a:r>
            <a:r>
              <a:rPr lang="en-US" sz="1800" dirty="0">
                <a:solidFill>
                  <a:srgbClr val="000000"/>
                </a:solidFill>
                <a:latin typeface="Times-Roman"/>
              </a:rPr>
              <a:t>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traverse a tree so that we visit all the positions at depth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-Italic"/>
              </a:rPr>
              <a:t>d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before we visit the positions at depth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-Italic"/>
              </a:rPr>
              <a:t>d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R10"/>
              </a:rPr>
              <a:t>+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1.  (</a:t>
            </a:r>
            <a:r>
              <a:rPr lang="en-US" sz="1800" dirty="0">
                <a:solidFill>
                  <a:srgbClr val="000000"/>
                </a:solidFill>
                <a:latin typeface="Times-Roman"/>
              </a:rPr>
              <a:t>non-weighted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shortest path application)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8FB02-FF84-685A-D46A-C2DDC53D2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6FACD-7D18-66FE-A59B-18F87526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D662B8-27EC-1AD8-1E17-EB8DABB768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F010A-0E0C-B686-1213-90C30ED65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734055"/>
            <a:ext cx="9448800" cy="365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481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DA47-CD6B-296F-55C7-4621CAA3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06A0-2D67-1562-5852-C2F5F146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order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0494E-E175-601A-D2E6-82362AC29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Beginning with level 0,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level order traversal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algorithm visits the nodes at each level in left-to-right order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BBDCD-E64B-2344-1BCE-3C41A5FAB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80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64C3F-4311-1892-E469-522DF6AE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322F42-4C51-1BD5-3AA0-3F878865B3F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8956F-A48F-404F-91C5-94BE8A017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431074"/>
            <a:ext cx="5715001" cy="362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817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55BA1-7C41-7B0D-F1A2-4D7F86D0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FB4A3-5524-D63E-6C60-EEE0C6664B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73050-77A6-59AA-C8CC-4D0C594E89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A71B3-8955-CD03-B5B7-6B7CCAB7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836"/>
            <a:ext cx="12192000" cy="39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087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18DEB4-FDC8-826A-CA3F-F26BC7BD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6759CF-093D-01A5-D238-E2B140C1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E6EBE-F590-7B21-A010-D012459B21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F43DE-3891-3D56-E12B-C4E43B89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04" y="0"/>
            <a:ext cx="10512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233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A741-A426-DBB9-5D04-8366D099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028A4-2344-045E-02B9-0E268A8E3F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AC609-9C64-4418-286B-96448154D9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295C6-DF92-63C9-D1D2-3428D768A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51" y="0"/>
            <a:ext cx="11686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19509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19476</TotalTime>
  <Words>1793</Words>
  <Application>Microsoft Office PowerPoint</Application>
  <PresentationFormat>Widescreen</PresentationFormat>
  <Paragraphs>338</Paragraphs>
  <Slides>83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104" baseType="lpstr">
      <vt:lpstr>ＭＳ Ｐゴシック</vt:lpstr>
      <vt:lpstr>Arial</vt:lpstr>
      <vt:lpstr>Calibri</vt:lpstr>
      <vt:lpstr>CMR10</vt:lpstr>
      <vt:lpstr>CMSS10</vt:lpstr>
      <vt:lpstr>CMSSBX10</vt:lpstr>
      <vt:lpstr>CMSY10</vt:lpstr>
      <vt:lpstr>Courier New</vt:lpstr>
      <vt:lpstr>Monotype Sorts</vt:lpstr>
      <vt:lpstr>NewsGothicStd</vt:lpstr>
      <vt:lpstr>NewsGothicStd-Bold</vt:lpstr>
      <vt:lpstr>Times New Roman</vt:lpstr>
      <vt:lpstr>Times-Bold</vt:lpstr>
      <vt:lpstr>Times-BoldItalic</vt:lpstr>
      <vt:lpstr>Times-Italic</vt:lpstr>
      <vt:lpstr>Times-Roman</vt:lpstr>
      <vt:lpstr>WarnockPro-Bold</vt:lpstr>
      <vt:lpstr>WarnockPro-Light</vt:lpstr>
      <vt:lpstr>WarnockPro-LightIt</vt:lpstr>
      <vt:lpstr>Wingdings</vt:lpstr>
      <vt:lpstr>Vicostone Template</vt:lpstr>
      <vt:lpstr>Database Systems:  Design, Implementation, and Management 14th Edition</vt:lpstr>
      <vt:lpstr>National Economics University Faculty of Mathematical Economics</vt:lpstr>
      <vt:lpstr>Learning Objectives</vt:lpstr>
      <vt:lpstr>Some applications</vt:lpstr>
      <vt:lpstr>Overview of trees</vt:lpstr>
      <vt:lpstr>PowerPoint Presentation</vt:lpstr>
      <vt:lpstr>An overview of trees</vt:lpstr>
      <vt:lpstr>Tree Terminology</vt:lpstr>
      <vt:lpstr>PowerPoint Presentation</vt:lpstr>
      <vt:lpstr>PowerPoint Presentation</vt:lpstr>
      <vt:lpstr>General Trees and Binary Trees</vt:lpstr>
      <vt:lpstr>Recursive Definitions of Tree</vt:lpstr>
      <vt:lpstr>PowerPoint Presentation</vt:lpstr>
      <vt:lpstr>Some applications</vt:lpstr>
      <vt:lpstr>PowerPoint Presentation</vt:lpstr>
      <vt:lpstr>PowerPoint Presentation</vt:lpstr>
      <vt:lpstr>PowerPoint Presentation</vt:lpstr>
      <vt:lpstr>8.1. General Trees</vt:lpstr>
      <vt:lpstr>8.1.2 The Tree Abstract Data Type</vt:lpstr>
      <vt:lpstr>PowerPoint Presentation</vt:lpstr>
      <vt:lpstr>A Tree Abstract Base Class in Python</vt:lpstr>
      <vt:lpstr>PowerPoint Presentation</vt:lpstr>
      <vt:lpstr>PowerPoint Presentation</vt:lpstr>
      <vt:lpstr>PowerPoint Presentation</vt:lpstr>
      <vt:lpstr>8.1.3 Computing Depth and Height</vt:lpstr>
      <vt:lpstr>8.1.3 Computing Depth  </vt:lpstr>
      <vt:lpstr>PowerPoint Presentation</vt:lpstr>
      <vt:lpstr>8.1.3 Computing Height</vt:lpstr>
      <vt:lpstr>PowerPoint Presentation</vt:lpstr>
      <vt:lpstr>PowerPoint Presentation</vt:lpstr>
      <vt:lpstr>PowerPoint Presentation</vt:lpstr>
      <vt:lpstr>Binary trees</vt:lpstr>
      <vt:lpstr>PowerPoint Presentation</vt:lpstr>
      <vt:lpstr>PowerPoint Presentation</vt:lpstr>
      <vt:lpstr>A Recursive Binary Tree Definition</vt:lpstr>
      <vt:lpstr>8.2.1 The Binary Tree Abstract Data Type</vt:lpstr>
      <vt:lpstr>PowerPoint Presentation</vt:lpstr>
      <vt:lpstr>The BinaryTree Abstract Base Class in Python</vt:lpstr>
      <vt:lpstr>PowerPoint Presentation</vt:lpstr>
      <vt:lpstr>PowerPoint Presentation</vt:lpstr>
      <vt:lpstr>8.2.2 Properties of Binary Trees</vt:lpstr>
      <vt:lpstr>PowerPoint Presentation</vt:lpstr>
      <vt:lpstr>Full binary tree</vt:lpstr>
      <vt:lpstr>PowerPoint Presentation</vt:lpstr>
      <vt:lpstr>PowerPoint Presentation</vt:lpstr>
      <vt:lpstr>Height of full binary tree given its node</vt:lpstr>
      <vt:lpstr>Binary tree</vt:lpstr>
      <vt:lpstr>PowerPoint Presentation</vt:lpstr>
      <vt:lpstr>PowerPoint Presentation</vt:lpstr>
      <vt:lpstr>8.3 Implementing Trees</vt:lpstr>
      <vt:lpstr>8.3.1 Linked Structure for Binary Trees</vt:lpstr>
      <vt:lpstr>Python Implementation of a Linked Binary Tree Structure</vt:lpstr>
      <vt:lpstr>Operations for Updating a Linked Binary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8.3.3 Linked Structure for General Trees</vt:lpstr>
      <vt:lpstr>PowerPoint Presentation</vt:lpstr>
      <vt:lpstr>PowerPoint Presentation</vt:lpstr>
      <vt:lpstr>8.4 Tree Traversal Algorithms</vt:lpstr>
      <vt:lpstr>8.4 Tree Traversal Algorithms</vt:lpstr>
      <vt:lpstr>8.4.1 Preorder of General Trees</vt:lpstr>
      <vt:lpstr>Preorder Traversal</vt:lpstr>
      <vt:lpstr>PowerPoint Presentation</vt:lpstr>
      <vt:lpstr>8.4.1 Postorder of General Trees</vt:lpstr>
      <vt:lpstr>Postorder Traversal</vt:lpstr>
      <vt:lpstr>PowerPoint Presentation</vt:lpstr>
      <vt:lpstr>8.4.3 Inorder Traversal of a Binary Tree</vt:lpstr>
      <vt:lpstr>PowerPoint Presentation</vt:lpstr>
      <vt:lpstr>8.4.2 Breadth-First Tree Traversal (Level order)</vt:lpstr>
      <vt:lpstr>Level order Traversal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297</cp:revision>
  <cp:lastPrinted>2024-02-29T02:13:54Z</cp:lastPrinted>
  <dcterms:created xsi:type="dcterms:W3CDTF">2009-10-12T20:16:00Z</dcterms:created>
  <dcterms:modified xsi:type="dcterms:W3CDTF">2024-12-19T14:29:15Z</dcterms:modified>
</cp:coreProperties>
</file>