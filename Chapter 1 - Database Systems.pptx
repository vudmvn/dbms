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726" r:id="rId4"/>
  </p:sldMasterIdLst>
  <p:notesMasterIdLst>
    <p:notesMasterId r:id="rId38"/>
  </p:notesMasterIdLst>
  <p:handoutMasterIdLst>
    <p:handoutMasterId r:id="rId39"/>
  </p:handoutMasterIdLst>
  <p:sldIdLst>
    <p:sldId id="428" r:id="rId5"/>
    <p:sldId id="410" r:id="rId6"/>
    <p:sldId id="261" r:id="rId7"/>
    <p:sldId id="458" r:id="rId8"/>
    <p:sldId id="452" r:id="rId9"/>
    <p:sldId id="459" r:id="rId10"/>
    <p:sldId id="457" r:id="rId11"/>
    <p:sldId id="430" r:id="rId12"/>
    <p:sldId id="431" r:id="rId13"/>
    <p:sldId id="451" r:id="rId14"/>
    <p:sldId id="432" r:id="rId15"/>
    <p:sldId id="433" r:id="rId16"/>
    <p:sldId id="453" r:id="rId17"/>
    <p:sldId id="434" r:id="rId18"/>
    <p:sldId id="454" r:id="rId19"/>
    <p:sldId id="435" r:id="rId20"/>
    <p:sldId id="455" r:id="rId21"/>
    <p:sldId id="436" r:id="rId22"/>
    <p:sldId id="443" r:id="rId23"/>
    <p:sldId id="439" r:id="rId24"/>
    <p:sldId id="444" r:id="rId25"/>
    <p:sldId id="438" r:id="rId26"/>
    <p:sldId id="445" r:id="rId27"/>
    <p:sldId id="440" r:id="rId28"/>
    <p:sldId id="446" r:id="rId29"/>
    <p:sldId id="447" r:id="rId30"/>
    <p:sldId id="448" r:id="rId31"/>
    <p:sldId id="449" r:id="rId32"/>
    <p:sldId id="441" r:id="rId33"/>
    <p:sldId id="450" r:id="rId34"/>
    <p:sldId id="442" r:id="rId35"/>
    <p:sldId id="456" r:id="rId36"/>
    <p:sldId id="30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8F5"/>
    <a:srgbClr val="7AB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1"/>
    <p:restoredTop sz="79859" autoAdjust="0"/>
  </p:normalViewPr>
  <p:slideViewPr>
    <p:cSldViewPr snapToGrid="0">
      <p:cViewPr varScale="1">
        <p:scale>
          <a:sx n="66" d="100"/>
          <a:sy n="66" d="100"/>
        </p:scale>
        <p:origin x="136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aihocphenikaa.sharepoint.com/sites/KhoaCNTT/Shared%20Documents/Course%20Portfolio/Assessment/2022-2023/IT/so_evaluation_2022_2023_i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aihocphenikaa.sharepoint.com/sites/KhoaCNTT/Shared%20Documents/Course%20Portfolio/Assessment/2022-2023/IT/so_evaluation_2022_2023_i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aihocphenikaa.sharepoint.com/sites/KhoaCNTT/Shared%20Documents/Course%20Portfolio/Assessment/2022-2023/IT/so_evaluation_2022_2023_i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% Meet of SOs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% Student Level 3 &amp; 4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70-5443-8817-9477854AE829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770-5443-8817-9477854AE829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770-5443-8817-9477854AE829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70-5443-8817-9477854AE829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770-5443-8817-9477854AE829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770-5443-8817-9477854AE8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eparator>, </c:separator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'SO achivement %'!$B$2:$G$2</c:f>
              <c:strCache>
                <c:ptCount val="6"/>
                <c:pt idx="0">
                  <c:v>SO1</c:v>
                </c:pt>
                <c:pt idx="1">
                  <c:v>SO2</c:v>
                </c:pt>
                <c:pt idx="2">
                  <c:v>SO3</c:v>
                </c:pt>
                <c:pt idx="3">
                  <c:v>SO4</c:v>
                </c:pt>
                <c:pt idx="4">
                  <c:v>SO5</c:v>
                </c:pt>
                <c:pt idx="5">
                  <c:v>SO6</c:v>
                </c:pt>
              </c:strCache>
            </c:strRef>
          </c:cat>
          <c:val>
            <c:numRef>
              <c:f>'SO achivement %'!$B$3:$G$3</c:f>
              <c:numCache>
                <c:formatCode>0.0</c:formatCode>
                <c:ptCount val="6"/>
                <c:pt idx="0">
                  <c:v>47.887323943661968</c:v>
                </c:pt>
                <c:pt idx="1">
                  <c:v>52.66594124047878</c:v>
                </c:pt>
                <c:pt idx="2">
                  <c:v>73.717948717948715</c:v>
                </c:pt>
                <c:pt idx="3">
                  <c:v>29.906542056074766</c:v>
                </c:pt>
                <c:pt idx="4">
                  <c:v>79.90654205607477</c:v>
                </c:pt>
                <c:pt idx="5">
                  <c:v>41.050119331742245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70-5443-8817-9477854AE8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-27"/>
        <c:axId val="155512175"/>
        <c:axId val="152606271"/>
      </c:barChart>
      <c:lineChart>
        <c:grouping val="standard"/>
        <c:varyColors val="0"/>
        <c:ser>
          <c:idx val="1"/>
          <c:order val="1"/>
          <c:tx>
            <c:v>Target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4"/>
              <c:layout>
                <c:manualLayout>
                  <c:x val="0.14942713435398733"/>
                  <c:y val="-3.30409426711026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770-5443-8817-9477854AE8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'SO achivement %'!$B$2:$G$2</c:f>
              <c:strCache>
                <c:ptCount val="6"/>
                <c:pt idx="0">
                  <c:v>SO1</c:v>
                </c:pt>
                <c:pt idx="1">
                  <c:v>SO2</c:v>
                </c:pt>
                <c:pt idx="2">
                  <c:v>SO3</c:v>
                </c:pt>
                <c:pt idx="3">
                  <c:v>SO4</c:v>
                </c:pt>
                <c:pt idx="4">
                  <c:v>SO5</c:v>
                </c:pt>
                <c:pt idx="5">
                  <c:v>SO6</c:v>
                </c:pt>
              </c:strCache>
            </c:strRef>
          </c:cat>
          <c:val>
            <c:numRef>
              <c:f>'SO achivement %'!$B$4:$G$4</c:f>
              <c:numCache>
                <c:formatCode>General</c:formatCode>
                <c:ptCount val="6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770-5443-8817-9477854AE8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512175"/>
        <c:axId val="152606271"/>
      </c:lineChart>
      <c:catAx>
        <c:axId val="1555121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Student Outcomes</a:t>
                </a:r>
              </a:p>
            </c:rich>
          </c:tx>
          <c:layout>
            <c:manualLayout>
              <c:xMode val="edge"/>
              <c:yMode val="edge"/>
              <c:x val="0.42377532340634738"/>
              <c:y val="0.874039667449193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06271"/>
        <c:crosses val="autoZero"/>
        <c:auto val="1"/>
        <c:lblAlgn val="ctr"/>
        <c:lblOffset val="100"/>
        <c:noMultiLvlLbl val="0"/>
      </c:catAx>
      <c:valAx>
        <c:axId val="152606271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Achivement level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12175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822347441451121"/>
          <c:y val="0.91242979450094652"/>
          <c:w val="0.57343847804177506"/>
          <c:h val="6.77456398963919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Times New Roman" panose="02020603050405020304" pitchFamily="18" charset="0"/>
              </a:defRPr>
            </a:pPr>
            <a:r>
              <a:rPr lang="en-US"/>
              <a:t>% Meet of PIs</a:t>
            </a:r>
          </a:p>
        </c:rich>
      </c:tx>
      <c:layout>
        <c:manualLayout>
          <c:xMode val="edge"/>
          <c:yMode val="edge"/>
          <c:x val="0.46376700739596355"/>
          <c:y val="1.72581209424353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% Student Level 3.&amp; 4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 achivement %'!$B$11:$M$11</c:f>
              <c:strCache>
                <c:ptCount val="12"/>
                <c:pt idx="0">
                  <c:v>1.1</c:v>
                </c:pt>
                <c:pt idx="1">
                  <c:v>1.2</c:v>
                </c:pt>
                <c:pt idx="2">
                  <c:v>2.1</c:v>
                </c:pt>
                <c:pt idx="3">
                  <c:v>2.2</c:v>
                </c:pt>
                <c:pt idx="4">
                  <c:v>3.1</c:v>
                </c:pt>
                <c:pt idx="5">
                  <c:v>3.2</c:v>
                </c:pt>
                <c:pt idx="6">
                  <c:v>4.1</c:v>
                </c:pt>
                <c:pt idx="7">
                  <c:v>4.2</c:v>
                </c:pt>
                <c:pt idx="8">
                  <c:v>5.1</c:v>
                </c:pt>
                <c:pt idx="9">
                  <c:v>5.2</c:v>
                </c:pt>
                <c:pt idx="10">
                  <c:v>6.1</c:v>
                </c:pt>
                <c:pt idx="11">
                  <c:v>6.2</c:v>
                </c:pt>
              </c:strCache>
            </c:strRef>
          </c:cat>
          <c:val>
            <c:numRef>
              <c:f>'PI achivement %'!$B$12:$M$12</c:f>
              <c:numCache>
                <c:formatCode>0.0</c:formatCode>
                <c:ptCount val="12"/>
                <c:pt idx="0">
                  <c:v>49.76525821596244</c:v>
                </c:pt>
                <c:pt idx="1">
                  <c:v>46.009389671361504</c:v>
                </c:pt>
                <c:pt idx="2">
                  <c:v>51.771117166212534</c:v>
                </c:pt>
                <c:pt idx="3">
                  <c:v>53.260869565217391</c:v>
                </c:pt>
                <c:pt idx="4">
                  <c:v>72.435897435897431</c:v>
                </c:pt>
                <c:pt idx="5">
                  <c:v>75</c:v>
                </c:pt>
                <c:pt idx="6">
                  <c:v>31.77570093457944</c:v>
                </c:pt>
                <c:pt idx="7">
                  <c:v>28.037383177570092</c:v>
                </c:pt>
                <c:pt idx="8">
                  <c:v>75.700934579439249</c:v>
                </c:pt>
                <c:pt idx="9">
                  <c:v>84.112149532710276</c:v>
                </c:pt>
                <c:pt idx="10">
                  <c:v>61.53846153846154</c:v>
                </c:pt>
                <c:pt idx="11">
                  <c:v>15.135135135135135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1E-B74C-AE48-187572AE6B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13"/>
        <c:axId val="155512175"/>
        <c:axId val="152606271"/>
      </c:barChart>
      <c:lineChart>
        <c:grouping val="standard"/>
        <c:varyColors val="0"/>
        <c:ser>
          <c:idx val="1"/>
          <c:order val="1"/>
          <c:tx>
            <c:v>Target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1E-B74C-AE48-187572AE6B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 achivement %'!$B$4:$W$4</c:f>
              <c:strCache>
                <c:ptCount val="22"/>
                <c:pt idx="0">
                  <c:v>1.1-CSE703006</c:v>
                </c:pt>
                <c:pt idx="1">
                  <c:v>1.1-CSE703008</c:v>
                </c:pt>
                <c:pt idx="2">
                  <c:v>1.2-CSE703006</c:v>
                </c:pt>
                <c:pt idx="3">
                  <c:v>1.2-CSE703008</c:v>
                </c:pt>
                <c:pt idx="4">
                  <c:v>2.1-CSE703008</c:v>
                </c:pt>
                <c:pt idx="5">
                  <c:v>2.1-CSE703064</c:v>
                </c:pt>
                <c:pt idx="6">
                  <c:v>2.1-CSE702027</c:v>
                </c:pt>
                <c:pt idx="7">
                  <c:v>2.2-CSE703008</c:v>
                </c:pt>
                <c:pt idx="8">
                  <c:v>2.2-CSE703064</c:v>
                </c:pt>
                <c:pt idx="9">
                  <c:v>2.2-CSE702027</c:v>
                </c:pt>
                <c:pt idx="10">
                  <c:v>2.2-CSE702011</c:v>
                </c:pt>
                <c:pt idx="11">
                  <c:v>3.1-CSE702027</c:v>
                </c:pt>
                <c:pt idx="12">
                  <c:v>3.1-CSE703048</c:v>
                </c:pt>
                <c:pt idx="13">
                  <c:v>3.2-CSE702027</c:v>
                </c:pt>
                <c:pt idx="14">
                  <c:v>3.2-CSE703048</c:v>
                </c:pt>
                <c:pt idx="15">
                  <c:v>4.1-CSE703048</c:v>
                </c:pt>
                <c:pt idx="16">
                  <c:v>4.2-CSE703048</c:v>
                </c:pt>
                <c:pt idx="17">
                  <c:v>5.1-CSE703048</c:v>
                </c:pt>
                <c:pt idx="18">
                  <c:v>5.2-CSE703048</c:v>
                </c:pt>
                <c:pt idx="19">
                  <c:v>6.1-CSE702011</c:v>
                </c:pt>
                <c:pt idx="20">
                  <c:v>6.1-CSE702027</c:v>
                </c:pt>
                <c:pt idx="21">
                  <c:v>6.2-CSE702011</c:v>
                </c:pt>
              </c:strCache>
            </c:strRef>
          </c:cat>
          <c:val>
            <c:numRef>
              <c:f>'PI achivement %'!$B$13:$M$13</c:f>
              <c:numCache>
                <c:formatCode>General</c:formatCode>
                <c:ptCount val="12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70</c:v>
                </c:pt>
                <c:pt idx="7">
                  <c:v>70</c:v>
                </c:pt>
                <c:pt idx="8">
                  <c:v>70</c:v>
                </c:pt>
                <c:pt idx="9">
                  <c:v>70</c:v>
                </c:pt>
                <c:pt idx="10">
                  <c:v>70</c:v>
                </c:pt>
                <c:pt idx="11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1E-B74C-AE48-187572AE6B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512175"/>
        <c:axId val="152606271"/>
      </c:lineChart>
      <c:catAx>
        <c:axId val="1555121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PIs</a:t>
                </a:r>
              </a:p>
            </c:rich>
          </c:tx>
          <c:layout>
            <c:manualLayout>
              <c:xMode val="edge"/>
              <c:yMode val="edge"/>
              <c:x val="0.47268300892941945"/>
              <c:y val="0.872331754724736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2606271"/>
        <c:crosses val="autoZero"/>
        <c:auto val="1"/>
        <c:lblAlgn val="ctr"/>
        <c:lblOffset val="100"/>
        <c:noMultiLvlLbl val="0"/>
      </c:catAx>
      <c:valAx>
        <c:axId val="152606271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Achivement level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5512175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Times New Roman" panose="02020603050405020304" pitchFamily="18" charset="0"/>
              </a:defRPr>
            </a:pPr>
            <a:r>
              <a:rPr lang="en-US" dirty="0"/>
              <a:t>% Meet of PIs (Courses)</a:t>
            </a:r>
          </a:p>
        </c:rich>
      </c:tx>
      <c:layout>
        <c:manualLayout>
          <c:xMode val="edge"/>
          <c:yMode val="edge"/>
          <c:x val="0.436259013503168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% Student Level 3.&amp; 4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D6-9D4C-ACAB-C2932F551E5D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D6-9D4C-ACAB-C2932F551E5D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ED6-9D4C-ACAB-C2932F551E5D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D6-9D4C-ACAB-C2932F551E5D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ED6-9D4C-ACAB-C2932F551E5D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D6-9D4C-ACAB-C2932F551E5D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ED6-9D4C-ACAB-C2932F551E5D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D6-9D4C-ACAB-C2932F551E5D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ED6-9D4C-ACAB-C2932F551E5D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ED6-9D4C-ACAB-C2932F551E5D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ED6-9D4C-ACAB-C2932F551E5D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ED6-9D4C-ACAB-C2932F551E5D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ED6-9D4C-ACAB-C2932F551E5D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ED6-9D4C-ACAB-C2932F551E5D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ED6-9D4C-ACAB-C2932F551E5D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ED6-9D4C-ACAB-C2932F551E5D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ED6-9D4C-ACAB-C2932F551E5D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ED6-9D4C-ACAB-C2932F551E5D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CED6-9D4C-ACAB-C2932F551E5D}"/>
                </c:ext>
              </c:extLst>
            </c:dLbl>
            <c:dLbl>
              <c:idx val="19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ED6-9D4C-ACAB-C2932F551E5D}"/>
                </c:ext>
              </c:extLst>
            </c:dLbl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CED6-9D4C-ACAB-C2932F551E5D}"/>
                </c:ext>
              </c:extLst>
            </c:dLbl>
            <c:dLbl>
              <c:idx val="21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ED6-9D4C-ACAB-C2932F551E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eparator>, </c:separator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 achivement %'!$B$4:$W$4</c:f>
              <c:strCache>
                <c:ptCount val="22"/>
                <c:pt idx="0">
                  <c:v>1.1-CSE703006</c:v>
                </c:pt>
                <c:pt idx="1">
                  <c:v>1.1-CSE703008</c:v>
                </c:pt>
                <c:pt idx="2">
                  <c:v>1.2-CSE703006</c:v>
                </c:pt>
                <c:pt idx="3">
                  <c:v>1.2-CSE703008</c:v>
                </c:pt>
                <c:pt idx="4">
                  <c:v>2.1-CSE703008</c:v>
                </c:pt>
                <c:pt idx="5">
                  <c:v>2.1-CSE703064</c:v>
                </c:pt>
                <c:pt idx="6">
                  <c:v>2.1-CSE702027</c:v>
                </c:pt>
                <c:pt idx="7">
                  <c:v>2.2-CSE703008</c:v>
                </c:pt>
                <c:pt idx="8">
                  <c:v>2.2-CSE703064</c:v>
                </c:pt>
                <c:pt idx="9">
                  <c:v>2.2-CSE702027</c:v>
                </c:pt>
                <c:pt idx="10">
                  <c:v>2.2-CSE702011</c:v>
                </c:pt>
                <c:pt idx="11">
                  <c:v>3.1-CSE702027</c:v>
                </c:pt>
                <c:pt idx="12">
                  <c:v>3.1-CSE703048</c:v>
                </c:pt>
                <c:pt idx="13">
                  <c:v>3.2-CSE702027</c:v>
                </c:pt>
                <c:pt idx="14">
                  <c:v>3.2-CSE703048</c:v>
                </c:pt>
                <c:pt idx="15">
                  <c:v>4.1-CSE703048</c:v>
                </c:pt>
                <c:pt idx="16">
                  <c:v>4.2-CSE703048</c:v>
                </c:pt>
                <c:pt idx="17">
                  <c:v>5.1-CSE703048</c:v>
                </c:pt>
                <c:pt idx="18">
                  <c:v>5.2-CSE703048</c:v>
                </c:pt>
                <c:pt idx="19">
                  <c:v>6.1-CSE702011</c:v>
                </c:pt>
                <c:pt idx="20">
                  <c:v>6.1-CSE702027</c:v>
                </c:pt>
                <c:pt idx="21">
                  <c:v>6.2-CSE702011</c:v>
                </c:pt>
              </c:strCache>
            </c:strRef>
          </c:cat>
          <c:val>
            <c:numRef>
              <c:f>'PI achivement %'!$B$7:$W$7</c:f>
              <c:numCache>
                <c:formatCode>0.0</c:formatCode>
                <c:ptCount val="22"/>
                <c:pt idx="0">
                  <c:v>47.1</c:v>
                </c:pt>
                <c:pt idx="1">
                  <c:v>51.6</c:v>
                </c:pt>
                <c:pt idx="2">
                  <c:v>18.399999999999999</c:v>
                </c:pt>
                <c:pt idx="3">
                  <c:v>65.099999999999994</c:v>
                </c:pt>
                <c:pt idx="4" formatCode="General">
                  <c:v>42.9</c:v>
                </c:pt>
                <c:pt idx="5">
                  <c:v>46.9</c:v>
                </c:pt>
                <c:pt idx="6">
                  <c:v>93.877551020408163</c:v>
                </c:pt>
                <c:pt idx="7">
                  <c:v>23</c:v>
                </c:pt>
                <c:pt idx="8">
                  <c:v>55.7</c:v>
                </c:pt>
                <c:pt idx="9">
                  <c:v>8.1632653061224492</c:v>
                </c:pt>
                <c:pt idx="10">
                  <c:v>83.2</c:v>
                </c:pt>
                <c:pt idx="11" formatCode="General">
                  <c:v>100</c:v>
                </c:pt>
                <c:pt idx="12">
                  <c:v>59.8</c:v>
                </c:pt>
                <c:pt idx="13" formatCode="General">
                  <c:v>100</c:v>
                </c:pt>
                <c:pt idx="14">
                  <c:v>63.6</c:v>
                </c:pt>
                <c:pt idx="15">
                  <c:v>31.8</c:v>
                </c:pt>
                <c:pt idx="16">
                  <c:v>28</c:v>
                </c:pt>
                <c:pt idx="17">
                  <c:v>75.700934579439249</c:v>
                </c:pt>
                <c:pt idx="18">
                  <c:v>84.112149532710276</c:v>
                </c:pt>
                <c:pt idx="19">
                  <c:v>54.6</c:v>
                </c:pt>
                <c:pt idx="20">
                  <c:v>87.755102040816325</c:v>
                </c:pt>
                <c:pt idx="21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CED6-9D4C-ACAB-C2932F551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13"/>
        <c:axId val="155512175"/>
        <c:axId val="152606271"/>
      </c:barChart>
      <c:lineChart>
        <c:grouping val="standard"/>
        <c:varyColors val="0"/>
        <c:ser>
          <c:idx val="1"/>
          <c:order val="1"/>
          <c:tx>
            <c:v>Target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8"/>
              <c:layout>
                <c:manualLayout>
                  <c:x val="0.15922719419928349"/>
                  <c:y val="-3.3980653215439829E-3"/>
                </c:manualLayout>
              </c:layout>
              <c:tx>
                <c:rich>
                  <a:bodyPr/>
                  <a:lstStyle/>
                  <a:p>
                    <a:fld id="{561B1DC4-3E0E-4F4F-A6D2-FE9AFAAA3345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7-CED6-9D4C-ACAB-C2932F551E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'PI achivement %'!$B$4:$W$4</c:f>
              <c:strCache>
                <c:ptCount val="22"/>
                <c:pt idx="0">
                  <c:v>1.1-CSE703006</c:v>
                </c:pt>
                <c:pt idx="1">
                  <c:v>1.1-CSE703008</c:v>
                </c:pt>
                <c:pt idx="2">
                  <c:v>1.2-CSE703006</c:v>
                </c:pt>
                <c:pt idx="3">
                  <c:v>1.2-CSE703008</c:v>
                </c:pt>
                <c:pt idx="4">
                  <c:v>2.1-CSE703008</c:v>
                </c:pt>
                <c:pt idx="5">
                  <c:v>2.1-CSE703064</c:v>
                </c:pt>
                <c:pt idx="6">
                  <c:v>2.1-CSE702027</c:v>
                </c:pt>
                <c:pt idx="7">
                  <c:v>2.2-CSE703008</c:v>
                </c:pt>
                <c:pt idx="8">
                  <c:v>2.2-CSE703064</c:v>
                </c:pt>
                <c:pt idx="9">
                  <c:v>2.2-CSE702027</c:v>
                </c:pt>
                <c:pt idx="10">
                  <c:v>2.2-CSE702011</c:v>
                </c:pt>
                <c:pt idx="11">
                  <c:v>3.1-CSE702027</c:v>
                </c:pt>
                <c:pt idx="12">
                  <c:v>3.1-CSE703048</c:v>
                </c:pt>
                <c:pt idx="13">
                  <c:v>3.2-CSE702027</c:v>
                </c:pt>
                <c:pt idx="14">
                  <c:v>3.2-CSE703048</c:v>
                </c:pt>
                <c:pt idx="15">
                  <c:v>4.1-CSE703048</c:v>
                </c:pt>
                <c:pt idx="16">
                  <c:v>4.2-CSE703048</c:v>
                </c:pt>
                <c:pt idx="17">
                  <c:v>5.1-CSE703048</c:v>
                </c:pt>
                <c:pt idx="18">
                  <c:v>5.2-CSE703048</c:v>
                </c:pt>
                <c:pt idx="19">
                  <c:v>6.1-CSE702011</c:v>
                </c:pt>
                <c:pt idx="20">
                  <c:v>6.1-CSE702027</c:v>
                </c:pt>
                <c:pt idx="21">
                  <c:v>6.2-CSE702011</c:v>
                </c:pt>
              </c:strCache>
            </c:strRef>
          </c:cat>
          <c:val>
            <c:numRef>
              <c:f>'PI achivement %'!$B$8:$W$8</c:f>
              <c:numCache>
                <c:formatCode>General</c:formatCode>
                <c:ptCount val="22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70</c:v>
                </c:pt>
                <c:pt idx="7">
                  <c:v>70</c:v>
                </c:pt>
                <c:pt idx="8">
                  <c:v>70</c:v>
                </c:pt>
                <c:pt idx="9">
                  <c:v>70</c:v>
                </c:pt>
                <c:pt idx="10">
                  <c:v>70</c:v>
                </c:pt>
                <c:pt idx="11">
                  <c:v>70</c:v>
                </c:pt>
                <c:pt idx="12">
                  <c:v>70</c:v>
                </c:pt>
                <c:pt idx="13">
                  <c:v>70</c:v>
                </c:pt>
                <c:pt idx="14">
                  <c:v>70</c:v>
                </c:pt>
                <c:pt idx="15">
                  <c:v>70</c:v>
                </c:pt>
                <c:pt idx="16">
                  <c:v>70</c:v>
                </c:pt>
                <c:pt idx="17">
                  <c:v>70</c:v>
                </c:pt>
                <c:pt idx="18">
                  <c:v>70</c:v>
                </c:pt>
                <c:pt idx="19">
                  <c:v>70</c:v>
                </c:pt>
                <c:pt idx="20">
                  <c:v>70</c:v>
                </c:pt>
                <c:pt idx="21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CED6-9D4C-ACAB-C2932F551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512175"/>
        <c:axId val="152606271"/>
      </c:lineChart>
      <c:catAx>
        <c:axId val="1555121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PI - Course</a:t>
                </a:r>
              </a:p>
            </c:rich>
          </c:tx>
          <c:layout>
            <c:manualLayout>
              <c:xMode val="edge"/>
              <c:yMode val="edge"/>
              <c:x val="0.46290610894189976"/>
              <c:y val="0.8838805512217461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2606271"/>
        <c:crosses val="autoZero"/>
        <c:auto val="1"/>
        <c:lblAlgn val="ctr"/>
        <c:lblOffset val="100"/>
        <c:noMultiLvlLbl val="0"/>
      </c:catAx>
      <c:valAx>
        <c:axId val="152606271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Achivement level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5512175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+mn-lt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069BEE-5C22-49A5-A892-F6E6A4002A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4FB27-DC4B-4A29-B4F3-C665BDE47E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47B97-F030-426D-A9D1-6B39B13C23E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06FDF-174B-49EE-AD51-C827118F0F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610B1-614F-48C3-8F2D-C50C182871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751AA-B992-41E5-A909-E1A2443E2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69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24CBC-D461-4ECA-A489-D3A30E0FB795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1351B-2C5D-457B-ABE5-B64DBC7B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0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93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82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82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47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47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5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36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07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 dirty="0"/>
              <a:t>PI: chỉ số đánh giá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68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73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71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43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67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887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09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25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63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506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0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04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6DADDC2-BFA5-594E-BF5A-B06CEF194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" y="3243262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A7E0BE7-B9F3-CF42-BBDD-E431A842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2"/>
            <a:ext cx="2743200" cy="365125"/>
          </a:xfrm>
        </p:spPr>
        <p:txBody>
          <a:bodyPr/>
          <a:lstStyle/>
          <a:p>
            <a:fld id="{6A15BEF8-3DAD-456F-8E5D-D827EA9B925D}" type="datetime1">
              <a:rPr lang="en-US" smtClean="0"/>
              <a:t>12/18/2023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CDF525E-206D-4149-99E1-0D9A15410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6FCA82-9769-7441-AB29-6261AF29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3891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14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80040"/>
            <a:ext cx="2743200" cy="277960"/>
          </a:xfrm>
        </p:spPr>
        <p:txBody>
          <a:bodyPr/>
          <a:lstStyle/>
          <a:p>
            <a:fld id="{2ED33607-0165-4581-AE33-FE3ADC681CEE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80041"/>
            <a:ext cx="4114800" cy="277960"/>
          </a:xfrm>
        </p:spPr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11566" y="6622795"/>
            <a:ext cx="2743200" cy="235206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82252" y="277960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CHỦ ĐỀ</a:t>
            </a:r>
          </a:p>
        </p:txBody>
      </p:sp>
      <p:sp>
        <p:nvSpPr>
          <p:cNvPr id="3" name="Freeform 2"/>
          <p:cNvSpPr/>
          <p:nvPr userDrawn="1"/>
        </p:nvSpPr>
        <p:spPr>
          <a:xfrm>
            <a:off x="392906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8" name="Picture 4" descr="MFE NEU – Khoa Toán Đại học kinh tế quốc dân">
            <a:extLst>
              <a:ext uri="{FF2B5EF4-FFF2-40B4-BE49-F238E27FC236}">
                <a16:creationId xmlns:a16="http://schemas.microsoft.com/office/drawing/2014/main" id="{BE636627-93C8-D3EC-41DC-3792EF0ADA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295" y="1"/>
            <a:ext cx="2851705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7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93185"/>
            <a:ext cx="2743200" cy="267581"/>
          </a:xfrm>
        </p:spPr>
        <p:txBody>
          <a:bodyPr/>
          <a:lstStyle/>
          <a:p>
            <a:fld id="{48D9BF05-FC92-44B0-A57C-4E52C0FBFAD5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90419"/>
            <a:ext cx="4114800" cy="2675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66006" y="6590419"/>
            <a:ext cx="2743200" cy="313617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/>
          <p:cNvSpPr/>
          <p:nvPr userDrawn="1"/>
        </p:nvSpPr>
        <p:spPr>
          <a:xfrm>
            <a:off x="392906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6B9D37C-9616-644C-81FA-A5CADF160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476" y="294938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pic>
        <p:nvPicPr>
          <p:cNvPr id="3076" name="Picture 4" descr="MFE NEU – Khoa Toán Đại học kinh tế quốc dân">
            <a:extLst>
              <a:ext uri="{FF2B5EF4-FFF2-40B4-BE49-F238E27FC236}">
                <a16:creationId xmlns:a16="http://schemas.microsoft.com/office/drawing/2014/main" id="{724E6A93-4C69-7354-EC05-B2F49F7916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295" y="1"/>
            <a:ext cx="2851705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44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43063-F1A1-4F7B-A7AE-AA83B8CD64FB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86200" y="6603821"/>
            <a:ext cx="4114800" cy="254179"/>
          </a:xfrm>
        </p:spPr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21090" y="6600831"/>
            <a:ext cx="2743200" cy="274321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40857" y="243489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CHỦ ĐỀ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CF2F9D9-79A2-4241-92EA-C1DAEC3621E2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7047C2F-85BB-1243-890C-BD727B041E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1169080"/>
            <a:ext cx="11551617" cy="49541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pic>
        <p:nvPicPr>
          <p:cNvPr id="2" name="Picture 4" descr="MFE NEU – Khoa Toán Đại học kinh tế quốc dân">
            <a:extLst>
              <a:ext uri="{FF2B5EF4-FFF2-40B4-BE49-F238E27FC236}">
                <a16:creationId xmlns:a16="http://schemas.microsoft.com/office/drawing/2014/main" id="{DAA1FFCA-E19E-DCC7-1F60-DD4ABAFDDF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295" y="1"/>
            <a:ext cx="2851705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75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Nội</a:t>
            </a:r>
            <a:r>
              <a:rPr lang="en-US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9518F-CB1F-4629-A821-319EEA1ABD3C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Hình ảnh</a:t>
            </a:r>
          </a:p>
        </p:txBody>
      </p:sp>
      <p:pic>
        <p:nvPicPr>
          <p:cNvPr id="7" name="Picture 4" descr="MFE NEU – Khoa Toán Đại học kinh tế quốc dân">
            <a:extLst>
              <a:ext uri="{FF2B5EF4-FFF2-40B4-BE49-F238E27FC236}">
                <a16:creationId xmlns:a16="http://schemas.microsoft.com/office/drawing/2014/main" id="{695DE4F3-0551-0BFA-29AD-74E0505147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295" y="1"/>
            <a:ext cx="2851705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22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59438-2C99-4A8A-820F-2908A6E05E1D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D81805F-C908-E74B-BD64-84B072B9F815}"/>
              </a:ext>
            </a:extLst>
          </p:cNvPr>
          <p:cNvSpPr/>
          <p:nvPr userDrawn="1"/>
        </p:nvSpPr>
        <p:spPr>
          <a:xfrm>
            <a:off x="392906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EF1F798-F7C2-6A4B-AB49-B4AF9B8A490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2906" y="278800"/>
            <a:ext cx="5813198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VN" sz="3300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CHỦ ĐỀ</a:t>
            </a:r>
            <a:endParaRPr lang="en-VN"/>
          </a:p>
        </p:txBody>
      </p:sp>
      <p:pic>
        <p:nvPicPr>
          <p:cNvPr id="7" name="Picture 4" descr="MFE NEU – Khoa Toán Đại học kinh tế quốc dân">
            <a:extLst>
              <a:ext uri="{FF2B5EF4-FFF2-40B4-BE49-F238E27FC236}">
                <a16:creationId xmlns:a16="http://schemas.microsoft.com/office/drawing/2014/main" id="{FA5BE1B1-A1B4-7D02-77FD-5ECB0E0A5F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295" y="1"/>
            <a:ext cx="2851705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98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</a:defRPr>
            </a:lvl1pPr>
          </a:lstStyle>
          <a:p>
            <a:r>
              <a:rPr lang="en-US" err="1"/>
              <a:t>Chủ</a:t>
            </a:r>
            <a:r>
              <a:rPr lang="en-US"/>
              <a:t> </a:t>
            </a:r>
            <a:r>
              <a:rPr lang="en-US" err="1"/>
              <a:t>đề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DBE6-0ED5-4CED-81AD-2C057EC7252A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4" descr="MFE NEU – Khoa Toán Đại học kinh tế quốc dân">
            <a:extLst>
              <a:ext uri="{FF2B5EF4-FFF2-40B4-BE49-F238E27FC236}">
                <a16:creationId xmlns:a16="http://schemas.microsoft.com/office/drawing/2014/main" id="{B35CE467-F3D0-13D9-5EB7-3C79493E76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295" y="1"/>
            <a:ext cx="2851705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843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1B90-6B7B-48D7-9DD6-E432590D31DF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MFE NEU – Khoa Toán Đại học kinh tế quốc dân">
            <a:extLst>
              <a:ext uri="{FF2B5EF4-FFF2-40B4-BE49-F238E27FC236}">
                <a16:creationId xmlns:a16="http://schemas.microsoft.com/office/drawing/2014/main" id="{923D3575-525E-B367-7EF4-E5C24182B6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295" y="1"/>
            <a:ext cx="2851705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62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603BD-9168-4367-80FB-DEC2C9242217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41484" y="785426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3" name="Picture 4" descr="MFE NEU – Khoa Toán Đại học kinh tế quốc dân">
            <a:extLst>
              <a:ext uri="{FF2B5EF4-FFF2-40B4-BE49-F238E27FC236}">
                <a16:creationId xmlns:a16="http://schemas.microsoft.com/office/drawing/2014/main" id="{4210024F-BF75-44CD-4E8E-C67243E336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295" y="1"/>
            <a:ext cx="2851705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7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72345" y="6603821"/>
            <a:ext cx="4114800" cy="2541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600831"/>
            <a:ext cx="2743200" cy="2743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00831"/>
            <a:ext cx="2743200" cy="25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FF3FEC3F-8BB7-4120-AE47-21D12526D736}" type="datetime1">
              <a:rPr lang="en-US" smtClean="0"/>
              <a:t>12/18/2023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8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46" r:id="rId3"/>
    <p:sldLayoutId id="2147483729" r:id="rId4"/>
    <p:sldLayoutId id="2147483732" r:id="rId5"/>
    <p:sldLayoutId id="2147483733" r:id="rId6"/>
    <p:sldLayoutId id="2147483734" r:id="rId7"/>
    <p:sldLayoutId id="2147483736" r:id="rId8"/>
    <p:sldLayoutId id="2147483747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CC7-833C-1B46-A9DB-AEC928BC0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9972" y="2733722"/>
            <a:ext cx="8256073" cy="823070"/>
          </a:xfrm>
        </p:spPr>
        <p:txBody>
          <a:bodyPr/>
          <a:lstStyle/>
          <a:p>
            <a:pPr algn="ctr"/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Database Systems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4E5352-E09E-4F4A-AF39-174135EA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9D04-D04E-4D80-943E-B5BDEFF82C83}" type="datetime1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A76AF-4F39-7941-9BDD-7AEF9CD8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E59A7-2B41-E745-B713-3E60E1D3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3662B6-1B3F-3D43-82B4-038976BF0367}"/>
              </a:ext>
            </a:extLst>
          </p:cNvPr>
          <p:cNvSpPr txBox="1">
            <a:spLocks/>
          </p:cNvSpPr>
          <p:nvPr/>
        </p:nvSpPr>
        <p:spPr>
          <a:xfrm>
            <a:off x="810228" y="4968104"/>
            <a:ext cx="10706582" cy="8230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 Design, Implementation And Management </a:t>
            </a:r>
            <a:endParaRPr lang="en-V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D40D5D-1713-7B40-B380-62C8FA2F31C4}"/>
              </a:ext>
            </a:extLst>
          </p:cNvPr>
          <p:cNvSpPr txBox="1">
            <a:spLocks/>
          </p:cNvSpPr>
          <p:nvPr/>
        </p:nvSpPr>
        <p:spPr>
          <a:xfrm>
            <a:off x="1944336" y="3892995"/>
            <a:ext cx="8813305" cy="8230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4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minhvd</a:t>
            </a:r>
            <a:r>
              <a:rPr lang="en-US" sz="4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@ MFE - </a:t>
            </a:r>
            <a:r>
              <a:rPr lang="en-US" sz="4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ORLab</a:t>
            </a:r>
            <a:endParaRPr lang="en-VN" sz="4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A8C16B7-E12C-7AE9-1B3C-3575A273E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532" y="548376"/>
            <a:ext cx="8492513" cy="168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582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123882" y="1117911"/>
            <a:ext cx="649423" cy="649423"/>
            <a:chOff x="5354389" y="1349194"/>
            <a:chExt cx="1108482" cy="1108482"/>
          </a:xfrm>
        </p:grpSpPr>
        <p:sp>
          <p:nvSpPr>
            <p:cNvPr id="5" name="Oval 4"/>
            <p:cNvSpPr/>
            <p:nvPr/>
          </p:nvSpPr>
          <p:spPr>
            <a:xfrm>
              <a:off x="5354389" y="1349194"/>
              <a:ext cx="1108482" cy="11084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5429540" y="1424345"/>
              <a:ext cx="958180" cy="9581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Google Shape;174;p3"/>
          <p:cNvSpPr txBox="1"/>
          <p:nvPr/>
        </p:nvSpPr>
        <p:spPr>
          <a:xfrm>
            <a:off x="3860298" y="1211810"/>
            <a:ext cx="547877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General Information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3125798" y="2080208"/>
            <a:ext cx="649423" cy="649423"/>
            <a:chOff x="5354389" y="1349194"/>
            <a:chExt cx="1108482" cy="1108482"/>
          </a:xfrm>
        </p:grpSpPr>
        <p:sp>
          <p:nvSpPr>
            <p:cNvPr id="12" name="Oval 11"/>
            <p:cNvSpPr/>
            <p:nvPr/>
          </p:nvSpPr>
          <p:spPr>
            <a:xfrm>
              <a:off x="5354389" y="1349194"/>
              <a:ext cx="1108482" cy="11084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429540" y="1424345"/>
              <a:ext cx="958180" cy="9581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Google Shape;174;p3"/>
          <p:cNvSpPr txBox="1"/>
          <p:nvPr/>
        </p:nvSpPr>
        <p:spPr>
          <a:xfrm>
            <a:off x="3860298" y="2174107"/>
            <a:ext cx="681205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Program Educational Objectives (PEOs)</a:t>
            </a:r>
            <a:endParaRPr sz="2400" b="1" kern="0" dirty="0">
              <a:solidFill>
                <a:srgbClr val="44546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" name="Freeform 205"/>
          <p:cNvSpPr>
            <a:spLocks noEditPoints="1"/>
          </p:cNvSpPr>
          <p:nvPr/>
        </p:nvSpPr>
        <p:spPr bwMode="auto">
          <a:xfrm>
            <a:off x="3311377" y="2253918"/>
            <a:ext cx="276897" cy="249750"/>
          </a:xfrm>
          <a:custGeom>
            <a:avLst/>
            <a:gdLst>
              <a:gd name="T0" fmla="*/ 21 w 29"/>
              <a:gd name="T1" fmla="*/ 9 h 26"/>
              <a:gd name="T2" fmla="*/ 29 w 29"/>
              <a:gd name="T3" fmla="*/ 9 h 26"/>
              <a:gd name="T4" fmla="*/ 29 w 29"/>
              <a:gd name="T5" fmla="*/ 10 h 26"/>
              <a:gd name="T6" fmla="*/ 22 w 29"/>
              <a:gd name="T7" fmla="*/ 11 h 26"/>
              <a:gd name="T8" fmla="*/ 28 w 29"/>
              <a:gd name="T9" fmla="*/ 23 h 26"/>
              <a:gd name="T10" fmla="*/ 28 w 29"/>
              <a:gd name="T11" fmla="*/ 11 h 26"/>
              <a:gd name="T12" fmla="*/ 23 w 29"/>
              <a:gd name="T13" fmla="*/ 11 h 26"/>
              <a:gd name="T14" fmla="*/ 23 w 29"/>
              <a:gd name="T15" fmla="*/ 24 h 26"/>
              <a:gd name="T16" fmla="*/ 28 w 29"/>
              <a:gd name="T17" fmla="*/ 23 h 26"/>
              <a:gd name="T18" fmla="*/ 0 w 29"/>
              <a:gd name="T19" fmla="*/ 9 h 26"/>
              <a:gd name="T20" fmla="*/ 8 w 29"/>
              <a:gd name="T21" fmla="*/ 9 h 26"/>
              <a:gd name="T22" fmla="*/ 8 w 29"/>
              <a:gd name="T23" fmla="*/ 10 h 26"/>
              <a:gd name="T24" fmla="*/ 1 w 29"/>
              <a:gd name="T25" fmla="*/ 11 h 26"/>
              <a:gd name="T26" fmla="*/ 1 w 29"/>
              <a:gd name="T27" fmla="*/ 6 h 26"/>
              <a:gd name="T28" fmla="*/ 15 w 29"/>
              <a:gd name="T29" fmla="*/ 0 h 26"/>
              <a:gd name="T30" fmla="*/ 29 w 29"/>
              <a:gd name="T31" fmla="*/ 7 h 26"/>
              <a:gd name="T32" fmla="*/ 29 w 29"/>
              <a:gd name="T33" fmla="*/ 8 h 26"/>
              <a:gd name="T34" fmla="*/ 0 w 29"/>
              <a:gd name="T35" fmla="*/ 8 h 26"/>
              <a:gd name="T36" fmla="*/ 1 w 29"/>
              <a:gd name="T37" fmla="*/ 6 h 26"/>
              <a:gd name="T38" fmla="*/ 25 w 29"/>
              <a:gd name="T39" fmla="*/ 6 h 26"/>
              <a:gd name="T40" fmla="*/ 25 w 29"/>
              <a:gd name="T41" fmla="*/ 6 h 26"/>
              <a:gd name="T42" fmla="*/ 15 w 29"/>
              <a:gd name="T43" fmla="*/ 2 h 26"/>
              <a:gd name="T44" fmla="*/ 5 w 29"/>
              <a:gd name="T45" fmla="*/ 6 h 26"/>
              <a:gd name="T46" fmla="*/ 0 w 29"/>
              <a:gd name="T47" fmla="*/ 26 h 26"/>
              <a:gd name="T48" fmla="*/ 1 w 29"/>
              <a:gd name="T49" fmla="*/ 24 h 26"/>
              <a:gd name="T50" fmla="*/ 29 w 29"/>
              <a:gd name="T51" fmla="*/ 25 h 26"/>
              <a:gd name="T52" fmla="*/ 29 w 29"/>
              <a:gd name="T53" fmla="*/ 26 h 26"/>
              <a:gd name="T54" fmla="*/ 0 w 29"/>
              <a:gd name="T55" fmla="*/ 26 h 26"/>
              <a:gd name="T56" fmla="*/ 7 w 29"/>
              <a:gd name="T57" fmla="*/ 11 h 26"/>
              <a:gd name="T58" fmla="*/ 2 w 29"/>
              <a:gd name="T59" fmla="*/ 11 h 26"/>
              <a:gd name="T60" fmla="*/ 2 w 29"/>
              <a:gd name="T61" fmla="*/ 23 h 26"/>
              <a:gd name="T62" fmla="*/ 7 w 29"/>
              <a:gd name="T63" fmla="*/ 24 h 26"/>
              <a:gd name="T64" fmla="*/ 11 w 29"/>
              <a:gd name="T65" fmla="*/ 10 h 26"/>
              <a:gd name="T66" fmla="*/ 11 w 29"/>
              <a:gd name="T67" fmla="*/ 9 h 26"/>
              <a:gd name="T68" fmla="*/ 19 w 29"/>
              <a:gd name="T69" fmla="*/ 9 h 26"/>
              <a:gd name="T70" fmla="*/ 18 w 29"/>
              <a:gd name="T71" fmla="*/ 11 h 26"/>
              <a:gd name="T72" fmla="*/ 11 w 29"/>
              <a:gd name="T73" fmla="*/ 10 h 26"/>
              <a:gd name="T74" fmla="*/ 17 w 29"/>
              <a:gd name="T75" fmla="*/ 11 h 26"/>
              <a:gd name="T76" fmla="*/ 12 w 29"/>
              <a:gd name="T77" fmla="*/ 11 h 26"/>
              <a:gd name="T78" fmla="*/ 12 w 29"/>
              <a:gd name="T79" fmla="*/ 23 h 26"/>
              <a:gd name="T80" fmla="*/ 17 w 29"/>
              <a:gd name="T81" fmla="*/ 2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9" h="26">
                <a:moveTo>
                  <a:pt x="21" y="10"/>
                </a:move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9"/>
                  <a:pt x="22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10"/>
                  <a:pt x="29" y="10"/>
                  <a:pt x="29" y="10"/>
                </a:cubicBezTo>
                <a:cubicBezTo>
                  <a:pt x="29" y="10"/>
                  <a:pt x="29" y="11"/>
                  <a:pt x="29" y="11"/>
                </a:cubicBezTo>
                <a:cubicBezTo>
                  <a:pt x="22" y="11"/>
                  <a:pt x="22" y="11"/>
                  <a:pt x="22" y="11"/>
                </a:cubicBezTo>
                <a:cubicBezTo>
                  <a:pt x="21" y="11"/>
                  <a:pt x="21" y="10"/>
                  <a:pt x="21" y="10"/>
                </a:cubicBezTo>
                <a:close/>
                <a:moveTo>
                  <a:pt x="28" y="23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4"/>
                  <a:pt x="23" y="24"/>
                  <a:pt x="23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28" y="24"/>
                  <a:pt x="28" y="24"/>
                  <a:pt x="28" y="23"/>
                </a:cubicBezTo>
                <a:close/>
                <a:moveTo>
                  <a:pt x="0" y="10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9"/>
                  <a:pt x="1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1"/>
                  <a:pt x="8" y="11"/>
                </a:cubicBezTo>
                <a:cubicBezTo>
                  <a:pt x="1" y="11"/>
                  <a:pt x="1" y="11"/>
                  <a:pt x="1" y="11"/>
                </a:cubicBezTo>
                <a:cubicBezTo>
                  <a:pt x="1" y="11"/>
                  <a:pt x="0" y="10"/>
                  <a:pt x="0" y="10"/>
                </a:cubicBezTo>
                <a:close/>
                <a:moveTo>
                  <a:pt x="1" y="6"/>
                </a:moveTo>
                <a:cubicBezTo>
                  <a:pt x="14" y="0"/>
                  <a:pt x="14" y="0"/>
                  <a:pt x="14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7"/>
                  <a:pt x="29" y="7"/>
                  <a:pt x="29" y="7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1" y="8"/>
                  <a:pt x="1" y="8"/>
                  <a:pt x="1" y="8"/>
                </a:cubicBezTo>
                <a:cubicBezTo>
                  <a:pt x="1" y="8"/>
                  <a:pt x="0" y="8"/>
                  <a:pt x="0" y="8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1" y="7"/>
                  <a:pt x="1" y="6"/>
                </a:cubicBezTo>
                <a:close/>
                <a:moveTo>
                  <a:pt x="5" y="6"/>
                </a:moveTo>
                <a:cubicBezTo>
                  <a:pt x="25" y="6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2"/>
                  <a:pt x="15" y="2"/>
                  <a:pt x="15" y="2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lose/>
                <a:moveTo>
                  <a:pt x="0" y="26"/>
                </a:moveTo>
                <a:cubicBezTo>
                  <a:pt x="0" y="25"/>
                  <a:pt x="0" y="25"/>
                  <a:pt x="0" y="25"/>
                </a:cubicBezTo>
                <a:cubicBezTo>
                  <a:pt x="0" y="24"/>
                  <a:pt x="1" y="24"/>
                  <a:pt x="1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24"/>
                  <a:pt x="29" y="24"/>
                  <a:pt x="29" y="25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0" y="26"/>
                  <a:pt x="0" y="26"/>
                </a:cubicBezTo>
                <a:close/>
                <a:moveTo>
                  <a:pt x="7" y="23"/>
                </a:move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7" y="11"/>
                  <a:pt x="7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23"/>
                  <a:pt x="2" y="23"/>
                  <a:pt x="2" y="23"/>
                </a:cubicBezTo>
                <a:cubicBezTo>
                  <a:pt x="2" y="24"/>
                  <a:pt x="2" y="24"/>
                  <a:pt x="2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3"/>
                </a:cubicBezTo>
                <a:close/>
                <a:moveTo>
                  <a:pt x="11" y="10"/>
                </a:move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1"/>
                  <a:pt x="18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1" y="10"/>
                  <a:pt x="11" y="10"/>
                </a:cubicBezTo>
                <a:close/>
                <a:moveTo>
                  <a:pt x="17" y="23"/>
                </a:moveTo>
                <a:cubicBezTo>
                  <a:pt x="17" y="11"/>
                  <a:pt x="17" y="11"/>
                  <a:pt x="17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4"/>
                  <a:pt x="12" y="24"/>
                  <a:pt x="12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endParaRPr lang="en-US" sz="1866"/>
          </a:p>
        </p:txBody>
      </p:sp>
      <p:grpSp>
        <p:nvGrpSpPr>
          <p:cNvPr id="16" name="Group 15"/>
          <p:cNvGrpSpPr/>
          <p:nvPr/>
        </p:nvGrpSpPr>
        <p:grpSpPr>
          <a:xfrm>
            <a:off x="3123877" y="3065215"/>
            <a:ext cx="649423" cy="649423"/>
            <a:chOff x="5354389" y="1349194"/>
            <a:chExt cx="1108482" cy="1108482"/>
          </a:xfrm>
        </p:grpSpPr>
        <p:sp>
          <p:nvSpPr>
            <p:cNvPr id="17" name="Oval 16"/>
            <p:cNvSpPr/>
            <p:nvPr/>
          </p:nvSpPr>
          <p:spPr>
            <a:xfrm>
              <a:off x="5354389" y="1349194"/>
              <a:ext cx="1108482" cy="11084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429540" y="1424345"/>
              <a:ext cx="958180" cy="9581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Freeform 201"/>
          <p:cNvSpPr>
            <a:spLocks noEditPoints="1"/>
          </p:cNvSpPr>
          <p:nvPr/>
        </p:nvSpPr>
        <p:spPr bwMode="auto">
          <a:xfrm>
            <a:off x="3318195" y="3262125"/>
            <a:ext cx="307663" cy="260608"/>
          </a:xfrm>
          <a:custGeom>
            <a:avLst/>
            <a:gdLst>
              <a:gd name="T0" fmla="*/ 11 w 32"/>
              <a:gd name="T1" fmla="*/ 3 h 27"/>
              <a:gd name="T2" fmla="*/ 14 w 32"/>
              <a:gd name="T3" fmla="*/ 3 h 27"/>
              <a:gd name="T4" fmla="*/ 10 w 32"/>
              <a:gd name="T5" fmla="*/ 16 h 27"/>
              <a:gd name="T6" fmla="*/ 0 w 32"/>
              <a:gd name="T7" fmla="*/ 27 h 27"/>
              <a:gd name="T8" fmla="*/ 0 w 32"/>
              <a:gd name="T9" fmla="*/ 25 h 27"/>
              <a:gd name="T10" fmla="*/ 32 w 32"/>
              <a:gd name="T11" fmla="*/ 26 h 27"/>
              <a:gd name="T12" fmla="*/ 32 w 32"/>
              <a:gd name="T13" fmla="*/ 27 h 27"/>
              <a:gd name="T14" fmla="*/ 0 w 32"/>
              <a:gd name="T15" fmla="*/ 27 h 27"/>
              <a:gd name="T16" fmla="*/ 5 w 32"/>
              <a:gd name="T17" fmla="*/ 0 h 27"/>
              <a:gd name="T18" fmla="*/ 2 w 32"/>
              <a:gd name="T19" fmla="*/ 1 h 27"/>
              <a:gd name="T20" fmla="*/ 6 w 32"/>
              <a:gd name="T21" fmla="*/ 24 h 27"/>
              <a:gd name="T22" fmla="*/ 26 w 32"/>
              <a:gd name="T23" fmla="*/ 0 h 27"/>
              <a:gd name="T24" fmla="*/ 28 w 32"/>
              <a:gd name="T25" fmla="*/ 4 h 27"/>
              <a:gd name="T26" fmla="*/ 19 w 32"/>
              <a:gd name="T27" fmla="*/ 4 h 27"/>
              <a:gd name="T28" fmla="*/ 19 w 32"/>
              <a:gd name="T29" fmla="*/ 3 h 27"/>
              <a:gd name="T30" fmla="*/ 22 w 32"/>
              <a:gd name="T31" fmla="*/ 2 h 27"/>
              <a:gd name="T32" fmla="*/ 24 w 32"/>
              <a:gd name="T33" fmla="*/ 1 h 27"/>
              <a:gd name="T34" fmla="*/ 7 w 32"/>
              <a:gd name="T35" fmla="*/ 24 h 27"/>
              <a:gd name="T36" fmla="*/ 31 w 32"/>
              <a:gd name="T37" fmla="*/ 16 h 27"/>
              <a:gd name="T38" fmla="*/ 23 w 32"/>
              <a:gd name="T39" fmla="*/ 17 h 27"/>
              <a:gd name="T40" fmla="*/ 15 w 32"/>
              <a:gd name="T41" fmla="*/ 17 h 27"/>
              <a:gd name="T42" fmla="*/ 7 w 32"/>
              <a:gd name="T43" fmla="*/ 17 h 27"/>
              <a:gd name="T44" fmla="*/ 7 w 32"/>
              <a:gd name="T45" fmla="*/ 24 h 27"/>
              <a:gd name="T46" fmla="*/ 24 w 32"/>
              <a:gd name="T47" fmla="*/ 19 h 27"/>
              <a:gd name="T48" fmla="*/ 29 w 32"/>
              <a:gd name="T49" fmla="*/ 21 h 27"/>
              <a:gd name="T50" fmla="*/ 9 w 32"/>
              <a:gd name="T51" fmla="*/ 21 h 27"/>
              <a:gd name="T52" fmla="*/ 14 w 32"/>
              <a:gd name="T53" fmla="*/ 19 h 27"/>
              <a:gd name="T54" fmla="*/ 9 w 32"/>
              <a:gd name="T55" fmla="*/ 21 h 27"/>
              <a:gd name="T56" fmla="*/ 17 w 32"/>
              <a:gd name="T57" fmla="*/ 19 h 27"/>
              <a:gd name="T58" fmla="*/ 22 w 32"/>
              <a:gd name="T59" fmla="*/ 21 h 27"/>
              <a:gd name="T60" fmla="*/ 18 w 32"/>
              <a:gd name="T61" fmla="*/ 6 h 27"/>
              <a:gd name="T62" fmla="*/ 21 w 32"/>
              <a:gd name="T63" fmla="*/ 5 h 27"/>
              <a:gd name="T64" fmla="*/ 22 w 32"/>
              <a:gd name="T65" fmla="*/ 15 h 27"/>
              <a:gd name="T66" fmla="*/ 17 w 32"/>
              <a:gd name="T67" fmla="*/ 1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2" h="27">
                <a:moveTo>
                  <a:pt x="10" y="3"/>
                </a:moveTo>
                <a:cubicBezTo>
                  <a:pt x="10" y="3"/>
                  <a:pt x="10" y="3"/>
                  <a:pt x="11" y="3"/>
                </a:cubicBezTo>
                <a:cubicBezTo>
                  <a:pt x="13" y="3"/>
                  <a:pt x="13" y="3"/>
                  <a:pt x="13" y="3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7"/>
                  <a:pt x="14" y="11"/>
                  <a:pt x="14" y="15"/>
                </a:cubicBezTo>
                <a:cubicBezTo>
                  <a:pt x="10" y="16"/>
                  <a:pt x="10" y="16"/>
                  <a:pt x="10" y="16"/>
                </a:cubicBezTo>
                <a:cubicBezTo>
                  <a:pt x="10" y="12"/>
                  <a:pt x="10" y="7"/>
                  <a:pt x="10" y="3"/>
                </a:cubicBezTo>
                <a:close/>
                <a:moveTo>
                  <a:pt x="0" y="27"/>
                </a:move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0" y="25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5"/>
                  <a:pt x="32" y="25"/>
                  <a:pt x="32" y="26"/>
                </a:cubicBezTo>
                <a:cubicBezTo>
                  <a:pt x="32" y="27"/>
                  <a:pt x="32" y="27"/>
                  <a:pt x="32" y="27"/>
                </a:cubicBezTo>
                <a:cubicBezTo>
                  <a:pt x="32" y="27"/>
                  <a:pt x="32" y="27"/>
                  <a:pt x="32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7"/>
                </a:cubicBezTo>
                <a:close/>
                <a:moveTo>
                  <a:pt x="5" y="1"/>
                </a:moveTo>
                <a:cubicBezTo>
                  <a:pt x="5" y="0"/>
                  <a:pt x="5" y="0"/>
                  <a:pt x="5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1"/>
                </a:cubicBezTo>
                <a:cubicBezTo>
                  <a:pt x="1" y="9"/>
                  <a:pt x="1" y="17"/>
                  <a:pt x="0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17"/>
                  <a:pt x="6" y="9"/>
                  <a:pt x="5" y="1"/>
                </a:cubicBezTo>
                <a:close/>
                <a:moveTo>
                  <a:pt x="26" y="0"/>
                </a:moveTo>
                <a:cubicBezTo>
                  <a:pt x="27" y="0"/>
                  <a:pt x="28" y="1"/>
                  <a:pt x="28" y="3"/>
                </a:cubicBezTo>
                <a:cubicBezTo>
                  <a:pt x="28" y="3"/>
                  <a:pt x="28" y="4"/>
                  <a:pt x="28" y="4"/>
                </a:cubicBezTo>
                <a:cubicBezTo>
                  <a:pt x="28" y="4"/>
                  <a:pt x="28" y="4"/>
                  <a:pt x="27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3"/>
                </a:cubicBezTo>
                <a:cubicBezTo>
                  <a:pt x="19" y="2"/>
                  <a:pt x="20" y="2"/>
                  <a:pt x="21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3" y="1"/>
                  <a:pt x="23" y="1"/>
                </a:cubicBezTo>
                <a:cubicBezTo>
                  <a:pt x="23" y="1"/>
                  <a:pt x="23" y="1"/>
                  <a:pt x="24" y="1"/>
                </a:cubicBezTo>
                <a:cubicBezTo>
                  <a:pt x="24" y="1"/>
                  <a:pt x="25" y="0"/>
                  <a:pt x="26" y="0"/>
                </a:cubicBezTo>
                <a:close/>
                <a:moveTo>
                  <a:pt x="7" y="24"/>
                </a:moveTo>
                <a:cubicBezTo>
                  <a:pt x="15" y="24"/>
                  <a:pt x="23" y="24"/>
                  <a:pt x="31" y="24"/>
                </a:cubicBezTo>
                <a:cubicBezTo>
                  <a:pt x="31" y="22"/>
                  <a:pt x="31" y="19"/>
                  <a:pt x="31" y="16"/>
                </a:cubicBezTo>
                <a:cubicBezTo>
                  <a:pt x="31" y="16"/>
                  <a:pt x="31" y="16"/>
                  <a:pt x="31" y="16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6"/>
                  <a:pt x="23" y="16"/>
                  <a:pt x="23" y="16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6"/>
                  <a:pt x="15" y="16"/>
                  <a:pt x="15" y="16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8"/>
                  <a:pt x="7" y="18"/>
                </a:cubicBezTo>
                <a:cubicBezTo>
                  <a:pt x="7" y="20"/>
                  <a:pt x="7" y="22"/>
                  <a:pt x="7" y="24"/>
                </a:cubicBezTo>
                <a:close/>
                <a:moveTo>
                  <a:pt x="24" y="21"/>
                </a:moveTo>
                <a:cubicBezTo>
                  <a:pt x="24" y="19"/>
                  <a:pt x="24" y="19"/>
                  <a:pt x="24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21"/>
                  <a:pt x="29" y="21"/>
                  <a:pt x="29" y="21"/>
                </a:cubicBezTo>
                <a:cubicBezTo>
                  <a:pt x="24" y="21"/>
                  <a:pt x="24" y="21"/>
                  <a:pt x="24" y="21"/>
                </a:cubicBezTo>
                <a:close/>
                <a:moveTo>
                  <a:pt x="9" y="21"/>
                </a:moveTo>
                <a:cubicBezTo>
                  <a:pt x="9" y="19"/>
                  <a:pt x="9" y="19"/>
                  <a:pt x="9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21"/>
                  <a:pt x="14" y="21"/>
                  <a:pt x="14" y="21"/>
                </a:cubicBezTo>
                <a:cubicBezTo>
                  <a:pt x="9" y="21"/>
                  <a:pt x="9" y="21"/>
                  <a:pt x="9" y="21"/>
                </a:cubicBezTo>
                <a:close/>
                <a:moveTo>
                  <a:pt x="17" y="21"/>
                </a:moveTo>
                <a:cubicBezTo>
                  <a:pt x="17" y="19"/>
                  <a:pt x="17" y="19"/>
                  <a:pt x="17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21"/>
                  <a:pt x="22" y="21"/>
                  <a:pt x="22" y="21"/>
                </a:cubicBezTo>
                <a:cubicBezTo>
                  <a:pt x="17" y="21"/>
                  <a:pt x="17" y="21"/>
                  <a:pt x="17" y="21"/>
                </a:cubicBezTo>
                <a:close/>
                <a:moveTo>
                  <a:pt x="18" y="6"/>
                </a:moveTo>
                <a:cubicBezTo>
                  <a:pt x="18" y="5"/>
                  <a:pt x="18" y="5"/>
                  <a:pt x="18" y="5"/>
                </a:cubicBezTo>
                <a:cubicBezTo>
                  <a:pt x="21" y="5"/>
                  <a:pt x="21" y="5"/>
                  <a:pt x="21" y="5"/>
                </a:cubicBezTo>
                <a:cubicBezTo>
                  <a:pt x="21" y="5"/>
                  <a:pt x="21" y="5"/>
                  <a:pt x="22" y="6"/>
                </a:cubicBezTo>
                <a:cubicBezTo>
                  <a:pt x="22" y="9"/>
                  <a:pt x="22" y="12"/>
                  <a:pt x="22" y="15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5"/>
                  <a:pt x="17" y="15"/>
                </a:cubicBezTo>
                <a:cubicBezTo>
                  <a:pt x="18" y="12"/>
                  <a:pt x="18" y="8"/>
                  <a:pt x="18" y="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endParaRPr lang="en-US" sz="1866"/>
          </a:p>
        </p:txBody>
      </p:sp>
      <p:sp>
        <p:nvSpPr>
          <p:cNvPr id="20" name="Google Shape;174;p3"/>
          <p:cNvSpPr txBox="1"/>
          <p:nvPr/>
        </p:nvSpPr>
        <p:spPr>
          <a:xfrm>
            <a:off x="3868875" y="3159115"/>
            <a:ext cx="809452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Student Outcomes (SOs) and Performance Indicators (PIs)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080022" y="3979189"/>
            <a:ext cx="649423" cy="649423"/>
            <a:chOff x="5354389" y="1349194"/>
            <a:chExt cx="1108482" cy="1108482"/>
          </a:xfrm>
        </p:grpSpPr>
        <p:sp>
          <p:nvSpPr>
            <p:cNvPr id="27" name="Oval 26"/>
            <p:cNvSpPr/>
            <p:nvPr/>
          </p:nvSpPr>
          <p:spPr>
            <a:xfrm>
              <a:off x="5354389" y="1349194"/>
              <a:ext cx="1108482" cy="11084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429540" y="1424345"/>
              <a:ext cx="958180" cy="9581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Google Shape;174;p3"/>
          <p:cNvSpPr txBox="1"/>
          <p:nvPr/>
        </p:nvSpPr>
        <p:spPr>
          <a:xfrm>
            <a:off x="3860276" y="4162343"/>
            <a:ext cx="519424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2022-2023 Assessment Plan &amp; Results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0" name="Freeform 186"/>
          <p:cNvSpPr>
            <a:spLocks noEditPoints="1"/>
          </p:cNvSpPr>
          <p:nvPr/>
        </p:nvSpPr>
        <p:spPr bwMode="auto">
          <a:xfrm>
            <a:off x="3303774" y="4199560"/>
            <a:ext cx="219376" cy="270364"/>
          </a:xfrm>
          <a:custGeom>
            <a:avLst/>
            <a:gdLst>
              <a:gd name="T0" fmla="*/ 8 w 26"/>
              <a:gd name="T1" fmla="*/ 6 h 30"/>
              <a:gd name="T2" fmla="*/ 6 w 26"/>
              <a:gd name="T3" fmla="*/ 4 h 30"/>
              <a:gd name="T4" fmla="*/ 22 w 26"/>
              <a:gd name="T5" fmla="*/ 22 h 30"/>
              <a:gd name="T6" fmla="*/ 21 w 26"/>
              <a:gd name="T7" fmla="*/ 24 h 30"/>
              <a:gd name="T8" fmla="*/ 19 w 26"/>
              <a:gd name="T9" fmla="*/ 25 h 30"/>
              <a:gd name="T10" fmla="*/ 16 w 26"/>
              <a:gd name="T11" fmla="*/ 24 h 30"/>
              <a:gd name="T12" fmla="*/ 13 w 26"/>
              <a:gd name="T13" fmla="*/ 24 h 30"/>
              <a:gd name="T14" fmla="*/ 10 w 26"/>
              <a:gd name="T15" fmla="*/ 24 h 30"/>
              <a:gd name="T16" fmla="*/ 7 w 26"/>
              <a:gd name="T17" fmla="*/ 24 h 30"/>
              <a:gd name="T18" fmla="*/ 4 w 26"/>
              <a:gd name="T19" fmla="*/ 25 h 30"/>
              <a:gd name="T20" fmla="*/ 24 w 26"/>
              <a:gd name="T21" fmla="*/ 1 h 30"/>
              <a:gd name="T22" fmla="*/ 2 w 26"/>
              <a:gd name="T23" fmla="*/ 25 h 30"/>
              <a:gd name="T24" fmla="*/ 5 w 26"/>
              <a:gd name="T25" fmla="*/ 27 h 30"/>
              <a:gd name="T26" fmla="*/ 8 w 26"/>
              <a:gd name="T27" fmla="*/ 27 h 30"/>
              <a:gd name="T28" fmla="*/ 10 w 26"/>
              <a:gd name="T29" fmla="*/ 26 h 30"/>
              <a:gd name="T30" fmla="*/ 10 w 26"/>
              <a:gd name="T31" fmla="*/ 27 h 30"/>
              <a:gd name="T32" fmla="*/ 8 w 26"/>
              <a:gd name="T33" fmla="*/ 28 h 30"/>
              <a:gd name="T34" fmla="*/ 6 w 26"/>
              <a:gd name="T35" fmla="*/ 27 h 30"/>
              <a:gd name="T36" fmla="*/ 3 w 26"/>
              <a:gd name="T37" fmla="*/ 27 h 30"/>
              <a:gd name="T38" fmla="*/ 2 w 26"/>
              <a:gd name="T39" fmla="*/ 1 h 30"/>
              <a:gd name="T40" fmla="*/ 2 w 26"/>
              <a:gd name="T41" fmla="*/ 2 h 30"/>
              <a:gd name="T42" fmla="*/ 13 w 26"/>
              <a:gd name="T43" fmla="*/ 27 h 30"/>
              <a:gd name="T44" fmla="*/ 13 w 26"/>
              <a:gd name="T45" fmla="*/ 27 h 30"/>
              <a:gd name="T46" fmla="*/ 18 w 26"/>
              <a:gd name="T47" fmla="*/ 27 h 30"/>
              <a:gd name="T48" fmla="*/ 20 w 26"/>
              <a:gd name="T49" fmla="*/ 28 h 30"/>
              <a:gd name="T50" fmla="*/ 0 w 26"/>
              <a:gd name="T51" fmla="*/ 2 h 30"/>
              <a:gd name="T52" fmla="*/ 25 w 26"/>
              <a:gd name="T53" fmla="*/ 0 h 30"/>
              <a:gd name="T54" fmla="*/ 26 w 26"/>
              <a:gd name="T55" fmla="*/ 24 h 30"/>
              <a:gd name="T56" fmla="*/ 22 w 26"/>
              <a:gd name="T57" fmla="*/ 28 h 30"/>
              <a:gd name="T58" fmla="*/ 20 w 26"/>
              <a:gd name="T59" fmla="*/ 29 h 30"/>
              <a:gd name="T60" fmla="*/ 17 w 26"/>
              <a:gd name="T61" fmla="*/ 29 h 30"/>
              <a:gd name="T62" fmla="*/ 14 w 26"/>
              <a:gd name="T63" fmla="*/ 30 h 30"/>
              <a:gd name="T64" fmla="*/ 11 w 26"/>
              <a:gd name="T65" fmla="*/ 29 h 30"/>
              <a:gd name="T66" fmla="*/ 9 w 26"/>
              <a:gd name="T67" fmla="*/ 29 h 30"/>
              <a:gd name="T68" fmla="*/ 7 w 26"/>
              <a:gd name="T69" fmla="*/ 29 h 30"/>
              <a:gd name="T70" fmla="*/ 5 w 26"/>
              <a:gd name="T71" fmla="*/ 29 h 30"/>
              <a:gd name="T72" fmla="*/ 2 w 26"/>
              <a:gd name="T73" fmla="*/ 29 h 30"/>
              <a:gd name="T74" fmla="*/ 0 w 26"/>
              <a:gd name="T75" fmla="*/ 2 h 30"/>
              <a:gd name="T76" fmla="*/ 13 w 26"/>
              <a:gd name="T77" fmla="*/ 14 h 30"/>
              <a:gd name="T78" fmla="*/ 6 w 26"/>
              <a:gd name="T79" fmla="*/ 13 h 30"/>
              <a:gd name="T80" fmla="*/ 10 w 26"/>
              <a:gd name="T81" fmla="*/ 12 h 30"/>
              <a:gd name="T82" fmla="*/ 6 w 26"/>
              <a:gd name="T83" fmla="*/ 13 h 30"/>
              <a:gd name="T84" fmla="*/ 22 w 26"/>
              <a:gd name="T85" fmla="*/ 22 h 30"/>
              <a:gd name="T86" fmla="*/ 6 w 26"/>
              <a:gd name="T87" fmla="*/ 16 h 30"/>
              <a:gd name="T88" fmla="*/ 23 w 26"/>
              <a:gd name="T89" fmla="*/ 17 h 30"/>
              <a:gd name="T90" fmla="*/ 16 w 26"/>
              <a:gd name="T91" fmla="*/ 13 h 30"/>
              <a:gd name="T92" fmla="*/ 23 w 26"/>
              <a:gd name="T93" fmla="*/ 13 h 30"/>
              <a:gd name="T94" fmla="*/ 16 w 26"/>
              <a:gd name="T95" fmla="*/ 9 h 30"/>
              <a:gd name="T96" fmla="*/ 22 w 26"/>
              <a:gd name="T97" fmla="*/ 9 h 30"/>
              <a:gd name="T98" fmla="*/ 10 w 26"/>
              <a:gd name="T99" fmla="*/ 3 h 30"/>
              <a:gd name="T100" fmla="*/ 11 w 26"/>
              <a:gd name="T101" fmla="*/ 5 h 30"/>
              <a:gd name="T102" fmla="*/ 14 w 26"/>
              <a:gd name="T103" fmla="*/ 3 h 30"/>
              <a:gd name="T104" fmla="*/ 17 w 26"/>
              <a:gd name="T105" fmla="*/ 7 h 30"/>
              <a:gd name="T106" fmla="*/ 18 w 26"/>
              <a:gd name="T107" fmla="*/ 6 h 30"/>
              <a:gd name="T108" fmla="*/ 14 w 26"/>
              <a:gd name="T109" fmla="*/ 3 h 30"/>
              <a:gd name="T110" fmla="*/ 21 w 26"/>
              <a:gd name="T111" fmla="*/ 6 h 30"/>
              <a:gd name="T112" fmla="*/ 21 w 26"/>
              <a:gd name="T113" fmla="*/ 7 h 30"/>
              <a:gd name="T114" fmla="*/ 23 w 26"/>
              <a:gd name="T115" fmla="*/ 7 h 30"/>
              <a:gd name="T116" fmla="*/ 22 w 26"/>
              <a:gd name="T117" fmla="*/ 5 h 30"/>
              <a:gd name="T118" fmla="*/ 23 w 26"/>
              <a:gd name="T119" fmla="*/ 4 h 30"/>
              <a:gd name="T120" fmla="*/ 24 w 26"/>
              <a:gd name="T121" fmla="*/ 4 h 30"/>
              <a:gd name="T122" fmla="*/ 20 w 26"/>
              <a:gd name="T123" fmla="*/ 3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6" h="30">
                <a:moveTo>
                  <a:pt x="8" y="7"/>
                </a:moveTo>
                <a:cubicBezTo>
                  <a:pt x="9" y="7"/>
                  <a:pt x="9" y="7"/>
                  <a:pt x="9" y="7"/>
                </a:cubicBezTo>
                <a:cubicBezTo>
                  <a:pt x="9" y="3"/>
                  <a:pt x="9" y="3"/>
                  <a:pt x="9" y="3"/>
                </a:cubicBezTo>
                <a:cubicBezTo>
                  <a:pt x="8" y="3"/>
                  <a:pt x="8" y="3"/>
                  <a:pt x="8" y="3"/>
                </a:cubicBezTo>
                <a:cubicBezTo>
                  <a:pt x="8" y="4"/>
                  <a:pt x="8" y="5"/>
                  <a:pt x="8" y="6"/>
                </a:cubicBezTo>
                <a:cubicBezTo>
                  <a:pt x="8" y="5"/>
                  <a:pt x="7" y="4"/>
                  <a:pt x="7" y="3"/>
                </a:cubicBezTo>
                <a:cubicBezTo>
                  <a:pt x="5" y="3"/>
                  <a:pt x="5" y="3"/>
                  <a:pt x="5" y="3"/>
                </a:cubicBezTo>
                <a:cubicBezTo>
                  <a:pt x="5" y="7"/>
                  <a:pt x="5" y="7"/>
                  <a:pt x="5" y="7"/>
                </a:cubicBezTo>
                <a:cubicBezTo>
                  <a:pt x="5" y="7"/>
                  <a:pt x="6" y="7"/>
                  <a:pt x="6" y="7"/>
                </a:cubicBezTo>
                <a:cubicBezTo>
                  <a:pt x="6" y="6"/>
                  <a:pt x="6" y="5"/>
                  <a:pt x="6" y="4"/>
                </a:cubicBezTo>
                <a:cubicBezTo>
                  <a:pt x="7" y="5"/>
                  <a:pt x="7" y="6"/>
                  <a:pt x="8" y="7"/>
                </a:cubicBezTo>
                <a:close/>
                <a:moveTo>
                  <a:pt x="25" y="2"/>
                </a:moveTo>
                <a:cubicBezTo>
                  <a:pt x="25" y="22"/>
                  <a:pt x="25" y="22"/>
                  <a:pt x="25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0" y="24"/>
                  <a:pt x="20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19" y="25"/>
                  <a:pt x="19" y="25"/>
                  <a:pt x="19" y="25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6" y="24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8" y="25"/>
                  <a:pt x="8" y="25"/>
                  <a:pt x="8" y="25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5" y="25"/>
                  <a:pt x="5" y="25"/>
                  <a:pt x="5" y="25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"/>
                  <a:pt x="4" y="2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4" y="1"/>
                  <a:pt x="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5" y="2"/>
                  <a:pt x="25" y="2"/>
                </a:cubicBezTo>
                <a:cubicBezTo>
                  <a:pt x="25" y="2"/>
                  <a:pt x="25" y="2"/>
                  <a:pt x="25" y="2"/>
                </a:cubicBezTo>
                <a:close/>
                <a:moveTo>
                  <a:pt x="2" y="25"/>
                </a:moveTo>
                <a:cubicBezTo>
                  <a:pt x="2" y="25"/>
                  <a:pt x="2" y="25"/>
                  <a:pt x="2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5"/>
                  <a:pt x="3" y="26"/>
                  <a:pt x="3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6" y="27"/>
                </a:cubicBezTo>
                <a:cubicBezTo>
                  <a:pt x="7" y="26"/>
                  <a:pt x="7" y="26"/>
                  <a:pt x="7" y="26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10" y="26"/>
                  <a:pt x="10" y="26"/>
                  <a:pt x="10" y="26"/>
                </a:cubicBezTo>
                <a:cubicBezTo>
                  <a:pt x="11" y="27"/>
                  <a:pt x="11" y="27"/>
                  <a:pt x="11" y="27"/>
                </a:cubicBezTo>
                <a:cubicBezTo>
                  <a:pt x="11" y="27"/>
                  <a:pt x="12" y="27"/>
                  <a:pt x="12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1" y="28"/>
                  <a:pt x="11" y="28"/>
                  <a:pt x="11" y="28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8" y="28"/>
                  <a:pt x="8" y="28"/>
                  <a:pt x="8" y="28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6" y="27"/>
                  <a:pt x="6" y="27"/>
                </a:cubicBezTo>
                <a:cubicBezTo>
                  <a:pt x="6" y="27"/>
                  <a:pt x="6" y="27"/>
                  <a:pt x="6" y="27"/>
                </a:cubicBezTo>
                <a:cubicBezTo>
                  <a:pt x="5" y="28"/>
                  <a:pt x="5" y="28"/>
                  <a:pt x="5" y="28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3" y="27"/>
                  <a:pt x="3" y="27"/>
                  <a:pt x="3" y="27"/>
                </a:cubicBezTo>
                <a:cubicBezTo>
                  <a:pt x="3" y="27"/>
                  <a:pt x="3" y="27"/>
                  <a:pt x="3" y="27"/>
                </a:cubicBezTo>
                <a:cubicBezTo>
                  <a:pt x="2" y="28"/>
                  <a:pt x="2" y="28"/>
                  <a:pt x="2" y="28"/>
                </a:cubicBezTo>
                <a:cubicBezTo>
                  <a:pt x="1" y="27"/>
                  <a:pt x="1" y="27"/>
                  <a:pt x="1" y="27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5"/>
                  <a:pt x="2" y="25"/>
                  <a:pt x="2" y="25"/>
                </a:cubicBezTo>
                <a:close/>
                <a:moveTo>
                  <a:pt x="13" y="27"/>
                </a:move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4" y="28"/>
                  <a:pt x="14" y="28"/>
                  <a:pt x="14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4" y="26"/>
                  <a:pt x="14" y="26"/>
                  <a:pt x="14" y="26"/>
                </a:cubicBezTo>
                <a:cubicBezTo>
                  <a:pt x="13" y="27"/>
                  <a:pt x="13" y="27"/>
                  <a:pt x="13" y="27"/>
                </a:cubicBezTo>
                <a:close/>
                <a:moveTo>
                  <a:pt x="16" y="27"/>
                </a:moveTo>
                <a:cubicBezTo>
                  <a:pt x="16" y="27"/>
                  <a:pt x="16" y="27"/>
                  <a:pt x="16" y="27"/>
                </a:cubicBezTo>
                <a:cubicBezTo>
                  <a:pt x="17" y="28"/>
                  <a:pt x="17" y="28"/>
                  <a:pt x="17" y="28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7" y="26"/>
                  <a:pt x="17" y="26"/>
                  <a:pt x="17" y="26"/>
                </a:cubicBezTo>
                <a:cubicBezTo>
                  <a:pt x="16" y="27"/>
                  <a:pt x="16" y="27"/>
                  <a:pt x="16" y="27"/>
                </a:cubicBezTo>
                <a:close/>
                <a:moveTo>
                  <a:pt x="19" y="27"/>
                </a:moveTo>
                <a:cubicBezTo>
                  <a:pt x="19" y="27"/>
                  <a:pt x="19" y="27"/>
                  <a:pt x="19" y="27"/>
                </a:cubicBezTo>
                <a:cubicBezTo>
                  <a:pt x="20" y="28"/>
                  <a:pt x="20" y="28"/>
                  <a:pt x="20" y="28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6"/>
                  <a:pt x="21" y="26"/>
                  <a:pt x="21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19" y="27"/>
                  <a:pt x="19" y="27"/>
                  <a:pt x="19" y="27"/>
                </a:cubicBezTo>
                <a:close/>
                <a:moveTo>
                  <a:pt x="0" y="2"/>
                </a:move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  <a:cubicBezTo>
                  <a:pt x="1" y="0"/>
                  <a:pt x="1" y="0"/>
                  <a:pt x="2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5" y="0"/>
                  <a:pt x="25" y="0"/>
                </a:cubicBezTo>
                <a:cubicBezTo>
                  <a:pt x="25" y="0"/>
                  <a:pt x="26" y="0"/>
                  <a:pt x="26" y="0"/>
                </a:cubicBezTo>
                <a:cubicBezTo>
                  <a:pt x="26" y="0"/>
                  <a:pt x="26" y="2"/>
                  <a:pt x="26" y="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10"/>
                  <a:pt x="26" y="16"/>
                  <a:pt x="26" y="22"/>
                </a:cubicBezTo>
                <a:cubicBezTo>
                  <a:pt x="26" y="23"/>
                  <a:pt x="26" y="23"/>
                  <a:pt x="26" y="24"/>
                </a:cubicBezTo>
                <a:cubicBezTo>
                  <a:pt x="25" y="25"/>
                  <a:pt x="23" y="26"/>
                  <a:pt x="2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8"/>
                  <a:pt x="22" y="28"/>
                  <a:pt x="22" y="28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30"/>
                  <a:pt x="20" y="30"/>
                  <a:pt x="20" y="30"/>
                </a:cubicBezTo>
                <a:cubicBezTo>
                  <a:pt x="20" y="30"/>
                  <a:pt x="20" y="30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30"/>
                  <a:pt x="17" y="30"/>
                  <a:pt x="17" y="30"/>
                </a:cubicBezTo>
                <a:cubicBezTo>
                  <a:pt x="17" y="30"/>
                  <a:pt x="17" y="30"/>
                  <a:pt x="17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30"/>
                  <a:pt x="14" y="30"/>
                  <a:pt x="14" y="30"/>
                </a:cubicBezTo>
                <a:cubicBezTo>
                  <a:pt x="14" y="30"/>
                  <a:pt x="14" y="30"/>
                  <a:pt x="14" y="29"/>
                </a:cubicBezTo>
                <a:cubicBezTo>
                  <a:pt x="14" y="29"/>
                  <a:pt x="14" y="29"/>
                  <a:pt x="14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2" y="29"/>
                  <a:pt x="12" y="29"/>
                  <a:pt x="12" y="29"/>
                </a:cubicBezTo>
                <a:cubicBezTo>
                  <a:pt x="12" y="29"/>
                  <a:pt x="12" y="29"/>
                  <a:pt x="11" y="29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0"/>
                  <a:pt x="11" y="30"/>
                  <a:pt x="11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9" y="29"/>
                  <a:pt x="9" y="29"/>
                  <a:pt x="9" y="29"/>
                </a:cubicBezTo>
                <a:cubicBezTo>
                  <a:pt x="9" y="29"/>
                  <a:pt x="9" y="29"/>
                  <a:pt x="8" y="29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30"/>
                  <a:pt x="8" y="30"/>
                  <a:pt x="8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5" y="29"/>
                  <a:pt x="5" y="29"/>
                </a:cubicBezTo>
                <a:cubicBezTo>
                  <a:pt x="5" y="30"/>
                  <a:pt x="5" y="30"/>
                  <a:pt x="5" y="30"/>
                </a:cubicBezTo>
                <a:cubicBezTo>
                  <a:pt x="5" y="30"/>
                  <a:pt x="5" y="30"/>
                  <a:pt x="5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4" y="29"/>
                  <a:pt x="4" y="29"/>
                  <a:pt x="4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30"/>
                  <a:pt x="2" y="30"/>
                  <a:pt x="2" y="30"/>
                </a:cubicBezTo>
                <a:cubicBezTo>
                  <a:pt x="2" y="30"/>
                  <a:pt x="2" y="30"/>
                  <a:pt x="2" y="29"/>
                </a:cubicBezTo>
                <a:cubicBezTo>
                  <a:pt x="2" y="29"/>
                  <a:pt x="2" y="29"/>
                  <a:pt x="1" y="29"/>
                </a:cubicBezTo>
                <a:cubicBezTo>
                  <a:pt x="1" y="29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"/>
                  <a:pt x="0" y="2"/>
                  <a:pt x="0" y="2"/>
                </a:cubicBezTo>
                <a:close/>
                <a:moveTo>
                  <a:pt x="6" y="9"/>
                </a:moveTo>
                <a:cubicBezTo>
                  <a:pt x="6" y="9"/>
                  <a:pt x="6" y="9"/>
                  <a:pt x="6" y="9"/>
                </a:cubicBezTo>
                <a:cubicBezTo>
                  <a:pt x="6" y="13"/>
                  <a:pt x="6" y="13"/>
                  <a:pt x="6" y="13"/>
                </a:cubicBezTo>
                <a:cubicBezTo>
                  <a:pt x="6" y="13"/>
                  <a:pt x="6" y="14"/>
                  <a:pt x="6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4" y="14"/>
                  <a:pt x="14" y="13"/>
                  <a:pt x="14" y="13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4" y="9"/>
                  <a:pt x="13" y="9"/>
                </a:cubicBezTo>
                <a:cubicBezTo>
                  <a:pt x="6" y="9"/>
                  <a:pt x="6" y="9"/>
                  <a:pt x="6" y="9"/>
                </a:cubicBezTo>
                <a:close/>
                <a:moveTo>
                  <a:pt x="6" y="13"/>
                </a:moveTo>
                <a:cubicBezTo>
                  <a:pt x="13" y="13"/>
                  <a:pt x="13" y="13"/>
                  <a:pt x="13" y="13"/>
                </a:cubicBezTo>
                <a:cubicBezTo>
                  <a:pt x="13" y="12"/>
                  <a:pt x="13" y="12"/>
                  <a:pt x="13" y="12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0" y="12"/>
                  <a:pt x="9" y="12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3"/>
                  <a:pt x="6" y="13"/>
                  <a:pt x="6" y="13"/>
                </a:cubicBezTo>
                <a:close/>
                <a:moveTo>
                  <a:pt x="6" y="20"/>
                </a:moveTo>
                <a:cubicBezTo>
                  <a:pt x="6" y="20"/>
                  <a:pt x="6" y="20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2"/>
                  <a:pt x="6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3" y="22"/>
                  <a:pt x="23" y="21"/>
                  <a:pt x="23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3" y="20"/>
                  <a:pt x="23" y="20"/>
                  <a:pt x="22" y="20"/>
                </a:cubicBezTo>
                <a:cubicBezTo>
                  <a:pt x="6" y="20"/>
                  <a:pt x="6" y="20"/>
                  <a:pt x="6" y="20"/>
                </a:cubicBezTo>
                <a:close/>
                <a:moveTo>
                  <a:pt x="6" y="16"/>
                </a:moveTo>
                <a:cubicBezTo>
                  <a:pt x="6" y="16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8"/>
                  <a:pt x="6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3" y="18"/>
                  <a:pt x="23" y="17"/>
                  <a:pt x="23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7"/>
                  <a:pt x="23" y="16"/>
                  <a:pt x="22" y="16"/>
                </a:cubicBezTo>
                <a:cubicBezTo>
                  <a:pt x="6" y="16"/>
                  <a:pt x="6" y="16"/>
                  <a:pt x="6" y="16"/>
                </a:cubicBezTo>
                <a:close/>
                <a:moveTo>
                  <a:pt x="16" y="12"/>
                </a:moveTo>
                <a:cubicBezTo>
                  <a:pt x="16" y="12"/>
                  <a:pt x="16" y="13"/>
                  <a:pt x="16" y="13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6" y="14"/>
                  <a:pt x="16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4"/>
                  <a:pt x="23" y="13"/>
                  <a:pt x="23" y="13"/>
                </a:cubicBezTo>
                <a:cubicBezTo>
                  <a:pt x="23" y="13"/>
                  <a:pt x="23" y="13"/>
                  <a:pt x="23" y="13"/>
                </a:cubicBezTo>
                <a:cubicBezTo>
                  <a:pt x="23" y="13"/>
                  <a:pt x="23" y="12"/>
                  <a:pt x="22" y="12"/>
                </a:cubicBezTo>
                <a:cubicBezTo>
                  <a:pt x="16" y="12"/>
                  <a:pt x="16" y="12"/>
                  <a:pt x="16" y="12"/>
                </a:cubicBezTo>
                <a:close/>
                <a:moveTo>
                  <a:pt x="16" y="9"/>
                </a:move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10"/>
                  <a:pt x="16" y="10"/>
                  <a:pt x="16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3" y="10"/>
                  <a:pt x="23" y="10"/>
                  <a:pt x="23" y="9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9"/>
                  <a:pt x="23" y="9"/>
                  <a:pt x="22" y="9"/>
                </a:cubicBezTo>
                <a:cubicBezTo>
                  <a:pt x="16" y="9"/>
                  <a:pt x="16" y="9"/>
                  <a:pt x="16" y="9"/>
                </a:cubicBezTo>
                <a:close/>
                <a:moveTo>
                  <a:pt x="11" y="4"/>
                </a:move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0" y="3"/>
                  <a:pt x="10" y="3"/>
                  <a:pt x="10" y="3"/>
                </a:cubicBezTo>
                <a:cubicBezTo>
                  <a:pt x="10" y="7"/>
                  <a:pt x="10" y="7"/>
                  <a:pt x="10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6"/>
                  <a:pt x="11" y="6"/>
                  <a:pt x="11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4"/>
                  <a:pt x="11" y="4"/>
                  <a:pt x="11" y="4"/>
                </a:cubicBezTo>
                <a:close/>
                <a:moveTo>
                  <a:pt x="14" y="3"/>
                </a:moveTo>
                <a:cubicBezTo>
                  <a:pt x="13" y="3"/>
                  <a:pt x="13" y="3"/>
                  <a:pt x="13" y="3"/>
                </a:cubicBezTo>
                <a:cubicBezTo>
                  <a:pt x="14" y="7"/>
                  <a:pt x="14" y="7"/>
                  <a:pt x="14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6"/>
                  <a:pt x="16" y="5"/>
                  <a:pt x="17" y="4"/>
                </a:cubicBezTo>
                <a:cubicBezTo>
                  <a:pt x="17" y="5"/>
                  <a:pt x="17" y="6"/>
                  <a:pt x="17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9" y="3"/>
                  <a:pt x="19" y="3"/>
                  <a:pt x="19" y="3"/>
                </a:cubicBezTo>
                <a:cubicBezTo>
                  <a:pt x="19" y="4"/>
                  <a:pt x="18" y="5"/>
                  <a:pt x="18" y="6"/>
                </a:cubicBezTo>
                <a:cubicBezTo>
                  <a:pt x="18" y="5"/>
                  <a:pt x="17" y="4"/>
                  <a:pt x="17" y="3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4"/>
                  <a:pt x="15" y="5"/>
                  <a:pt x="15" y="6"/>
                </a:cubicBezTo>
                <a:cubicBezTo>
                  <a:pt x="15" y="5"/>
                  <a:pt x="15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lose/>
                <a:moveTo>
                  <a:pt x="20" y="5"/>
                </a:moveTo>
                <a:cubicBezTo>
                  <a:pt x="21" y="5"/>
                  <a:pt x="21" y="5"/>
                  <a:pt x="21" y="5"/>
                </a:cubicBezTo>
                <a:cubicBezTo>
                  <a:pt x="22" y="6"/>
                  <a:pt x="23" y="5"/>
                  <a:pt x="23" y="6"/>
                </a:cubicBezTo>
                <a:cubicBezTo>
                  <a:pt x="23" y="7"/>
                  <a:pt x="21" y="7"/>
                  <a:pt x="21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21" y="6"/>
                  <a:pt x="20" y="6"/>
                  <a:pt x="20" y="6"/>
                </a:cubicBezTo>
                <a:cubicBezTo>
                  <a:pt x="20" y="6"/>
                  <a:pt x="20" y="6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4" y="7"/>
                  <a:pt x="24" y="7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6"/>
                  <a:pt x="24" y="6"/>
                  <a:pt x="24" y="5"/>
                </a:cubicBezTo>
                <a:cubicBezTo>
                  <a:pt x="24" y="5"/>
                  <a:pt x="23" y="5"/>
                  <a:pt x="22" y="5"/>
                </a:cubicBezTo>
                <a:cubicBezTo>
                  <a:pt x="21" y="5"/>
                  <a:pt x="21" y="5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3"/>
                  <a:pt x="23" y="3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3"/>
                </a:cubicBezTo>
                <a:cubicBezTo>
                  <a:pt x="24" y="3"/>
                  <a:pt x="23" y="3"/>
                  <a:pt x="23" y="3"/>
                </a:cubicBezTo>
                <a:cubicBezTo>
                  <a:pt x="23" y="3"/>
                  <a:pt x="21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4"/>
                  <a:pt x="20" y="5"/>
                  <a:pt x="20" y="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endParaRPr lang="en-US" sz="1866" dirty="0"/>
          </a:p>
        </p:txBody>
      </p:sp>
      <p:grpSp>
        <p:nvGrpSpPr>
          <p:cNvPr id="31" name="Group 30"/>
          <p:cNvGrpSpPr/>
          <p:nvPr/>
        </p:nvGrpSpPr>
        <p:grpSpPr>
          <a:xfrm>
            <a:off x="3123878" y="4978417"/>
            <a:ext cx="649423" cy="649422"/>
            <a:chOff x="5354389" y="1349194"/>
            <a:chExt cx="1108482" cy="1108482"/>
          </a:xfrm>
        </p:grpSpPr>
        <p:sp>
          <p:nvSpPr>
            <p:cNvPr id="32" name="Oval 31"/>
            <p:cNvSpPr/>
            <p:nvPr/>
          </p:nvSpPr>
          <p:spPr>
            <a:xfrm>
              <a:off x="5354389" y="1349194"/>
              <a:ext cx="1108482" cy="11084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429539" y="1424349"/>
              <a:ext cx="958180" cy="958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Google Shape;174;p3"/>
          <p:cNvSpPr txBox="1"/>
          <p:nvPr/>
        </p:nvSpPr>
        <p:spPr>
          <a:xfrm>
            <a:off x="3860295" y="5080817"/>
            <a:ext cx="65150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2023-2024 Assessment Plan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6" name="AutoShape 123">
            <a:extLst>
              <a:ext uri="{FF2B5EF4-FFF2-40B4-BE49-F238E27FC236}">
                <a16:creationId xmlns:a16="http://schemas.microsoft.com/office/drawing/2014/main" id="{1F17E50E-B8A0-47F2-827B-5B58BC24DB8F}"/>
              </a:ext>
            </a:extLst>
          </p:cNvPr>
          <p:cNvSpPr>
            <a:spLocks/>
          </p:cNvSpPr>
          <p:nvPr/>
        </p:nvSpPr>
        <p:spPr bwMode="auto">
          <a:xfrm>
            <a:off x="3311377" y="5179073"/>
            <a:ext cx="277812" cy="26511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6949"/>
                </a:moveTo>
                <a:cubicBezTo>
                  <a:pt x="21599" y="7542"/>
                  <a:pt x="21407" y="8153"/>
                  <a:pt x="21017" y="8781"/>
                </a:cubicBezTo>
                <a:cubicBezTo>
                  <a:pt x="20628" y="9416"/>
                  <a:pt x="20109" y="10015"/>
                  <a:pt x="19458" y="10585"/>
                </a:cubicBezTo>
                <a:cubicBezTo>
                  <a:pt x="18806" y="11152"/>
                  <a:pt x="18040" y="11651"/>
                  <a:pt x="17159" y="12083"/>
                </a:cubicBezTo>
                <a:cubicBezTo>
                  <a:pt x="16275" y="12512"/>
                  <a:pt x="15327" y="12820"/>
                  <a:pt x="14315" y="12996"/>
                </a:cubicBezTo>
                <a:cubicBezTo>
                  <a:pt x="13880" y="13090"/>
                  <a:pt x="13492" y="13284"/>
                  <a:pt x="13151" y="13578"/>
                </a:cubicBezTo>
                <a:cubicBezTo>
                  <a:pt x="12809" y="13872"/>
                  <a:pt x="12641" y="14204"/>
                  <a:pt x="12641" y="14571"/>
                </a:cubicBezTo>
                <a:cubicBezTo>
                  <a:pt x="12641" y="14900"/>
                  <a:pt x="12713" y="15140"/>
                  <a:pt x="12865" y="15293"/>
                </a:cubicBezTo>
                <a:cubicBezTo>
                  <a:pt x="13015" y="15449"/>
                  <a:pt x="13177" y="15596"/>
                  <a:pt x="13364" y="15728"/>
                </a:cubicBezTo>
                <a:cubicBezTo>
                  <a:pt x="13546" y="15866"/>
                  <a:pt x="13717" y="16010"/>
                  <a:pt x="13874" y="16169"/>
                </a:cubicBezTo>
                <a:cubicBezTo>
                  <a:pt x="14032" y="16330"/>
                  <a:pt x="14125" y="16574"/>
                  <a:pt x="14160" y="16903"/>
                </a:cubicBezTo>
                <a:cubicBezTo>
                  <a:pt x="14195" y="17117"/>
                  <a:pt x="14187" y="17340"/>
                  <a:pt x="14133" y="17564"/>
                </a:cubicBezTo>
                <a:cubicBezTo>
                  <a:pt x="14099" y="17696"/>
                  <a:pt x="14200" y="17805"/>
                  <a:pt x="14432" y="17893"/>
                </a:cubicBezTo>
                <a:cubicBezTo>
                  <a:pt x="14667" y="17981"/>
                  <a:pt x="14956" y="18069"/>
                  <a:pt x="15295" y="18154"/>
                </a:cubicBezTo>
                <a:cubicBezTo>
                  <a:pt x="15637" y="18236"/>
                  <a:pt x="15987" y="18342"/>
                  <a:pt x="16344" y="18468"/>
                </a:cubicBezTo>
                <a:cubicBezTo>
                  <a:pt x="16705" y="18595"/>
                  <a:pt x="16975" y="18756"/>
                  <a:pt x="17164" y="18953"/>
                </a:cubicBezTo>
                <a:cubicBezTo>
                  <a:pt x="17266" y="19050"/>
                  <a:pt x="17351" y="19232"/>
                  <a:pt x="17415" y="19511"/>
                </a:cubicBezTo>
                <a:cubicBezTo>
                  <a:pt x="17477" y="19790"/>
                  <a:pt x="17519" y="20090"/>
                  <a:pt x="17535" y="20416"/>
                </a:cubicBezTo>
                <a:cubicBezTo>
                  <a:pt x="17554" y="20727"/>
                  <a:pt x="17527" y="21000"/>
                  <a:pt x="17463" y="21241"/>
                </a:cubicBezTo>
                <a:cubicBezTo>
                  <a:pt x="17394" y="21479"/>
                  <a:pt x="17268" y="21599"/>
                  <a:pt x="17089" y="21599"/>
                </a:cubicBezTo>
                <a:lnTo>
                  <a:pt x="4496" y="21599"/>
                </a:lnTo>
                <a:cubicBezTo>
                  <a:pt x="4328" y="21599"/>
                  <a:pt x="4205" y="21479"/>
                  <a:pt x="4130" y="21241"/>
                </a:cubicBezTo>
                <a:cubicBezTo>
                  <a:pt x="4061" y="21000"/>
                  <a:pt x="4032" y="20727"/>
                  <a:pt x="4048" y="20416"/>
                </a:cubicBezTo>
                <a:cubicBezTo>
                  <a:pt x="4066" y="20090"/>
                  <a:pt x="4109" y="19790"/>
                  <a:pt x="4170" y="19511"/>
                </a:cubicBezTo>
                <a:cubicBezTo>
                  <a:pt x="4235" y="19232"/>
                  <a:pt x="4317" y="19050"/>
                  <a:pt x="4421" y="18953"/>
                </a:cubicBezTo>
                <a:cubicBezTo>
                  <a:pt x="4616" y="18768"/>
                  <a:pt x="4889" y="18606"/>
                  <a:pt x="5239" y="18474"/>
                </a:cubicBezTo>
                <a:cubicBezTo>
                  <a:pt x="5588" y="18345"/>
                  <a:pt x="5933" y="18236"/>
                  <a:pt x="6269" y="18154"/>
                </a:cubicBezTo>
                <a:cubicBezTo>
                  <a:pt x="6606" y="18069"/>
                  <a:pt x="6897" y="17984"/>
                  <a:pt x="7145" y="17901"/>
                </a:cubicBezTo>
                <a:cubicBezTo>
                  <a:pt x="7394" y="17816"/>
                  <a:pt x="7498" y="17705"/>
                  <a:pt x="7463" y="17564"/>
                </a:cubicBezTo>
                <a:cubicBezTo>
                  <a:pt x="7428" y="17432"/>
                  <a:pt x="7412" y="17311"/>
                  <a:pt x="7412" y="17205"/>
                </a:cubicBezTo>
                <a:lnTo>
                  <a:pt x="7412" y="16903"/>
                </a:lnTo>
                <a:cubicBezTo>
                  <a:pt x="7428" y="16574"/>
                  <a:pt x="7519" y="16330"/>
                  <a:pt x="7687" y="16169"/>
                </a:cubicBezTo>
                <a:cubicBezTo>
                  <a:pt x="7853" y="16010"/>
                  <a:pt x="8034" y="15866"/>
                  <a:pt x="8224" y="15728"/>
                </a:cubicBezTo>
                <a:cubicBezTo>
                  <a:pt x="8416" y="15593"/>
                  <a:pt x="8584" y="15446"/>
                  <a:pt x="8729" y="15293"/>
                </a:cubicBezTo>
                <a:cubicBezTo>
                  <a:pt x="8873" y="15140"/>
                  <a:pt x="8945" y="14900"/>
                  <a:pt x="8945" y="14571"/>
                </a:cubicBezTo>
                <a:cubicBezTo>
                  <a:pt x="8945" y="14204"/>
                  <a:pt x="8777" y="13875"/>
                  <a:pt x="8440" y="13578"/>
                </a:cubicBezTo>
                <a:cubicBezTo>
                  <a:pt x="8104" y="13281"/>
                  <a:pt x="7706" y="13090"/>
                  <a:pt x="7247" y="12996"/>
                </a:cubicBezTo>
                <a:cubicBezTo>
                  <a:pt x="6251" y="12811"/>
                  <a:pt x="5311" y="12497"/>
                  <a:pt x="4435" y="12062"/>
                </a:cubicBezTo>
                <a:cubicBezTo>
                  <a:pt x="3554" y="11628"/>
                  <a:pt x="2790" y="11128"/>
                  <a:pt x="2133" y="10570"/>
                </a:cubicBezTo>
                <a:cubicBezTo>
                  <a:pt x="1479" y="10012"/>
                  <a:pt x="958" y="9416"/>
                  <a:pt x="574" y="8781"/>
                </a:cubicBezTo>
                <a:cubicBezTo>
                  <a:pt x="189" y="8153"/>
                  <a:pt x="0" y="7542"/>
                  <a:pt x="0" y="6949"/>
                </a:cubicBezTo>
                <a:lnTo>
                  <a:pt x="0" y="4320"/>
                </a:lnTo>
                <a:cubicBezTo>
                  <a:pt x="0" y="4009"/>
                  <a:pt x="93" y="3756"/>
                  <a:pt x="285" y="3553"/>
                </a:cubicBezTo>
                <a:cubicBezTo>
                  <a:pt x="475" y="3354"/>
                  <a:pt x="712" y="3254"/>
                  <a:pt x="998" y="3254"/>
                </a:cubicBezTo>
                <a:lnTo>
                  <a:pt x="5124" y="3254"/>
                </a:lnTo>
                <a:cubicBezTo>
                  <a:pt x="5108" y="3139"/>
                  <a:pt x="5097" y="3025"/>
                  <a:pt x="5097" y="2901"/>
                </a:cubicBezTo>
                <a:lnTo>
                  <a:pt x="5097" y="2564"/>
                </a:lnTo>
                <a:lnTo>
                  <a:pt x="5097" y="2505"/>
                </a:lnTo>
                <a:cubicBezTo>
                  <a:pt x="5097" y="2005"/>
                  <a:pt x="5118" y="1594"/>
                  <a:pt x="5156" y="1265"/>
                </a:cubicBezTo>
                <a:cubicBezTo>
                  <a:pt x="5193" y="939"/>
                  <a:pt x="5260" y="684"/>
                  <a:pt x="5353" y="499"/>
                </a:cubicBezTo>
                <a:cubicBezTo>
                  <a:pt x="5444" y="320"/>
                  <a:pt x="5580" y="187"/>
                  <a:pt x="5754" y="111"/>
                </a:cubicBezTo>
                <a:cubicBezTo>
                  <a:pt x="5928" y="38"/>
                  <a:pt x="6165" y="0"/>
                  <a:pt x="6464" y="0"/>
                </a:cubicBezTo>
                <a:lnTo>
                  <a:pt x="15132" y="0"/>
                </a:lnTo>
                <a:cubicBezTo>
                  <a:pt x="15410" y="0"/>
                  <a:pt x="15645" y="38"/>
                  <a:pt x="15829" y="111"/>
                </a:cubicBezTo>
                <a:cubicBezTo>
                  <a:pt x="16011" y="187"/>
                  <a:pt x="16149" y="320"/>
                  <a:pt x="16243" y="499"/>
                </a:cubicBezTo>
                <a:cubicBezTo>
                  <a:pt x="16336" y="684"/>
                  <a:pt x="16403" y="939"/>
                  <a:pt x="16435" y="1265"/>
                </a:cubicBezTo>
                <a:cubicBezTo>
                  <a:pt x="16470" y="1594"/>
                  <a:pt x="16486" y="2006"/>
                  <a:pt x="16486" y="2505"/>
                </a:cubicBezTo>
                <a:lnTo>
                  <a:pt x="16486" y="2863"/>
                </a:lnTo>
                <a:cubicBezTo>
                  <a:pt x="16486" y="2989"/>
                  <a:pt x="16478" y="3119"/>
                  <a:pt x="16459" y="3251"/>
                </a:cubicBezTo>
                <a:lnTo>
                  <a:pt x="20603" y="3251"/>
                </a:lnTo>
                <a:cubicBezTo>
                  <a:pt x="20884" y="3251"/>
                  <a:pt x="21119" y="3351"/>
                  <a:pt x="21314" y="3550"/>
                </a:cubicBezTo>
                <a:cubicBezTo>
                  <a:pt x="21503" y="3753"/>
                  <a:pt x="21599" y="4006"/>
                  <a:pt x="21599" y="4317"/>
                </a:cubicBezTo>
                <a:lnTo>
                  <a:pt x="21599" y="6949"/>
                </a:lnTo>
                <a:close/>
                <a:moveTo>
                  <a:pt x="6283" y="10550"/>
                </a:moveTo>
                <a:cubicBezTo>
                  <a:pt x="6072" y="9798"/>
                  <a:pt x="5882" y="8978"/>
                  <a:pt x="5714" y="8082"/>
                </a:cubicBezTo>
                <a:cubicBezTo>
                  <a:pt x="5548" y="7189"/>
                  <a:pt x="5407" y="6299"/>
                  <a:pt x="5287" y="5415"/>
                </a:cubicBezTo>
                <a:lnTo>
                  <a:pt x="1962" y="5415"/>
                </a:lnTo>
                <a:lnTo>
                  <a:pt x="1962" y="6949"/>
                </a:lnTo>
                <a:cubicBezTo>
                  <a:pt x="1962" y="7137"/>
                  <a:pt x="2064" y="7389"/>
                  <a:pt x="2264" y="7709"/>
                </a:cubicBezTo>
                <a:cubicBezTo>
                  <a:pt x="2462" y="8029"/>
                  <a:pt x="2753" y="8358"/>
                  <a:pt x="3126" y="8699"/>
                </a:cubicBezTo>
                <a:cubicBezTo>
                  <a:pt x="3500" y="9040"/>
                  <a:pt x="3954" y="9381"/>
                  <a:pt x="4488" y="9707"/>
                </a:cubicBezTo>
                <a:cubicBezTo>
                  <a:pt x="5022" y="10033"/>
                  <a:pt x="5618" y="10315"/>
                  <a:pt x="6283" y="10550"/>
                </a:cubicBezTo>
                <a:moveTo>
                  <a:pt x="19629" y="5415"/>
                </a:moveTo>
                <a:lnTo>
                  <a:pt x="16280" y="5415"/>
                </a:lnTo>
                <a:cubicBezTo>
                  <a:pt x="16179" y="6299"/>
                  <a:pt x="16043" y="7189"/>
                  <a:pt x="15877" y="8082"/>
                </a:cubicBezTo>
                <a:cubicBezTo>
                  <a:pt x="15712" y="8978"/>
                  <a:pt x="15522" y="9798"/>
                  <a:pt x="15308" y="10550"/>
                </a:cubicBezTo>
                <a:cubicBezTo>
                  <a:pt x="15973" y="10315"/>
                  <a:pt x="16574" y="10033"/>
                  <a:pt x="17105" y="9707"/>
                </a:cubicBezTo>
                <a:cubicBezTo>
                  <a:pt x="17637" y="9381"/>
                  <a:pt x="18091" y="9040"/>
                  <a:pt x="18467" y="8699"/>
                </a:cubicBezTo>
                <a:cubicBezTo>
                  <a:pt x="18844" y="8358"/>
                  <a:pt x="19130" y="8029"/>
                  <a:pt x="19330" y="7709"/>
                </a:cubicBezTo>
                <a:cubicBezTo>
                  <a:pt x="19530" y="7389"/>
                  <a:pt x="19629" y="7137"/>
                  <a:pt x="19629" y="6949"/>
                </a:cubicBezTo>
                <a:lnTo>
                  <a:pt x="19629" y="54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48" tIns="19048" rIns="19048" bIns="19048" anchor="ctr"/>
          <a:lstStyle/>
          <a:p>
            <a:pPr defTabSz="17123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105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cs typeface="Gill Sans" charset="0"/>
              <a:sym typeface="Gill Sans" charset="0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4010297" y="959646"/>
            <a:ext cx="7184572" cy="0"/>
          </a:xfrm>
          <a:prstGeom prst="line">
            <a:avLst/>
          </a:prstGeom>
          <a:ln>
            <a:solidFill>
              <a:schemeClr val="accent3">
                <a:alpha val="4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010297" y="1948068"/>
            <a:ext cx="7184572" cy="0"/>
          </a:xfrm>
          <a:prstGeom prst="line">
            <a:avLst/>
          </a:prstGeom>
          <a:ln>
            <a:solidFill>
              <a:schemeClr val="accent3">
                <a:alpha val="4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010297" y="2888595"/>
            <a:ext cx="7184572" cy="0"/>
          </a:xfrm>
          <a:prstGeom prst="line">
            <a:avLst/>
          </a:prstGeom>
          <a:ln>
            <a:solidFill>
              <a:schemeClr val="accent3">
                <a:alpha val="4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010297" y="3868309"/>
            <a:ext cx="7184572" cy="0"/>
          </a:xfrm>
          <a:prstGeom prst="line">
            <a:avLst/>
          </a:prstGeom>
          <a:ln>
            <a:solidFill>
              <a:schemeClr val="accent3">
                <a:alpha val="4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010297" y="4821898"/>
            <a:ext cx="7184572" cy="0"/>
          </a:xfrm>
          <a:prstGeom prst="line">
            <a:avLst/>
          </a:prstGeom>
          <a:ln>
            <a:solidFill>
              <a:schemeClr val="accent3">
                <a:alpha val="4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4" name="Google Shape;174;p3"/>
          <p:cNvSpPr txBox="1"/>
          <p:nvPr/>
        </p:nvSpPr>
        <p:spPr>
          <a:xfrm>
            <a:off x="215706" y="386875"/>
            <a:ext cx="234249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Content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7" name="Block Arc 41">
            <a:extLst>
              <a:ext uri="{FF2B5EF4-FFF2-40B4-BE49-F238E27FC236}">
                <a16:creationId xmlns:a16="http://schemas.microsoft.com/office/drawing/2014/main" id="{B3B25E34-8ABE-4D0C-9A57-89485104BAD1}"/>
              </a:ext>
            </a:extLst>
          </p:cNvPr>
          <p:cNvSpPr/>
          <p:nvPr/>
        </p:nvSpPr>
        <p:spPr>
          <a:xfrm>
            <a:off x="3272714" y="1222709"/>
            <a:ext cx="379392" cy="428255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11EDBF-AC93-7E1C-7AA7-D9EE1C00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F4F0-A0DF-4114-955E-F75560432222}" type="datetime1">
              <a:rPr lang="en-US" smtClean="0"/>
              <a:t>12/18/2023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3612B6-45B2-B182-27F6-429CE184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671864-5EA4-E1D7-96CD-30F2C44DA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8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9E2D9-0CE7-4102-8CB1-AC912330A5C9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goals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972458"/>
            <a:ext cx="11551617" cy="5150756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MyriadPro-Regular"/>
              </a:rPr>
              <a:t>Define the difference between data and information</a:t>
            </a:r>
          </a:p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MyriadPro-Regular"/>
              </a:rPr>
              <a:t>Describe what a database is, the various types of databases, and why they are valuable assets for decision making</a:t>
            </a:r>
            <a:endParaRPr lang="en-US" sz="3200" dirty="0">
              <a:solidFill>
                <a:srgbClr val="242021"/>
              </a:solidFill>
              <a:latin typeface="MyriadPro-Regular"/>
            </a:endParaRPr>
          </a:p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MyriadPro-Regular"/>
              </a:rPr>
              <a:t>Explain the importance of database design</a:t>
            </a:r>
            <a:endParaRPr lang="en-US" sz="3200" dirty="0">
              <a:solidFill>
                <a:srgbClr val="242021"/>
              </a:solidFill>
              <a:latin typeface="MyriadPro-Regular"/>
            </a:endParaRPr>
          </a:p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MyriadPro-Regular"/>
              </a:rPr>
              <a:t>See how modern databases evolved from file systems</a:t>
            </a:r>
            <a:endParaRPr lang="en-US" sz="3200" dirty="0">
              <a:solidFill>
                <a:srgbClr val="242021"/>
              </a:solidFill>
              <a:latin typeface="Myriad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43605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9E2D9-0CE7-4102-8CB1-AC912330A5C9}" type="datetime1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goals (</a:t>
            </a:r>
            <a:r>
              <a:rPr lang="en-US" dirty="0" err="1"/>
              <a:t>cont</a:t>
            </a:r>
            <a:r>
              <a:rPr lang="en-US" dirty="0"/>
              <a:t>’)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972458"/>
            <a:ext cx="11551617" cy="5150756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MyriadPro-Regular"/>
              </a:rPr>
              <a:t>Understand flaws in file system data management</a:t>
            </a:r>
            <a:endParaRPr lang="en-US" sz="3200" dirty="0">
              <a:solidFill>
                <a:srgbClr val="242021"/>
              </a:solidFill>
              <a:latin typeface="MyriadPro-Regular"/>
            </a:endParaRPr>
          </a:p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MyriadPro-Regular"/>
              </a:rPr>
              <a:t>Outline the main components of the database system</a:t>
            </a:r>
            <a:endParaRPr lang="en-US" sz="3200" dirty="0">
              <a:solidFill>
                <a:srgbClr val="242021"/>
              </a:solidFill>
              <a:latin typeface="MyriadPro-Regular"/>
            </a:endParaRPr>
          </a:p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MyriadPro-Regular"/>
              </a:rPr>
              <a:t>Describe the main functions of a database management system (DBMS)</a:t>
            </a:r>
            <a:endParaRPr lang="en-VN" sz="4400" dirty="0"/>
          </a:p>
        </p:txBody>
      </p:sp>
    </p:spTree>
    <p:extLst>
      <p:ext uri="{BB962C8B-B14F-4D97-AF65-F5344CB8AC3E}">
        <p14:creationId xmlns:p14="http://schemas.microsoft.com/office/powerpoint/2010/main" val="156122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98E25-80CC-4896-813E-9559D02A3DA3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1-1 Why Databases?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972458"/>
            <a:ext cx="11551617" cy="5150756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NewCaledoniaLTStd"/>
              </a:rPr>
              <a:t>Data is ubiquitous (abundant, global, everywhere) and pervasive (unescapable, prevalent, persistent). </a:t>
            </a:r>
          </a:p>
          <a:p>
            <a:pPr marL="857250" lvl="1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0" i="0" dirty="0">
                <a:solidFill>
                  <a:srgbClr val="242021"/>
                </a:solidFill>
                <a:effectLst/>
                <a:latin typeface="NewCaledoniaLTStd"/>
              </a:rPr>
              <a:t>From birth to death, we generate and consume data. </a:t>
            </a:r>
          </a:p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NewCaledoniaLTStd"/>
              </a:rPr>
              <a:t>Data is essential for organizations to survive and prosper</a:t>
            </a:r>
          </a:p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NewCaledoniaLTStd"/>
              </a:rPr>
              <a:t>Activities: collection, storage, aggregation, manipulation, dissemination, and management of data</a:t>
            </a:r>
            <a:endParaRPr lang="en-VN" sz="4400" dirty="0"/>
          </a:p>
        </p:txBody>
      </p:sp>
    </p:spTree>
    <p:extLst>
      <p:ext uri="{BB962C8B-B14F-4D97-AF65-F5344CB8AC3E}">
        <p14:creationId xmlns:p14="http://schemas.microsoft.com/office/powerpoint/2010/main" val="1600296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98E25-80CC-4896-813E-9559D02A3DA3}" type="datetime1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1-1 Why Databases?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972458"/>
            <a:ext cx="11551617" cy="5150756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NewCaledoniaLTStd"/>
              </a:rPr>
              <a:t>Databases are the best way to store and manage data. </a:t>
            </a:r>
          </a:p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0" i="0" dirty="0">
                <a:solidFill>
                  <a:srgbClr val="242021"/>
                </a:solidFill>
                <a:effectLst/>
                <a:latin typeface="NewCaledoniaLTStd"/>
              </a:rPr>
              <a:t>Databases make data persistent and shareable in a secure way. 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VN" sz="4400" dirty="0"/>
          </a:p>
        </p:txBody>
      </p:sp>
    </p:spTree>
    <p:extLst>
      <p:ext uri="{BB962C8B-B14F-4D97-AF65-F5344CB8AC3E}">
        <p14:creationId xmlns:p14="http://schemas.microsoft.com/office/powerpoint/2010/main" val="1675713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3E958-4A0B-9B6C-7FB7-0AF3EC11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1B90-6B7B-48D7-9DD6-E432590D31DF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EFEA1-A9E6-E758-70BC-FEA6A3CF0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3E0FA-7A59-4C73-9704-9512B54C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B1A993-D3B3-8805-A524-3C84BB2B7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36" y="-120009"/>
            <a:ext cx="9141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4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C636-3392-48DB-A2CD-8660C7A64016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Program Educational Obectives (PEOs)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 Program expects the graduates within a few years (3 to 5 years) of graduation to attain the following: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Our graduates will engage in the productive practice of implementing computer-based systems across a broad range of application areas.</a:t>
            </a:r>
            <a:r>
              <a:rPr lang="en-V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Our graduates have successful careers in industry or academia, providing leadership for their profession.</a:t>
            </a:r>
            <a:r>
              <a:rPr lang="en-V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Our graduates will be filling the technical needs of society by solving technical problems with professional and ethical manners.</a:t>
            </a:r>
            <a:r>
              <a:rPr lang="en-V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724904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742E-D1E9-40AA-9F94-9A17B28E6CE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</a:t>
            </a:r>
            <a:r>
              <a:rPr lang="en-US" dirty="0" err="1"/>
              <a:t>Os</a:t>
            </a:r>
            <a:r>
              <a:rPr lang="en-US" dirty="0"/>
              <a:t> and PIs of IT Program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1038451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SOs of the IT Program are the same as those required by ABET for any IT program to receive accreditation. The IT graduates will have an ability to: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E95132-3947-5544-8A4B-A1BDA3FB1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966643"/>
              </p:ext>
            </p:extLst>
          </p:nvPr>
        </p:nvGraphicFramePr>
        <p:xfrm>
          <a:off x="972456" y="2184218"/>
          <a:ext cx="10072915" cy="3837397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192340">
                  <a:extLst>
                    <a:ext uri="{9D8B030D-6E8A-4147-A177-3AD203B41FA5}">
                      <a16:colId xmlns:a16="http://schemas.microsoft.com/office/drawing/2014/main" val="1753445252"/>
                    </a:ext>
                  </a:extLst>
                </a:gridCol>
                <a:gridCol w="7880575">
                  <a:extLst>
                    <a:ext uri="{9D8B030D-6E8A-4147-A177-3AD203B41FA5}">
                      <a16:colId xmlns:a16="http://schemas.microsoft.com/office/drawing/2014/main" val="4032134879"/>
                    </a:ext>
                  </a:extLst>
                </a:gridCol>
              </a:tblGrid>
              <a:tr h="311960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  <a:r>
                        <a:rPr lang="en-V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64329"/>
                  </a:ext>
                </a:extLst>
              </a:tr>
              <a:tr h="623920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SO1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 a complex computing problem and apply principles of computing and other relevant disciplines to identify solutions.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094624"/>
                  </a:ext>
                </a:extLst>
              </a:tr>
              <a:tr h="623920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SO2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Design, implement, and evaluate a computing-based solution to meet a given set of computing requirements in the context of the program's discipline.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559220"/>
                  </a:ext>
                </a:extLst>
              </a:tr>
              <a:tr h="405837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SO3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Communicate effectively in a variety of professional contexts.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634369"/>
                  </a:ext>
                </a:extLst>
              </a:tr>
              <a:tr h="623920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SO4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Recognize professional responsibilities and make informed judgments in computing practice based on legal and ethical principles.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9792971"/>
                  </a:ext>
                </a:extLst>
              </a:tr>
              <a:tr h="623920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SO5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effectively as a member or leader of a team engaged in activities appropriate to the program's discipline.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599430"/>
                  </a:ext>
                </a:extLst>
              </a:tr>
              <a:tr h="623920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SO6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systemic approaches to select, develop, apply, integrate, and administer secure computing technologies to accomplish user goals (IT).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5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45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06A6A-CF12-41BB-B253-904DE4E598F4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</a:t>
            </a:r>
            <a:r>
              <a:rPr lang="en-US" dirty="0" err="1"/>
              <a:t>Os</a:t>
            </a:r>
            <a:r>
              <a:rPr lang="en-US" dirty="0"/>
              <a:t> and PIs of CS Program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969176"/>
            <a:ext cx="11855072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SOs of the CS Program are the same as those required by ABET for any CS program to receive accreditation. The CS graduates will have an ability to: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E95132-3947-5544-8A4B-A1BDA3FB1E5B}"/>
              </a:ext>
            </a:extLst>
          </p:cNvPr>
          <p:cNvGraphicFramePr>
            <a:graphicFrameLocks noGrp="1"/>
          </p:cNvGraphicFramePr>
          <p:nvPr/>
        </p:nvGraphicFramePr>
        <p:xfrm>
          <a:off x="972456" y="2170363"/>
          <a:ext cx="10138889" cy="3925343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206699">
                  <a:extLst>
                    <a:ext uri="{9D8B030D-6E8A-4147-A177-3AD203B41FA5}">
                      <a16:colId xmlns:a16="http://schemas.microsoft.com/office/drawing/2014/main" val="1753445252"/>
                    </a:ext>
                  </a:extLst>
                </a:gridCol>
                <a:gridCol w="7932190">
                  <a:extLst>
                    <a:ext uri="{9D8B030D-6E8A-4147-A177-3AD203B41FA5}">
                      <a16:colId xmlns:a16="http://schemas.microsoft.com/office/drawing/2014/main" val="4032134879"/>
                    </a:ext>
                  </a:extLst>
                </a:gridCol>
              </a:tblGrid>
              <a:tr h="319110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  <a:r>
                        <a:rPr lang="en-V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64329"/>
                  </a:ext>
                </a:extLst>
              </a:tr>
              <a:tr h="638219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SO1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 a complex computing problem and apply principles of computing and other relevant disciplines to identify solutions.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094624"/>
                  </a:ext>
                </a:extLst>
              </a:tr>
              <a:tr h="638219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SO2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Design, implement, and evaluate a computing-based solution to meet a given set of computing requirements in the context of the program's discipline.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559220"/>
                  </a:ext>
                </a:extLst>
              </a:tr>
              <a:tr h="415138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SO3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Communicate effectively in a variety of professional contexts.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634369"/>
                  </a:ext>
                </a:extLst>
              </a:tr>
              <a:tr h="638219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SO4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Recognize professional responsibilities and make informed judgments in computing practice based on legal and ethical principles.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9792971"/>
                  </a:ext>
                </a:extLst>
              </a:tr>
              <a:tr h="638219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SO5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effectively as a member or leader of a team engaged in activities appropriate to the program's discipline.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599430"/>
                  </a:ext>
                </a:extLst>
              </a:tr>
              <a:tr h="638219">
                <a:tc>
                  <a:txBody>
                    <a:bodyPr/>
                    <a:lstStyle/>
                    <a:p>
                      <a:pPr marL="457200" indent="-457200"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SO6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l"/>
                      <a:r>
                        <a:rPr lang="en-V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Apply computer science theory and software development fundamentals to produce computing-based solutions </a:t>
                      </a:r>
                      <a:r>
                        <a:rPr lang="vi-V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V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CS</a:t>
                      </a:r>
                      <a:r>
                        <a:rPr lang="vi-V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V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V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5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49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course assessment&#10;&#10;Description automatically generated with low confidence">
            <a:extLst>
              <a:ext uri="{FF2B5EF4-FFF2-40B4-BE49-F238E27FC236}">
                <a16:creationId xmlns:a16="http://schemas.microsoft.com/office/drawing/2014/main" id="{519AA4C3-C13E-3443-BFC1-71EC09269FF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0" y="1595912"/>
            <a:ext cx="5943600" cy="459414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51C4-81E5-4386-83AD-CE84D74420C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Improvement Process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1009424"/>
            <a:ext cx="11551617" cy="544924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SOs are assessed and reviewed annually</a:t>
            </a:r>
          </a:p>
        </p:txBody>
      </p:sp>
      <p:pic>
        <p:nvPicPr>
          <p:cNvPr id="9" name="Picture 8" descr="A diagram of a course assessment&#10;&#10;Description automatically generated with low confidence">
            <a:extLst>
              <a:ext uri="{FF2B5EF4-FFF2-40B4-BE49-F238E27FC236}">
                <a16:creationId xmlns:a16="http://schemas.microsoft.com/office/drawing/2014/main" id="{7081C6E7-299A-0549-8528-2616A81A765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23020" y="1554347"/>
            <a:ext cx="5768980" cy="4594144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7D318B3-F6A8-5044-8F87-0F4260DB9131}"/>
              </a:ext>
            </a:extLst>
          </p:cNvPr>
          <p:cNvSpPr txBox="1">
            <a:spLocks/>
          </p:cNvSpPr>
          <p:nvPr/>
        </p:nvSpPr>
        <p:spPr>
          <a:xfrm>
            <a:off x="2743200" y="6084502"/>
            <a:ext cx="1242491" cy="34209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Program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62B73634-61B4-154E-B764-232D6A81CC48}"/>
              </a:ext>
            </a:extLst>
          </p:cNvPr>
          <p:cNvSpPr txBox="1">
            <a:spLocks/>
          </p:cNvSpPr>
          <p:nvPr/>
        </p:nvSpPr>
        <p:spPr>
          <a:xfrm>
            <a:off x="8686264" y="6060277"/>
            <a:ext cx="1898609" cy="34209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 Program</a:t>
            </a:r>
          </a:p>
        </p:txBody>
      </p:sp>
    </p:spTree>
    <p:extLst>
      <p:ext uri="{BB962C8B-B14F-4D97-AF65-F5344CB8AC3E}">
        <p14:creationId xmlns:p14="http://schemas.microsoft.com/office/powerpoint/2010/main" val="166584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02E4-0A04-4817-9B9E-95B3D64717AC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</a:t>
            </a:r>
            <a:r>
              <a:rPr lang="en-US" dirty="0" err="1"/>
              <a:t>Os</a:t>
            </a:r>
            <a:r>
              <a:rPr lang="en-US" dirty="0"/>
              <a:t> and PIs of IT Program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93309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Indicators (PIs) are developed as the common measurement of SO attainment across different courses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660E92-B391-D84B-A9D6-A1D2D7F91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33886"/>
              </p:ext>
            </p:extLst>
          </p:nvPr>
        </p:nvGraphicFramePr>
        <p:xfrm>
          <a:off x="454358" y="1755192"/>
          <a:ext cx="11418325" cy="4597851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480497">
                  <a:extLst>
                    <a:ext uri="{9D8B030D-6E8A-4147-A177-3AD203B41FA5}">
                      <a16:colId xmlns:a16="http://schemas.microsoft.com/office/drawing/2014/main" val="4253068553"/>
                    </a:ext>
                  </a:extLst>
                </a:gridCol>
                <a:gridCol w="6937828">
                  <a:extLst>
                    <a:ext uri="{9D8B030D-6E8A-4147-A177-3AD203B41FA5}">
                      <a16:colId xmlns:a16="http://schemas.microsoft.com/office/drawing/2014/main" val="2554560500"/>
                    </a:ext>
                  </a:extLst>
                </a:gridCol>
              </a:tblGrid>
              <a:tr h="133436">
                <a:tc>
                  <a:txBody>
                    <a:bodyPr/>
                    <a:lstStyle/>
                    <a:p>
                      <a:pPr marL="457200" indent="-457200" algn="ctr" fontAlgn="base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SOs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ctr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 for SOs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8335107"/>
                  </a:ext>
                </a:extLst>
              </a:tr>
              <a:tr h="26998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 Analyze a complex computing problem and apply principles of computing and other relevant disciplines to identify solutions.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 Student will be able to analyze a complex computing problem.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749619"/>
                  </a:ext>
                </a:extLst>
              </a:tr>
              <a:tr h="384295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 Student will be able to apply computing principles and other relevant disciplines to identify solutions.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54308"/>
                  </a:ext>
                </a:extLst>
              </a:tr>
              <a:tr h="38429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 Design, implement, and evaluate a computing based solution to meet a given set of computing requirements in the context of the program's discipline.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 Students will be able to design computer-based solutions for a given problem.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276460"/>
                  </a:ext>
                </a:extLst>
              </a:tr>
              <a:tr h="384295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 Students will be able to implement and evaluate the designed solutions for a given problem.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639624"/>
                  </a:ext>
                </a:extLst>
              </a:tr>
              <a:tr h="38429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(3) Communicate effectively in a variety of professional contexts.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 Students will be able to produce a variety of documents for technical and non-technical audiences.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587169"/>
                  </a:ext>
                </a:extLst>
              </a:tr>
              <a:tr h="256197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 Students will be able to prepare and deliver oral presentations.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203599"/>
                  </a:ext>
                </a:extLst>
              </a:tr>
              <a:tr h="299341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(4) Recognize professional responsibilities and make informed judgments in computing practice based on legal and ethical principles.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 Students will be able to identify professional, legal and ethical issues.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545318"/>
                  </a:ext>
                </a:extLst>
              </a:tr>
              <a:tr h="387408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 Students will be able to determine their responsibilities in professional, legal and ethical issues.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94485"/>
                  </a:ext>
                </a:extLst>
              </a:tr>
              <a:tr h="38429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(5) Function effectively as a member or leader of a team engaged in activities appropriate to the program's discipline.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 Students will be able to articulate and interpret the collaborative work of the team.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922545"/>
                  </a:ext>
                </a:extLst>
              </a:tr>
              <a:tr h="260200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 Students will be able to fulfill duties of team roles.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696235"/>
                  </a:ext>
                </a:extLst>
              </a:tr>
              <a:tr h="439003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(6) Use systemic approaches to select, develop, apply, integrate, and administer secure computing technologies to accomplish user goals.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6.1 Students will be able to select, develop and apply appropriate secure computing technologies to meet user goals.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502537"/>
                  </a:ext>
                </a:extLst>
              </a:tr>
              <a:tr h="384295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 Students will be able to integrate and administer secure computing-based technologies.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26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133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789B-7720-4A08-B33B-70DCFD40C32F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S</a:t>
            </a:r>
            <a:r>
              <a:rPr lang="en-US" dirty="0" err="1"/>
              <a:t>Os</a:t>
            </a:r>
            <a:r>
              <a:rPr lang="en-US" dirty="0"/>
              <a:t> and PIs of CS Program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93309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Indicators (PIs) are developed as the common measurement of SO attainment across different courses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660E92-B391-D84B-A9D6-A1D2D7F91619}"/>
              </a:ext>
            </a:extLst>
          </p:cNvPr>
          <p:cNvGraphicFramePr>
            <a:graphicFrameLocks noGrp="1"/>
          </p:cNvGraphicFramePr>
          <p:nvPr/>
        </p:nvGraphicFramePr>
        <p:xfrm>
          <a:off x="454358" y="1755192"/>
          <a:ext cx="11418325" cy="4682701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480497">
                  <a:extLst>
                    <a:ext uri="{9D8B030D-6E8A-4147-A177-3AD203B41FA5}">
                      <a16:colId xmlns:a16="http://schemas.microsoft.com/office/drawing/2014/main" val="4253068553"/>
                    </a:ext>
                  </a:extLst>
                </a:gridCol>
                <a:gridCol w="6937828">
                  <a:extLst>
                    <a:ext uri="{9D8B030D-6E8A-4147-A177-3AD203B41FA5}">
                      <a16:colId xmlns:a16="http://schemas.microsoft.com/office/drawing/2014/main" val="2554560500"/>
                    </a:ext>
                  </a:extLst>
                </a:gridCol>
              </a:tblGrid>
              <a:tr h="133436">
                <a:tc>
                  <a:txBody>
                    <a:bodyPr/>
                    <a:lstStyle/>
                    <a:p>
                      <a:pPr marL="457200" indent="-457200" algn="ctr" fontAlgn="base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SOs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ctr" fontAlgn="base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 for SOs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8335107"/>
                  </a:ext>
                </a:extLst>
              </a:tr>
              <a:tr h="26998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 Analyze a complex computing problem and apply principles of computing and other relevant disciplines to identify solutions.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 Student will be able to analyze a complex computing problem.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749619"/>
                  </a:ext>
                </a:extLst>
              </a:tr>
              <a:tr h="384295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 Student will be able to apply computing principles and other relevant disciplines to identify solutions.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54308"/>
                  </a:ext>
                </a:extLst>
              </a:tr>
              <a:tr h="38429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 Design, implement, and evaluate a computing based solution to meet a given set of computing requirements in the context of the program's discipline.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 Students will be able to design computer-based solutions for a given set of computing requirements.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276460"/>
                  </a:ext>
                </a:extLst>
              </a:tr>
              <a:tr h="384295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 Students will be able to implement and evaluate the designed solutions for a given problem.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639624"/>
                  </a:ext>
                </a:extLst>
              </a:tr>
              <a:tr h="38429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(3) Communicate effectively in a variety of professional contexts.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 Students will be able to produce a variety of documents for technical and non-technical audiences.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587169"/>
                  </a:ext>
                </a:extLst>
              </a:tr>
              <a:tr h="256197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 Students will be able to prepare and deliver oral presentations.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203599"/>
                  </a:ext>
                </a:extLst>
              </a:tr>
              <a:tr h="299341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(4) Recognize professional responsibilities and make informed judgments in computing practice based on legal and ethical principles.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 Students will be able to identify professional, legal and ethical issues.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545318"/>
                  </a:ext>
                </a:extLst>
              </a:tr>
              <a:tr h="387408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 Students will be able to determine their responsibilities in professional, legal and ethical issues.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94485"/>
                  </a:ext>
                </a:extLst>
              </a:tr>
              <a:tr h="38429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(5) Function effectively as a member or leader of a team engaged in activities appropriate to the program's discipline.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 Students will be able to articulate and interpret the collaborative work of the team. 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922545"/>
                  </a:ext>
                </a:extLst>
              </a:tr>
              <a:tr h="260200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 Students will be able to fulfill duties of team roles. </a:t>
                      </a:r>
                      <a:endParaRPr lang="en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696235"/>
                  </a:ext>
                </a:extLst>
              </a:tr>
              <a:tr h="439003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(6) Use systemic approaches to select, develop, apply, integrate, and administer secure computing technologies to accomplish user goals.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6.1 Students will be able to demonstrate and apply knowledge of mathematical functions to analyze a given algorithm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502537"/>
                  </a:ext>
                </a:extLst>
              </a:tr>
              <a:tr h="384295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 Students will be able to apply software development fundamentals to produce computing-based solutions.</a:t>
                      </a:r>
                      <a:endParaRPr lang="en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26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795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7878-3ECB-4FB9-962B-29C3D6F953E5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Courses for Assessment (IT)</a:t>
            </a:r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76A74CC-6B81-2548-9B05-5AB73B5CB91D}"/>
              </a:ext>
            </a:extLst>
          </p:cNvPr>
          <p:cNvGrpSpPr/>
          <p:nvPr/>
        </p:nvGrpSpPr>
        <p:grpSpPr>
          <a:xfrm>
            <a:off x="9087883" y="949900"/>
            <a:ext cx="2696045" cy="1375229"/>
            <a:chOff x="8841143" y="1036984"/>
            <a:chExt cx="2696045" cy="137522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8FB5F1-E328-ED43-90C4-1F57098CFB2E}"/>
                </a:ext>
              </a:extLst>
            </p:cNvPr>
            <p:cNvSpPr txBox="1"/>
            <p:nvPr/>
          </p:nvSpPr>
          <p:spPr>
            <a:xfrm>
              <a:off x="8934168" y="1088567"/>
              <a:ext cx="2131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Has assessment data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511D69-7BE9-4E4F-A3B7-168B7EF5935F}"/>
                </a:ext>
              </a:extLst>
            </p:cNvPr>
            <p:cNvSpPr txBox="1"/>
            <p:nvPr/>
          </p:nvSpPr>
          <p:spPr>
            <a:xfrm>
              <a:off x="8934168" y="1538511"/>
              <a:ext cx="2603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Delivered, gathering data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2E42F38-4390-F643-A0A9-972A214DE3D1}"/>
                </a:ext>
              </a:extLst>
            </p:cNvPr>
            <p:cNvSpPr txBox="1"/>
            <p:nvPr/>
          </p:nvSpPr>
          <p:spPr>
            <a:xfrm>
              <a:off x="8948682" y="1973941"/>
              <a:ext cx="1858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Not yet delivered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DBC3907-E137-1E49-9123-B70BEFF71C4E}"/>
                </a:ext>
              </a:extLst>
            </p:cNvPr>
            <p:cNvSpPr/>
            <p:nvPr/>
          </p:nvSpPr>
          <p:spPr>
            <a:xfrm>
              <a:off x="8841143" y="1036984"/>
              <a:ext cx="2603019" cy="1375229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64C905C-F007-CC43-94A2-6E0015A20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08" y="907613"/>
            <a:ext cx="7312866" cy="555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3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C533-96CF-46F9-9DF8-18B1D8078F96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15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Courses for Assessment (CS)</a:t>
            </a:r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76A74CC-6B81-2548-9B05-5AB73B5CB91D}"/>
              </a:ext>
            </a:extLst>
          </p:cNvPr>
          <p:cNvGrpSpPr/>
          <p:nvPr/>
        </p:nvGrpSpPr>
        <p:grpSpPr>
          <a:xfrm>
            <a:off x="9087883" y="949900"/>
            <a:ext cx="2696045" cy="1375229"/>
            <a:chOff x="8841143" y="1036984"/>
            <a:chExt cx="2696045" cy="137522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8FB5F1-E328-ED43-90C4-1F57098CFB2E}"/>
                </a:ext>
              </a:extLst>
            </p:cNvPr>
            <p:cNvSpPr txBox="1"/>
            <p:nvPr/>
          </p:nvSpPr>
          <p:spPr>
            <a:xfrm>
              <a:off x="8934168" y="1088567"/>
              <a:ext cx="2131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Has assessment data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511D69-7BE9-4E4F-A3B7-168B7EF5935F}"/>
                </a:ext>
              </a:extLst>
            </p:cNvPr>
            <p:cNvSpPr txBox="1"/>
            <p:nvPr/>
          </p:nvSpPr>
          <p:spPr>
            <a:xfrm>
              <a:off x="8934168" y="1538511"/>
              <a:ext cx="2603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Delivered, gathering data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2E42F38-4390-F643-A0A9-972A214DE3D1}"/>
                </a:ext>
              </a:extLst>
            </p:cNvPr>
            <p:cNvSpPr txBox="1"/>
            <p:nvPr/>
          </p:nvSpPr>
          <p:spPr>
            <a:xfrm>
              <a:off x="8948682" y="1973941"/>
              <a:ext cx="1858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Not yet delivered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DBC3907-E137-1E49-9123-B70BEFF71C4E}"/>
                </a:ext>
              </a:extLst>
            </p:cNvPr>
            <p:cNvSpPr/>
            <p:nvPr/>
          </p:nvSpPr>
          <p:spPr>
            <a:xfrm>
              <a:off x="8841143" y="1036984"/>
              <a:ext cx="2603019" cy="1375229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0FA21D0-6F2A-384D-981A-077CD8B3E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61" y="912536"/>
            <a:ext cx="7586461" cy="556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60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860B-4178-4579-9E4F-36C57EBD5FF4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16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2022-2023 Assessment Plan (IT)</a:t>
            </a:r>
            <a:endParaRPr lang="en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1D3667-AC12-ED4F-8F72-C4CBEA58C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171" y="943263"/>
            <a:ext cx="9561368" cy="537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57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F8D2-CD1E-46F4-94ED-8BB16FC590B3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2022-2023 Assessment Plan (CS)</a:t>
            </a:r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046F4A-25E6-9C48-98CD-E64BC3058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25" y="1468581"/>
            <a:ext cx="11825750" cy="39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99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D30180C-CCA7-924F-813A-72DD21115A78}"/>
              </a:ext>
              <a:ext uri="{147F2762-F138-4A5C-976F-8EAC2B608ADB}">
                <a16:predDERef xmlns:a16="http://schemas.microsoft.com/office/drawing/2014/main" pred="{D4EBF7E8-634F-EB4D-84EF-D4A80655AB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0040272"/>
              </p:ext>
            </p:extLst>
          </p:nvPr>
        </p:nvGraphicFramePr>
        <p:xfrm>
          <a:off x="1549100" y="1010558"/>
          <a:ext cx="8939605" cy="54507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8C274-40E8-481F-9B90-0582A2D9E9ED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18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Results (IT)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93309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Outcomes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9167A8-4BAD-ED4A-A12B-1ED2FE7093AD}"/>
              </a:ext>
            </a:extLst>
          </p:cNvPr>
          <p:cNvGrpSpPr/>
          <p:nvPr/>
        </p:nvGrpSpPr>
        <p:grpSpPr>
          <a:xfrm>
            <a:off x="2821815" y="3061208"/>
            <a:ext cx="7118253" cy="2704894"/>
            <a:chOff x="2821815" y="3061208"/>
            <a:chExt cx="7118253" cy="270489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48F4A2-CF62-C846-B2CE-66F2DE2CC48C}"/>
                </a:ext>
              </a:extLst>
            </p:cNvPr>
            <p:cNvSpPr/>
            <p:nvPr/>
          </p:nvSpPr>
          <p:spPr>
            <a:xfrm>
              <a:off x="9430327" y="3482790"/>
              <a:ext cx="509741" cy="2283312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01B5AC-37CD-804D-B7E6-6ADA47CD947F}"/>
                </a:ext>
              </a:extLst>
            </p:cNvPr>
            <p:cNvSpPr/>
            <p:nvPr/>
          </p:nvSpPr>
          <p:spPr>
            <a:xfrm>
              <a:off x="2821815" y="3248809"/>
              <a:ext cx="509741" cy="2501811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1011C8-99C7-864A-987C-3D4D3DA77E53}"/>
                </a:ext>
              </a:extLst>
            </p:cNvPr>
            <p:cNvSpPr/>
            <p:nvPr/>
          </p:nvSpPr>
          <p:spPr>
            <a:xfrm>
              <a:off x="6805455" y="3905028"/>
              <a:ext cx="509741" cy="1861072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BA2D1D-8CD4-B64E-B4D9-A0D02DB10D98}"/>
                </a:ext>
              </a:extLst>
            </p:cNvPr>
            <p:cNvSpPr/>
            <p:nvPr/>
          </p:nvSpPr>
          <p:spPr>
            <a:xfrm>
              <a:off x="4127294" y="3061208"/>
              <a:ext cx="552272" cy="270016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</p:spTree>
    <p:extLst>
      <p:ext uri="{BB962C8B-B14F-4D97-AF65-F5344CB8AC3E}">
        <p14:creationId xmlns:p14="http://schemas.microsoft.com/office/powerpoint/2010/main" val="409290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75BB2-6C08-4588-BC9D-3043421AA203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19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Results (IT)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93309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Outcomes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CAC4B40-4921-E34B-8FAE-212272826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979588"/>
              </p:ext>
            </p:extLst>
          </p:nvPr>
        </p:nvGraphicFramePr>
        <p:xfrm>
          <a:off x="601436" y="1507135"/>
          <a:ext cx="10909246" cy="4297274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9437243">
                  <a:extLst>
                    <a:ext uri="{9D8B030D-6E8A-4147-A177-3AD203B41FA5}">
                      <a16:colId xmlns:a16="http://schemas.microsoft.com/office/drawing/2014/main" val="4032134879"/>
                    </a:ext>
                  </a:extLst>
                </a:gridCol>
                <a:gridCol w="1472003">
                  <a:extLst>
                    <a:ext uri="{9D8B030D-6E8A-4147-A177-3AD203B41FA5}">
                      <a16:colId xmlns:a16="http://schemas.microsoft.com/office/drawing/2014/main" val="2590364842"/>
                    </a:ext>
                  </a:extLst>
                </a:gridCol>
              </a:tblGrid>
              <a:tr h="349346">
                <a:tc>
                  <a:txBody>
                    <a:bodyPr/>
                    <a:lstStyle/>
                    <a:p>
                      <a:pPr indent="-457200"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SOs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457200" algn="ctr"/>
                      <a:r>
                        <a:rPr lang="en-V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 Meet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64329"/>
                  </a:ext>
                </a:extLst>
              </a:tr>
              <a:tr h="698691"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 Analyze a complex computing problem and apply principles of computing and other relevant disciplines to identify solutions.</a:t>
                      </a:r>
                      <a:endParaRPr lang="en-VN" sz="1800" b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47,9%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094624"/>
                  </a:ext>
                </a:extLst>
              </a:tr>
              <a:tr h="698691"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 Design, implement, and evaluate a computing-based solution to meet a given set of computing requirements in the context of the program's discipline.</a:t>
                      </a:r>
                      <a:endParaRPr lang="en-VN" sz="1800" b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52,7%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559220"/>
                  </a:ext>
                </a:extLst>
              </a:tr>
              <a:tr h="454473"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(3) Communicate effectively in a variety of professional contexts.</a:t>
                      </a:r>
                      <a:endParaRPr lang="en-VN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73,7%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634369"/>
                  </a:ext>
                </a:extLst>
              </a:tr>
              <a:tr h="698691"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(4) Recognize professional responsibilities and make informed judgments in computing practice based on legal and ethical principles.</a:t>
                      </a:r>
                      <a:endParaRPr lang="en-VN" sz="1800" b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29,9%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9792971"/>
                  </a:ext>
                </a:extLst>
              </a:tr>
              <a:tr h="698691"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(5) Function effectively as a member or leader of a team engaged in activities appropriate to the program's discipline.</a:t>
                      </a:r>
                      <a:endParaRPr lang="en-VN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79,9%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599430"/>
                  </a:ext>
                </a:extLst>
              </a:tr>
              <a:tr h="698691">
                <a:tc>
                  <a:txBody>
                    <a:bodyPr/>
                    <a:lstStyle/>
                    <a:p>
                      <a:pPr indent="-457200" algn="l"/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(6) Use systemic approaches to select, develop, apply, integrate, and administer secure computing technologies to accomplish user goals (IT).</a:t>
                      </a:r>
                      <a:endParaRPr lang="en-VN" sz="1800" b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41,1%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5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480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C5726-44C3-421F-87FD-2F5B6C39391C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Results (IT)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93309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Indicators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DD759C2-9AF4-E746-9152-59309531559D}"/>
              </a:ext>
              <a:ext uri="{147F2762-F138-4A5C-976F-8EAC2B608ADB}">
                <a16:predDERef xmlns:a16="http://schemas.microsoft.com/office/drawing/2014/main" pred="{D4EBF7E8-634F-EB4D-84EF-D4A80655AB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8349745"/>
              </p:ext>
            </p:extLst>
          </p:nvPr>
        </p:nvGraphicFramePr>
        <p:xfrm>
          <a:off x="889111" y="1010558"/>
          <a:ext cx="10391829" cy="541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33616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35AC-A377-41C7-833A-07432FC6F42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Results (IT)</a:t>
            </a:r>
            <a:endParaRPr lang="en-V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1314B12-7C83-564C-81FB-F32F46318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628698"/>
              </p:ext>
            </p:extLst>
          </p:nvPr>
        </p:nvGraphicFramePr>
        <p:xfrm>
          <a:off x="980517" y="964540"/>
          <a:ext cx="10626982" cy="5321281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751462">
                  <a:extLst>
                    <a:ext uri="{9D8B030D-6E8A-4147-A177-3AD203B41FA5}">
                      <a16:colId xmlns:a16="http://schemas.microsoft.com/office/drawing/2014/main" val="4253068553"/>
                    </a:ext>
                  </a:extLst>
                </a:gridCol>
                <a:gridCol w="8552330">
                  <a:extLst>
                    <a:ext uri="{9D8B030D-6E8A-4147-A177-3AD203B41FA5}">
                      <a16:colId xmlns:a16="http://schemas.microsoft.com/office/drawing/2014/main" val="2554560500"/>
                    </a:ext>
                  </a:extLst>
                </a:gridCol>
                <a:gridCol w="1323190">
                  <a:extLst>
                    <a:ext uri="{9D8B030D-6E8A-4147-A177-3AD203B41FA5}">
                      <a16:colId xmlns:a16="http://schemas.microsoft.com/office/drawing/2014/main" val="2637850350"/>
                    </a:ext>
                  </a:extLst>
                </a:gridCol>
              </a:tblGrid>
              <a:tr h="236087">
                <a:tc>
                  <a:txBody>
                    <a:bodyPr/>
                    <a:lstStyle/>
                    <a:p>
                      <a:pPr marL="457200" indent="-457200" algn="ctr" fontAlgn="base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SOs 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ctr" fontAlgn="base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 for SOs 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ctr" fontAlgn="base"/>
                      <a:r>
                        <a:rPr lang="en-V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 Meet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8335107"/>
                  </a:ext>
                </a:extLst>
              </a:tr>
              <a:tr h="26998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SO1</a:t>
                      </a:r>
                      <a:endParaRPr lang="en-VN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 Student will be able to analyze a complex computing problem. </a:t>
                      </a:r>
                      <a:endParaRPr lang="en-VN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49,8%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749619"/>
                  </a:ext>
                </a:extLst>
              </a:tr>
              <a:tr h="384295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 Student will be able to apply computing principles and other relevant disciplines to identify solutions. </a:t>
                      </a:r>
                      <a:endParaRPr lang="en-VN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46,0%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54308"/>
                  </a:ext>
                </a:extLst>
              </a:tr>
              <a:tr h="38429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SO2</a:t>
                      </a:r>
                      <a:endParaRPr lang="en-VN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 Students will be able to design computer-based solutions for a given problem.</a:t>
                      </a:r>
                      <a:endParaRPr lang="en-VN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51,8%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276460"/>
                  </a:ext>
                </a:extLst>
              </a:tr>
              <a:tr h="384295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 Students will be able to implement and evaluate the designed solutions for a given problem. </a:t>
                      </a:r>
                      <a:endParaRPr lang="en-VN" sz="18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53,3%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639624"/>
                  </a:ext>
                </a:extLst>
              </a:tr>
              <a:tr h="38429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SO3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 Students will be able to produce a variety of documents for technical and non-technical audiences. 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72,4%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587169"/>
                  </a:ext>
                </a:extLst>
              </a:tr>
              <a:tr h="256197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 Students will be able to prepare and deliver oral presentations. 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75,0%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203599"/>
                  </a:ext>
                </a:extLst>
              </a:tr>
              <a:tr h="299341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SO4</a:t>
                      </a:r>
                      <a:endParaRPr lang="en-VN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 Students will be able to identify professional, legal and ethical issues. </a:t>
                      </a:r>
                      <a:endParaRPr lang="en-VN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31,8%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545318"/>
                  </a:ext>
                </a:extLst>
              </a:tr>
              <a:tr h="387408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 Students will be able to determine their responsibilities in professional, legal and ethical issues. </a:t>
                      </a:r>
                      <a:endParaRPr lang="en-VN" sz="18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28,0%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94485"/>
                  </a:ext>
                </a:extLst>
              </a:tr>
              <a:tr h="384295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SO5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 Students will be able to articulate and interpret the collaborative work of the team. 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75,7%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922545"/>
                  </a:ext>
                </a:extLst>
              </a:tr>
              <a:tr h="260200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 Students will be able to fulfill duties of team roles. 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84,1%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696235"/>
                  </a:ext>
                </a:extLst>
              </a:tr>
              <a:tr h="439003">
                <a:tc rowSpan="2">
                  <a:txBody>
                    <a:bodyPr/>
                    <a:lstStyle/>
                    <a:p>
                      <a:pPr marL="142875" marR="132715" indent="0" algn="just" fontAlgn="base">
                        <a:tabLst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SO6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6.1 Students will be able to select, develop and apply appropriate secure computing technologies to meet user goals.</a:t>
                      </a:r>
                      <a:endParaRPr lang="en-V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61,5%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502537"/>
                  </a:ext>
                </a:extLst>
              </a:tr>
              <a:tr h="384295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7625" marR="134620" algn="just" fontAlgn="base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 Students will be able to integrate and administer secure computing-based technologies.</a:t>
                      </a:r>
                      <a:endParaRPr lang="en-VN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15,1%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26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292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4368-E3BF-462F-9767-CBC6BE1D7A96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Results (IT)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93309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Indicators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5F6F556-89E9-134D-9D02-7B92AB840CE0}"/>
              </a:ext>
              <a:ext uri="{147F2762-F138-4A5C-976F-8EAC2B608ADB}">
                <a16:predDERef xmlns:a16="http://schemas.microsoft.com/office/drawing/2014/main" pred="{D4EBF7E8-634F-EB4D-84EF-D4A80655AB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1028543"/>
              </p:ext>
            </p:extLst>
          </p:nvPr>
        </p:nvGraphicFramePr>
        <p:xfrm>
          <a:off x="920559" y="1128891"/>
          <a:ext cx="10622396" cy="5325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53215B8C-9492-604E-A6DB-3254EBF372A0}"/>
              </a:ext>
            </a:extLst>
          </p:cNvPr>
          <p:cNvGrpSpPr/>
          <p:nvPr/>
        </p:nvGrpSpPr>
        <p:grpSpPr>
          <a:xfrm>
            <a:off x="1767565" y="2743200"/>
            <a:ext cx="9678571" cy="2183802"/>
            <a:chOff x="1767565" y="2743200"/>
            <a:chExt cx="9678571" cy="218380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EF0F3F-1A8E-A847-9371-9C44AEE9E218}"/>
                </a:ext>
              </a:extLst>
            </p:cNvPr>
            <p:cNvSpPr/>
            <p:nvPr/>
          </p:nvSpPr>
          <p:spPr>
            <a:xfrm>
              <a:off x="1767565" y="2829261"/>
              <a:ext cx="1309122" cy="20977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E2E80C1-256E-DD4E-83F8-6014EF216773}"/>
                </a:ext>
              </a:extLst>
            </p:cNvPr>
            <p:cNvSpPr/>
            <p:nvPr/>
          </p:nvSpPr>
          <p:spPr>
            <a:xfrm>
              <a:off x="3496235" y="3033655"/>
              <a:ext cx="914400" cy="189334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16DCFC6-C34A-B940-AF1A-9A928326FF5C}"/>
                </a:ext>
              </a:extLst>
            </p:cNvPr>
            <p:cNvSpPr/>
            <p:nvPr/>
          </p:nvSpPr>
          <p:spPr>
            <a:xfrm>
              <a:off x="10940527" y="3872753"/>
              <a:ext cx="505609" cy="10434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V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63464DA-279B-7044-9207-0C66D9B91D79}"/>
                </a:ext>
              </a:extLst>
            </p:cNvPr>
            <p:cNvSpPr/>
            <p:nvPr/>
          </p:nvSpPr>
          <p:spPr>
            <a:xfrm>
              <a:off x="8369684" y="3541059"/>
              <a:ext cx="806588" cy="137518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V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9420533-5841-3047-8907-A9010ED70877}"/>
                </a:ext>
              </a:extLst>
            </p:cNvPr>
            <p:cNvSpPr/>
            <p:nvPr/>
          </p:nvSpPr>
          <p:spPr>
            <a:xfrm>
              <a:off x="4840942" y="2743200"/>
              <a:ext cx="1309122" cy="218380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VN"/>
            </a:p>
          </p:txBody>
        </p:sp>
      </p:grpSp>
    </p:spTree>
    <p:extLst>
      <p:ext uri="{BB962C8B-B14F-4D97-AF65-F5344CB8AC3E}">
        <p14:creationId xmlns:p14="http://schemas.microsoft.com/office/powerpoint/2010/main" val="233995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868D-407F-4D5D-8605-A02C8B611E69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Results (IT)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78795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Indicators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0AB7D-56C3-B540-9624-2DEE99493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185" y="1324107"/>
            <a:ext cx="9401630" cy="510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50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8FBA-BA98-4C9E-9322-05023A54BFB6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&amp; Recommendation from Courses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93309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comments from CSE703038 – Databases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2B79-8982-2F43-87DD-11313D28E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826" y="1323905"/>
            <a:ext cx="8883874" cy="505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36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5A018-612B-4D68-A8F7-0BA9468200E9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&amp; Recommendation from Courses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93309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comments from CSE703064 – Web Application Development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EBAC2D-E0E3-9A48-BE11-266812EF9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36" y="1332229"/>
            <a:ext cx="8301179" cy="510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47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DADEC-21D0-4A6E-BEA2-6E74253D71D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&amp; Recommendation from Courses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93309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comments from CSE703048 – Software Analysis and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A22EB9-C692-2E47-991B-53D15C9E5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823" y="1301675"/>
            <a:ext cx="8126850" cy="511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24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C36D-FD52-4994-B610-D922B0BEF674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&amp; Recommendation from Courses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79454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comments from CSE702027 – Mobile Application Development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2697B-2DEE-E24A-BD64-98B2761C7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345" y="1280412"/>
            <a:ext cx="7737237" cy="519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21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FD13-58B3-49BF-A020-F0C248F2611F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&amp; Recommendation from Courses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893309"/>
            <a:ext cx="11551617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comments from CSE702011 – Cloud Computing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4AA74C-A299-9B46-B89A-E2962DFDB4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3"/>
          <a:stretch/>
        </p:blipFill>
        <p:spPr>
          <a:xfrm>
            <a:off x="1849832" y="1308946"/>
            <a:ext cx="8215245" cy="513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06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297-25AB-44F2-9382-36F52BE25142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29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Recommendation for Program 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1508" y="1069506"/>
            <a:ext cx="11159349" cy="520660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results of SO1: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different and senior courses to assess</a:t>
            </a:r>
          </a:p>
          <a:p>
            <a:pPr marL="400050" indent="-400050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results of SO2: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different and senior courses to assess</a:t>
            </a:r>
          </a:p>
          <a:p>
            <a:pPr marL="400050" indent="-400050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results of SO3: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rubrics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results of SO4: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on professional, legal and ethical issues should be provided in the “Introduction to Computing” course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on professional, legal and ethical issues should added in project courses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125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DA0A-C713-4B7B-9A6D-F3A728D8864A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30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Recommendation for Program </a:t>
            </a:r>
            <a:endParaRPr lang="en-VN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252B7C9-994D-734A-BB0E-57CE6168973D}"/>
              </a:ext>
            </a:extLst>
          </p:cNvPr>
          <p:cNvSpPr txBox="1">
            <a:spLocks/>
          </p:cNvSpPr>
          <p:nvPr/>
        </p:nvSpPr>
        <p:spPr>
          <a:xfrm>
            <a:off x="235528" y="1069506"/>
            <a:ext cx="11948134" cy="460152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results of SO5: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rubrics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0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results of SO6: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computing topics need to be integrated into several courses in the program 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847B7D2-946E-B442-9C29-7EDB1B2DE36F}"/>
              </a:ext>
            </a:extLst>
          </p:cNvPr>
          <p:cNvSpPr txBox="1">
            <a:spLocks/>
          </p:cNvSpPr>
          <p:nvPr/>
        </p:nvSpPr>
        <p:spPr>
          <a:xfrm>
            <a:off x="340857" y="5794341"/>
            <a:ext cx="11100000" cy="5337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6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actions will be discussed in the faculty meeting.</a:t>
            </a:r>
          </a:p>
          <a:p>
            <a:pPr marL="400050" indent="-400050">
              <a:lnSpc>
                <a:spcPct val="100000"/>
              </a:lnSpc>
              <a:spcAft>
                <a:spcPts val="1200"/>
              </a:spcAft>
              <a:buFont typeface="Wingdings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101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3034-50F6-4AE9-8010-1C3153A64C1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31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Plan for 2023-2024 (IT)</a:t>
            </a:r>
            <a:endParaRPr lang="en-V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FE1B38-EA04-C64C-8395-18B38D5AF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93" y="912890"/>
            <a:ext cx="11755664" cy="552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14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6D62-F1A3-4F73-8088-FB875CCC01FE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32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Plan for 2023-2024 (CS)</a:t>
            </a:r>
            <a:endParaRPr lang="en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841160-2140-0547-8F45-99797BB2D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28" y="921473"/>
            <a:ext cx="10936743" cy="552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02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D7BB-FEB7-B14F-B7BD-5CD92B60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6" y="2824480"/>
            <a:ext cx="10491008" cy="1643652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/>
              <a:t>Thank you! </a:t>
            </a:r>
            <a:br>
              <a:rPr lang="en-US" dirty="0"/>
            </a:br>
            <a:r>
              <a:rPr lang="en-US" dirty="0"/>
              <a:t>Have a great academic year!</a:t>
            </a:r>
            <a:endParaRPr lang="en-V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EC62C1-F310-0045-A9B6-285A289D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C7B2B-D460-4FF8-986F-F8EC636CF37F}" type="datetime1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47D25-3AC4-3F4D-B55C-E06CB5F96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Database System Design, Implementation And Management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33F27-97DE-F643-9B24-6B9054486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72971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9064D6C488808240A931504663625519" ma:contentTypeVersion="14" ma:contentTypeDescription="Tạo tài liệu mới." ma:contentTypeScope="" ma:versionID="917cc4c3b82354d7a8f69433fdf51fae">
  <xsd:schema xmlns:xsd="http://www.w3.org/2001/XMLSchema" xmlns:xs="http://www.w3.org/2001/XMLSchema" xmlns:p="http://schemas.microsoft.com/office/2006/metadata/properties" xmlns:ns2="f6f721e1-8a62-40be-993d-f44352021507" xmlns:ns3="5d0b22ea-e5ea-49c7-9b62-902e21e51f08" targetNamespace="http://schemas.microsoft.com/office/2006/metadata/properties" ma:root="true" ma:fieldsID="2f9312a3ec803083f43100d41fb65ef5" ns2:_="" ns3:_="">
    <xsd:import namespace="f6f721e1-8a62-40be-993d-f44352021507"/>
    <xsd:import namespace="5d0b22ea-e5ea-49c7-9b62-902e21e51f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f721e1-8a62-40be-993d-f443520215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Thẻ Hình ảnh" ma:readOnly="false" ma:fieldId="{5cf76f15-5ced-4ddc-b409-7134ff3c332f}" ma:taxonomyMulti="true" ma:sspId="d7facb9e-2b26-4d73-808f-93b90f4d65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0b22ea-e5ea-49c7-9b62-902e21e51f0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31b757f-8087-4096-bcce-f3e636a02fec}" ma:internalName="TaxCatchAll" ma:showField="CatchAllData" ma:web="5d0b22ea-e5ea-49c7-9b62-902e21e51f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6f721e1-8a62-40be-993d-f44352021507">
      <Terms xmlns="http://schemas.microsoft.com/office/infopath/2007/PartnerControls"/>
    </lcf76f155ced4ddcb4097134ff3c332f>
    <TaxCatchAll xmlns="5d0b22ea-e5ea-49c7-9b62-902e21e51f0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A3FF16-233C-4924-A46E-9817D4FE65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f721e1-8a62-40be-993d-f44352021507"/>
    <ds:schemaRef ds:uri="5d0b22ea-e5ea-49c7-9b62-902e21e51f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A9B77A0-8658-45E5-8D19-245595005394}">
  <ds:schemaRefs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f6f721e1-8a62-40be-993d-f44352021507"/>
    <ds:schemaRef ds:uri="http://schemas.openxmlformats.org/package/2006/metadata/core-properties"/>
    <ds:schemaRef ds:uri="5d0b22ea-e5ea-49c7-9b62-902e21e51f08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9E42AFF-377A-47D3-84EF-20B0692369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1786</TotalTime>
  <Words>2310</Words>
  <Application>Microsoft Office PowerPoint</Application>
  <PresentationFormat>Widescreen</PresentationFormat>
  <Paragraphs>340</Paragraphs>
  <Slides>33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Courier New</vt:lpstr>
      <vt:lpstr>Gill Sans</vt:lpstr>
      <vt:lpstr>MyriadPro-Regular</vt:lpstr>
      <vt:lpstr>NewCaledoniaLTStd</vt:lpstr>
      <vt:lpstr>Times New Roman</vt:lpstr>
      <vt:lpstr>Wingdings</vt:lpstr>
      <vt:lpstr>Vicostone Template</vt:lpstr>
      <vt:lpstr>Chapter 1 - Database Systems </vt:lpstr>
      <vt:lpstr>PowerPoint Presentation</vt:lpstr>
      <vt:lpstr>Chapter goals</vt:lpstr>
      <vt:lpstr>Chapter goals (cont’)</vt:lpstr>
      <vt:lpstr>1-1 Why Databases?</vt:lpstr>
      <vt:lpstr>1-1 Why Databases?</vt:lpstr>
      <vt:lpstr>PowerPoint Presentation</vt:lpstr>
      <vt:lpstr>Program Educational Obectives (PEOs)</vt:lpstr>
      <vt:lpstr>SOs and PIs of IT Program</vt:lpstr>
      <vt:lpstr>SOs and PIs of CS Program</vt:lpstr>
      <vt:lpstr>Continuous Improvement Process</vt:lpstr>
      <vt:lpstr>SOs and PIs of IT Program</vt:lpstr>
      <vt:lpstr>SOs and PIs of CS Program</vt:lpstr>
      <vt:lpstr>Key Courses for Assessment (IT)</vt:lpstr>
      <vt:lpstr>Key Courses for Assessment (CS)</vt:lpstr>
      <vt:lpstr>2022-2023 Assessment Plan (IT)</vt:lpstr>
      <vt:lpstr>2022-2023 Assessment Plan (CS)</vt:lpstr>
      <vt:lpstr>Assessment Results (IT)</vt:lpstr>
      <vt:lpstr>Assessment Results (IT)</vt:lpstr>
      <vt:lpstr>Assessment Results (IT)</vt:lpstr>
      <vt:lpstr>Assessment Results (IT)</vt:lpstr>
      <vt:lpstr>Assessment Results (IT)</vt:lpstr>
      <vt:lpstr>Assessment Results (IT)</vt:lpstr>
      <vt:lpstr>Analysis &amp; Recommendation from Courses</vt:lpstr>
      <vt:lpstr>Analysis &amp; Recommendation from Courses</vt:lpstr>
      <vt:lpstr>Analysis &amp; Recommendation from Courses</vt:lpstr>
      <vt:lpstr>Analysis &amp; Recommendation from Courses</vt:lpstr>
      <vt:lpstr>Analysis &amp; Recommendation from Courses</vt:lpstr>
      <vt:lpstr>Recommendation for Program </vt:lpstr>
      <vt:lpstr>Recommendation for Program </vt:lpstr>
      <vt:lpstr>Assessment Plan for 2023-2024 (IT)</vt:lpstr>
      <vt:lpstr>Assessment Plan for 2023-2024 (CS)</vt:lpstr>
      <vt:lpstr>Thank you!  Have a great academic year!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huy pham</dc:creator>
  <cp:lastModifiedBy>Vu Duc Minh</cp:lastModifiedBy>
  <cp:revision>94</cp:revision>
  <dcterms:created xsi:type="dcterms:W3CDTF">2021-07-07T15:50:18Z</dcterms:created>
  <dcterms:modified xsi:type="dcterms:W3CDTF">2023-12-19T00:42:26Z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0x0101009064D6C488808240A931504663625519</vt:lpwstr>
  </property>
  <property fmtid="{D5CDD505-2E9C-101B-9397-08002B2CF9AE}" pid="3" name="MediaServiceImageTags">
    <vt:lpwstr/>
  </property>
</Properties>
</file>