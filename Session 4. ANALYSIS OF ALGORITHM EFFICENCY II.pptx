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1"/>
  </p:sldMasterIdLst>
  <p:notesMasterIdLst>
    <p:notesMasterId r:id="rId73"/>
  </p:notesMasterIdLst>
  <p:handoutMasterIdLst>
    <p:handoutMasterId r:id="rId74"/>
  </p:handoutMasterIdLst>
  <p:sldIdLst>
    <p:sldId id="349" r:id="rId2"/>
    <p:sldId id="384" r:id="rId3"/>
    <p:sldId id="257" r:id="rId4"/>
    <p:sldId id="432" r:id="rId5"/>
    <p:sldId id="557" r:id="rId6"/>
    <p:sldId id="558" r:id="rId7"/>
    <p:sldId id="559" r:id="rId8"/>
    <p:sldId id="560" r:id="rId9"/>
    <p:sldId id="561" r:id="rId10"/>
    <p:sldId id="562" r:id="rId11"/>
    <p:sldId id="563" r:id="rId12"/>
    <p:sldId id="564" r:id="rId13"/>
    <p:sldId id="565" r:id="rId14"/>
    <p:sldId id="566" r:id="rId15"/>
    <p:sldId id="567" r:id="rId16"/>
    <p:sldId id="568" r:id="rId17"/>
    <p:sldId id="569" r:id="rId18"/>
    <p:sldId id="570" r:id="rId19"/>
    <p:sldId id="571" r:id="rId20"/>
    <p:sldId id="572" r:id="rId21"/>
    <p:sldId id="573" r:id="rId22"/>
    <p:sldId id="574" r:id="rId23"/>
    <p:sldId id="575" r:id="rId24"/>
    <p:sldId id="576" r:id="rId25"/>
    <p:sldId id="577" r:id="rId26"/>
    <p:sldId id="578" r:id="rId27"/>
    <p:sldId id="579" r:id="rId28"/>
    <p:sldId id="580" r:id="rId29"/>
    <p:sldId id="581" r:id="rId30"/>
    <p:sldId id="582" r:id="rId31"/>
    <p:sldId id="583" r:id="rId32"/>
    <p:sldId id="584" r:id="rId33"/>
    <p:sldId id="585" r:id="rId34"/>
    <p:sldId id="586" r:id="rId35"/>
    <p:sldId id="587" r:id="rId36"/>
    <p:sldId id="588" r:id="rId37"/>
    <p:sldId id="589" r:id="rId38"/>
    <p:sldId id="590" r:id="rId39"/>
    <p:sldId id="591" r:id="rId40"/>
    <p:sldId id="592" r:id="rId41"/>
    <p:sldId id="593" r:id="rId42"/>
    <p:sldId id="594" r:id="rId43"/>
    <p:sldId id="595" r:id="rId44"/>
    <p:sldId id="596" r:id="rId45"/>
    <p:sldId id="597" r:id="rId46"/>
    <p:sldId id="598" r:id="rId47"/>
    <p:sldId id="599" r:id="rId48"/>
    <p:sldId id="600" r:id="rId49"/>
    <p:sldId id="601" r:id="rId50"/>
    <p:sldId id="602" r:id="rId51"/>
    <p:sldId id="603" r:id="rId52"/>
    <p:sldId id="604" r:id="rId53"/>
    <p:sldId id="605" r:id="rId54"/>
    <p:sldId id="606" r:id="rId55"/>
    <p:sldId id="607" r:id="rId56"/>
    <p:sldId id="608" r:id="rId57"/>
    <p:sldId id="609" r:id="rId58"/>
    <p:sldId id="610" r:id="rId59"/>
    <p:sldId id="611" r:id="rId60"/>
    <p:sldId id="612" r:id="rId61"/>
    <p:sldId id="613" r:id="rId62"/>
    <p:sldId id="614" r:id="rId63"/>
    <p:sldId id="615" r:id="rId64"/>
    <p:sldId id="616" r:id="rId65"/>
    <p:sldId id="617" r:id="rId66"/>
    <p:sldId id="618" r:id="rId67"/>
    <p:sldId id="620" r:id="rId68"/>
    <p:sldId id="621" r:id="rId69"/>
    <p:sldId id="622" r:id="rId70"/>
    <p:sldId id="619" r:id="rId71"/>
    <p:sldId id="556" r:id="rId72"/>
  </p:sldIdLst>
  <p:sldSz cx="12192000" cy="6858000"/>
  <p:notesSz cx="7315200" cy="9601200"/>
  <p:defaultTextStyle>
    <a:defPPr>
      <a:defRPr lang="en-US"/>
    </a:defPPr>
    <a:lvl1pPr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01" y="33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>
            <a:extLst>
              <a:ext uri="{FF2B5EF4-FFF2-40B4-BE49-F238E27FC236}">
                <a16:creationId xmlns:a16="http://schemas.microsoft.com/office/drawing/2014/main" id="{96D549CF-6DFD-CFDB-4965-58194CF4F2D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357" cy="480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790" tIns="46895" rIns="93790" bIns="46895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131" name="Rectangle 3">
            <a:extLst>
              <a:ext uri="{FF2B5EF4-FFF2-40B4-BE49-F238E27FC236}">
                <a16:creationId xmlns:a16="http://schemas.microsoft.com/office/drawing/2014/main" id="{8E19A229-EAF8-2AAF-E6EC-E0366ADCBC2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209" y="0"/>
            <a:ext cx="3170357" cy="480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790" tIns="46895" rIns="93790" bIns="46895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132" name="Rectangle 4">
            <a:extLst>
              <a:ext uri="{FF2B5EF4-FFF2-40B4-BE49-F238E27FC236}">
                <a16:creationId xmlns:a16="http://schemas.microsoft.com/office/drawing/2014/main" id="{F0195859-3B9C-EA5A-DAC2-F772721978B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19030"/>
            <a:ext cx="3170357" cy="480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790" tIns="46895" rIns="93790" bIns="46895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133" name="Rectangle 5">
            <a:extLst>
              <a:ext uri="{FF2B5EF4-FFF2-40B4-BE49-F238E27FC236}">
                <a16:creationId xmlns:a16="http://schemas.microsoft.com/office/drawing/2014/main" id="{B8E62657-3ACA-464B-2D2E-4F1C967F22F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209" y="9119030"/>
            <a:ext cx="3170357" cy="480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790" tIns="46895" rIns="93790" bIns="46895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fld id="{1AA94293-E3C3-4E54-B9F5-BDD568EB9D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07B0EA7D-2BA2-8120-5ABC-58CDE72589F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357" cy="480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>
            <a:lvl1pPr defTabSz="967209"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C10E525-0B9B-E215-412D-1BFB60849A0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209" y="0"/>
            <a:ext cx="3170357" cy="480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>
            <a:lvl1pPr algn="r" defTabSz="967209"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2" name="Rectangle 4">
            <a:extLst>
              <a:ext uri="{FF2B5EF4-FFF2-40B4-BE49-F238E27FC236}">
                <a16:creationId xmlns:a16="http://schemas.microsoft.com/office/drawing/2014/main" id="{D0C47E53-5BA5-1AAE-751E-1F2FCB50DCD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8788" y="720725"/>
            <a:ext cx="6397625" cy="3598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AC9F7E04-E094-DF99-87DE-5755394A5A3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0867" y="4560328"/>
            <a:ext cx="5853468" cy="4320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5" rIns="96651" bIns="483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B63EB7C0-6B53-7D30-2E9B-C6D99EA8D4D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9030"/>
            <a:ext cx="3170357" cy="480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5" rIns="96651" bIns="48325" numCol="1" anchor="b" anchorCtr="0" compatLnSpc="1">
            <a:prstTxWarp prst="textNoShape">
              <a:avLst/>
            </a:prstTxWarp>
          </a:bodyPr>
          <a:lstStyle>
            <a:lvl1pPr defTabSz="967209"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93E52514-5308-A2CB-4759-555ACCF988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209" y="9119030"/>
            <a:ext cx="3170357" cy="480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1" tIns="48325" rIns="96651" bIns="48325" numCol="1" anchor="b" anchorCtr="0" compatLnSpc="1">
            <a:prstTxWarp prst="textNoShape">
              <a:avLst/>
            </a:prstTxWarp>
          </a:bodyPr>
          <a:lstStyle>
            <a:lvl1pPr algn="r" defTabSz="967209" eaLnBrk="1" hangingPunct="1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fld id="{8A144A25-5569-4442-A77C-2A296DF0D21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3BD0B5F7-2B7A-DA2F-7070-6EF7799975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62044" indent="-293094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72375" indent="-23447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41325" indent="-23447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110275" indent="-234475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79225" indent="-2344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3048175" indent="-2344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517125" indent="-2344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986075" indent="-23447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35C4C7B-183C-403B-84D5-321BC85875A1}" type="slidenum">
              <a:rPr lang="en-US" altLang="en-US" sz="1200">
                <a:latin typeface="Times New Roman" panose="02020603050405020304" pitchFamily="18" charset="0"/>
              </a:rPr>
              <a:pPr/>
              <a:t>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DF4AD010-AA0B-CF86-F1F1-8CF3B11AFC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BCAB0135-16F3-2242-1C12-4813333113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A4991CFF-1925-B2DC-0C79-EFA4CA20EA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209">
              <a:defRPr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62044" indent="-293094" defTabSz="967209">
              <a:defRPr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72375" indent="-234475" defTabSz="967209">
              <a:defRPr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41325" indent="-234475" defTabSz="967209">
              <a:defRPr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110275" indent="-234475" defTabSz="967209">
              <a:defRPr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79225" indent="-234475" defTabSz="967209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3048175" indent="-234475" defTabSz="967209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517125" indent="-234475" defTabSz="967209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986075" indent="-234475" defTabSz="967209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8FBE478-A0BF-42B8-A0DC-3DB0C1A712F1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D89EA09E-FDE6-9DE3-FDF9-7CA57728B9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48AFACFC-483F-60C7-7B04-AE823E11C4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964BB1-7357-BCBC-C333-4CA5E7116E2E}"/>
              </a:ext>
            </a:extLst>
          </p:cNvPr>
          <p:cNvSpPr/>
          <p:nvPr userDrawn="1"/>
        </p:nvSpPr>
        <p:spPr>
          <a:xfrm>
            <a:off x="0" y="2"/>
            <a:ext cx="12192000" cy="6486525"/>
          </a:xfrm>
          <a:prstGeom prst="rect">
            <a:avLst/>
          </a:prstGeom>
          <a:solidFill>
            <a:srgbClr val="2237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41219" y="3243266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7">
            <a:extLst>
              <a:ext uri="{FF2B5EF4-FFF2-40B4-BE49-F238E27FC236}">
                <a16:creationId xmlns:a16="http://schemas.microsoft.com/office/drawing/2014/main" id="{EFE6BCEB-9D04-0A31-13FD-E54A7886E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38915"/>
            <a:ext cx="2743200" cy="365125"/>
          </a:xfrm>
        </p:spPr>
        <p:txBody>
          <a:bodyPr/>
          <a:lstStyle>
            <a:lvl1pPr>
              <a:defRPr sz="1000" smtClean="0">
                <a:latin typeface="+mn-lt"/>
              </a:defRPr>
            </a:lvl1pPr>
          </a:lstStyle>
          <a:p>
            <a:pPr>
              <a:buFont typeface="Monotype Sorts" charset="2"/>
              <a:buNone/>
              <a:defRPr/>
            </a:pPr>
            <a:fld id="{1CC891BA-034A-48B1-A882-E2BBAA86CE85}" type="datetime1">
              <a:rPr lang="en-US" smtClean="0"/>
              <a:t>3/3/2024</a:t>
            </a:fld>
            <a:endParaRPr lang="en-US" dirty="0"/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21C2B440-578D-B562-B0A6-B54BDB743A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48800" y="6538915"/>
            <a:ext cx="2743200" cy="365125"/>
          </a:xfrm>
        </p:spPr>
        <p:txBody>
          <a:bodyPr/>
          <a:lstStyle>
            <a:lvl1pPr>
              <a:defRPr sz="1000">
                <a:solidFill>
                  <a:prstClr val="white"/>
                </a:solidFill>
                <a:latin typeface="+mn-lt"/>
              </a:defRPr>
            </a:lvl1pPr>
          </a:lstStyle>
          <a:p>
            <a:pPr>
              <a:buFont typeface="Monotype Sorts" charset="2"/>
              <a:buNone/>
              <a:defRPr/>
            </a:pPr>
            <a:fld id="{775A0816-9807-4CA3-A3C5-68577B5C9559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ABBDFAC-3ABC-7AF1-C80F-B9A80EC5DAE2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 sz="1000">
                <a:latin typeface="+mn-lt"/>
              </a:defRPr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UFCFFS-30-1– Foundations of Computing</a:t>
            </a:r>
          </a:p>
        </p:txBody>
      </p:sp>
    </p:spTree>
    <p:extLst>
      <p:ext uri="{BB962C8B-B14F-4D97-AF65-F5344CB8AC3E}">
        <p14:creationId xmlns:p14="http://schemas.microsoft.com/office/powerpoint/2010/main" val="4157092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1A55295-5DC2-C569-6312-199AFA24EE07}"/>
              </a:ext>
            </a:extLst>
          </p:cNvPr>
          <p:cNvSpPr/>
          <p:nvPr userDrawn="1"/>
        </p:nvSpPr>
        <p:spPr>
          <a:xfrm>
            <a:off x="392908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82252" y="277964"/>
            <a:ext cx="7928429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56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29624-F3B5-070E-14EF-70CC1B4849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80188"/>
            <a:ext cx="2743200" cy="277812"/>
          </a:xfrm>
        </p:spPr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2E154125-4608-497B-949A-2E386C1F812E}" type="datetime1">
              <a:rPr lang="en-US" smtClean="0"/>
              <a:t>3/3/2024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685519A-3558-75C9-7D9D-2CD34FE860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12288" y="6623050"/>
            <a:ext cx="2743200" cy="234950"/>
          </a:xfrm>
        </p:spPr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fld id="{3668E2E4-C289-40FA-803B-52DC86338CE3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678CD4D-49EF-4866-C3F2-B2A61D010B3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UFCFFS-30-1– Foundations of Computing</a:t>
            </a:r>
          </a:p>
        </p:txBody>
      </p:sp>
      <p:pic>
        <p:nvPicPr>
          <p:cNvPr id="7" name="Picture 2" descr="Image result for uwe bristol logo">
            <a:extLst>
              <a:ext uri="{FF2B5EF4-FFF2-40B4-BE49-F238E27FC236}">
                <a16:creationId xmlns:a16="http://schemas.microsoft.com/office/drawing/2014/main" id="{0215B41E-72B5-D655-7127-58FC169525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7213" y="16164"/>
            <a:ext cx="1447800" cy="744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9857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E98A4D7-51AA-2B15-3D26-501BAE3FD3F8}"/>
              </a:ext>
            </a:extLst>
          </p:cNvPr>
          <p:cNvSpPr/>
          <p:nvPr userDrawn="1"/>
        </p:nvSpPr>
        <p:spPr>
          <a:xfrm>
            <a:off x="392908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87476" y="2949388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4508C-232F-8AA0-F1C6-36CFF9ACCA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92890"/>
            <a:ext cx="2743200" cy="268287"/>
          </a:xfrm>
        </p:spPr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E3C475DF-DA5F-4E91-A4D4-E6CD91339370}" type="datetime1">
              <a:rPr lang="en-US" smtClean="0"/>
              <a:t>3/3/2024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E118D7B-5BE4-D162-C63C-02493336AE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366251" y="6589715"/>
            <a:ext cx="2743200" cy="314325"/>
          </a:xfrm>
        </p:spPr>
        <p:txBody>
          <a:bodyPr/>
          <a:lstStyle>
            <a:lvl1pPr>
              <a:defRPr sz="1000"/>
            </a:lvl1pPr>
          </a:lstStyle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8007CFB-2610-ACA1-B2EA-E3DDAC766C9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UFCFFS-30-1– Foundations of Computing</a:t>
            </a:r>
          </a:p>
        </p:txBody>
      </p:sp>
      <p:pic>
        <p:nvPicPr>
          <p:cNvPr id="8" name="Picture 2" descr="Image result for uwe bristol logo">
            <a:extLst>
              <a:ext uri="{FF2B5EF4-FFF2-40B4-BE49-F238E27FC236}">
                <a16:creationId xmlns:a16="http://schemas.microsoft.com/office/drawing/2014/main" id="{916E3C2A-0A31-00FE-ECF8-1672CFF37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7213" y="16164"/>
            <a:ext cx="1447800" cy="744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8943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858F73B4-3EA4-F35A-3D60-2923D5658ED7}"/>
              </a:ext>
            </a:extLst>
          </p:cNvPr>
          <p:cNvSpPr/>
          <p:nvPr userDrawn="1"/>
        </p:nvSpPr>
        <p:spPr>
          <a:xfrm>
            <a:off x="311261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40859" y="243492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56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309221" y="1169083"/>
            <a:ext cx="11551617" cy="495413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800"/>
            </a:lvl2pPr>
            <a:lvl3pPr>
              <a:defRPr sz="18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778A0-1739-29FF-2284-D0326B623CD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buFont typeface="Monotype Sorts" charset="2"/>
              <a:buNone/>
              <a:defRPr/>
            </a:pPr>
            <a:fld id="{F8A5A062-5663-41D9-8D77-F88976B13B59}" type="datetime1">
              <a:rPr lang="en-US" smtClean="0"/>
              <a:t>3/3/2024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C1F769-2EA0-3B74-8A9C-9BD515A3FA5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9421813" y="6600825"/>
            <a:ext cx="2743200" cy="274638"/>
          </a:xfrm>
        </p:spPr>
        <p:txBody>
          <a:bodyPr/>
          <a:lstStyle>
            <a:lvl1pPr>
              <a:defRPr sz="1000"/>
            </a:lvl1pPr>
          </a:lstStyle>
          <a:p>
            <a:pPr>
              <a:buFont typeface="Monotype Sorts" charset="2"/>
              <a:buNone/>
              <a:defRPr/>
            </a:pPr>
            <a:fld id="{BC9EDAA9-37F3-4614-95D5-5B7FFAB71D04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EB4D491-05E9-53AB-E987-C6383C7B7C83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UFCFFS-30-1– Foundations of Computing</a:t>
            </a:r>
          </a:p>
        </p:txBody>
      </p:sp>
      <p:pic>
        <p:nvPicPr>
          <p:cNvPr id="1026" name="Picture 2" descr="Image result for uwe bristol logo">
            <a:extLst>
              <a:ext uri="{FF2B5EF4-FFF2-40B4-BE49-F238E27FC236}">
                <a16:creationId xmlns:a16="http://schemas.microsoft.com/office/drawing/2014/main" id="{36ECDC33-660E-2EA9-6A61-B10D1DF96F8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7213" y="16164"/>
            <a:ext cx="1447800" cy="744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8140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63687" y="2846231"/>
            <a:ext cx="4417452" cy="1460428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3150" b="1" baseline="0">
                <a:solidFill>
                  <a:srgbClr val="2237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63687" y="4429523"/>
            <a:ext cx="4417452" cy="75007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350" baseline="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/>
          </p:nvPr>
        </p:nvSpPr>
        <p:spPr>
          <a:xfrm>
            <a:off x="1" y="862153"/>
            <a:ext cx="7096259" cy="56319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1888363-DACF-4CD3-2499-6E28B3D6969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638F6F86-1F0B-4A69-B0CE-7FE31F7B216C}" type="datetime1">
              <a:rPr lang="en-US" smtClean="0"/>
              <a:t>3/3/2024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2A37517-8DD7-EEA6-F2E6-49FC8CC73A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871913" y="6604000"/>
            <a:ext cx="4114800" cy="254000"/>
          </a:xfrm>
        </p:spPr>
        <p:txBody>
          <a:bodyPr/>
          <a:lstStyle>
            <a:lvl1pPr defTabSz="257175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white"/>
                </a:solidFill>
                <a:latin typeface="Calibri" panose="020F0502020204030204"/>
                <a:ea typeface="+mn-ea"/>
              </a:defRPr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UFCFFS-30-1– Foundations of Computing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06BDF5-0E4B-7D5D-4DE0-26F369F0EB1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fld id="{4FC3DE7D-4EEA-43B2-9617-70FD3CFD639D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2" descr="Image result for uwe bristol logo">
            <a:extLst>
              <a:ext uri="{FF2B5EF4-FFF2-40B4-BE49-F238E27FC236}">
                <a16:creationId xmlns:a16="http://schemas.microsoft.com/office/drawing/2014/main" id="{C9EF55CF-963F-B99B-6D50-815F7F7C9EE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7213" y="16164"/>
            <a:ext cx="1447800" cy="744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280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3">
            <a:extLst>
              <a:ext uri="{FF2B5EF4-FFF2-40B4-BE49-F238E27FC236}">
                <a16:creationId xmlns:a16="http://schemas.microsoft.com/office/drawing/2014/main" id="{397F7F79-C88E-7534-6D6C-7E21232DD335}"/>
              </a:ext>
            </a:extLst>
          </p:cNvPr>
          <p:cNvSpPr/>
          <p:nvPr userDrawn="1"/>
        </p:nvSpPr>
        <p:spPr>
          <a:xfrm>
            <a:off x="392908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3"/>
          </p:nvPr>
        </p:nvSpPr>
        <p:spPr>
          <a:xfrm>
            <a:off x="392907" y="278800"/>
            <a:ext cx="5813199" cy="457200"/>
          </a:xfrm>
          <a:prstGeom prst="rect">
            <a:avLst/>
          </a:prstGeom>
        </p:spPr>
        <p:txBody>
          <a:bodyPr/>
          <a:lstStyle>
            <a:lvl1pPr>
              <a:defRPr lang="en-VN" sz="1856" b="1" baseline="0" dirty="0">
                <a:solidFill>
                  <a:srgbClr val="223771"/>
                </a:solidFill>
                <a:ea typeface="+mj-e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E8D8520-2EEF-7DFE-992F-B17199C9D3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buFont typeface="Monotype Sorts" charset="2"/>
              <a:buNone/>
              <a:defRPr/>
            </a:pPr>
            <a:fld id="{312F2106-85A1-488C-B255-AD8A5B98FDDB}" type="datetime1">
              <a:rPr lang="en-US" smtClean="0"/>
              <a:t>3/3/2024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86DAE71-5E4C-AD44-94BB-40E3E9BE3B2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buFont typeface="Monotype Sorts" charset="2"/>
              <a:buNone/>
              <a:defRPr/>
            </a:pPr>
            <a:fld id="{B9B03C63-2273-46E4-B7DF-3CCA315B6CB6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74D9259-758C-E063-00D3-B9F2238CDAAB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UFCFFS-30-1– Foundations of Computing</a:t>
            </a:r>
          </a:p>
        </p:txBody>
      </p:sp>
      <p:pic>
        <p:nvPicPr>
          <p:cNvPr id="9" name="Picture 2" descr="Image result for uwe bristol logo">
            <a:extLst>
              <a:ext uri="{FF2B5EF4-FFF2-40B4-BE49-F238E27FC236}">
                <a16:creationId xmlns:a16="http://schemas.microsoft.com/office/drawing/2014/main" id="{DA64AC46-0D6A-3ECC-48E7-FA4CC610FE9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7213" y="16164"/>
            <a:ext cx="1447800" cy="744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661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3">
            <a:extLst>
              <a:ext uri="{FF2B5EF4-FFF2-40B4-BE49-F238E27FC236}">
                <a16:creationId xmlns:a16="http://schemas.microsoft.com/office/drawing/2014/main" id="{E54F1EF8-213B-FF64-8429-F8F6501B5178}"/>
              </a:ext>
            </a:extLst>
          </p:cNvPr>
          <p:cNvSpPr/>
          <p:nvPr userDrawn="1"/>
        </p:nvSpPr>
        <p:spPr>
          <a:xfrm>
            <a:off x="701900" y="515148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900" y="351789"/>
            <a:ext cx="8061101" cy="9227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88" b="1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1901" y="1639781"/>
            <a:ext cx="3336703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711" y="1639781"/>
            <a:ext cx="3331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3"/>
          </p:nvPr>
        </p:nvSpPr>
        <p:spPr>
          <a:xfrm>
            <a:off x="8426539" y="1639781"/>
            <a:ext cx="3331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9E9E4F77-455A-34FF-7394-C19D63B430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EE75DE01-6100-4495-A95A-EE40D6D3DC8E}" type="datetime1">
              <a:rPr lang="en-US" smtClean="0"/>
              <a:t>3/3/2024</a:t>
            </a:fld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7A7C627D-779A-8D83-E2C4-C40DC84F78D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fld id="{FE967A2B-7DC3-460F-82C1-37366D5A5F1B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E03B860-9F7C-2731-9CAC-7601DE48A514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UFCFFS-30-1– Foundations of Computing</a:t>
            </a:r>
          </a:p>
        </p:txBody>
      </p:sp>
      <p:pic>
        <p:nvPicPr>
          <p:cNvPr id="11" name="Picture 2" descr="Image result for uwe bristol logo">
            <a:extLst>
              <a:ext uri="{FF2B5EF4-FFF2-40B4-BE49-F238E27FC236}">
                <a16:creationId xmlns:a16="http://schemas.microsoft.com/office/drawing/2014/main" id="{DBFBC603-F616-C0DA-6922-8EEB26514F7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7213" y="16164"/>
            <a:ext cx="1447800" cy="744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2271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3916733C-FBD8-62DA-599D-9BAE44D83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100BE7D7-26C6-44E2-8F12-7C4A51A1049F}" type="datetime1">
              <a:rPr lang="en-US" smtClean="0"/>
              <a:t>3/3/2024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71387-83EF-1FFD-724E-49A6E970C5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2812D8D-EA8D-1B75-F994-BA3986DCE525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UFCFFS-30-1– Foundations of Computing</a:t>
            </a:r>
          </a:p>
        </p:txBody>
      </p:sp>
      <p:pic>
        <p:nvPicPr>
          <p:cNvPr id="6" name="Picture 2" descr="Image result for uwe bristol logo">
            <a:extLst>
              <a:ext uri="{FF2B5EF4-FFF2-40B4-BE49-F238E27FC236}">
                <a16:creationId xmlns:a16="http://schemas.microsoft.com/office/drawing/2014/main" id="{8B4C130C-2B6E-BE22-2DB7-00A40F03A43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7213" y="16164"/>
            <a:ext cx="1447800" cy="744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0737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741484" y="785430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6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5DDBC1F-BF9C-7B51-59FB-F19B6984E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8D1CA355-5FCF-4739-98C8-2D5724E91D20}" type="datetime1">
              <a:rPr lang="en-US" smtClean="0"/>
              <a:t>3/3/2024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C17964-6658-65D0-C4E0-286261C6CE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fld id="{2BE77ECF-F060-4D46-A3D9-128B9B0DFB4A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83511F7-1E66-04C0-64CE-2CA8940B2D7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UFCFFS-30-1– Foundations of Computing</a:t>
            </a:r>
          </a:p>
        </p:txBody>
      </p:sp>
      <p:pic>
        <p:nvPicPr>
          <p:cNvPr id="6" name="Picture 2" descr="Image result for uwe bristol logo">
            <a:extLst>
              <a:ext uri="{FF2B5EF4-FFF2-40B4-BE49-F238E27FC236}">
                <a16:creationId xmlns:a16="http://schemas.microsoft.com/office/drawing/2014/main" id="{C6BE80A9-20B3-5E00-2DEE-616D9B2EA2B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7213" y="16164"/>
            <a:ext cx="1447800" cy="744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3785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3">
            <a:extLst>
              <a:ext uri="{FF2B5EF4-FFF2-40B4-BE49-F238E27FC236}">
                <a16:creationId xmlns:a16="http://schemas.microsoft.com/office/drawing/2014/main" id="{AB79923C-0D24-F53B-D9C9-FA068E03CBFF}"/>
              </a:ext>
            </a:extLst>
          </p:cNvPr>
          <p:cNvSpPr/>
          <p:nvPr userDrawn="1"/>
        </p:nvSpPr>
        <p:spPr>
          <a:xfrm>
            <a:off x="851141" y="711200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28588" indent="-128588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q"/>
              <a:defRPr sz="2400"/>
            </a:lvl1pPr>
            <a:lvl2pPr marL="385763" indent="-128588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  <a:defRPr sz="2000"/>
            </a:lvl2pPr>
            <a:lvl3pPr marL="642938" indent="-128588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ü"/>
              <a:defRPr sz="2000"/>
            </a:lvl3pPr>
            <a:lvl4pPr marL="900113" indent="-128588">
              <a:lnSpc>
                <a:spcPct val="150000"/>
              </a:lnSpc>
              <a:buClr>
                <a:schemeClr val="accent2"/>
              </a:buClr>
              <a:buFont typeface="Courier New" panose="02070309020205020404" pitchFamily="49" charset="0"/>
              <a:buChar char="o"/>
              <a:defRPr sz="1600"/>
            </a:lvl4pPr>
            <a:lvl5pPr marL="1157288" indent="-128588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123AFBE-2234-186F-5F0C-22D156916CE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964D1F0-47D7-5B21-B6DA-1122FAFAAB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UFCFFS-30-1– Foundations of Computing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AD08CD51-62C0-58FD-6E1D-88EF84F0130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34DC46FB-FFE8-41F1-A2D5-83B19D9D7258}" type="datetime1">
              <a:rPr lang="en-US" smtClean="0"/>
              <a:t>3/3/2024</a:t>
            </a:fld>
            <a:endParaRPr lang="en-US" dirty="0"/>
          </a:p>
        </p:txBody>
      </p:sp>
      <p:pic>
        <p:nvPicPr>
          <p:cNvPr id="9" name="Picture 2" descr="Image result for uwe bristol logo">
            <a:extLst>
              <a:ext uri="{FF2B5EF4-FFF2-40B4-BE49-F238E27FC236}">
                <a16:creationId xmlns:a16="http://schemas.microsoft.com/office/drawing/2014/main" id="{1EE0DD84-5EC5-6288-B200-F592EAB40BD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7213" y="16164"/>
            <a:ext cx="1447800" cy="744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0708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661F23F4-6AD8-94D5-2C85-4CB1F4DB441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buFont typeface="Monotype Sorts" charset="2"/>
              <a:buNone/>
              <a:defRPr/>
            </a:pPr>
            <a:fld id="{B0510DBD-B54C-4BB2-9910-15204BA8081C}" type="slidenum">
              <a:rPr lang="en-US" alt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5" name="Footer Placeholder 11">
            <a:extLst>
              <a:ext uri="{FF2B5EF4-FFF2-40B4-BE49-F238E27FC236}">
                <a16:creationId xmlns:a16="http://schemas.microsoft.com/office/drawing/2014/main" id="{928E7F04-0F8E-0741-CB89-B9A5C1DC84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UFCFFS-30-1– Foundations of Computing</a:t>
            </a:r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8F00BDC9-ED95-ECCB-3AA2-7C715A291A5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B31F97BD-6B5A-421A-B962-807C0FAC0102}" type="datetime1">
              <a:rPr lang="en-US" smtClean="0"/>
              <a:t>3/3/2024</a:t>
            </a:fld>
            <a:endParaRPr lang="en-US" dirty="0"/>
          </a:p>
        </p:txBody>
      </p:sp>
      <p:pic>
        <p:nvPicPr>
          <p:cNvPr id="7" name="Picture 2" descr="Image result for uwe bristol logo">
            <a:extLst>
              <a:ext uri="{FF2B5EF4-FFF2-40B4-BE49-F238E27FC236}">
                <a16:creationId xmlns:a16="http://schemas.microsoft.com/office/drawing/2014/main" id="{E527E5CE-4CF2-7CCD-AA73-E4B273E56C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7213" y="16164"/>
            <a:ext cx="1447800" cy="744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3508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6">
            <a:extLst>
              <a:ext uri="{FF2B5EF4-FFF2-40B4-BE49-F238E27FC236}">
                <a16:creationId xmlns:a16="http://schemas.microsoft.com/office/drawing/2014/main" id="{95787B45-CCD1-2665-35CA-26FF8EFF88D7}"/>
              </a:ext>
            </a:extLst>
          </p:cNvPr>
          <p:cNvGrpSpPr>
            <a:grpSpLocks/>
          </p:cNvGrpSpPr>
          <p:nvPr/>
        </p:nvGrpSpPr>
        <p:grpSpPr bwMode="auto">
          <a:xfrm>
            <a:off x="0" y="6494463"/>
            <a:ext cx="12192000" cy="373062"/>
            <a:chOff x="0" y="1661375"/>
            <a:chExt cx="12192000" cy="37309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0A8C841-F6D0-23B2-733A-1CD90B3F4DAD}"/>
                </a:ext>
              </a:extLst>
            </p:cNvPr>
            <p:cNvSpPr/>
            <p:nvPr/>
          </p:nvSpPr>
          <p:spPr>
            <a:xfrm>
              <a:off x="0" y="1661375"/>
              <a:ext cx="12192000" cy="109546"/>
            </a:xfrm>
            <a:prstGeom prst="rect">
              <a:avLst/>
            </a:prstGeom>
            <a:solidFill>
              <a:srgbClr val="F265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257175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F0B988D-9418-5175-B8F1-38CA646ADBA2}"/>
                </a:ext>
              </a:extLst>
            </p:cNvPr>
            <p:cNvSpPr/>
            <p:nvPr/>
          </p:nvSpPr>
          <p:spPr>
            <a:xfrm>
              <a:off x="0" y="1759808"/>
              <a:ext cx="12192000" cy="274658"/>
            </a:xfrm>
            <a:prstGeom prst="rect">
              <a:avLst/>
            </a:prstGeom>
            <a:solidFill>
              <a:srgbClr val="2237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257175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 dirty="0">
                <a:solidFill>
                  <a:prstClr val="white"/>
                </a:solidFill>
              </a:endParaRP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B3991-06E6-1D64-C030-E5657676D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600825"/>
            <a:ext cx="27432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257175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prstClr val="white"/>
                </a:solidFill>
                <a:latin typeface="Calibri" panose="020F0502020204030204"/>
                <a:ea typeface="+mn-ea"/>
              </a:defRPr>
            </a:lvl1pPr>
          </a:lstStyle>
          <a:p>
            <a:pPr>
              <a:buFont typeface="Monotype Sorts" charset="2"/>
              <a:buNone/>
              <a:defRPr/>
            </a:pPr>
            <a:fld id="{B77A7909-E221-4E66-A5EF-13497EA60DDF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57D17-CBC3-C51E-EB1C-7963F0F1D1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600827"/>
            <a:ext cx="2743200" cy="257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257175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solidFill>
                  <a:prstClr val="white"/>
                </a:solidFill>
                <a:latin typeface="Calibri" panose="020F0502020204030204"/>
                <a:ea typeface="+mn-ea"/>
              </a:defRPr>
            </a:lvl1pPr>
          </a:lstStyle>
          <a:p>
            <a:pPr>
              <a:buFont typeface="Monotype Sorts" charset="2"/>
              <a:buNone/>
              <a:defRPr/>
            </a:pPr>
            <a:fld id="{E387A2F8-A38E-4C0F-A58D-AB896ACBCF8D}" type="datetime1">
              <a:rPr lang="en-US" smtClean="0"/>
              <a:t>3/3/2024</a:t>
            </a:fld>
            <a:endParaRPr lang="en-US" dirty="0"/>
          </a:p>
        </p:txBody>
      </p:sp>
      <p:sp>
        <p:nvSpPr>
          <p:cNvPr id="1029" name="Title Placeholder 1">
            <a:extLst>
              <a:ext uri="{FF2B5EF4-FFF2-40B4-BE49-F238E27FC236}">
                <a16:creationId xmlns:a16="http://schemas.microsoft.com/office/drawing/2014/main" id="{B3DE4959-DECB-5DE9-5280-05B3FE6EB0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0" name="Text Placeholder 2">
            <a:extLst>
              <a:ext uri="{FF2B5EF4-FFF2-40B4-BE49-F238E27FC236}">
                <a16:creationId xmlns:a16="http://schemas.microsoft.com/office/drawing/2014/main" id="{810CF440-6E0B-2021-0C2C-5CE6B0FDCE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CD044D3-EBD5-9CF6-2CD8-89513494DC6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871914" y="6604000"/>
            <a:ext cx="4967287" cy="254000"/>
          </a:xfrm>
          <a:prstGeom prst="rect">
            <a:avLst/>
          </a:prstGeom>
          <a:ln/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20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hdr="0" dt="0"/>
  <p:txStyles>
    <p:titleStyle>
      <a:lvl1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3429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6858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0287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3716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28588" indent="-128588" algn="l" defTabSz="51435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85763" indent="-128588" algn="l" defTabSz="514350" rtl="0" eaLnBrk="0" fontAlgn="base" hangingPunct="0">
        <a:lnSpc>
          <a:spcPct val="90000"/>
        </a:lnSpc>
        <a:spcBef>
          <a:spcPts val="281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2938" indent="-128588" algn="l" defTabSz="514350" rtl="0" eaLnBrk="0" fontAlgn="base" hangingPunct="0">
        <a:lnSpc>
          <a:spcPct val="90000"/>
        </a:lnSpc>
        <a:spcBef>
          <a:spcPts val="281"/>
        </a:spcBef>
        <a:spcAft>
          <a:spcPct val="0"/>
        </a:spcAft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00113" indent="-128588" algn="l" defTabSz="514350" rtl="0" eaLnBrk="0" fontAlgn="base" hangingPunct="0">
        <a:lnSpc>
          <a:spcPct val="90000"/>
        </a:lnSpc>
        <a:spcBef>
          <a:spcPts val="281"/>
        </a:spcBef>
        <a:spcAft>
          <a:spcPct val="0"/>
        </a:spcAft>
        <a:buFont typeface="Arial" panose="020B0604020202020204" pitchFamily="34" charset="0"/>
        <a:buChar char="•"/>
        <a:defRPr sz="97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157288" indent="-128588" algn="l" defTabSz="514350" rtl="0" eaLnBrk="0" fontAlgn="base" hangingPunct="0">
        <a:lnSpc>
          <a:spcPct val="90000"/>
        </a:lnSpc>
        <a:spcBef>
          <a:spcPts val="281"/>
        </a:spcBef>
        <a:spcAft>
          <a:spcPct val="0"/>
        </a:spcAft>
        <a:buFont typeface="Arial" panose="020B0604020202020204" pitchFamily="34" charset="0"/>
        <a:buChar char="•"/>
        <a:defRPr sz="97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8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8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1027">
            <a:extLst>
              <a:ext uri="{FF2B5EF4-FFF2-40B4-BE49-F238E27FC236}">
                <a16:creationId xmlns:a16="http://schemas.microsoft.com/office/drawing/2014/main" id="{248535E3-6B0B-E1D8-9717-427E36E84EA0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2740025" y="4524375"/>
            <a:ext cx="7927975" cy="1462088"/>
          </a:xfrm>
        </p:spPr>
        <p:txBody>
          <a:bodyPr/>
          <a:lstStyle/>
          <a:p>
            <a:pPr marL="0" indent="0" algn="ctr" eaLnBrk="1" hangingPunct="1">
              <a:buFont typeface="Arial" panose="020B0604020202020204" pitchFamily="34" charset="0"/>
              <a:buNone/>
            </a:pPr>
            <a:r>
              <a:rPr lang="en-US" altLang="en-US" sz="3400" i="1"/>
              <a:t>Chapter 1</a:t>
            </a:r>
          </a:p>
          <a:p>
            <a:pPr marL="0" indent="0" algn="ctr" eaLnBrk="1" hangingPunct="1">
              <a:buFont typeface="Arial" panose="020B0604020202020204" pitchFamily="34" charset="0"/>
              <a:buNone/>
            </a:pPr>
            <a:r>
              <a:rPr lang="en-US" altLang="en-US" sz="3400" i="1"/>
              <a:t>Database Systems</a:t>
            </a:r>
          </a:p>
        </p:txBody>
      </p:sp>
      <p:sp>
        <p:nvSpPr>
          <p:cNvPr id="15365" name="Footer Placeholder 5">
            <a:extLst>
              <a:ext uri="{FF2B5EF4-FFF2-40B4-BE49-F238E27FC236}">
                <a16:creationId xmlns:a16="http://schemas.microsoft.com/office/drawing/2014/main" id="{AAF4E8F2-2222-1382-2DBB-5EDCE12E239C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UFCFFS-30-1– Foundations of Computing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4F77A-56CD-A304-C081-F43792560C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FE6265-9601-66BB-50D8-1BF905EEE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1548" y="0"/>
            <a:ext cx="56289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20FFC1CF-C6D1-C190-5CBD-BA8BD4CDF1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52600" y="304800"/>
            <a:ext cx="9601200" cy="1325563"/>
          </a:xfrm>
        </p:spPr>
        <p:txBody>
          <a:bodyPr/>
          <a:lstStyle/>
          <a:p>
            <a:pPr algn="ctr" eaLnBrk="1" hangingPunct="1"/>
            <a:r>
              <a:rPr lang="en-US" altLang="en-US" dirty="0"/>
              <a:t>Faculty of Computer Science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50F7E22-523E-06DC-63AF-3DDDA301838E}"/>
              </a:ext>
            </a:extLst>
          </p:cNvPr>
          <p:cNvSpPr txBox="1">
            <a:spLocks/>
          </p:cNvSpPr>
          <p:nvPr/>
        </p:nvSpPr>
        <p:spPr bwMode="auto">
          <a:xfrm>
            <a:off x="838200" y="1828800"/>
            <a:ext cx="10515600" cy="3657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None/>
              <a:defRPr/>
            </a:pPr>
            <a:r>
              <a:rPr lang="en-US" dirty="0"/>
              <a:t>UFCFFS-30-1– Foundations of Computing: Analysis of Algorithms &amp; Algorithm Complexity &amp; Big-O notations</a:t>
            </a:r>
          </a:p>
          <a:p>
            <a:pPr eaLnBrk="1" hangingPunct="1">
              <a:buNone/>
              <a:defRPr/>
            </a:pPr>
            <a:endParaRPr lang="en-US" dirty="0"/>
          </a:p>
          <a:p>
            <a:pPr marL="457200" indent="-457200" eaLnBrk="1" hangingPunct="1">
              <a:buFont typeface="Wingdings" panose="05000000000000000000" pitchFamily="2" charset="2"/>
              <a:buChar char="q"/>
              <a:defRPr/>
            </a:pPr>
            <a:r>
              <a:rPr lang="en-US" dirty="0"/>
              <a:t>Instructor: Duc Minh Vu  </a:t>
            </a:r>
          </a:p>
          <a:p>
            <a:pPr eaLnBrk="1" hangingPunct="1">
              <a:buNone/>
              <a:defRPr/>
            </a:pPr>
            <a:br>
              <a:rPr lang="en-US" dirty="0"/>
            </a:br>
            <a:endParaRPr lang="en-US" dirty="0"/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FF2E9559-A610-6BCA-EEBA-A8DDB5882BF8}"/>
              </a:ext>
            </a:extLst>
          </p:cNvPr>
          <p:cNvSpPr txBox="1">
            <a:spLocks/>
          </p:cNvSpPr>
          <p:nvPr/>
        </p:nvSpPr>
        <p:spPr>
          <a:xfrm>
            <a:off x="0" y="6600827"/>
            <a:ext cx="2743200" cy="257175"/>
          </a:xfrm>
          <a:prstGeom prst="rect">
            <a:avLst/>
          </a:prstGeom>
          <a:ln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750" kern="12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defRPr/>
            </a:pPr>
            <a:fld id="{51F7BAB8-80DB-4E62-842E-B5FE49FBC773}" type="datetime1">
              <a:rPr lang="en-US" sz="1000" smtClean="0">
                <a:latin typeface="+mn-lt"/>
              </a:rPr>
              <a:pPr>
                <a:defRPr/>
              </a:pPr>
              <a:t>3/3/2024</a:t>
            </a:fld>
            <a:endParaRPr lang="en-US" sz="1000" dirty="0">
              <a:latin typeface="+mn-lt"/>
            </a:endParaRP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6296C59F-53C6-1B43-72EC-A1FCFF66E337}"/>
              </a:ext>
            </a:extLst>
          </p:cNvPr>
          <p:cNvSpPr txBox="1">
            <a:spLocks/>
          </p:cNvSpPr>
          <p:nvPr/>
        </p:nvSpPr>
        <p:spPr>
          <a:xfrm>
            <a:off x="3871914" y="6604000"/>
            <a:ext cx="4967287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defTabSz="257175" rtl="0" eaLnBrk="1" fontAlgn="auto" hangingPunct="1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675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ctr">
              <a:buFont typeface="Monotype Sorts" charset="2"/>
              <a:buNone/>
              <a:defRPr/>
            </a:pPr>
            <a:r>
              <a:rPr lang="en-US" sz="1000" dirty="0">
                <a:latin typeface="+mn-lt"/>
              </a:rPr>
              <a:t>Data Structures and Algorithms in Python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A6ECC19A-CE8F-18B3-D359-9CCECB6EABCC}"/>
              </a:ext>
            </a:extLst>
          </p:cNvPr>
          <p:cNvSpPr txBox="1">
            <a:spLocks/>
          </p:cNvSpPr>
          <p:nvPr/>
        </p:nvSpPr>
        <p:spPr>
          <a:xfrm>
            <a:off x="9448800" y="6600825"/>
            <a:ext cx="27432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defTabSz="257175" rtl="0" eaLnBrk="1" fontAlgn="auto" hangingPunct="1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675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r">
              <a:defRPr/>
            </a:pPr>
            <a:fld id="{34A84676-C444-4AC5-8B4E-405A7C81C0FB}" type="slidenum">
              <a:rPr lang="en-US" altLang="en-US" sz="1000" smtClean="0">
                <a:latin typeface="+mn-lt"/>
              </a:rPr>
              <a:pPr algn="r">
                <a:defRPr/>
              </a:pPr>
              <a:t>2</a:t>
            </a:fld>
            <a:endParaRPr lang="en-US" altLang="en-US" sz="1000">
              <a:latin typeface="+mn-lt"/>
            </a:endParaRPr>
          </a:p>
        </p:txBody>
      </p:sp>
      <p:pic>
        <p:nvPicPr>
          <p:cNvPr id="2052" name="Picture 4" descr="Image result for phenikaa university logo">
            <a:extLst>
              <a:ext uri="{FF2B5EF4-FFF2-40B4-BE49-F238E27FC236}">
                <a16:creationId xmlns:a16="http://schemas.microsoft.com/office/drawing/2014/main" id="{3D7535AA-4982-EE98-E7F5-2772F4EFC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9053"/>
            <a:ext cx="3352800" cy="1517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FB2FAE43-6016-F4A1-0F7F-F81955AA5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Learning Objectives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D864084F-6DEF-3D43-730D-5A6F7F7037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b="0" i="0" dirty="0">
                <a:effectLst/>
                <a:latin typeface="NewsGothicStd"/>
              </a:rPr>
              <a:t>Real-Valued Functions of a Real Variable and Their Graphs</a:t>
            </a:r>
          </a:p>
          <a:p>
            <a:pPr marL="457200" indent="-457200">
              <a:buAutoNum type="arabicPeriod"/>
            </a:pPr>
            <a:r>
              <a:rPr lang="en-US" b="0" i="0" dirty="0">
                <a:effectLst/>
                <a:latin typeface="NewsGothicStd"/>
              </a:rPr>
              <a:t>Big-O, Big-Omega, and Big-Theta Notations</a:t>
            </a:r>
          </a:p>
          <a:p>
            <a:pPr marL="457200" indent="-457200">
              <a:buAutoNum type="arabicPeriod"/>
            </a:pPr>
            <a:r>
              <a:rPr lang="en-US" dirty="0">
                <a:latin typeface="NewsGothicStd"/>
              </a:rPr>
              <a:t>Analysis of Algorithm Efficiency I</a:t>
            </a:r>
          </a:p>
          <a:p>
            <a:pPr marL="457200" indent="-457200">
              <a:buAutoNum type="arabicPeriod"/>
            </a:pPr>
            <a:r>
              <a:rPr lang="en-US" b="0" i="0" dirty="0">
                <a:effectLst/>
                <a:latin typeface="NewsGothicStd"/>
              </a:rPr>
              <a:t>Exponential and Logarithmic Functions: Graphs and Orders</a:t>
            </a:r>
          </a:p>
          <a:p>
            <a:pPr marL="457200" indent="-457200">
              <a:buFont typeface="Wingdings" panose="05000000000000000000" pitchFamily="2" charset="2"/>
              <a:buAutoNum type="arabicPeriod"/>
            </a:pPr>
            <a:r>
              <a:rPr lang="en-US" dirty="0">
                <a:latin typeface="NewsGothicStd"/>
              </a:rPr>
              <a:t>Analysis of Algorithm Efficiency II</a:t>
            </a:r>
          </a:p>
          <a:p>
            <a:pPr marL="457200" indent="-457200">
              <a:buAutoNum type="arabicPeriod"/>
            </a:pPr>
            <a:endParaRPr lang="en-US" b="0" i="0" dirty="0">
              <a:effectLst/>
              <a:latin typeface="NewsGothicStd"/>
            </a:endParaRPr>
          </a:p>
          <a:p>
            <a:pPr marL="457200" indent="-457200">
              <a:buAutoNum type="arabicPeriod"/>
            </a:pPr>
            <a:endParaRPr lang="en-US" altLang="en-US" sz="3200" dirty="0">
              <a:ea typeface="ＭＳ Ｐゴシック" panose="020B0600070205080204" pitchFamily="34" charset="-128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B50547-D408-5F4B-F3A4-A9C3C269A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9ED99F-0129-AEE9-074F-E711FBCBBA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CDDBF-D288-B674-6994-1AFADB1DE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FE43E-03F2-440B-8D5E-698364127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Chapter 11 - Discrete Mathematics with Applications 5th Edition (Susanna’s Book)</a:t>
            </a:r>
          </a:p>
          <a:p>
            <a:r>
              <a:rPr lang="en-US" dirty="0"/>
              <a:t>Chapter 3 – Discrete Mathematics and Its Applications 7</a:t>
            </a:r>
            <a:r>
              <a:rPr lang="en-US" baseline="30000" dirty="0"/>
              <a:t>th</a:t>
            </a:r>
            <a:r>
              <a:rPr lang="en-US" dirty="0"/>
              <a:t> Edition (Kenneth Rosen’s book)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FCD2C-F367-819F-A356-2ADFD07EF1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4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42861-13F3-E25B-8552-20B119EF1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511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617C1-FF23-C9FD-7F2E-E724C5495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Application: Analysis of Algorithm Efficiency 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26DAC0-21F0-838C-4732-5C9754E3ED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424859-5C82-174B-F0C7-0CB85C857E4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579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CD63F-3866-71AE-83B3-C44E6C6CD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11.3 Application: Analysis of Algorithm Efficiency 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F1890-4C8E-7527-37A6-14C5F5225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i="1" dirty="0">
                <a:solidFill>
                  <a:srgbClr val="00ADEE"/>
                </a:solidFill>
                <a:effectLst/>
                <a:latin typeface="KievitOT-BoldItalic"/>
              </a:rPr>
              <a:t>The Sequential Search Algorithm</a:t>
            </a:r>
          </a:p>
          <a:p>
            <a:endParaRPr lang="en-US" sz="2000" b="1" i="1" dirty="0">
              <a:solidFill>
                <a:srgbClr val="00ADEE"/>
              </a:solidFill>
              <a:latin typeface="KievitOT-BoldItalic"/>
            </a:endParaRPr>
          </a:p>
          <a:p>
            <a:endParaRPr lang="en-US" sz="2000" b="1" i="1" dirty="0">
              <a:solidFill>
                <a:srgbClr val="00ADEE"/>
              </a:solidFill>
              <a:effectLst/>
              <a:latin typeface="KievitOT-BoldItalic"/>
            </a:endParaRPr>
          </a:p>
          <a:p>
            <a:endParaRPr lang="en-US" sz="2000" b="1" i="1" dirty="0">
              <a:solidFill>
                <a:srgbClr val="00ADEE"/>
              </a:solidFill>
              <a:latin typeface="KievitOT-BoldItalic"/>
            </a:endParaRPr>
          </a:p>
          <a:p>
            <a:endParaRPr lang="en-US" sz="2000" b="1" i="1" dirty="0">
              <a:solidFill>
                <a:srgbClr val="00ADEE"/>
              </a:solidFill>
              <a:effectLst/>
              <a:latin typeface="KievitOT-BoldItalic"/>
            </a:endParaRPr>
          </a:p>
          <a:p>
            <a:endParaRPr lang="en-US" sz="2000" b="1" i="1" dirty="0">
              <a:solidFill>
                <a:srgbClr val="00ADEE"/>
              </a:solidFill>
              <a:latin typeface="KievitOT-BoldItalic"/>
            </a:endParaRPr>
          </a:p>
          <a:p>
            <a:r>
              <a:rPr lang="en-US" sz="2000" b="1" i="1" dirty="0">
                <a:solidFill>
                  <a:srgbClr val="00ADEE"/>
                </a:solidFill>
                <a:effectLst/>
                <a:latin typeface="KievitOT-BoldItalic"/>
              </a:rPr>
              <a:t>Best-, worst-, and Average-Case Orders for Sequential Search</a:t>
            </a:r>
          </a:p>
          <a:p>
            <a:pPr lvl="1"/>
            <a:r>
              <a:rPr lang="en-US" sz="1600" b="1" i="1" dirty="0">
                <a:solidFill>
                  <a:srgbClr val="00ADEE"/>
                </a:solidFill>
                <a:latin typeface="KievitOT-BoldItalic"/>
              </a:rPr>
              <a:t>O(1), O(n) and O(n)</a:t>
            </a:r>
            <a:br>
              <a:rPr lang="en-US" sz="1400" b="1" i="1" dirty="0">
                <a:solidFill>
                  <a:srgbClr val="00ADEE"/>
                </a:solidFill>
                <a:effectLst/>
                <a:latin typeface="KievitOT-BoldItalic"/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4D800-ADEF-E24D-E623-DE1880920B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6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4D311-A66F-1CA2-25DA-142368377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3CC777-2672-5340-C27C-19407B4EC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406495"/>
            <a:ext cx="9982200" cy="204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628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BD50B-A3A4-8AB7-8F7D-9E82C324B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the Efficiency of an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A95CA-ABA6-BF4C-A015-4415CEC1F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aspects of algorithm efficiency are important: time required to execute the algorithm and memory space needed when it is run.</a:t>
            </a:r>
          </a:p>
          <a:p>
            <a:r>
              <a:rPr lang="en-US" dirty="0"/>
              <a:t>The analysis of an algorithm for time efficiency count the number of elementary operations that must be performed when the algorithm is executed with an input of size </a:t>
            </a:r>
            <a:r>
              <a:rPr lang="en-US" i="1" dirty="0"/>
              <a:t>n</a:t>
            </a:r>
            <a:r>
              <a:rPr lang="en-US" dirty="0"/>
              <a:t>.</a:t>
            </a:r>
          </a:p>
          <a:p>
            <a:r>
              <a:rPr lang="en-US" dirty="0"/>
              <a:t>Elementary operations: addition, subtraction, multiplication, division, and comparisons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51DEA-D0EA-CCEB-A3EF-687457BE70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7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815EF-9A18-74BD-F930-DF6EACEB9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082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1BDCBA-1EEB-89C3-C35F-6E06528EEC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0FEDAE-21C6-C0E0-E767-7F5B3E44E4B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73E72E-97AC-B30B-C7AE-5314C353C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1819275"/>
            <a:ext cx="10953750" cy="321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148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701E3A-135B-DBD9-FCE5-BC099A0EF2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9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20D01D-5D6D-731B-B32A-C22B44FCB07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241871-491A-C396-DB58-81197A97D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" y="528637"/>
            <a:ext cx="11296650" cy="580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495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A162B9-1900-AFB1-2A2D-4219803EA4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1270C7-C40E-3B78-98F6-D6782F0F0AE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92FA0F-FA16-EDBD-D237-C8351A506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6751"/>
            <a:ext cx="12192000" cy="392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679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6C760C-5361-D146-1903-CD13CF4A6A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FF7F2A-449F-03BB-EB71-AB8E57FFF0A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91E418-7B94-B2C1-1011-824A0173D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8428"/>
            <a:ext cx="12192000" cy="406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28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F987D5-F56D-DC35-62F5-1E4FDD582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9E4295-16FF-F0FF-9C3B-13B300333DB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16D4CA-53A3-E7BD-B8AF-923C71BE3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63004"/>
            <a:ext cx="9162005" cy="353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833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BF42F3-6BC4-2A5A-2B76-A594EDDDA6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FFD7C3-C2C7-3E90-7A60-503F9E84A79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72EE33-ADFD-6D41-A118-FE3AB3FAD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5275"/>
            <a:ext cx="12192000" cy="532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1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8F7346-D7F0-53F5-E2B6-CA0891DB5E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66CF94-D394-71DD-1827-50D20C7FC80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865E9A-B26B-C837-3AA6-8E6900A43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9863"/>
            <a:ext cx="12192000" cy="357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383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80471A-1B14-0005-FB0E-5B2828C238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DECBA7-1FD6-22E3-9AF7-04C9A13443F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70F7EA-D55F-09DC-AC90-A02C92395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2424"/>
            <a:ext cx="12192000" cy="299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7488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FE5A75-A090-E7E8-4959-064863F9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E4B07C-F7A5-4295-59D8-50ED6AE12DA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DF3E2C-04ED-656F-CC46-21B294F26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17463"/>
            <a:ext cx="57845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4867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9B79F4-EE54-218B-AFAF-3E0249E3D8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17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8F6504-FA5E-0403-5BB6-1BEEED1574C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7F74AE-3745-442D-511F-F3292E2C6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175260"/>
            <a:ext cx="7267575" cy="3057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963418-3722-DE0C-E43B-B4AD51B6E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4267200"/>
            <a:ext cx="6858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0079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5300DB-0E89-40D8-6669-66E93F8C3F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7FB358-E739-EBB1-08BD-E7475E8CB20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789528-41DD-80B5-1A9A-F9C275328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107" y="0"/>
            <a:ext cx="58737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6699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566DC9-2552-7E7F-FCA7-B7BDBCDF02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19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D2966-C6C5-CE54-1976-2D4867FC71B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33CCC8-1A64-FBD9-A6C0-A2E29ACAE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95275"/>
            <a:ext cx="7372350" cy="1457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18FF46-C068-4CBB-3214-F127948D8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600200"/>
            <a:ext cx="7239000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492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4710EF-CA42-1905-D199-A22BABD881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B538F6-619E-5726-523F-B78ED830969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B98094-6AED-9229-219A-B5369A7DA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1000"/>
            <a:ext cx="3695700" cy="5981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37B80C-2242-00DD-DC20-9B5342484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995362"/>
            <a:ext cx="5410200" cy="47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164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728535-240E-DE3B-2FF5-7D3F7AC5C1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18BF6D-062C-C22D-0FE2-0826D0AF130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4445B4-EDAF-654D-C6E0-CCB3C5277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871"/>
            <a:ext cx="4362450" cy="35242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8B506F-0829-F969-1144-31AECFFBE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84521"/>
            <a:ext cx="3600450" cy="3028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76DDC2-4DA9-E867-CCC8-31C3E08AA6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4200" y="2971800"/>
            <a:ext cx="3629025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4770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1E67C0-B628-E233-F382-1519B38CB7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71F916-CBCE-A870-C6F5-0F865717330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4FA74F-F60A-1BFD-C502-F767177CD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969"/>
            <a:ext cx="4067175" cy="6734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E3EE95-AAD4-F6E1-1100-5C6D555FE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762000"/>
            <a:ext cx="748665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249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C69BB-6348-1CA2-767F-0E4AE6EB2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Exponential and Logarithmic Functions:</a:t>
            </a:r>
            <a:br>
              <a:rPr lang="en-US" dirty="0"/>
            </a:br>
            <a:r>
              <a:rPr lang="en-US" dirty="0"/>
              <a:t>Graphs and Orders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9852EB-CF68-86EA-CB30-1876D3F2E8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E0A7DE-D0C3-B736-8338-62D3949E5EB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892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C0D08E-01FA-FD2E-43DF-C291F2E7B9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577221-4023-3FB5-AFCA-D084F6029B4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0018BC-D5B7-2579-8408-CF30E24B6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50" y="657225"/>
            <a:ext cx="9563100" cy="554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0499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F3CEF2-16E7-3A74-E94C-9AC9D50B2E2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47F253-BE33-135F-A590-C9DDFF3CF1A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7ACBBA-20DC-BC33-C9D7-C0FBE5B54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204787"/>
            <a:ext cx="10325100" cy="64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314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128548-2E2D-04BC-5CD8-F0124E33D6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1386A0-61CB-38E4-FDAE-7899A5E22B4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9510E4-8A73-0C11-E9F0-EF974873A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" y="400050"/>
            <a:ext cx="10925175" cy="605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7028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84D5F1-8073-F0BC-AB24-1B9E542981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27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A3DCAB-7307-AE8E-FC0A-D113249FC7D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E28DD5-8DA4-A187-7CA1-EA45B01D5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8193"/>
            <a:ext cx="12192000" cy="3361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3794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CDF80A-DB91-8569-8851-29255337EF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47BD07-7B6B-523A-2EDC-CDD8FAFDA53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A0293F-E126-64EB-7A94-89D5FCCAE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1890"/>
            <a:ext cx="12192000" cy="433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6696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560BB2-D21A-1D1A-E424-9425A60C16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29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4652B9-BC96-3E23-03B2-B61891E91D2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99BFA8-E393-544E-508C-DAD998F02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77022"/>
            <a:ext cx="12192000" cy="190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9017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27CD21-CBA4-5D4F-D0D6-94D42DBAD8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30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50CCEE-838F-32EE-B0E8-E117867AB8B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DAB920-FDA6-B9ED-60F0-125D2C2DD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1309687"/>
            <a:ext cx="11487150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5293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8E82B2-C884-00B8-4DE7-6A5F10E013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31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42FF99-7A5D-2814-37C9-304621B15F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830DD-F20B-A6E8-2B40-B5C96A083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511" y="1214079"/>
            <a:ext cx="8562975" cy="10382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67763F-8F3C-518D-F391-9E4D43107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724" y="3404419"/>
            <a:ext cx="8972550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9616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DA616D-BA23-17E8-12AC-1C8D5B7951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32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9D7DDF-F779-D4D1-006A-B6BE8D4CE22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5FFBE-D70C-1D5C-FAC0-025E73652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2174"/>
            <a:ext cx="12192000" cy="3813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2913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7A270B-42E6-A252-4C09-D7E0A0796B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33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859797-4A43-5F60-BD36-E9F12DAC80C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6F3BF4-8168-1106-4A68-18A06C4F7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35440"/>
            <a:ext cx="12192000" cy="318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2067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9A14E-16F5-6A80-EA61-E73265314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Exponential and Logarithmic Orders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205B1E-F85B-C468-A94E-3F74F43736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34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834165-AB56-36A7-7A2C-58821541E55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111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3E7E55-6571-EC56-4572-3FB22365A0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35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C0860C-53AA-B8AD-A8F1-B74A1C15B1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CA0576-78DB-59E2-0909-DE6D56059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37" y="838200"/>
            <a:ext cx="11287125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4321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CDC504-9826-C207-BB5C-4757FD9635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36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0E7A47-B2C7-75A9-F8ED-F09263F9F55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067326-6B2C-776D-9553-40A6BBF5A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37" y="1438275"/>
            <a:ext cx="11210925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5915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52CA8D-EAA3-1D77-468B-9C1E7F6F4B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37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6B1A64-E2FF-938B-CFDA-A8A32A271BB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D1B148-F490-2029-06D2-F0A9954DD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639" y="0"/>
            <a:ext cx="81327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2817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CAD223-F395-8344-E069-8F0D8FA68C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38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352C9C-3E06-556C-735A-4B11FAF203E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F404A2-993E-A4CF-155D-47D7C04CA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0320"/>
            <a:ext cx="12192000" cy="1937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7668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D7B315-6578-C8C0-D4C6-64CD970254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39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8429C5-8F38-B3DD-57B3-5D0E07ADD3A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F7588A-6B63-4CCF-E59E-710DE5F45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" y="490537"/>
            <a:ext cx="10906125" cy="587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3966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3F8D13-39EA-2E30-8D43-3A455F3B28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40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5B8B65-1637-1CDC-32CD-DAA5AD24F4C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4F5562-C725-0117-044A-304989E4B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" y="2838450"/>
            <a:ext cx="1137285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8796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B6C822-FF7A-7C56-3DAD-A2C98CF0FF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41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A27F12-25BB-F1EF-5479-362F19A6955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983073-D26F-3CF2-73E3-8BF4A7BFD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3455"/>
            <a:ext cx="12192000" cy="517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9474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153D6F-C38F-4F44-AC71-EE6C2AD7D9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42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985817-8482-C44E-7A41-52F48644FA7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071CC0-71D6-0CBE-4202-F244C5FF4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1066800"/>
            <a:ext cx="1175385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8935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C60B71-2DA7-C2DB-E288-9BEBB6DAEC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43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0709BD-F2BA-BE01-3AFC-9E6FBA63851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F4522A-7605-229D-8A61-CA4B956E5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4507"/>
            <a:ext cx="12192000" cy="524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0528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807BD3-070C-0EB4-C0A5-84960A8415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44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FC5370-958A-806B-2BB9-9587B31C61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6330E5-EDE7-811A-ED78-5DE41230B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2" y="1457325"/>
            <a:ext cx="10848975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3587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9CFF8F-84E7-1E9E-E167-A62C76AD0F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45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6A22C0-E1B3-EBE0-CB1A-B8A8B4821A9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800193-C4F1-A6CC-DB5A-4DA7639E6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3363"/>
            <a:ext cx="12192000" cy="591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9716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370704-724D-02C8-37C6-DFB6854EA3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46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52613A-8290-D364-4F7B-A9E8B59223C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1C8F12-36F1-7B37-D08A-0632A5EFB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883" y="0"/>
            <a:ext cx="10684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8396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3BAC74-FED6-F500-79C4-061D3650A2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47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3FBEEF-4033-E85C-130F-59E2BFE34B3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C2EE87-2EFE-44BF-5715-C695671C1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7" y="1000125"/>
            <a:ext cx="11363325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5199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2104AF-6E3A-E7E0-72EB-CC97B8C2CA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48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FF61F9-36D4-9573-2574-9778F6FCD7E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97B6AC-0660-188A-34C6-B02CBD63B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1119187"/>
            <a:ext cx="11487150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7514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8ED9AD-CACB-D6C4-C145-20863C3C6D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49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7A8206-5D4B-96AE-C908-C7805840BF4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BCB5EA-812A-E657-198A-FC44B8881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31400"/>
            <a:ext cx="12192000" cy="319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4078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FBBF6B-51A2-6F93-F188-2890B383C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50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4FD415-EF56-F8BD-EF41-0CC25E328DF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A08448-B052-C595-9EF2-E06F7B3A7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5" y="533400"/>
            <a:ext cx="7477125" cy="557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1988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9ADE42-CC89-3D20-8134-C85B3E927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51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B0969A-6507-747C-A6BB-92BD0DC9D95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D77FB7-ABD8-7BC6-82A6-8DC184164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237" y="1500187"/>
            <a:ext cx="6867525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4071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427098-C94F-4B0B-9DE6-E79D90AAC9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52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DFD10E-7148-BBDD-7730-F648342672A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9D8DCE-A88A-5539-D455-0819EA4D0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462" y="1538287"/>
            <a:ext cx="7077075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07181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DD55F7-2534-E610-8806-D1F9B16CBF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53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87C833-C8D9-726B-F506-0ADF90EA24C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C3FAFF-AEFC-829F-6BD6-586D1DEB8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487" y="366712"/>
            <a:ext cx="7439025" cy="612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6915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7E7AAB-4338-1BA8-6BA1-2DBD1412A2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54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AB8DDE-9CD5-C6DF-9F0B-7F25656DB80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2A8C14-6964-ED9E-C820-752F14F03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815" y="0"/>
            <a:ext cx="73283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80521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AEA76E-06F6-78A6-EA7B-7866E27DBD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55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6D49D3-B254-E576-5791-5B4D6950044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DE2EFE-FABE-A11B-2C3F-FA13C2E22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587" y="80962"/>
            <a:ext cx="7362825" cy="669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55505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AECDC4-98B6-8F08-E78B-1AEB309DD5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56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AD038F-AB5E-A661-BE64-948D16DF09B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495A05-EDC4-7B81-BD37-14C3F177A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975" y="485775"/>
            <a:ext cx="7258050" cy="58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42805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E3B89A-3A73-3FFE-3D43-E41EEC77C7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57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C1950B-658E-296F-9605-B1A7B5D1B5A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CDA557-093E-38D7-BF21-CC98EC9E7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425" y="857250"/>
            <a:ext cx="69151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68396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20D5D4-5094-64ED-F8AC-62B6404519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58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C3C5E7-71FA-9CF3-59E8-3900C4385FF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282A69-B4A6-9589-9DC5-6F5B6B29B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825" y="1128712"/>
            <a:ext cx="7372350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52470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8FAF-3B80-DBFD-9801-8EFA01433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Application: Analysis of Algorithm Efficiency II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D9183D-C431-3739-3E96-8B5955B5F9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59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14D1A1-8C46-2CB0-7361-0B85DB0206A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6961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B69A1-1725-FD41-170A-BC9AF770E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010F799-41F7-8239-E4C1-F2F20A5328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55926"/>
            <a:ext cx="10515600" cy="369073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E02DC-6657-4BD0-9AB9-35E98EC94D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60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17A23-0225-44AC-0BAF-452F79535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74479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F557E5-8EC9-52F2-8C4B-D292FC0B6E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61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D65DDF-7F3B-8F21-1109-676013FB3DC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0FB9CE-FC75-2FF2-E27D-F48419F0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00125"/>
            <a:ext cx="11734800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60484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13A593-43AC-8754-81CF-0CF7484053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62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A028F7-CF3B-D8A1-D651-8D89E58ECDF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10B613-13EA-AA2B-677E-CDD931473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1262062"/>
            <a:ext cx="11449050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7304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B98724-E22A-2D82-2EE7-5734A7437A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63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0AA98-B735-8E92-8168-BA24E024F8D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65BD03-929E-08AD-CC4C-806042562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837" y="0"/>
            <a:ext cx="88803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41978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FFF0D5-537B-8409-B158-A7B2F88A6E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64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6C4465-DB16-AEE7-21B4-D86BF53F226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D63C00-E66B-0222-3EE0-5414C2DD0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3597"/>
            <a:ext cx="12192000" cy="6250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4555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4DAE9E-1C2E-7430-5692-45FBFB4ECA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65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B060C5-3B85-B2E0-3ADA-DC3513300FB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5E3E71-85BD-619D-F7E3-E6701865B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4937"/>
            <a:ext cx="12192000" cy="402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09781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123777-F2FB-53DD-8339-7D3A8FEBE3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66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CBB575-63BE-2D25-8C9B-6EB59D5ABFF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643E67-A439-ECD3-1177-3F5B45F13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051" y="0"/>
            <a:ext cx="64198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11769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8464A3-6911-B623-3731-67A27C8C2F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67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227D74-D3F5-94F3-D2C6-D7864FE7D7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BBFA5C-33AC-360A-6B53-9206B8DF4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587" y="14287"/>
            <a:ext cx="5838825" cy="682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86865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4BE8BE-8A43-7063-A3CC-0D9E2FD3AD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68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9DE122-A456-DE78-7436-4B779ED27E1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89AC1B-728A-0821-F5F0-2112DB59F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925" y="1162050"/>
            <a:ext cx="5772150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28208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E1DA2C-9400-9DF5-9B3C-4A20DD742E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69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A40BC2-ECA7-0333-0EBF-23E833B2E1F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AF9A43-1863-43DE-A65F-AE3AEB082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507" y="0"/>
            <a:ext cx="53069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10492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BFA36C-9471-A23C-93D3-9094625713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70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237D15-F02C-1EA3-AA3F-9C408B5A3D0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89B8F6-1A9D-DF4D-6FAE-94E85A2B0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2509837"/>
            <a:ext cx="7486650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38772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0FF9A-EE89-B43C-F16E-45F5B4C99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634087-847A-3BF0-9D73-23576385DE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71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9606B5-CC17-E272-281D-0E34E759307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UFCFFS-30-1– Foundations of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339763"/>
      </p:ext>
    </p:extLst>
  </p:cSld>
  <p:clrMapOvr>
    <a:masterClrMapping/>
  </p:clrMapOvr>
</p:sld>
</file>

<file path=ppt/theme/theme1.xml><?xml version="1.0" encoding="utf-8"?>
<a:theme xmlns:a="http://schemas.openxmlformats.org/drawingml/2006/main" name="Vicostone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u thuyet trình cong ty Vicostone" id="{123813FF-2186-4307-88AB-E52DC4E764C5}" vid="{7A2E833A-1ED4-4E30-9CFE-D6481D7B3B5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21606</TotalTime>
  <Words>663</Words>
  <Application>Microsoft Office PowerPoint</Application>
  <PresentationFormat>Widescreen</PresentationFormat>
  <Paragraphs>179</Paragraphs>
  <Slides>71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81" baseType="lpstr">
      <vt:lpstr>ＭＳ Ｐゴシック</vt:lpstr>
      <vt:lpstr>Arial</vt:lpstr>
      <vt:lpstr>Calibri</vt:lpstr>
      <vt:lpstr>Courier New</vt:lpstr>
      <vt:lpstr>KievitOT-BoldItalic</vt:lpstr>
      <vt:lpstr>Monotype Sorts</vt:lpstr>
      <vt:lpstr>NewsGothicStd</vt:lpstr>
      <vt:lpstr>Times New Roman</vt:lpstr>
      <vt:lpstr>Wingdings</vt:lpstr>
      <vt:lpstr>Vicostone Template</vt:lpstr>
      <vt:lpstr>PowerPoint Presentation</vt:lpstr>
      <vt:lpstr>Faculty of Computer Science</vt:lpstr>
      <vt:lpstr>Learning Objectives</vt:lpstr>
      <vt:lpstr>Reading</vt:lpstr>
      <vt:lpstr>Application: Analysis of Algorithm Efficiency I</vt:lpstr>
      <vt:lpstr>11.3 Application: Analysis of Algorithm Efficiency I</vt:lpstr>
      <vt:lpstr>Measuring the Efficiency of an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Exponential and Logarithmic Functions: Graphs and Orders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Exponential and Logarithmic Orders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Application: Analysis of Algorithm Efficiency II</vt:lpstr>
      <vt:lpstr>Binary 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Questions?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Systems:  Design, Implementation, and Management Ninth Edition</dc:title>
  <dc:creator>Duc Minh Vu</dc:creator>
  <cp:lastModifiedBy>Vu Duc Minh</cp:lastModifiedBy>
  <cp:revision>301</cp:revision>
  <cp:lastPrinted>2024-02-25T17:16:46Z</cp:lastPrinted>
  <dcterms:created xsi:type="dcterms:W3CDTF">2009-10-12T20:16:00Z</dcterms:created>
  <dcterms:modified xsi:type="dcterms:W3CDTF">2024-03-04T01:00:10Z</dcterms:modified>
</cp:coreProperties>
</file>