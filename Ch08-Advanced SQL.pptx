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>
  <p:sldMasterIdLst>
    <p:sldMasterId id="2147483648" r:id="rId1"/>
  </p:sldMasterIdLst>
  <p:notesMasterIdLst>
    <p:notesMasterId r:id="rId79"/>
  </p:notesMasterIdLst>
  <p:handoutMasterIdLst>
    <p:handoutMasterId r:id="rId80"/>
  </p:handoutMasterIdLst>
  <p:sldIdLst>
    <p:sldId id="392" r:id="rId2"/>
    <p:sldId id="504" r:id="rId3"/>
    <p:sldId id="393" r:id="rId4"/>
    <p:sldId id="394" r:id="rId5"/>
    <p:sldId id="396" r:id="rId6"/>
    <p:sldId id="395" r:id="rId7"/>
    <p:sldId id="397" r:id="rId8"/>
    <p:sldId id="398" r:id="rId9"/>
    <p:sldId id="399" r:id="rId10"/>
    <p:sldId id="400" r:id="rId11"/>
    <p:sldId id="401" r:id="rId12"/>
    <p:sldId id="402" r:id="rId13"/>
    <p:sldId id="403" r:id="rId14"/>
    <p:sldId id="404" r:id="rId15"/>
    <p:sldId id="405" r:id="rId16"/>
    <p:sldId id="407" r:id="rId17"/>
    <p:sldId id="408" r:id="rId18"/>
    <p:sldId id="409" r:id="rId19"/>
    <p:sldId id="410" r:id="rId20"/>
    <p:sldId id="411" r:id="rId21"/>
    <p:sldId id="412" r:id="rId22"/>
    <p:sldId id="413" r:id="rId23"/>
    <p:sldId id="414" r:id="rId24"/>
    <p:sldId id="415" r:id="rId25"/>
    <p:sldId id="416" r:id="rId26"/>
    <p:sldId id="417" r:id="rId27"/>
    <p:sldId id="418" r:id="rId28"/>
    <p:sldId id="419" r:id="rId29"/>
    <p:sldId id="421" r:id="rId30"/>
    <p:sldId id="422" r:id="rId31"/>
    <p:sldId id="423" r:id="rId32"/>
    <p:sldId id="424" r:id="rId33"/>
    <p:sldId id="425" r:id="rId34"/>
    <p:sldId id="426" r:id="rId35"/>
    <p:sldId id="427" r:id="rId36"/>
    <p:sldId id="428" r:id="rId37"/>
    <p:sldId id="429" r:id="rId38"/>
    <p:sldId id="431" r:id="rId39"/>
    <p:sldId id="433" r:id="rId40"/>
    <p:sldId id="434" r:id="rId41"/>
    <p:sldId id="436" r:id="rId42"/>
    <p:sldId id="435" r:id="rId43"/>
    <p:sldId id="437" r:id="rId44"/>
    <p:sldId id="438" r:id="rId45"/>
    <p:sldId id="439" r:id="rId46"/>
    <p:sldId id="440" r:id="rId47"/>
    <p:sldId id="441" r:id="rId48"/>
    <p:sldId id="442" r:id="rId49"/>
    <p:sldId id="443" r:id="rId50"/>
    <p:sldId id="444" r:id="rId51"/>
    <p:sldId id="445" r:id="rId52"/>
    <p:sldId id="446" r:id="rId53"/>
    <p:sldId id="447" r:id="rId54"/>
    <p:sldId id="448" r:id="rId55"/>
    <p:sldId id="449" r:id="rId56"/>
    <p:sldId id="450" r:id="rId57"/>
    <p:sldId id="451" r:id="rId58"/>
    <p:sldId id="452" r:id="rId59"/>
    <p:sldId id="453" r:id="rId60"/>
    <p:sldId id="455" r:id="rId61"/>
    <p:sldId id="456" r:id="rId62"/>
    <p:sldId id="457" r:id="rId63"/>
    <p:sldId id="458" r:id="rId64"/>
    <p:sldId id="459" r:id="rId65"/>
    <p:sldId id="460" r:id="rId66"/>
    <p:sldId id="461" r:id="rId67"/>
    <p:sldId id="462" r:id="rId68"/>
    <p:sldId id="463" r:id="rId69"/>
    <p:sldId id="464" r:id="rId70"/>
    <p:sldId id="465" r:id="rId71"/>
    <p:sldId id="466" r:id="rId72"/>
    <p:sldId id="467" r:id="rId73"/>
    <p:sldId id="468" r:id="rId74"/>
    <p:sldId id="469" r:id="rId75"/>
    <p:sldId id="470" r:id="rId76"/>
    <p:sldId id="471" r:id="rId77"/>
    <p:sldId id="472" r:id="rId78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14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sz="14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sz="14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sz="14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22222"/>
    <a:srgbClr val="FFFFFF"/>
    <a:srgbClr val="18B2B6"/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5620" autoAdjust="0"/>
    <p:restoredTop sz="94660" autoAdjust="0"/>
  </p:normalViewPr>
  <p:slideViewPr>
    <p:cSldViewPr showGuides="1">
      <p:cViewPr varScale="1">
        <p:scale>
          <a:sx n="111" d="100"/>
          <a:sy n="111" d="100"/>
        </p:scale>
        <p:origin x="558" y="11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2724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4" d="100"/>
          <a:sy n="84" d="100"/>
        </p:scale>
        <p:origin x="3912" y="9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tableStyles" Target="tableStyle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288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288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288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FAC33DE4-4784-45D4-BD47-64193262C564}" type="slidenum">
              <a:rPr lang="en-US" altLang="en-US"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451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451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94FC1F20-5EAB-41FB-B210-370B9C2C46B1}" type="slidenum">
              <a:rPr lang="en-US" altLang="en-US"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DD6BCF7-8E9F-41C5-A608-0D41664076BA}" type="slidenum">
              <a:rPr lang="en-US" altLang="en-US" sz="1200" smtClean="0">
                <a:latin typeface="Times New Roman" panose="02020603050405020304" pitchFamily="18" charset="0"/>
              </a:rPr>
              <a:t>1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CA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12192000" cy="6486525"/>
          </a:xfrm>
          <a:prstGeom prst="rect">
            <a:avLst/>
          </a:prstGeom>
          <a:solidFill>
            <a:srgbClr val="22377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3429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>
              <a:solidFill>
                <a:prstClr val="white"/>
              </a:solidFill>
            </a:endParaRP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741219" y="3243264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7"/>
          <p:cNvSpPr>
            <a:spLocks noGrp="1"/>
          </p:cNvSpPr>
          <p:nvPr>
            <p:ph type="dt" sz="half" idx="10"/>
          </p:nvPr>
        </p:nvSpPr>
        <p:spPr>
          <a:xfrm>
            <a:off x="0" y="6538913"/>
            <a:ext cx="2743200" cy="365125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04BF734D-FA21-46CC-B337-08991588F7D2}" type="datetime1">
              <a:rPr lang="en-US"/>
              <a:t>12/19/2024</a:t>
            </a:fld>
            <a:endParaRPr lang="en-US"/>
          </a:p>
        </p:txBody>
      </p:sp>
      <p:sp>
        <p:nvSpPr>
          <p:cNvPr id="4" name="Slide Number Placeholder 11"/>
          <p:cNvSpPr>
            <a:spLocks noGrp="1"/>
          </p:cNvSpPr>
          <p:nvPr>
            <p:ph type="sldNum" sz="quarter" idx="11"/>
          </p:nvPr>
        </p:nvSpPr>
        <p:spPr>
          <a:xfrm>
            <a:off x="9448800" y="6538913"/>
            <a:ext cx="2743200" cy="365125"/>
          </a:xfrm>
        </p:spPr>
        <p:txBody>
          <a:bodyPr/>
          <a:lstStyle>
            <a:lvl1pPr>
              <a:defRPr sz="1000">
                <a:solidFill>
                  <a:prstClr val="white"/>
                </a:solidFill>
              </a:defRPr>
            </a:lvl1pPr>
          </a:lstStyle>
          <a:p>
            <a:pPr>
              <a:defRPr/>
            </a:pPr>
            <a:fld id="{775A0816-9807-4CA3-A3C5-68577B5C955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Database System Design, Implementation And Management 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 userDrawn="1"/>
        </p:nvSpPr>
        <p:spPr>
          <a:xfrm>
            <a:off x="392907" y="235206"/>
            <a:ext cx="1750219" cy="596044"/>
          </a:xfrm>
          <a:custGeom>
            <a:avLst/>
            <a:gdLst>
              <a:gd name="connsiteX0" fmla="*/ 471488 w 1750219"/>
              <a:gd name="connsiteY0" fmla="*/ 0 h 721518"/>
              <a:gd name="connsiteX1" fmla="*/ 0 w 1750219"/>
              <a:gd name="connsiteY1" fmla="*/ 0 h 721518"/>
              <a:gd name="connsiteX2" fmla="*/ 0 w 1750219"/>
              <a:gd name="connsiteY2" fmla="*/ 721518 h 721518"/>
              <a:gd name="connsiteX3" fmla="*/ 1750219 w 1750219"/>
              <a:gd name="connsiteY3" fmla="*/ 721518 h 721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50219" h="721518">
                <a:moveTo>
                  <a:pt x="471488" y="0"/>
                </a:moveTo>
                <a:lnTo>
                  <a:pt x="0" y="0"/>
                </a:lnTo>
                <a:lnTo>
                  <a:pt x="0" y="721518"/>
                </a:lnTo>
                <a:lnTo>
                  <a:pt x="1750219" y="721518"/>
                </a:lnTo>
              </a:path>
            </a:pathLst>
          </a:custGeom>
          <a:noFill/>
          <a:ln w="57150" cmpd="thickThin">
            <a:solidFill>
              <a:srgbClr val="223771"/>
            </a:solidFill>
          </a:ln>
          <a:scene3d>
            <a:camera prst="orthographicFront"/>
            <a:lightRig rig="threePt" dir="t"/>
          </a:scene3d>
          <a:sp3d>
            <a:bevelB/>
            <a:contourClr>
              <a:srgbClr val="000000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3429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>
              <a:solidFill>
                <a:prstClr val="white"/>
              </a:solidFill>
            </a:endParaRPr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482252" y="277962"/>
            <a:ext cx="7928429" cy="55328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75" b="1" baseline="0">
                <a:solidFill>
                  <a:srgbClr val="22377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580188"/>
            <a:ext cx="2743200" cy="277812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619230D7-F585-4615-8690-EE47007A6E78}" type="datetime1">
              <a:rPr lang="en-US"/>
              <a:t>12/19/2024</a:t>
            </a:fld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9412288" y="6623050"/>
            <a:ext cx="2743200" cy="234950"/>
          </a:xfrm>
        </p:spPr>
        <p:txBody>
          <a:bodyPr/>
          <a:lstStyle>
            <a:lvl1pPr>
              <a:defRPr sz="1000"/>
            </a:lvl1pPr>
          </a:lstStyle>
          <a:p>
            <a:pPr>
              <a:defRPr/>
            </a:pPr>
            <a:fld id="{3668E2E4-C289-40FA-803B-52DC86338CE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Database System Design, Implementation And Management 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 userDrawn="1"/>
        </p:nvSpPr>
        <p:spPr>
          <a:xfrm>
            <a:off x="392907" y="235206"/>
            <a:ext cx="1750219" cy="596044"/>
          </a:xfrm>
          <a:custGeom>
            <a:avLst/>
            <a:gdLst>
              <a:gd name="connsiteX0" fmla="*/ 471488 w 1750219"/>
              <a:gd name="connsiteY0" fmla="*/ 0 h 721518"/>
              <a:gd name="connsiteX1" fmla="*/ 0 w 1750219"/>
              <a:gd name="connsiteY1" fmla="*/ 0 h 721518"/>
              <a:gd name="connsiteX2" fmla="*/ 0 w 1750219"/>
              <a:gd name="connsiteY2" fmla="*/ 721518 h 721518"/>
              <a:gd name="connsiteX3" fmla="*/ 1750219 w 1750219"/>
              <a:gd name="connsiteY3" fmla="*/ 721518 h 721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50219" h="721518">
                <a:moveTo>
                  <a:pt x="471488" y="0"/>
                </a:moveTo>
                <a:lnTo>
                  <a:pt x="0" y="0"/>
                </a:lnTo>
                <a:lnTo>
                  <a:pt x="0" y="721518"/>
                </a:lnTo>
                <a:lnTo>
                  <a:pt x="1750219" y="721518"/>
                </a:lnTo>
              </a:path>
            </a:pathLst>
          </a:custGeom>
          <a:noFill/>
          <a:ln w="57150" cmpd="thickThin">
            <a:solidFill>
              <a:srgbClr val="223771"/>
            </a:solidFill>
          </a:ln>
          <a:scene3d>
            <a:camera prst="orthographicFront"/>
            <a:lightRig rig="threePt" dir="t"/>
          </a:scene3d>
          <a:sp3d>
            <a:bevelB/>
            <a:contourClr>
              <a:srgbClr val="000000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3429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>
              <a:solidFill>
                <a:prstClr val="white"/>
              </a:solidFill>
            </a:endParaRP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487476" y="2949386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sz="45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592888"/>
            <a:ext cx="2743200" cy="268287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7F53EECD-5EF2-4F97-996E-6CBAC1BF3011}" type="datetime1">
              <a:rPr lang="en-US"/>
              <a:t>12/19/2024</a:t>
            </a:fld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9366250" y="6589713"/>
            <a:ext cx="2743200" cy="314325"/>
          </a:xfrm>
        </p:spPr>
        <p:txBody>
          <a:bodyPr/>
          <a:lstStyle>
            <a:lvl1pPr>
              <a:defRPr sz="1000"/>
            </a:lvl1pPr>
          </a:lstStyle>
          <a:p>
            <a:pPr>
              <a:defRPr/>
            </a:pPr>
            <a:fld id="{F9126DDB-45DE-4D72-94FB-1E2D565E80A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Database System Design, Implementation And Management 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7"/>
          <p:cNvSpPr/>
          <p:nvPr userDrawn="1"/>
        </p:nvSpPr>
        <p:spPr>
          <a:xfrm>
            <a:off x="311261" y="235206"/>
            <a:ext cx="1750219" cy="596044"/>
          </a:xfrm>
          <a:custGeom>
            <a:avLst/>
            <a:gdLst>
              <a:gd name="connsiteX0" fmla="*/ 471488 w 1750219"/>
              <a:gd name="connsiteY0" fmla="*/ 0 h 721518"/>
              <a:gd name="connsiteX1" fmla="*/ 0 w 1750219"/>
              <a:gd name="connsiteY1" fmla="*/ 0 h 721518"/>
              <a:gd name="connsiteX2" fmla="*/ 0 w 1750219"/>
              <a:gd name="connsiteY2" fmla="*/ 721518 h 721518"/>
              <a:gd name="connsiteX3" fmla="*/ 1750219 w 1750219"/>
              <a:gd name="connsiteY3" fmla="*/ 721518 h 721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50219" h="721518">
                <a:moveTo>
                  <a:pt x="471488" y="0"/>
                </a:moveTo>
                <a:lnTo>
                  <a:pt x="0" y="0"/>
                </a:lnTo>
                <a:lnTo>
                  <a:pt x="0" y="721518"/>
                </a:lnTo>
                <a:lnTo>
                  <a:pt x="1750219" y="721518"/>
                </a:lnTo>
              </a:path>
            </a:pathLst>
          </a:custGeom>
          <a:noFill/>
          <a:ln w="57150" cmpd="thickThin">
            <a:solidFill>
              <a:srgbClr val="223771"/>
            </a:solidFill>
          </a:ln>
          <a:scene3d>
            <a:camera prst="orthographicFront"/>
            <a:lightRig rig="threePt" dir="t"/>
          </a:scene3d>
          <a:sp3d>
            <a:bevelB/>
            <a:contourClr>
              <a:srgbClr val="000000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3429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>
              <a:solidFill>
                <a:prstClr val="white"/>
              </a:solidFill>
            </a:endParaRPr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340858" y="243491"/>
            <a:ext cx="8061101" cy="55328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75" b="1" baseline="0">
                <a:solidFill>
                  <a:srgbClr val="22377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3"/>
          </p:nvPr>
        </p:nvSpPr>
        <p:spPr>
          <a:xfrm>
            <a:off x="309220" y="1169082"/>
            <a:ext cx="11551617" cy="495413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953D200-00AA-42A7-802D-F180C1D57E6B}" type="datetime1">
              <a:rPr lang="en-US"/>
              <a:t>12/19/2024</a:t>
            </a:fld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5"/>
          </p:nvPr>
        </p:nvSpPr>
        <p:spPr>
          <a:xfrm>
            <a:off x="9421813" y="6600825"/>
            <a:ext cx="2743200" cy="274638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C9EDAA9-37F3-4614-95D5-5B7FFAB71D04}" type="slidenum">
              <a:rPr lang="en-US"/>
              <a:t>‹#›</a:t>
            </a:fld>
            <a:endParaRPr lang="en-US" dirty="0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Database System Design, Implementation And Management 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63686" y="2846231"/>
            <a:ext cx="4417452" cy="1460428"/>
          </a:xfrm>
          <a:prstGeom prst="rect">
            <a:avLst/>
          </a:prstGeom>
        </p:spPr>
        <p:txBody>
          <a:bodyPr anchor="b">
            <a:normAutofit/>
          </a:bodyPr>
          <a:lstStyle>
            <a:lvl1pPr algn="r">
              <a:defRPr sz="4200" b="1" baseline="0">
                <a:solidFill>
                  <a:srgbClr val="22377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263686" y="4429523"/>
            <a:ext cx="4417452" cy="750072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800" baseline="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idx="13"/>
          </p:nvPr>
        </p:nvSpPr>
        <p:spPr>
          <a:xfrm>
            <a:off x="1" y="862151"/>
            <a:ext cx="7096259" cy="563194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7A147622-DF6C-4AD4-B05B-A94F62E38A86}" type="datetime1">
              <a:rPr lang="en-US"/>
              <a:t>12/19/2024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5"/>
          </p:nvPr>
        </p:nvSpPr>
        <p:spPr>
          <a:xfrm>
            <a:off x="3871913" y="6604000"/>
            <a:ext cx="4114800" cy="254000"/>
          </a:xfrm>
        </p:spPr>
        <p:txBody>
          <a:bodyPr/>
          <a:lstStyle>
            <a:lvl1pPr defTabSz="342900" eaLnBrk="1" fontAlgn="auto" hangingPunct="1">
              <a:spcBef>
                <a:spcPts val="0"/>
              </a:spcBef>
              <a:spcAft>
                <a:spcPts val="0"/>
              </a:spcAft>
              <a:defRPr>
                <a:solidFill>
                  <a:prstClr val="white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dirty="0"/>
              <a:t>Database System Design, Implementation And Management 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C3DE7D-4EEA-43B2-9617-70FD3CFD639D}" type="slidenum">
              <a:rPr lang="en-US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13"/>
          <p:cNvSpPr/>
          <p:nvPr userDrawn="1"/>
        </p:nvSpPr>
        <p:spPr>
          <a:xfrm>
            <a:off x="392907" y="235206"/>
            <a:ext cx="1750219" cy="596044"/>
          </a:xfrm>
          <a:custGeom>
            <a:avLst/>
            <a:gdLst>
              <a:gd name="connsiteX0" fmla="*/ 471488 w 1750219"/>
              <a:gd name="connsiteY0" fmla="*/ 0 h 721518"/>
              <a:gd name="connsiteX1" fmla="*/ 0 w 1750219"/>
              <a:gd name="connsiteY1" fmla="*/ 0 h 721518"/>
              <a:gd name="connsiteX2" fmla="*/ 0 w 1750219"/>
              <a:gd name="connsiteY2" fmla="*/ 721518 h 721518"/>
              <a:gd name="connsiteX3" fmla="*/ 1750219 w 1750219"/>
              <a:gd name="connsiteY3" fmla="*/ 721518 h 721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50219" h="721518">
                <a:moveTo>
                  <a:pt x="471488" y="0"/>
                </a:moveTo>
                <a:lnTo>
                  <a:pt x="0" y="0"/>
                </a:lnTo>
                <a:lnTo>
                  <a:pt x="0" y="721518"/>
                </a:lnTo>
                <a:lnTo>
                  <a:pt x="1750219" y="721518"/>
                </a:lnTo>
              </a:path>
            </a:pathLst>
          </a:custGeom>
          <a:noFill/>
          <a:ln w="57150" cmpd="thickThin">
            <a:solidFill>
              <a:srgbClr val="223771"/>
            </a:solidFill>
          </a:ln>
          <a:scene3d>
            <a:camera prst="orthographicFront"/>
            <a:lightRig rig="threePt" dir="t"/>
          </a:scene3d>
          <a:sp3d>
            <a:bevelB/>
            <a:contourClr>
              <a:srgbClr val="000000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3429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Content Placeholder 15"/>
          <p:cNvSpPr>
            <a:spLocks noGrp="1"/>
          </p:cNvSpPr>
          <p:nvPr>
            <p:ph sz="quarter" idx="13"/>
          </p:nvPr>
        </p:nvSpPr>
        <p:spPr>
          <a:xfrm>
            <a:off x="392906" y="278800"/>
            <a:ext cx="5813199" cy="457200"/>
          </a:xfrm>
          <a:prstGeom prst="rect">
            <a:avLst/>
          </a:prstGeom>
        </p:spPr>
        <p:txBody>
          <a:bodyPr/>
          <a:lstStyle>
            <a:lvl1pPr>
              <a:defRPr lang="en-US" sz="2475" b="1" baseline="0" dirty="0">
                <a:solidFill>
                  <a:srgbClr val="223771"/>
                </a:solidFill>
                <a:ea typeface="+mj-ea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591607DA-A9BC-4664-80C0-A8EF5A98972C}" type="datetime1">
              <a:rPr lang="en-US"/>
              <a:t>12/19/2024</a:t>
            </a:fld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B03C63-2273-46E4-B7DF-3CCA315B6CB6}" type="slidenum">
              <a:rPr lang="en-US"/>
              <a:t>‹#›</a:t>
            </a:fld>
            <a:endParaRPr lang="en-US" dirty="0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ftr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Database System Design, Implementation And Management 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13"/>
          <p:cNvSpPr/>
          <p:nvPr userDrawn="1"/>
        </p:nvSpPr>
        <p:spPr>
          <a:xfrm>
            <a:off x="701899" y="515148"/>
            <a:ext cx="1750219" cy="596044"/>
          </a:xfrm>
          <a:custGeom>
            <a:avLst/>
            <a:gdLst>
              <a:gd name="connsiteX0" fmla="*/ 471488 w 1750219"/>
              <a:gd name="connsiteY0" fmla="*/ 0 h 721518"/>
              <a:gd name="connsiteX1" fmla="*/ 0 w 1750219"/>
              <a:gd name="connsiteY1" fmla="*/ 0 h 721518"/>
              <a:gd name="connsiteX2" fmla="*/ 0 w 1750219"/>
              <a:gd name="connsiteY2" fmla="*/ 721518 h 721518"/>
              <a:gd name="connsiteX3" fmla="*/ 1750219 w 1750219"/>
              <a:gd name="connsiteY3" fmla="*/ 721518 h 721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50219" h="721518">
                <a:moveTo>
                  <a:pt x="471488" y="0"/>
                </a:moveTo>
                <a:lnTo>
                  <a:pt x="0" y="0"/>
                </a:lnTo>
                <a:lnTo>
                  <a:pt x="0" y="721518"/>
                </a:lnTo>
                <a:lnTo>
                  <a:pt x="1750219" y="721518"/>
                </a:lnTo>
              </a:path>
            </a:pathLst>
          </a:custGeom>
          <a:noFill/>
          <a:ln w="57150" cmpd="thickThin">
            <a:solidFill>
              <a:srgbClr val="223771"/>
            </a:solidFill>
          </a:ln>
          <a:scene3d>
            <a:camera prst="orthographicFront"/>
            <a:lightRig rig="threePt" dir="t"/>
          </a:scene3d>
          <a:sp3d>
            <a:bevelB/>
            <a:contourClr>
              <a:srgbClr val="000000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3429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1900" y="351789"/>
            <a:ext cx="8061101" cy="92276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250" b="1">
                <a:solidFill>
                  <a:srgbClr val="22377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01899" y="1639781"/>
            <a:ext cx="3336703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1711" y="1639781"/>
            <a:ext cx="3331872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3"/>
          <p:cNvSpPr>
            <a:spLocks noGrp="1"/>
          </p:cNvSpPr>
          <p:nvPr>
            <p:ph sz="half" idx="13"/>
          </p:nvPr>
        </p:nvSpPr>
        <p:spPr>
          <a:xfrm>
            <a:off x="8426539" y="1639781"/>
            <a:ext cx="3331872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C90A3BB5-049D-4035-BBD7-C54E04C91C61}" type="datetime1">
              <a:rPr lang="en-US"/>
              <a:t>12/19/2024</a:t>
            </a:fld>
            <a:endParaRPr lang="en-US"/>
          </a:p>
        </p:txBody>
      </p:sp>
      <p:sp>
        <p:nvSpPr>
          <p:cNvPr id="8" name="Slide Number Placehold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967A2B-7DC3-460F-82C1-37366D5A5F1B}" type="slidenum">
              <a:rPr lang="en-US"/>
              <a:t>‹#›</a:t>
            </a:fld>
            <a:endParaRPr lang="en-US" dirty="0"/>
          </a:p>
        </p:txBody>
      </p:sp>
      <p:sp>
        <p:nvSpPr>
          <p:cNvPr id="10" name="Rectangle 3"/>
          <p:cNvSpPr>
            <a:spLocks noGrp="1" noChangeArrowheads="1"/>
          </p:cNvSpPr>
          <p:nvPr>
            <p:ph type="ftr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Database System Design, Implementation And Management 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0135270F-5CE6-4EF5-9A71-BDCE233B4E76}" type="datetime1">
              <a:rPr lang="en-US"/>
              <a:t>12/19/2024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AD3536-327C-4937-83AF-A64971CFA6D9}" type="slidenum">
              <a:rPr lang="en-US"/>
              <a:t>‹#›</a:t>
            </a:fld>
            <a:endParaRPr lang="en-US" dirty="0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Database System Design, Implementation And Management 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741484" y="785428"/>
            <a:ext cx="8061101" cy="55328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875" b="1" baseline="0">
                <a:solidFill>
                  <a:srgbClr val="22377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42F541BA-B8B3-45BF-9568-D96FA3A28EA4}" type="datetime1">
              <a:rPr lang="en-US"/>
              <a:t>12/19/2024</a:t>
            </a:fld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E77ECF-F060-4D46-A3D9-128B9B0DFB4A}" type="slidenum">
              <a:rPr lang="en-US"/>
              <a:t>‹#›</a:t>
            </a:fld>
            <a:endParaRPr lang="en-US" dirty="0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Database System Design, Implementation And Management 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13"/>
          <p:cNvSpPr/>
          <p:nvPr userDrawn="1"/>
        </p:nvSpPr>
        <p:spPr>
          <a:xfrm>
            <a:off x="851140" y="711200"/>
            <a:ext cx="1750219" cy="596044"/>
          </a:xfrm>
          <a:custGeom>
            <a:avLst/>
            <a:gdLst>
              <a:gd name="connsiteX0" fmla="*/ 471488 w 1750219"/>
              <a:gd name="connsiteY0" fmla="*/ 0 h 721518"/>
              <a:gd name="connsiteX1" fmla="*/ 0 w 1750219"/>
              <a:gd name="connsiteY1" fmla="*/ 0 h 721518"/>
              <a:gd name="connsiteX2" fmla="*/ 0 w 1750219"/>
              <a:gd name="connsiteY2" fmla="*/ 721518 h 721518"/>
              <a:gd name="connsiteX3" fmla="*/ 1750219 w 1750219"/>
              <a:gd name="connsiteY3" fmla="*/ 721518 h 721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50219" h="721518">
                <a:moveTo>
                  <a:pt x="471488" y="0"/>
                </a:moveTo>
                <a:lnTo>
                  <a:pt x="0" y="0"/>
                </a:lnTo>
                <a:lnTo>
                  <a:pt x="0" y="721518"/>
                </a:lnTo>
                <a:lnTo>
                  <a:pt x="1750219" y="721518"/>
                </a:lnTo>
              </a:path>
            </a:pathLst>
          </a:custGeom>
          <a:noFill/>
          <a:ln w="57150" cmpd="thickThin">
            <a:solidFill>
              <a:srgbClr val="223771"/>
            </a:solidFill>
          </a:ln>
          <a:scene3d>
            <a:camera prst="orthographicFront"/>
            <a:lightRig rig="threePt" dir="t"/>
          </a:scene3d>
          <a:sp3d>
            <a:bevelB/>
            <a:contourClr>
              <a:srgbClr val="000000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3429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lnSpc>
                <a:spcPct val="150000"/>
              </a:lnSpc>
              <a:buClr>
                <a:schemeClr val="accent2"/>
              </a:buClr>
              <a:buFont typeface="Wingdings" panose="05000000000000000000" pitchFamily="2" charset="2"/>
              <a:buChar char="q"/>
              <a:defRPr>
                <a:latin typeface="NewCaledoniaLTStd"/>
              </a:defRPr>
            </a:lvl1pPr>
            <a:lvl2pPr marL="514350" indent="-171450">
              <a:lnSpc>
                <a:spcPct val="150000"/>
              </a:lnSpc>
              <a:buClr>
                <a:schemeClr val="accent2"/>
              </a:buClr>
              <a:buFont typeface="Wingdings" panose="05000000000000000000" pitchFamily="2" charset="2"/>
              <a:buChar char="Ø"/>
              <a:defRPr>
                <a:latin typeface="NewCaledoniaLTStd"/>
              </a:defRPr>
            </a:lvl2pPr>
            <a:lvl3pPr marL="857250" indent="-171450">
              <a:lnSpc>
                <a:spcPct val="150000"/>
              </a:lnSpc>
              <a:buClr>
                <a:schemeClr val="accent2"/>
              </a:buClr>
              <a:buFont typeface="Wingdings" panose="05000000000000000000" pitchFamily="2" charset="2"/>
              <a:buChar char="ü"/>
              <a:defRPr>
                <a:latin typeface="NewCaledoniaLTStd"/>
              </a:defRPr>
            </a:lvl3pPr>
            <a:lvl4pPr marL="1200150" indent="-171450">
              <a:lnSpc>
                <a:spcPct val="150000"/>
              </a:lnSpc>
              <a:buClr>
                <a:schemeClr val="accent2"/>
              </a:buClr>
              <a:buFont typeface="Courier New" panose="02070309020205020404" pitchFamily="49" charset="0"/>
              <a:buChar char="o"/>
              <a:defRPr>
                <a:latin typeface="NewCaledoniaLTStd"/>
              </a:defRPr>
            </a:lvl4pPr>
            <a:lvl5pPr marL="1543050" indent="-171450">
              <a:lnSpc>
                <a:spcPct val="15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defRPr>
                <a:latin typeface="NewCaledoniaLTStd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 defTabSz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</a:lstStyle>
          <a:p>
            <a:pPr>
              <a:defRPr/>
            </a:pPr>
            <a:fld id="{34A84676-C444-4AC5-8B4E-405A7C81C0FB}" type="slidenum">
              <a:rPr lang="en-US" altLang="en-US"/>
              <a:t>‹#›</a:t>
            </a:fld>
            <a:endParaRPr lang="en-US" altLang="en-US" dirty="0"/>
          </a:p>
        </p:txBody>
      </p:sp>
      <p:sp>
        <p:nvSpPr>
          <p:cNvPr id="7" name="Rectangle 3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Database System Design, Implementation And Management </a:t>
            </a:r>
          </a:p>
        </p:txBody>
      </p:sp>
      <p:sp>
        <p:nvSpPr>
          <p:cNvPr id="8" name="Date Placeholder 1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6D947E3C-0B49-413F-8928-2C02ECEF5B61}" type="datetime1">
              <a:rPr lang="en-US"/>
              <a:t>12/19/2024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6"/>
          <p:cNvGrpSpPr/>
          <p:nvPr/>
        </p:nvGrpSpPr>
        <p:grpSpPr bwMode="auto">
          <a:xfrm>
            <a:off x="0" y="6494463"/>
            <a:ext cx="12192000" cy="373062"/>
            <a:chOff x="0" y="1661375"/>
            <a:chExt cx="12192000" cy="373091"/>
          </a:xfrm>
        </p:grpSpPr>
        <p:sp>
          <p:nvSpPr>
            <p:cNvPr id="8" name="Rectangle 7"/>
            <p:cNvSpPr/>
            <p:nvPr/>
          </p:nvSpPr>
          <p:spPr>
            <a:xfrm>
              <a:off x="0" y="1661375"/>
              <a:ext cx="12192000" cy="109546"/>
            </a:xfrm>
            <a:prstGeom prst="rect">
              <a:avLst/>
            </a:prstGeom>
            <a:solidFill>
              <a:srgbClr val="F265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3429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350">
                <a:solidFill>
                  <a:prstClr val="white"/>
                </a:solidFill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0" y="1759808"/>
              <a:ext cx="12192000" cy="274658"/>
            </a:xfrm>
            <a:prstGeom prst="rect">
              <a:avLst/>
            </a:prstGeom>
            <a:solidFill>
              <a:srgbClr val="22377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3429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350">
                <a:solidFill>
                  <a:prstClr val="white"/>
                </a:solidFill>
              </a:endParaRPr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48800" y="6600825"/>
            <a:ext cx="27432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defTabSz="342900" eaLnBrk="1" fontAlgn="auto" hangingPunct="1">
              <a:spcBef>
                <a:spcPts val="0"/>
              </a:spcBef>
              <a:spcAft>
                <a:spcPts val="0"/>
              </a:spcAft>
              <a:defRPr sz="1000">
                <a:solidFill>
                  <a:prstClr val="white"/>
                </a:solidFill>
                <a:latin typeface="Calibri" panose="020F0502020204030204"/>
                <a:ea typeface="+mn-ea"/>
              </a:defRPr>
            </a:lvl1pPr>
          </a:lstStyle>
          <a:p>
            <a:pPr>
              <a:defRPr/>
            </a:pPr>
            <a:fld id="{B77A7909-E221-4E66-A5EF-13497EA60DDF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0" y="6600825"/>
            <a:ext cx="2743200" cy="257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342900" eaLnBrk="1" fontAlgn="auto" hangingPunct="1">
              <a:spcBef>
                <a:spcPts val="0"/>
              </a:spcBef>
              <a:spcAft>
                <a:spcPts val="0"/>
              </a:spcAft>
              <a:defRPr sz="1000" smtClean="0">
                <a:solidFill>
                  <a:prstClr val="white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AE5C34FE-8DBA-47D2-B92C-42DE287139A6}" type="datetime1">
              <a:rPr lang="en-US" smtClean="0"/>
              <a:pPr>
                <a:defRPr/>
              </a:pPr>
              <a:t>12/19/2024</a:t>
            </a:fld>
            <a:endParaRPr lang="en-US" dirty="0"/>
          </a:p>
        </p:txBody>
      </p:sp>
      <p:sp>
        <p:nvSpPr>
          <p:cNvPr id="1029" name="Title Placeholder 1"/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30" name="Text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10" name="Rectangle 3"/>
          <p:cNvSpPr>
            <a:spLocks noGrp="1" noChangeArrowheads="1"/>
          </p:cNvSpPr>
          <p:nvPr>
            <p:ph type="ftr" sz="quarter" idx="3"/>
          </p:nvPr>
        </p:nvSpPr>
        <p:spPr>
          <a:xfrm>
            <a:off x="3871913" y="6604000"/>
            <a:ext cx="4967287" cy="25400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US"/>
              <a:t>Database System Design, Implementation And Management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hdr="0"/>
  <p:txStyles>
    <p:titleStyle>
      <a:lvl1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2pPr>
      <a:lvl3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3pPr>
      <a:lvl4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4pPr>
      <a:lvl5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171450" indent="-171450" algn="l" defTabSz="685800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143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8572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2001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5430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0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0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0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4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0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8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8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8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8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8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8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8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8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8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8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8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8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8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8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8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8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8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8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8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8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8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8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8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8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8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8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8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8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8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Learning Objectives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457200" indent="-457200" eaLnBrk="1" hangingPunct="1">
              <a:lnSpc>
                <a:spcPct val="150000"/>
              </a:lnSpc>
              <a:buFont typeface="Calibri Light" panose="020F0302020204030204" pitchFamily="34" charset="0"/>
              <a:buAutoNum type="arabicPeriod"/>
            </a:pPr>
            <a:r>
              <a:rPr lang="en-US" altLang="en-US" sz="1800" dirty="0"/>
              <a:t>Define the difference between data and information</a:t>
            </a:r>
          </a:p>
          <a:p>
            <a:pPr marL="457200" indent="-457200" eaLnBrk="1" hangingPunct="1">
              <a:lnSpc>
                <a:spcPct val="150000"/>
              </a:lnSpc>
              <a:buFont typeface="Calibri Light" panose="020F0302020204030204" pitchFamily="34" charset="0"/>
              <a:buAutoNum type="arabicPeriod"/>
            </a:pPr>
            <a:r>
              <a:rPr lang="en-US" altLang="en-US" sz="1800" dirty="0"/>
              <a:t>Describe what a database is, the various types of databases, and why they are valuable assets for decision making</a:t>
            </a:r>
          </a:p>
          <a:p>
            <a:pPr marL="457200" indent="-457200" eaLnBrk="1" hangingPunct="1">
              <a:lnSpc>
                <a:spcPct val="150000"/>
              </a:lnSpc>
              <a:buFont typeface="Calibri Light" panose="020F0302020204030204" pitchFamily="34" charset="0"/>
              <a:buAutoNum type="arabicPeriod"/>
            </a:pPr>
            <a:r>
              <a:rPr lang="en-US" altLang="en-US" sz="1800" dirty="0"/>
              <a:t>Explain the importance of database design</a:t>
            </a:r>
          </a:p>
          <a:p>
            <a:pPr marL="457200" indent="-457200" eaLnBrk="1" hangingPunct="1">
              <a:lnSpc>
                <a:spcPct val="150000"/>
              </a:lnSpc>
              <a:buFont typeface="Calibri Light" panose="020F0302020204030204" pitchFamily="34" charset="0"/>
              <a:buAutoNum type="arabicPeriod"/>
            </a:pPr>
            <a:r>
              <a:rPr lang="en-US" altLang="en-US" sz="1800" dirty="0"/>
              <a:t>Outline how modern databases evolved from file systems</a:t>
            </a:r>
          </a:p>
          <a:p>
            <a:pPr marL="457200" indent="-457200" eaLnBrk="1" hangingPunct="1">
              <a:lnSpc>
                <a:spcPct val="150000"/>
              </a:lnSpc>
              <a:buFont typeface="Calibri Light" panose="020F0302020204030204" pitchFamily="34" charset="0"/>
              <a:buAutoNum type="arabicPeriod"/>
            </a:pPr>
            <a:r>
              <a:rPr lang="en-US" altLang="en-US" sz="1800" dirty="0"/>
              <a:t>Identify flaws in file system data management</a:t>
            </a:r>
          </a:p>
          <a:p>
            <a:pPr marL="457200" indent="-457200" eaLnBrk="1" hangingPunct="1">
              <a:lnSpc>
                <a:spcPct val="150000"/>
              </a:lnSpc>
              <a:buFont typeface="Calibri Light" panose="020F0302020204030204" pitchFamily="34" charset="0"/>
              <a:buAutoNum type="arabicPeriod"/>
            </a:pPr>
            <a:r>
              <a:rPr lang="en-US" altLang="en-US" sz="1800" dirty="0"/>
              <a:t>Outline the main components of the database system</a:t>
            </a:r>
          </a:p>
          <a:p>
            <a:pPr marL="457200" indent="-457200" eaLnBrk="1" hangingPunct="1">
              <a:lnSpc>
                <a:spcPct val="150000"/>
              </a:lnSpc>
              <a:buFont typeface="Calibri Light" panose="020F0302020204030204" pitchFamily="34" charset="0"/>
              <a:buAutoNum type="arabicPeriod"/>
            </a:pPr>
            <a:r>
              <a:rPr lang="en-US" altLang="en-US" sz="1800" dirty="0"/>
              <a:t>Describe the main functions of a database management system (DBMS)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fld id="{70935733-0070-4FC4-AA67-45D4DA740129}" type="datetime1">
              <a:rPr lang="en-US"/>
              <a:t>12/19/2024</a:t>
            </a:fld>
            <a:endParaRPr lang="en-US"/>
          </a:p>
        </p:txBody>
      </p:sp>
      <p:sp>
        <p:nvSpPr>
          <p:cNvPr id="18437" name="Footer Placeholder 5"/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000">
                <a:solidFill>
                  <a:schemeClr val="bg1"/>
                </a:solidFill>
              </a:rPr>
              <a:t>Database System Design, Implementation And Management </a:t>
            </a:r>
          </a:p>
        </p:txBody>
      </p:sp>
      <p:sp>
        <p:nvSpPr>
          <p:cNvPr id="18438" name="Slide Number Placeholder 6"/>
          <p:cNvSpPr>
            <a:spLocks noGrp="1" noChangeArrowheads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25E4E02F-8D0B-4F73-B3DD-858F1DB63CB0}" type="slidenum">
              <a:rPr lang="en-US" altLang="en-US" sz="900" smtClean="0">
                <a:solidFill>
                  <a:schemeClr val="bg1"/>
                </a:solidFill>
              </a:rPr>
              <a:t>1</a:t>
            </a:fld>
            <a:endParaRPr lang="en-US" altLang="en-US" sz="900" dirty="0">
              <a:solidFill>
                <a:schemeClr val="bg1"/>
              </a:solidFill>
            </a:endParaRPr>
          </a:p>
        </p:txBody>
      </p:sp>
      <p:pic>
        <p:nvPicPr>
          <p:cNvPr id="5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810" y="76200"/>
            <a:ext cx="11904379" cy="62333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>
            <a:extLst>
              <a:ext uri="{FF2B5EF4-FFF2-40B4-BE49-F238E27FC236}">
                <a16:creationId xmlns:a16="http://schemas.microsoft.com/office/drawing/2014/main" id="{20FFC1CF-C6D1-C190-5CBD-BA8BD4CDF18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04800"/>
            <a:ext cx="10515600" cy="1325563"/>
          </a:xfrm>
        </p:spPr>
        <p:txBody>
          <a:bodyPr/>
          <a:lstStyle/>
          <a:p>
            <a:pPr algn="ctr" eaLnBrk="1" hangingPunct="1"/>
            <a:r>
              <a:rPr lang="en-US" altLang="en-US" dirty="0"/>
              <a:t>National Economics University</a:t>
            </a:r>
            <a:br>
              <a:rPr lang="en-US" altLang="en-US" dirty="0"/>
            </a:br>
            <a:r>
              <a:rPr lang="en-US" altLang="en-US" dirty="0"/>
              <a:t>Faculty of Data Science &amp; Artificial Intelligence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50F7E22-523E-06DC-63AF-3DDDA301838E}"/>
              </a:ext>
            </a:extLst>
          </p:cNvPr>
          <p:cNvSpPr txBox="1">
            <a:spLocks/>
          </p:cNvSpPr>
          <p:nvPr/>
        </p:nvSpPr>
        <p:spPr bwMode="auto">
          <a:xfrm>
            <a:off x="838200" y="1828800"/>
            <a:ext cx="10515600" cy="36576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dirty="0"/>
              <a:t>Database System Design, Implementation And Management Course – Advanced SQL</a:t>
            </a:r>
          </a:p>
          <a:p>
            <a:pPr eaLnBrk="1" hangingPunct="1">
              <a:defRPr/>
            </a:pPr>
            <a:endParaRPr lang="en-US" dirty="0"/>
          </a:p>
          <a:p>
            <a:pPr marL="457200" indent="-457200" eaLnBrk="1" hangingPunct="1">
              <a:buFont typeface="Wingdings" panose="05000000000000000000" pitchFamily="2" charset="2"/>
              <a:buChar char="q"/>
              <a:defRPr/>
            </a:pPr>
            <a:r>
              <a:rPr lang="en-US" dirty="0"/>
              <a:t>Instructor: Duc Minh Vu (FDA – SLSCM Lab)</a:t>
            </a:r>
          </a:p>
          <a:p>
            <a:pPr marL="457200" indent="-457200" eaLnBrk="1" hangingPunct="1">
              <a:buFont typeface="Wingdings" panose="05000000000000000000" pitchFamily="2" charset="2"/>
              <a:buChar char="q"/>
              <a:defRPr/>
            </a:pPr>
            <a:r>
              <a:rPr lang="en-US" dirty="0"/>
              <a:t>Email: </a:t>
            </a:r>
            <a:r>
              <a:rPr lang="en-US" dirty="0" err="1"/>
              <a:t>minhvd</a:t>
            </a:r>
            <a:r>
              <a:rPr lang="en-US" dirty="0"/>
              <a:t> [at] neu.edu.vn</a:t>
            </a:r>
            <a:br>
              <a:rPr lang="en-US" dirty="0"/>
            </a:br>
            <a:endParaRPr lang="en-US" dirty="0"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276F99BE-16D2-D698-B84F-294467AC8B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44034" y="204634"/>
            <a:ext cx="1243166" cy="1243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19BFC2BE-16EA-CF2A-0193-BCC3544BE7F1}"/>
              </a:ext>
            </a:extLst>
          </p:cNvPr>
          <p:cNvSpPr txBox="1">
            <a:spLocks/>
          </p:cNvSpPr>
          <p:nvPr/>
        </p:nvSpPr>
        <p:spPr>
          <a:xfrm>
            <a:off x="0" y="6600825"/>
            <a:ext cx="2743200" cy="257175"/>
          </a:xfrm>
          <a:prstGeom prst="rect">
            <a:avLst/>
          </a:prstGeom>
          <a:ln/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000" kern="12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pPr>
              <a:defRPr/>
            </a:pPr>
            <a:fld id="{70935733-0070-4FC4-AA67-45D4DA740129}" type="datetime1">
              <a:rPr lang="en-US" sz="900" smtClean="0"/>
              <a:pPr>
                <a:defRPr/>
              </a:pPr>
              <a:t>12/19/2024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836BB0-D354-C3A9-B5A0-5D1CD29611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1913" y="6604000"/>
            <a:ext cx="4967287" cy="25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defTabSz="342900" rtl="0" eaLnBrk="1" fontAlgn="auto" hangingPunct="1">
              <a:spcBef>
                <a:spcPts val="0"/>
              </a:spcBef>
              <a:spcAft>
                <a:spcPts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pPr algn="ctr"/>
            <a:r>
              <a:rPr lang="en-US" altLang="en-US" sz="900" dirty="0">
                <a:solidFill>
                  <a:schemeClr val="bg1"/>
                </a:solidFill>
              </a:rPr>
              <a:t>Database System Design, Implementation And Management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9EEC19-2A29-080D-84C0-C504A808E7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48800" y="6600825"/>
            <a:ext cx="2743200" cy="274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defTabSz="342900" rtl="0" eaLnBrk="1" fontAlgn="auto" hangingPunct="1">
              <a:spcBef>
                <a:spcPts val="0"/>
              </a:spcBef>
              <a:spcAft>
                <a:spcPts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pPr algn="r"/>
            <a:fld id="{25E4E02F-8D0B-4F73-B3DD-858F1DB63CB0}" type="slidenum">
              <a:rPr lang="en-US" altLang="en-US" sz="900" smtClean="0">
                <a:solidFill>
                  <a:schemeClr val="bg1"/>
                </a:solidFill>
              </a:rPr>
              <a:pPr algn="r"/>
              <a:t>2</a:t>
            </a:fld>
            <a:endParaRPr lang="en-US" altLang="en-US" sz="900" dirty="0">
              <a:solidFill>
                <a:schemeClr val="bg1"/>
              </a:solidFill>
            </a:endParaRPr>
          </a:p>
        </p:txBody>
      </p:sp>
      <p:pic>
        <p:nvPicPr>
          <p:cNvPr id="1026" name="Picture 2" descr="No photo description available.">
            <a:extLst>
              <a:ext uri="{FF2B5EF4-FFF2-40B4-BE49-F238E27FC236}">
                <a16:creationId xmlns:a16="http://schemas.microsoft.com/office/drawing/2014/main" id="{11910D4C-A8E1-69FA-9253-D7771B263A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550" y="209550"/>
            <a:ext cx="1162050" cy="1162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b="1" i="0" dirty="0">
                <a:solidFill>
                  <a:srgbClr val="474A9E"/>
                </a:solidFill>
                <a:effectLst/>
                <a:latin typeface="MyriadPro-Black"/>
              </a:rPr>
              <a:t>8-1 </a:t>
            </a:r>
            <a:r>
              <a:rPr lang="en-US" sz="1800" b="0" i="0" dirty="0">
                <a:solidFill>
                  <a:srgbClr val="242021"/>
                </a:solidFill>
                <a:effectLst/>
                <a:latin typeface="MyriadPro-SemiboldSemiCn"/>
              </a:rPr>
              <a:t>Use SQL to create a table manually</a:t>
            </a:r>
          </a:p>
          <a:p>
            <a:r>
              <a:rPr lang="en-US" sz="1800" b="1" i="0" dirty="0">
                <a:solidFill>
                  <a:srgbClr val="474A9E"/>
                </a:solidFill>
                <a:effectLst/>
                <a:latin typeface="MyriadPro-Black"/>
              </a:rPr>
              <a:t>8-2 </a:t>
            </a:r>
            <a:r>
              <a:rPr lang="en-US" sz="1800" b="0" i="0" dirty="0">
                <a:solidFill>
                  <a:srgbClr val="242021"/>
                </a:solidFill>
                <a:effectLst/>
                <a:latin typeface="MyriadPro-SemiboldSemiCn"/>
              </a:rPr>
              <a:t>Use SQL to create a copy of a table using a subquery</a:t>
            </a:r>
          </a:p>
          <a:p>
            <a:r>
              <a:rPr lang="en-US" sz="1800" b="1" i="0" dirty="0">
                <a:solidFill>
                  <a:srgbClr val="474A9E"/>
                </a:solidFill>
                <a:effectLst/>
                <a:latin typeface="MyriadPro-Black"/>
              </a:rPr>
              <a:t>8-3 </a:t>
            </a:r>
            <a:r>
              <a:rPr lang="en-US" sz="1800" b="0" i="0" dirty="0">
                <a:solidFill>
                  <a:srgbClr val="242021"/>
                </a:solidFill>
                <a:effectLst/>
                <a:latin typeface="MyriadPro-SemiboldSemiCn"/>
              </a:rPr>
              <a:t>Manipulate the structure of existing tables to add, modify, and remove columns and constraints</a:t>
            </a:r>
          </a:p>
          <a:p>
            <a:r>
              <a:rPr lang="en-US" sz="1800" b="1" i="0" dirty="0">
                <a:solidFill>
                  <a:srgbClr val="474A9E"/>
                </a:solidFill>
                <a:effectLst/>
                <a:latin typeface="MyriadPro-Black"/>
              </a:rPr>
              <a:t>8-4 </a:t>
            </a:r>
            <a:r>
              <a:rPr lang="en-US" sz="1800" b="0" i="0" dirty="0">
                <a:solidFill>
                  <a:srgbClr val="242021"/>
                </a:solidFill>
                <a:effectLst/>
                <a:latin typeface="MyriadPro-SemiboldSemiCn"/>
              </a:rPr>
              <a:t>Use SQL to do data manipulation (insert, update, and </a:t>
            </a:r>
            <a:r>
              <a:rPr lang="en-US" sz="1800" b="0" i="0" dirty="0" err="1">
                <a:solidFill>
                  <a:srgbClr val="242021"/>
                </a:solidFill>
                <a:effectLst/>
                <a:latin typeface="MyriadPro-SemiboldSemiCn"/>
              </a:rPr>
              <a:t>deleterows</a:t>
            </a:r>
            <a:r>
              <a:rPr lang="en-US" sz="1800" b="0" i="0" dirty="0">
                <a:solidFill>
                  <a:srgbClr val="242021"/>
                </a:solidFill>
                <a:effectLst/>
                <a:latin typeface="MyriadPro-SemiboldSemiCn"/>
              </a:rPr>
              <a:t> of data)</a:t>
            </a:r>
          </a:p>
          <a:p>
            <a:r>
              <a:rPr lang="en-US" sz="1800" b="1" i="0" dirty="0">
                <a:solidFill>
                  <a:srgbClr val="474A9E"/>
                </a:solidFill>
                <a:effectLst/>
                <a:latin typeface="MyriadPro-Black"/>
              </a:rPr>
              <a:t>8-5 </a:t>
            </a:r>
            <a:r>
              <a:rPr lang="en-US" sz="1800" b="0" i="0" dirty="0">
                <a:solidFill>
                  <a:srgbClr val="242021"/>
                </a:solidFill>
                <a:effectLst/>
                <a:latin typeface="MyriadPro-SemiboldSemiCn"/>
              </a:rPr>
              <a:t>Use SQL to create database views, including updatable views</a:t>
            </a:r>
          </a:p>
          <a:p>
            <a:r>
              <a:rPr lang="en-US" sz="1800" b="1" i="0" dirty="0">
                <a:solidFill>
                  <a:srgbClr val="474A9E"/>
                </a:solidFill>
                <a:effectLst/>
                <a:latin typeface="MyriadPro-Black"/>
              </a:rPr>
              <a:t>8-6 </a:t>
            </a:r>
            <a:r>
              <a:rPr lang="en-US" sz="1800" b="0" i="0" dirty="0">
                <a:solidFill>
                  <a:srgbClr val="242021"/>
                </a:solidFill>
                <a:effectLst/>
                <a:latin typeface="MyriadPro-SemiboldSemiCn"/>
              </a:rPr>
              <a:t>Use procedural SQL to create triggers, stored procedures, and procedural SQL functions</a:t>
            </a:r>
          </a:p>
          <a:p>
            <a:r>
              <a:rPr lang="en-US" sz="1800" b="1" i="0" dirty="0">
                <a:solidFill>
                  <a:srgbClr val="474A9E"/>
                </a:solidFill>
                <a:effectLst/>
                <a:latin typeface="MyriadPro-Black"/>
              </a:rPr>
              <a:t>8-7 </a:t>
            </a:r>
            <a:r>
              <a:rPr lang="en-US" sz="1800" b="0" i="0" dirty="0">
                <a:solidFill>
                  <a:srgbClr val="242021"/>
                </a:solidFill>
                <a:effectLst/>
                <a:latin typeface="MyriadPro-SemiboldSemiCn"/>
              </a:rPr>
              <a:t>Create embedded SQL</a:t>
            </a:r>
            <a:r>
              <a:rPr lang="en-US" sz="1400" dirty="0"/>
              <a:t> </a:t>
            </a:r>
            <a:br>
              <a:rPr lang="en-US" sz="1400" dirty="0"/>
            </a:br>
            <a:br>
              <a:rPr lang="en-US" sz="2000" dirty="0"/>
            </a:b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4A84676-C444-4AC5-8B4E-405A7C81C0FB}" type="slidenum">
              <a:rPr lang="en-US" altLang="en-US" smtClean="0"/>
              <a:t>3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 Design, Implementation And Management 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fld id="{6D947E3C-0B49-413F-8928-2C02ECEF5B61}" type="datetime1">
              <a:rPr lang="en-US" smtClean="0"/>
              <a:t>12/19/2024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8-1 Data Definition Commands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F53EECD-5EF2-4F97-996E-6CBAC1BF3011}" type="datetime1">
              <a:rPr lang="en-US" smtClean="0"/>
              <a:t>12/19/2024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9126DDB-45DE-4D72-94FB-1E2D565E80AF}" type="slidenum">
              <a:rPr lang="en-US" smtClean="0"/>
              <a:t>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 Design, Implementation And Management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135270F-5CE6-4EF5-9A71-BDCE233B4E76}" type="datetime1">
              <a:rPr lang="en-US" smtClean="0"/>
              <a:t>12/19/2024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1AD3536-327C-4937-83AF-A64971CFA6D9}" type="slidenum">
              <a:rPr lang="en-US" smtClean="0"/>
              <a:t>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 Design, Implementation And Management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277"/>
            <a:ext cx="12192000" cy="684144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8-1b Creating the Database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b="0" i="0" dirty="0">
                <a:solidFill>
                  <a:srgbClr val="242021"/>
                </a:solidFill>
                <a:effectLst/>
                <a:latin typeface="NewCaledoniaLTStd"/>
              </a:rPr>
              <a:t>If you are using an enterprise RDBMS, you must be authenticated by the RDBMS before</a:t>
            </a:r>
            <a:br>
              <a:rPr lang="en-US" sz="1800" b="0" i="0" dirty="0">
                <a:solidFill>
                  <a:srgbClr val="242021"/>
                </a:solidFill>
                <a:effectLst/>
                <a:latin typeface="NewCaledoniaLTStd"/>
              </a:rPr>
            </a:br>
            <a:r>
              <a:rPr lang="en-US" sz="1800" b="0" i="0" dirty="0">
                <a:solidFill>
                  <a:srgbClr val="242021"/>
                </a:solidFill>
                <a:effectLst/>
                <a:latin typeface="NewCaledoniaLTStd"/>
              </a:rPr>
              <a:t>you can start creating tables.</a:t>
            </a:r>
            <a:r>
              <a:rPr lang="en-US" sz="1400" dirty="0"/>
              <a:t> </a:t>
            </a:r>
            <a:endParaRPr lang="en-US" sz="1800" b="1" i="0" dirty="0">
              <a:solidFill>
                <a:srgbClr val="007DAF"/>
              </a:solidFill>
              <a:effectLst/>
              <a:latin typeface="MyriadPro-BoldSemiCn"/>
            </a:endParaRPr>
          </a:p>
          <a:p>
            <a:r>
              <a:rPr lang="en-US" sz="1800" b="1" i="0" dirty="0">
                <a:solidFill>
                  <a:srgbClr val="007DAF"/>
                </a:solidFill>
                <a:effectLst/>
                <a:latin typeface="MyriadPro-BoldSemiCn"/>
              </a:rPr>
              <a:t>Authentication </a:t>
            </a:r>
            <a:r>
              <a:rPr lang="en-US" sz="1800" b="0" i="0" dirty="0">
                <a:solidFill>
                  <a:srgbClr val="242021"/>
                </a:solidFill>
                <a:effectLst/>
                <a:latin typeface="MyriadPro-SemiCn"/>
              </a:rPr>
              <a:t>The process through which a DBMS verifies that only registered users can access the database.</a:t>
            </a:r>
            <a:r>
              <a:rPr lang="en-US" dirty="0"/>
              <a:t> </a:t>
            </a:r>
          </a:p>
          <a:p>
            <a:r>
              <a:rPr lang="en-US" sz="1800" b="0" i="0" dirty="0">
                <a:solidFill>
                  <a:srgbClr val="242021"/>
                </a:solidFill>
                <a:effectLst/>
                <a:latin typeface="NewCaledoniaLTStd"/>
              </a:rPr>
              <a:t>To be authenticated, you must log on to the RDBMS using a user ID and a password created by the database administrator. </a:t>
            </a:r>
          </a:p>
          <a:p>
            <a:r>
              <a:rPr lang="en-US" sz="1800" b="0" i="0" dirty="0">
                <a:solidFill>
                  <a:srgbClr val="242021"/>
                </a:solidFill>
                <a:effectLst/>
                <a:latin typeface="NewCaledoniaLTStd"/>
              </a:rPr>
              <a:t>In an enterprise RDBMS, every user ID is associated with a database schema.</a:t>
            </a:r>
            <a:r>
              <a:rPr lang="en-US" dirty="0"/>
              <a:t> 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4A84676-C444-4AC5-8B4E-405A7C81C0FB}" type="slidenum">
              <a:rPr lang="en-US" altLang="en-US" smtClean="0"/>
              <a:t>6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 Design, Implementation And Management 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fld id="{6D947E3C-0B49-413F-8928-2C02ECEF5B61}" type="datetime1">
              <a:rPr lang="en-US" smtClean="0"/>
              <a:t>12/19/2024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8-1c The Database Schema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0658" y="1690688"/>
            <a:ext cx="10515600" cy="4351338"/>
          </a:xfrm>
        </p:spPr>
        <p:txBody>
          <a:bodyPr/>
          <a:lstStyle/>
          <a:p>
            <a:r>
              <a:rPr lang="en-US" sz="1800" b="0" i="0" dirty="0">
                <a:solidFill>
                  <a:srgbClr val="242021"/>
                </a:solidFill>
                <a:effectLst/>
                <a:latin typeface="NewCaledoniaLTStd"/>
              </a:rPr>
              <a:t>a </a:t>
            </a:r>
            <a:r>
              <a:rPr lang="en-US" sz="1800" b="1" i="0" dirty="0">
                <a:solidFill>
                  <a:srgbClr val="007DAF"/>
                </a:solidFill>
                <a:effectLst/>
                <a:latin typeface="MyriadPro-Bold"/>
              </a:rPr>
              <a:t>schema </a:t>
            </a:r>
            <a:r>
              <a:rPr lang="en-US" sz="1800" b="0" i="0" dirty="0">
                <a:solidFill>
                  <a:srgbClr val="242021"/>
                </a:solidFill>
                <a:effectLst/>
                <a:latin typeface="NewCaledoniaLTStd"/>
              </a:rPr>
              <a:t>is a logical group of database objects—such as tables and indexes—that are related to each other</a:t>
            </a:r>
            <a:r>
              <a:rPr lang="en-US" dirty="0"/>
              <a:t> </a:t>
            </a:r>
          </a:p>
          <a:p>
            <a:r>
              <a:rPr lang="en-US" sz="1800" b="0" i="0" dirty="0">
                <a:solidFill>
                  <a:srgbClr val="242021"/>
                </a:solidFill>
                <a:effectLst/>
                <a:latin typeface="NewCaledoniaLTStd"/>
              </a:rPr>
              <a:t>the schema belongs to a single user or application</a:t>
            </a:r>
            <a:r>
              <a:rPr lang="en-US" dirty="0"/>
              <a:t> </a:t>
            </a:r>
          </a:p>
          <a:p>
            <a:r>
              <a:rPr lang="en-US" sz="1800" b="0" i="0" dirty="0">
                <a:solidFill>
                  <a:srgbClr val="242021"/>
                </a:solidFill>
                <a:effectLst/>
                <a:latin typeface="NewCaledoniaLTStd"/>
              </a:rPr>
              <a:t>A single database can hold multiple schemas that belong to different users or applications.</a:t>
            </a:r>
            <a:r>
              <a:rPr lang="en-US" dirty="0"/>
              <a:t> </a:t>
            </a:r>
          </a:p>
          <a:p>
            <a:r>
              <a:rPr lang="en-US" sz="1800" b="0" i="0" dirty="0">
                <a:solidFill>
                  <a:srgbClr val="242021"/>
                </a:solidFill>
                <a:effectLst/>
                <a:latin typeface="NewCaledoniaLTStd"/>
              </a:rPr>
              <a:t>Schemas are useful in that they group tables by owner (or function) and enforce a first level of security by allowing each user to see only the tables that belong to that user</a:t>
            </a:r>
            <a:r>
              <a:rPr lang="en-US" dirty="0"/>
              <a:t> 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4A84676-C444-4AC5-8B4E-405A7C81C0FB}" type="slidenum">
              <a:rPr lang="en-US" altLang="en-US" smtClean="0"/>
              <a:t>7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 Design, Implementation And Management 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fld id="{6D947E3C-0B49-413F-8928-2C02ECEF5B61}" type="datetime1">
              <a:rPr lang="en-US" smtClean="0"/>
              <a:t>12/19/2024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6782" y="4495800"/>
            <a:ext cx="7638435" cy="162206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8-1d Data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4A84676-C444-4AC5-8B4E-405A7C81C0FB}" type="slidenum">
              <a:rPr lang="en-US" altLang="en-US" smtClean="0"/>
              <a:t>8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 Design, Implementation And Management 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fld id="{6D947E3C-0B49-413F-8928-2C02ECEF5B61}" type="datetime1">
              <a:rPr lang="en-US" smtClean="0"/>
              <a:t>12/19/2024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3331"/>
            <a:ext cx="12192000" cy="633133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8-2 Creating Table Structures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F53EECD-5EF2-4F97-996E-6CBAC1BF3011}" type="datetime1">
              <a:rPr lang="en-US" smtClean="0"/>
              <a:t>12/19/2024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9126DDB-45DE-4D72-94FB-1E2D565E80AF}" type="slidenum">
              <a:rPr lang="en-US" smtClean="0"/>
              <a:t>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 Design, Implementation And Management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8-2a CREATE TABLE command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b="1" i="0" dirty="0">
                <a:solidFill>
                  <a:srgbClr val="007DAF"/>
                </a:solidFill>
                <a:effectLst/>
                <a:latin typeface="MyriadPro-BoldSemiCn"/>
              </a:rPr>
              <a:t>CREATE TABLE </a:t>
            </a:r>
            <a:r>
              <a:rPr lang="en-US" sz="1800" b="0" i="0" dirty="0">
                <a:solidFill>
                  <a:srgbClr val="242021"/>
                </a:solidFill>
                <a:effectLst/>
                <a:latin typeface="MyriadPro-SemiCn"/>
              </a:rPr>
              <a:t>A SQL command that creates a table’s structures using the characteristics and attributes given.</a:t>
            </a:r>
            <a:r>
              <a:rPr lang="en-US" dirty="0"/>
              <a:t> 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4A84676-C444-4AC5-8B4E-405A7C81C0FB}" type="slidenum">
              <a:rPr lang="en-US" altLang="en-US" smtClean="0"/>
              <a:t>10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 Design, Implementation And Management 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fld id="{6D947E3C-0B49-413F-8928-2C02ECEF5B61}" type="datetime1">
              <a:rPr lang="en-US" smtClean="0"/>
              <a:t>12/19/2024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837" y="2888457"/>
            <a:ext cx="10982325" cy="2514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135270F-5CE6-4EF5-9A71-BDCE233B4E76}" type="datetime1">
              <a:rPr lang="en-US" smtClean="0"/>
              <a:t>12/19/2024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1AD3536-327C-4937-83AF-A64971CFA6D9}" type="slidenum">
              <a:rPr lang="en-US" smtClean="0"/>
              <a:t>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 Design, Implementation And Management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705" y="0"/>
            <a:ext cx="1090458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135270F-5CE6-4EF5-9A71-BDCE233B4E76}" type="datetime1">
              <a:rPr lang="en-US" smtClean="0"/>
              <a:t>12/19/2024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1AD3536-327C-4937-83AF-A64971CFA6D9}" type="slidenum">
              <a:rPr lang="en-US" smtClean="0"/>
              <a:t>12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 Design, Implementation And Management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412" y="1443037"/>
            <a:ext cx="10925175" cy="397192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135270F-5CE6-4EF5-9A71-BDCE233B4E76}" type="datetime1">
              <a:rPr lang="en-US" smtClean="0"/>
              <a:t>12/19/2024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1AD3536-327C-4937-83AF-A64971CFA6D9}" type="slidenum">
              <a:rPr lang="en-US" smtClean="0"/>
              <a:t>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 Design, Implementation And Management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5" y="890587"/>
            <a:ext cx="10763250" cy="507682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135270F-5CE6-4EF5-9A71-BDCE233B4E76}" type="datetime1">
              <a:rPr lang="en-US" smtClean="0"/>
              <a:t>12/19/2024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1AD3536-327C-4937-83AF-A64971CFA6D9}" type="slidenum">
              <a:rPr lang="en-US" smtClean="0"/>
              <a:t>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 Design, Implementation And Management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062" y="0"/>
            <a:ext cx="1119187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135270F-5CE6-4EF5-9A71-BDCE233B4E76}" type="datetime1">
              <a:rPr lang="en-US" smtClean="0"/>
              <a:t>12/19/2024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1AD3536-327C-4937-83AF-A64971CFA6D9}" type="slidenum">
              <a:rPr lang="en-US" smtClean="0"/>
              <a:t>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 Design, Implementation And Management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775" y="2205037"/>
            <a:ext cx="11220450" cy="244792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135270F-5CE6-4EF5-9A71-BDCE233B4E76}" type="datetime1">
              <a:rPr lang="en-US" smtClean="0"/>
              <a:t>12/19/2024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1AD3536-327C-4937-83AF-A64971CFA6D9}" type="slidenum">
              <a:rPr lang="en-US" smtClean="0"/>
              <a:t>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 Design, Implementation And Management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414" y="0"/>
            <a:ext cx="10191171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135270F-5CE6-4EF5-9A71-BDCE233B4E76}" type="datetime1">
              <a:rPr lang="en-US" smtClean="0"/>
              <a:t>12/19/2024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1AD3536-327C-4937-83AF-A64971CFA6D9}" type="slidenum">
              <a:rPr lang="en-US" smtClean="0"/>
              <a:t>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 Design, Implementation And Management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737" y="1643062"/>
            <a:ext cx="11820525" cy="357187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135270F-5CE6-4EF5-9A71-BDCE233B4E76}" type="datetime1">
              <a:rPr lang="en-US" smtClean="0"/>
              <a:t>12/19/2024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1AD3536-327C-4937-83AF-A64971CFA6D9}" type="slidenum">
              <a:rPr lang="en-US" smtClean="0"/>
              <a:t>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 Design, Implementation And Management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487" y="1190625"/>
            <a:ext cx="10487025" cy="447675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135270F-5CE6-4EF5-9A71-BDCE233B4E76}" type="datetime1">
              <a:rPr lang="en-US" smtClean="0"/>
              <a:t>12/19/2024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1AD3536-327C-4937-83AF-A64971CFA6D9}" type="slidenum">
              <a:rPr lang="en-US" smtClean="0"/>
              <a:t>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 Design, Implementation And Management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450" y="461962"/>
            <a:ext cx="11849100" cy="593407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135270F-5CE6-4EF5-9A71-BDCE233B4E76}" type="datetime1">
              <a:rPr lang="en-US" smtClean="0"/>
              <a:t>12/19/2024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1AD3536-327C-4937-83AF-A64971CFA6D9}" type="slidenum">
              <a:rPr lang="en-US" smtClean="0"/>
              <a:t>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 Design, Implementation And Management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650" y="2381250"/>
            <a:ext cx="11696700" cy="20955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135270F-5CE6-4EF5-9A71-BDCE233B4E76}" type="datetime1">
              <a:rPr lang="en-US" smtClean="0"/>
              <a:t>12/19/2024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1AD3536-327C-4937-83AF-A64971CFA6D9}" type="slidenum">
              <a:rPr lang="en-US" smtClean="0"/>
              <a:t>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 Design, Implementation And Management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495425"/>
            <a:ext cx="11734800" cy="386715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135270F-5CE6-4EF5-9A71-BDCE233B4E76}" type="datetime1">
              <a:rPr lang="en-US" smtClean="0"/>
              <a:t>12/19/2024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1AD3536-327C-4937-83AF-A64971CFA6D9}" type="slidenum">
              <a:rPr lang="en-US" smtClean="0"/>
              <a:t>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 Design, Implementation And Management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143000"/>
            <a:ext cx="1112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135270F-5CE6-4EF5-9A71-BDCE233B4E76}" type="datetime1">
              <a:rPr lang="en-US" smtClean="0"/>
              <a:t>12/19/2024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1AD3536-327C-4937-83AF-A64971CFA6D9}" type="slidenum">
              <a:rPr lang="en-US" smtClean="0"/>
              <a:t>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 Design, Implementation And Management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175" y="1847850"/>
            <a:ext cx="11677650" cy="31623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8-2c Creating a Table with a SELECT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b="0" i="0" dirty="0">
                <a:solidFill>
                  <a:srgbClr val="242021"/>
                </a:solidFill>
                <a:effectLst/>
                <a:latin typeface="NewCaledoniaLTStd"/>
              </a:rPr>
              <a:t>SQL provides a way to rapidly create a new table based on selected columns and rows of an existing table using a subquery.</a:t>
            </a:r>
            <a:r>
              <a:rPr lang="en-US" dirty="0"/>
              <a:t> 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4A84676-C444-4AC5-8B4E-405A7C81C0FB}" type="slidenum">
              <a:rPr lang="en-US" altLang="en-US" smtClean="0"/>
              <a:t>24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 Design, Implementation And Management 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fld id="{6D947E3C-0B49-413F-8928-2C02ECEF5B61}" type="datetime1">
              <a:rPr lang="en-US" smtClean="0"/>
              <a:t>12/19/2024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412" y="3148806"/>
            <a:ext cx="11687175" cy="170497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8-2d SQL Indexes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b="1" i="0" dirty="0">
                <a:solidFill>
                  <a:srgbClr val="007DAF"/>
                </a:solidFill>
                <a:effectLst/>
                <a:latin typeface="MyriadPro-BoldSemiCn"/>
              </a:rPr>
              <a:t>CREATE INDEX </a:t>
            </a:r>
            <a:r>
              <a:rPr lang="en-US" sz="1800" b="0" i="0" dirty="0">
                <a:solidFill>
                  <a:srgbClr val="242021"/>
                </a:solidFill>
                <a:effectLst/>
                <a:latin typeface="MyriadPro-SemiCn"/>
              </a:rPr>
              <a:t>A SQL command that creates indexes on the basis of a selected attribute or attributes</a:t>
            </a:r>
            <a:r>
              <a:rPr lang="en-US" dirty="0"/>
              <a:t> </a:t>
            </a:r>
          </a:p>
          <a:p>
            <a:r>
              <a:rPr lang="en-US" sz="1800" b="0" i="0" dirty="0">
                <a:solidFill>
                  <a:srgbClr val="242021"/>
                </a:solidFill>
                <a:effectLst/>
                <a:latin typeface="NewCaledoniaLTStd"/>
              </a:rPr>
              <a:t>indexes can be used to improve the efficiency of searches and to avoid duplicate column values</a:t>
            </a:r>
            <a:r>
              <a:rPr lang="en-US" dirty="0"/>
              <a:t> </a:t>
            </a:r>
          </a:p>
          <a:p>
            <a:r>
              <a:rPr lang="en-US" sz="1800" b="0" i="0" dirty="0">
                <a:solidFill>
                  <a:srgbClr val="242021"/>
                </a:solidFill>
                <a:effectLst/>
                <a:latin typeface="NewCaledoniaLTStd"/>
              </a:rPr>
              <a:t>when you declare a primary key, the DBMS automatically creates a unique index</a:t>
            </a:r>
            <a:r>
              <a:rPr lang="en-US" dirty="0"/>
              <a:t> </a:t>
            </a:r>
          </a:p>
          <a:p>
            <a:r>
              <a:rPr lang="en-US" sz="1800" b="0" i="0" dirty="0">
                <a:solidFill>
                  <a:srgbClr val="242021"/>
                </a:solidFill>
                <a:effectLst/>
                <a:latin typeface="NewCaledoniaLTStd"/>
              </a:rPr>
              <a:t>Using the </a:t>
            </a:r>
            <a:r>
              <a:rPr lang="en-US" sz="1800" b="1" i="0" dirty="0">
                <a:solidFill>
                  <a:srgbClr val="007DAF"/>
                </a:solidFill>
                <a:effectLst/>
                <a:latin typeface="MyriadPro-Bold"/>
              </a:rPr>
              <a:t>CREATE INDEX </a:t>
            </a:r>
            <a:r>
              <a:rPr lang="en-US" sz="1800" b="0" i="0" dirty="0">
                <a:solidFill>
                  <a:srgbClr val="242021"/>
                </a:solidFill>
                <a:effectLst/>
                <a:latin typeface="NewCaledoniaLTStd"/>
              </a:rPr>
              <a:t>command, SQL indexes can be created on the basis of any selected attribute.</a:t>
            </a:r>
            <a:r>
              <a:rPr lang="en-US" dirty="0"/>
              <a:t> 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4A84676-C444-4AC5-8B4E-405A7C81C0FB}" type="slidenum">
              <a:rPr lang="en-US" altLang="en-US" smtClean="0"/>
              <a:t>25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 Design, Implementation And Management 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fld id="{6D947E3C-0B49-413F-8928-2C02ECEF5B61}" type="datetime1">
              <a:rPr lang="en-US" smtClean="0"/>
              <a:t>12/19/2024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6787" y="4318553"/>
            <a:ext cx="10258425" cy="185841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8-2d SQL Indexes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b="1" i="0" dirty="0">
                <a:solidFill>
                  <a:srgbClr val="007DAF"/>
                </a:solidFill>
                <a:effectLst/>
                <a:latin typeface="MyriadPro-BoldSemiCn"/>
              </a:rPr>
              <a:t>DROP INDEX </a:t>
            </a:r>
            <a:r>
              <a:rPr lang="en-US" sz="1800" b="0" i="0" dirty="0">
                <a:solidFill>
                  <a:srgbClr val="242021"/>
                </a:solidFill>
                <a:effectLst/>
                <a:latin typeface="MyriadPro-SemiCn"/>
              </a:rPr>
              <a:t>A SQL command used to delete database objects such</a:t>
            </a:r>
            <a:r>
              <a:rPr lang="en-US" sz="1800" dirty="0">
                <a:solidFill>
                  <a:srgbClr val="242021"/>
                </a:solidFill>
                <a:latin typeface="MyriadPro-SemiCn"/>
              </a:rPr>
              <a:t> </a:t>
            </a:r>
            <a:r>
              <a:rPr lang="en-US" sz="1800" b="0" i="0" dirty="0">
                <a:solidFill>
                  <a:srgbClr val="242021"/>
                </a:solidFill>
                <a:effectLst/>
                <a:latin typeface="MyriadPro-SemiCn"/>
              </a:rPr>
              <a:t>as tables, views, indexes, and users.</a:t>
            </a:r>
            <a:r>
              <a:rPr lang="en-US" sz="1400" dirty="0"/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4A84676-C444-4AC5-8B4E-405A7C81C0FB}" type="slidenum">
              <a:rPr lang="en-US" altLang="en-US" smtClean="0"/>
              <a:t>26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 Design, Implementation And Management 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fld id="{6D947E3C-0B49-413F-8928-2C02ECEF5B61}" type="datetime1">
              <a:rPr lang="en-US" smtClean="0"/>
              <a:t>12/19/2024</a:t>
            </a:fld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312" y="2819400"/>
            <a:ext cx="11763375" cy="295275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8-3 Altering Table Structures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F53EECD-5EF2-4F97-996E-6CBAC1BF3011}" type="datetime1">
              <a:rPr lang="en-US" smtClean="0"/>
              <a:t>12/19/2024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9126DDB-45DE-4D72-94FB-1E2D565E80AF}" type="slidenum">
              <a:rPr lang="en-US" smtClean="0"/>
              <a:t>27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 Design, Implementation And Management 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8-3 Altering Table Structures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b="1" i="0" dirty="0">
                <a:solidFill>
                  <a:srgbClr val="007DAF"/>
                </a:solidFill>
                <a:effectLst/>
                <a:latin typeface="MyriadPro-BoldSemiCn"/>
              </a:rPr>
              <a:t>ALTER TABLE </a:t>
            </a:r>
            <a:r>
              <a:rPr lang="en-US" sz="1800" b="0" i="0" dirty="0">
                <a:solidFill>
                  <a:srgbClr val="242021"/>
                </a:solidFill>
                <a:effectLst/>
                <a:latin typeface="MyriadPro-SemiCn"/>
              </a:rPr>
              <a:t>The SQL command used to make changes to table structure. When the command is followed by </a:t>
            </a:r>
            <a:br>
              <a:rPr lang="en-US" sz="1800" b="0" i="0" dirty="0">
                <a:solidFill>
                  <a:srgbClr val="242021"/>
                </a:solidFill>
                <a:effectLst/>
                <a:latin typeface="MyriadPro-SemiCn"/>
              </a:rPr>
            </a:br>
            <a:r>
              <a:rPr lang="en-US" sz="1800" b="0" i="0" dirty="0">
                <a:solidFill>
                  <a:srgbClr val="242021"/>
                </a:solidFill>
                <a:effectLst/>
                <a:latin typeface="MyriadPro-SemiCn"/>
              </a:rPr>
              <a:t>a keyword (ADD, ALTER, or MODIFY), it adds a column or changes column characteristics.</a:t>
            </a:r>
          </a:p>
          <a:p>
            <a:r>
              <a:rPr lang="en-US" dirty="0"/>
              <a:t> 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4A84676-C444-4AC5-8B4E-405A7C81C0FB}" type="slidenum">
              <a:rPr lang="en-US" altLang="en-US" smtClean="0"/>
              <a:t>28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 Design, Implementation And Management 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fld id="{6D947E3C-0B49-413F-8928-2C02ECEF5B61}" type="datetime1">
              <a:rPr lang="en-US" smtClean="0"/>
              <a:t>12/19/2024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164" y="2895917"/>
            <a:ext cx="11668125" cy="131445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4373959"/>
            <a:ext cx="5095875" cy="98107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959" y="5463381"/>
            <a:ext cx="11382375" cy="923925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135270F-5CE6-4EF5-9A71-BDCE233B4E76}" type="datetime1">
              <a:rPr lang="en-US" smtClean="0"/>
              <a:t>12/19/2024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1AD3536-327C-4937-83AF-A64971CFA6D9}" type="slidenum">
              <a:rPr lang="en-US" smtClean="0"/>
              <a:t>29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 Design, Implementation And Management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619" y="457200"/>
            <a:ext cx="4724400" cy="80962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3710" y="304800"/>
            <a:ext cx="5457825" cy="88582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" y="1946660"/>
            <a:ext cx="5133975" cy="74295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3248025"/>
            <a:ext cx="6838950" cy="83820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2619" y="4437191"/>
            <a:ext cx="11334750" cy="847725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5495925"/>
            <a:ext cx="6657975" cy="828675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135270F-5CE6-4EF5-9A71-BDCE233B4E76}" type="datetime1">
              <a:rPr lang="en-US" smtClean="0"/>
              <a:t>12/19/2024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1AD3536-327C-4937-83AF-A64971CFA6D9}" type="slidenum">
              <a:rPr lang="en-US" smtClean="0"/>
              <a:t>30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 Design, Implementation And Management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5" y="838200"/>
            <a:ext cx="11458575" cy="16764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2743200"/>
            <a:ext cx="11353800" cy="207645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5048250"/>
            <a:ext cx="4714875" cy="82867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3200" y="5243512"/>
            <a:ext cx="3124200" cy="43815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8-4 Data Manipulation Commands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F53EECD-5EF2-4F97-996E-6CBAC1BF3011}" type="datetime1">
              <a:rPr lang="en-US" smtClean="0"/>
              <a:t>12/19/2024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9126DDB-45DE-4D72-94FB-1E2D565E80AF}" type="slidenum">
              <a:rPr lang="en-US" smtClean="0"/>
              <a:t>31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 Design, Implementation And Management 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8-4a Adding Table Rows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b="0" i="0" dirty="0">
                <a:solidFill>
                  <a:srgbClr val="242021"/>
                </a:solidFill>
                <a:effectLst/>
                <a:latin typeface="NewCaledoniaLTStd"/>
              </a:rPr>
              <a:t>INSERT INTO </a:t>
            </a:r>
            <a:r>
              <a:rPr lang="en-US" sz="1800" b="0" i="1" dirty="0" err="1">
                <a:solidFill>
                  <a:srgbClr val="242021"/>
                </a:solidFill>
                <a:effectLst/>
                <a:latin typeface="NewCaledoniaLTStd-It"/>
              </a:rPr>
              <a:t>tablename</a:t>
            </a:r>
            <a:r>
              <a:rPr lang="en-US" sz="1800" b="0" i="1" dirty="0">
                <a:solidFill>
                  <a:srgbClr val="242021"/>
                </a:solidFill>
                <a:effectLst/>
                <a:latin typeface="NewCaledoniaLTStd-It"/>
              </a:rPr>
              <a:t> </a:t>
            </a:r>
            <a:r>
              <a:rPr lang="en-US" sz="1800" b="0" i="0" dirty="0">
                <a:solidFill>
                  <a:srgbClr val="242021"/>
                </a:solidFill>
                <a:effectLst/>
                <a:latin typeface="NewCaledoniaLTStd"/>
              </a:rPr>
              <a:t>VALUES (</a:t>
            </a:r>
            <a:r>
              <a:rPr lang="en-US" sz="1800" b="0" i="1" dirty="0">
                <a:solidFill>
                  <a:srgbClr val="242021"/>
                </a:solidFill>
                <a:effectLst/>
                <a:latin typeface="NewCaledoniaLTStd-It"/>
              </a:rPr>
              <a:t>value1</a:t>
            </a:r>
            <a:r>
              <a:rPr lang="en-US" sz="1800" b="0" i="0" dirty="0">
                <a:solidFill>
                  <a:srgbClr val="242021"/>
                </a:solidFill>
                <a:effectLst/>
                <a:latin typeface="NewCaledoniaLTStd"/>
              </a:rPr>
              <a:t>, </a:t>
            </a:r>
            <a:r>
              <a:rPr lang="en-US" sz="1800" b="0" i="1" dirty="0">
                <a:solidFill>
                  <a:srgbClr val="242021"/>
                </a:solidFill>
                <a:effectLst/>
                <a:latin typeface="NewCaledoniaLTStd-It"/>
              </a:rPr>
              <a:t>value2</a:t>
            </a:r>
            <a:r>
              <a:rPr lang="en-US" sz="1800" b="0" i="0" dirty="0">
                <a:solidFill>
                  <a:srgbClr val="242021"/>
                </a:solidFill>
                <a:effectLst/>
                <a:latin typeface="NewCaledoniaLTStd"/>
              </a:rPr>
              <a:t>, …, </a:t>
            </a:r>
            <a:r>
              <a:rPr lang="en-US" sz="1800" b="0" i="1" dirty="0" err="1">
                <a:solidFill>
                  <a:srgbClr val="242021"/>
                </a:solidFill>
                <a:effectLst/>
                <a:latin typeface="NewCaledoniaLTStd-It"/>
              </a:rPr>
              <a:t>valuen</a:t>
            </a:r>
            <a:r>
              <a:rPr lang="en-US" sz="1800" b="0" i="0" dirty="0">
                <a:solidFill>
                  <a:srgbClr val="242021"/>
                </a:solidFill>
                <a:effectLst/>
                <a:latin typeface="NewCaledoniaLTStd"/>
              </a:rPr>
              <a:t>)</a:t>
            </a:r>
            <a:br>
              <a:rPr lang="en-US" sz="1800" b="0" i="0" dirty="0">
                <a:solidFill>
                  <a:srgbClr val="242021"/>
                </a:solidFill>
                <a:effectLst/>
                <a:latin typeface="NewCaledoniaLTStd"/>
              </a:rPr>
            </a:b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4A84676-C444-4AC5-8B4E-405A7C81C0FB}" type="slidenum">
              <a:rPr lang="en-US" altLang="en-US" smtClean="0"/>
              <a:t>32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 Design, Implementation And Management 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fld id="{6D947E3C-0B49-413F-8928-2C02ECEF5B61}" type="datetime1">
              <a:rPr lang="en-US" smtClean="0"/>
              <a:t>12/19/2024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7300" y="2647950"/>
            <a:ext cx="9677400" cy="15621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421981"/>
            <a:ext cx="11496675" cy="771525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8-4b Inserting Table Rows with a SELECT Subquery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4A84676-C444-4AC5-8B4E-405A7C81C0FB}" type="slidenum">
              <a:rPr lang="en-US" altLang="en-US" smtClean="0"/>
              <a:t>33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 Design, Implementation And Management 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fld id="{6D947E3C-0B49-413F-8928-2C02ECEF5B61}" type="datetime1">
              <a:rPr lang="en-US" smtClean="0"/>
              <a:t>12/19/2024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3100" y="2245519"/>
            <a:ext cx="8305800" cy="126682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825" y="4240276"/>
            <a:ext cx="11182350" cy="123825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8-4c Saving Table Changes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b="1" i="0" dirty="0">
                <a:solidFill>
                  <a:srgbClr val="007DAF"/>
                </a:solidFill>
                <a:effectLst/>
                <a:latin typeface="MyriadPro-BoldSemiCn"/>
              </a:rPr>
              <a:t>COMMIT </a:t>
            </a:r>
            <a:r>
              <a:rPr lang="en-US" sz="1800" b="0" i="0" dirty="0">
                <a:solidFill>
                  <a:srgbClr val="242021"/>
                </a:solidFill>
                <a:effectLst/>
                <a:latin typeface="MyriadPro-SemiCn"/>
              </a:rPr>
              <a:t>The SQL command that terminates a transaction by permanently saving data changes to a database.</a:t>
            </a:r>
            <a:r>
              <a:rPr lang="en-US" dirty="0"/>
              <a:t> </a:t>
            </a:r>
          </a:p>
          <a:p>
            <a:r>
              <a:rPr lang="en-US" sz="1800" b="0" i="0" dirty="0">
                <a:solidFill>
                  <a:srgbClr val="242021"/>
                </a:solidFill>
                <a:effectLst/>
                <a:latin typeface="NewCaledoniaLTStd"/>
              </a:rPr>
              <a:t>The COMMIT command permanently saves all changes—such as rows added, attributes modified, and rows deleted—made to any table in the database</a:t>
            </a:r>
            <a:r>
              <a:rPr lang="en-US" sz="1400" dirty="0"/>
              <a:t> </a:t>
            </a:r>
            <a:endParaRPr lang="en-US" sz="1800" b="0" i="0" dirty="0">
              <a:solidFill>
                <a:srgbClr val="242021"/>
              </a:solidFill>
              <a:effectLst/>
              <a:latin typeface="NewCaledoniaLTStd"/>
            </a:endParaRPr>
          </a:p>
          <a:p>
            <a:r>
              <a:rPr lang="en-US" sz="1800" b="0" i="0" dirty="0">
                <a:solidFill>
                  <a:srgbClr val="242021"/>
                </a:solidFill>
                <a:effectLst/>
                <a:latin typeface="NewCaledoniaLTStd"/>
              </a:rPr>
              <a:t>COMMIT [WORK | TRANSACTION]</a:t>
            </a:r>
            <a:br>
              <a:rPr lang="en-US" sz="1800" b="0" i="0" dirty="0">
                <a:solidFill>
                  <a:srgbClr val="242021"/>
                </a:solidFill>
                <a:effectLst/>
                <a:latin typeface="NewCaledoniaLTStd"/>
              </a:rPr>
            </a:b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4A84676-C444-4AC5-8B4E-405A7C81C0FB}" type="slidenum">
              <a:rPr lang="en-US" altLang="en-US" smtClean="0"/>
              <a:t>34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 Design, Implementation And Management 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fld id="{6D947E3C-0B49-413F-8928-2C02ECEF5B61}" type="datetime1">
              <a:rPr lang="en-US" smtClean="0"/>
              <a:t>12/19/2024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8-4d Updating Table Rows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b="1" i="0" dirty="0">
                <a:solidFill>
                  <a:srgbClr val="007DAF"/>
                </a:solidFill>
                <a:effectLst/>
                <a:latin typeface="MyriadPro-BoldSemiCn"/>
              </a:rPr>
              <a:t>UPDATE </a:t>
            </a:r>
            <a:r>
              <a:rPr lang="en-US" sz="1800" b="0" i="0" dirty="0">
                <a:solidFill>
                  <a:srgbClr val="242021"/>
                </a:solidFill>
                <a:effectLst/>
                <a:latin typeface="MyriadPro-SemiCn"/>
              </a:rPr>
              <a:t>A SQL command that allows attribute values to be changed in one or more rows of a table.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4A84676-C444-4AC5-8B4E-405A7C81C0FB}" type="slidenum">
              <a:rPr lang="en-US" altLang="en-US" smtClean="0"/>
              <a:t>35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 Design, Implementation And Management 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fld id="{6D947E3C-0B49-413F-8928-2C02ECEF5B61}" type="datetime1">
              <a:rPr lang="en-US" smtClean="0"/>
              <a:t>12/19/2024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362200"/>
            <a:ext cx="9172575" cy="138112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3798094"/>
            <a:ext cx="5705475" cy="120015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599" y="5109945"/>
            <a:ext cx="9934575" cy="123825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8-4e Deleting Table Rows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b="1" i="0" dirty="0">
                <a:solidFill>
                  <a:srgbClr val="007DAF"/>
                </a:solidFill>
                <a:effectLst/>
                <a:latin typeface="MyriadPro-BoldSemiCn"/>
              </a:rPr>
              <a:t>DELETE </a:t>
            </a:r>
            <a:r>
              <a:rPr lang="en-US" sz="1800" b="0" i="0" dirty="0">
                <a:solidFill>
                  <a:srgbClr val="242021"/>
                </a:solidFill>
                <a:effectLst/>
                <a:latin typeface="MyriadPro-SemiCn"/>
              </a:rPr>
              <a:t>A SQL command that allows data rows to be deleted from a table.</a:t>
            </a:r>
            <a:r>
              <a:rPr lang="en-US" dirty="0"/>
              <a:t> 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4A84676-C444-4AC5-8B4E-405A7C81C0FB}" type="slidenum">
              <a:rPr lang="en-US" altLang="en-US" smtClean="0"/>
              <a:t>36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 Design, Implementation And Management 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fld id="{6D947E3C-0B49-413F-8928-2C02ECEF5B61}" type="datetime1">
              <a:rPr lang="en-US" smtClean="0"/>
              <a:t>12/19/2024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2335" y="2705894"/>
            <a:ext cx="5267325" cy="88582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7036" y="4114390"/>
            <a:ext cx="6257925" cy="81915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8-4f Restoring Table Contents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b="1" i="0" dirty="0">
                <a:solidFill>
                  <a:srgbClr val="007DAF"/>
                </a:solidFill>
                <a:effectLst/>
                <a:latin typeface="MyriadPro-BoldSemiCn"/>
              </a:rPr>
              <a:t>ROLLBACK </a:t>
            </a:r>
            <a:r>
              <a:rPr lang="en-US" sz="1800" b="0" i="0" dirty="0">
                <a:solidFill>
                  <a:srgbClr val="242021"/>
                </a:solidFill>
                <a:effectLst/>
                <a:latin typeface="MyriadPro-SemiCn"/>
              </a:rPr>
              <a:t>A SQL command that restores the database table contents to the condition that existed after the last COMMIT statement.</a:t>
            </a:r>
            <a:r>
              <a:rPr lang="en-US" dirty="0"/>
              <a:t> </a:t>
            </a:r>
          </a:p>
          <a:p>
            <a:pPr lvl="1"/>
            <a:r>
              <a:rPr lang="en-US" sz="1800" b="0" i="0" dirty="0">
                <a:solidFill>
                  <a:srgbClr val="242021"/>
                </a:solidFill>
                <a:effectLst/>
                <a:latin typeface="NewCaledoniaLTStd"/>
              </a:rPr>
              <a:t>ROLLBACK;</a:t>
            </a:r>
            <a:endParaRPr lang="en-US" dirty="0"/>
          </a:p>
          <a:p>
            <a:r>
              <a:rPr lang="en-US" sz="1800" b="0" i="0" dirty="0">
                <a:solidFill>
                  <a:srgbClr val="242021"/>
                </a:solidFill>
                <a:effectLst/>
                <a:latin typeface="NewCaledoniaLTStd"/>
              </a:rPr>
              <a:t>If you have not yet used the COMMIT command to store the changes permanently in the database, you can restore the database to its previous condition with the </a:t>
            </a:r>
            <a:r>
              <a:rPr lang="en-US" sz="1800" b="1" i="0" dirty="0">
                <a:solidFill>
                  <a:srgbClr val="007DAF"/>
                </a:solidFill>
                <a:effectLst/>
                <a:latin typeface="MyriadPro-Bold"/>
              </a:rPr>
              <a:t>ROLLBACK </a:t>
            </a:r>
            <a:r>
              <a:rPr lang="en-US" sz="1800" b="0" i="0" dirty="0">
                <a:solidFill>
                  <a:srgbClr val="242021"/>
                </a:solidFill>
                <a:effectLst/>
                <a:latin typeface="NewCaledoniaLTStd"/>
              </a:rPr>
              <a:t>command.</a:t>
            </a:r>
            <a:r>
              <a:rPr lang="en-US" dirty="0"/>
              <a:t> </a:t>
            </a:r>
          </a:p>
          <a:p>
            <a:r>
              <a:rPr lang="en-US" sz="1800" b="0" i="0" dirty="0">
                <a:solidFill>
                  <a:srgbClr val="242021"/>
                </a:solidFill>
                <a:effectLst/>
                <a:latin typeface="NewCaledoniaLTStd"/>
              </a:rPr>
              <a:t>COMMIT and ROLLBACK work only with data manipulation commands that add, modify, or delete table rows</a:t>
            </a:r>
            <a:r>
              <a:rPr lang="en-US" dirty="0"/>
              <a:t> 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4A84676-C444-4AC5-8B4E-405A7C81C0FB}" type="slidenum">
              <a:rPr lang="en-US" altLang="en-US" smtClean="0"/>
              <a:t>37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 Design, Implementation And Management 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fld id="{6D947E3C-0B49-413F-8928-2C02ECEF5B61}" type="datetime1">
              <a:rPr lang="en-US" smtClean="0"/>
              <a:t>12/19/2024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135270F-5CE6-4EF5-9A71-BDCE233B4E76}" type="datetime1">
              <a:rPr lang="en-US" smtClean="0"/>
              <a:t>12/19/2024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1AD3536-327C-4937-83AF-A64971CFA6D9}" type="slidenum">
              <a:rPr lang="en-US" smtClean="0"/>
              <a:t>38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 Design, Implementation And Management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975" y="971550"/>
            <a:ext cx="11830050" cy="49149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8-5 Virtual Tables: Creating a View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F53EECD-5EF2-4F97-996E-6CBAC1BF3011}" type="datetime1">
              <a:rPr lang="en-US" smtClean="0"/>
              <a:t>12/19/2024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9126DDB-45DE-4D72-94FB-1E2D565E80AF}" type="slidenum">
              <a:rPr lang="en-US" smtClean="0"/>
              <a:t>39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 Design, Implementation And Management 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8-5 Virtual Tables: Creating a 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b="1" i="0" dirty="0">
                <a:solidFill>
                  <a:srgbClr val="007DAF"/>
                </a:solidFill>
                <a:effectLst/>
                <a:latin typeface="MyriadPro-BoldSemiCn"/>
              </a:rPr>
              <a:t>View </a:t>
            </a:r>
            <a:r>
              <a:rPr lang="en-US" sz="1800" b="0" i="0" dirty="0">
                <a:solidFill>
                  <a:srgbClr val="242021"/>
                </a:solidFill>
                <a:effectLst/>
                <a:latin typeface="MyriadPro-SemiCn"/>
              </a:rPr>
              <a:t>A virtual table based on a SELECT query that is saved as an object in the database.</a:t>
            </a:r>
            <a:r>
              <a:rPr lang="en-US" dirty="0"/>
              <a:t> </a:t>
            </a:r>
          </a:p>
          <a:p>
            <a:r>
              <a:rPr lang="en-US" sz="1800" b="1" i="0" dirty="0">
                <a:solidFill>
                  <a:srgbClr val="007DAF"/>
                </a:solidFill>
                <a:effectLst/>
                <a:latin typeface="MyriadPro-BoldSemiCn"/>
              </a:rPr>
              <a:t>base table </a:t>
            </a:r>
            <a:r>
              <a:rPr lang="en-US" sz="1800" b="0" i="0" dirty="0">
                <a:solidFill>
                  <a:srgbClr val="242021"/>
                </a:solidFill>
                <a:effectLst/>
                <a:latin typeface="MyriadPro-SemiCn"/>
              </a:rPr>
              <a:t>The table on which a view is based.</a:t>
            </a:r>
            <a:r>
              <a:rPr lang="en-US" dirty="0"/>
              <a:t> </a:t>
            </a:r>
          </a:p>
          <a:p>
            <a:r>
              <a:rPr lang="en-US" sz="1800" b="1" i="0" dirty="0">
                <a:solidFill>
                  <a:srgbClr val="007DAF"/>
                </a:solidFill>
                <a:effectLst/>
                <a:latin typeface="MyriadPro-BoldSemiCn"/>
              </a:rPr>
              <a:t>CREATE VIEW </a:t>
            </a:r>
            <a:r>
              <a:rPr lang="en-US" sz="1800" b="0" i="0" dirty="0">
                <a:solidFill>
                  <a:srgbClr val="242021"/>
                </a:solidFill>
                <a:effectLst/>
                <a:latin typeface="MyriadPro-SemiCn"/>
              </a:rPr>
              <a:t>A SQL command that creates a logical, “virtual” table. The view can be treated as a real table.</a:t>
            </a:r>
          </a:p>
          <a:p>
            <a:r>
              <a:rPr lang="en-US" dirty="0"/>
              <a:t> </a:t>
            </a:r>
            <a:r>
              <a:rPr lang="en-US" sz="1800" b="0" i="0" dirty="0">
                <a:solidFill>
                  <a:srgbClr val="242021"/>
                </a:solidFill>
                <a:effectLst/>
                <a:latin typeface="NewCaledoniaLTStd"/>
              </a:rPr>
              <a:t>CREATE VIEW </a:t>
            </a:r>
            <a:r>
              <a:rPr lang="en-US" sz="1800" b="0" i="1" dirty="0" err="1">
                <a:solidFill>
                  <a:srgbClr val="242021"/>
                </a:solidFill>
                <a:effectLst/>
                <a:latin typeface="NewCaledoniaLTStd-It"/>
              </a:rPr>
              <a:t>viewname</a:t>
            </a:r>
            <a:r>
              <a:rPr lang="en-US" sz="1800" b="0" i="1" dirty="0">
                <a:solidFill>
                  <a:srgbClr val="242021"/>
                </a:solidFill>
                <a:effectLst/>
                <a:latin typeface="NewCaledoniaLTStd-It"/>
              </a:rPr>
              <a:t> </a:t>
            </a:r>
            <a:r>
              <a:rPr lang="en-US" sz="1800" b="0" i="0" dirty="0">
                <a:solidFill>
                  <a:srgbClr val="242021"/>
                </a:solidFill>
                <a:effectLst/>
                <a:latin typeface="NewCaledoniaLTStd"/>
              </a:rPr>
              <a:t>[</a:t>
            </a:r>
            <a:r>
              <a:rPr lang="en-US" sz="1800" b="0" i="1" dirty="0">
                <a:solidFill>
                  <a:srgbClr val="242021"/>
                </a:solidFill>
                <a:effectLst/>
                <a:latin typeface="NewCaledoniaLTStd-It"/>
              </a:rPr>
              <a:t>(column list)</a:t>
            </a:r>
            <a:r>
              <a:rPr lang="en-US" sz="1800" b="0" i="0" dirty="0">
                <a:solidFill>
                  <a:srgbClr val="242021"/>
                </a:solidFill>
                <a:effectLst/>
                <a:latin typeface="NewCaledoniaLTStd"/>
              </a:rPr>
              <a:t>] AS SELECT </a:t>
            </a:r>
            <a:r>
              <a:rPr lang="en-US" sz="1800" b="0" i="1" dirty="0">
                <a:solidFill>
                  <a:srgbClr val="242021"/>
                </a:solidFill>
                <a:effectLst/>
                <a:latin typeface="NewCaledoniaLTStd-It"/>
              </a:rPr>
              <a:t>query</a:t>
            </a:r>
            <a:br>
              <a:rPr lang="en-US" sz="1800" b="0" i="1" dirty="0">
                <a:solidFill>
                  <a:srgbClr val="242021"/>
                </a:solidFill>
                <a:effectLst/>
                <a:latin typeface="NewCaledoniaLTStd-It"/>
              </a:rPr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4A84676-C444-4AC5-8B4E-405A7C81C0FB}" type="slidenum">
              <a:rPr lang="en-US" altLang="en-US" smtClean="0"/>
              <a:t>40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 Design, Implementation And Management 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fld id="{6D947E3C-0B49-413F-8928-2C02ECEF5B61}" type="datetime1">
              <a:rPr lang="en-US" smtClean="0"/>
              <a:t>12/19/2024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135270F-5CE6-4EF5-9A71-BDCE233B4E76}" type="datetime1">
              <a:rPr lang="en-US" smtClean="0"/>
              <a:t>12/19/2024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1AD3536-327C-4937-83AF-A64971CFA6D9}" type="slidenum">
              <a:rPr lang="en-US" smtClean="0"/>
              <a:t>41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 Design, Implementation And Management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2371725"/>
            <a:ext cx="11430000" cy="211455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135270F-5CE6-4EF5-9A71-BDCE233B4E76}" type="datetime1">
              <a:rPr lang="en-US" smtClean="0"/>
              <a:t>12/19/2024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1AD3536-327C-4937-83AF-A64971CFA6D9}" type="slidenum">
              <a:rPr lang="en-US" smtClean="0"/>
              <a:t>42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 Design, Implementation And Management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4227" y="0"/>
            <a:ext cx="966354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8-6 Auto Increment, Identity, and Sequences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F53EECD-5EF2-4F97-996E-6CBAC1BF3011}" type="datetime1">
              <a:rPr lang="en-US" smtClean="0"/>
              <a:t>12/19/2024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9126DDB-45DE-4D72-94FB-1E2D565E80AF}" type="slidenum">
              <a:rPr lang="en-US" smtClean="0"/>
              <a:t>43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 Design, Implementation And Management 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8-7 Procedural SQL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F53EECD-5EF2-4F97-996E-6CBAC1BF3011}" type="datetime1">
              <a:rPr lang="en-US" smtClean="0"/>
              <a:t>12/19/2024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9126DDB-45DE-4D72-94FB-1E2D565E80AF}" type="slidenum">
              <a:rPr lang="en-US" smtClean="0"/>
              <a:t>44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 Design, Implementation And Management 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8-7 Procedural SQL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b="1" i="0" dirty="0">
                <a:solidFill>
                  <a:srgbClr val="007DAF"/>
                </a:solidFill>
                <a:effectLst/>
                <a:latin typeface="MyriadPro-BoldSemiCn"/>
              </a:rPr>
              <a:t>persistent storage module (PSM) </a:t>
            </a:r>
            <a:r>
              <a:rPr lang="en-US" sz="1800" b="0" i="0" dirty="0">
                <a:solidFill>
                  <a:srgbClr val="242021"/>
                </a:solidFill>
                <a:effectLst/>
                <a:latin typeface="MyriadPro-SemiCn"/>
              </a:rPr>
              <a:t>A block of code with standard SQL statements and procedural extensions that is stored and executed at the DBMS server.</a:t>
            </a:r>
          </a:p>
          <a:p>
            <a:r>
              <a:rPr lang="en-US" sz="1800" b="0" i="0" dirty="0">
                <a:solidFill>
                  <a:srgbClr val="242021"/>
                </a:solidFill>
                <a:effectLst/>
                <a:latin typeface="NewCaledoniaLTStd"/>
              </a:rPr>
              <a:t>The PSM represents business logic that can be encapsulated, stored, and shared among multiple database users. </a:t>
            </a:r>
          </a:p>
          <a:p>
            <a:r>
              <a:rPr lang="en-US" sz="1800" b="0" i="0" dirty="0">
                <a:solidFill>
                  <a:srgbClr val="242021"/>
                </a:solidFill>
                <a:effectLst/>
                <a:latin typeface="NewCaledoniaLTStd"/>
              </a:rPr>
              <a:t>A PSM lets an administrator assign specific access rights to a stored module to ensure that only authorized users can use it. </a:t>
            </a:r>
          </a:p>
          <a:p>
            <a:r>
              <a:rPr lang="en-US" sz="1800" b="1" i="0" dirty="0">
                <a:solidFill>
                  <a:srgbClr val="007DAF"/>
                </a:solidFill>
                <a:effectLst/>
                <a:latin typeface="MyriadPro-BoldSemiCn"/>
              </a:rPr>
              <a:t>Procedural SQL </a:t>
            </a:r>
            <a:r>
              <a:rPr lang="en-US" sz="1800" b="0" i="0" dirty="0">
                <a:solidFill>
                  <a:srgbClr val="242021"/>
                </a:solidFill>
                <a:effectLst/>
                <a:latin typeface="MyriadPro-SemiCn"/>
              </a:rPr>
              <a:t>An extension of the SQL programming language, such</a:t>
            </a:r>
            <a:r>
              <a:rPr lang="en-US" sz="1800" dirty="0">
                <a:solidFill>
                  <a:srgbClr val="242021"/>
                </a:solidFill>
                <a:latin typeface="MyriadPro-SemiCn"/>
              </a:rPr>
              <a:t> </a:t>
            </a:r>
            <a:r>
              <a:rPr lang="en-US" sz="1800" b="0" i="0" dirty="0">
                <a:solidFill>
                  <a:srgbClr val="242021"/>
                </a:solidFill>
                <a:effectLst/>
                <a:latin typeface="MyriadPro-SemiCn"/>
              </a:rPr>
              <a:t>as PL/SQL or TSQL, that add procedural programming capabilities, such as variable and logical flow control, to SQL and is designed to run</a:t>
            </a:r>
            <a:br>
              <a:rPr lang="en-US" sz="1800" b="0" i="0" dirty="0">
                <a:solidFill>
                  <a:srgbClr val="242021"/>
                </a:solidFill>
                <a:effectLst/>
                <a:latin typeface="MyriadPro-SemiCn"/>
              </a:rPr>
            </a:br>
            <a:r>
              <a:rPr lang="en-US" sz="1800" b="0" i="0" dirty="0">
                <a:solidFill>
                  <a:srgbClr val="242021"/>
                </a:solidFill>
                <a:effectLst/>
                <a:latin typeface="MyriadPro-SemiCn"/>
              </a:rPr>
              <a:t>inside the database.</a:t>
            </a:r>
            <a:r>
              <a:rPr lang="en-US" dirty="0"/>
              <a:t> </a:t>
            </a:r>
          </a:p>
          <a:p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4A84676-C444-4AC5-8B4E-405A7C81C0FB}" type="slidenum">
              <a:rPr lang="en-US" altLang="en-US" smtClean="0"/>
              <a:t>45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 Design, Implementation And Management 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fld id="{6D947E3C-0B49-413F-8928-2C02ECEF5B61}" type="datetime1">
              <a:rPr lang="en-US" smtClean="0"/>
              <a:t>12/19/2024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8-7a Stored Procedures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b="1" i="0" dirty="0">
                <a:solidFill>
                  <a:srgbClr val="007DAF"/>
                </a:solidFill>
                <a:effectLst/>
                <a:latin typeface="MyriadPro-BoldSemiCn"/>
              </a:rPr>
              <a:t>stored procedure </a:t>
            </a:r>
            <a:r>
              <a:rPr lang="en-US" sz="1800" b="0" i="0" dirty="0">
                <a:solidFill>
                  <a:srgbClr val="242021"/>
                </a:solidFill>
                <a:effectLst/>
                <a:latin typeface="MyriadPro-SemiCn"/>
              </a:rPr>
              <a:t>(1) A named collection of procedural and SQL statements</a:t>
            </a:r>
            <a:r>
              <a:rPr lang="en-US" dirty="0"/>
              <a:t> </a:t>
            </a:r>
          </a:p>
          <a:p>
            <a:r>
              <a:rPr lang="en-US" sz="1800" b="0" i="0" dirty="0">
                <a:solidFill>
                  <a:srgbClr val="242021"/>
                </a:solidFill>
                <a:effectLst/>
                <a:latin typeface="NewCaledoniaLTStd"/>
              </a:rPr>
              <a:t>They can be used to encapsulate and represent business transactions</a:t>
            </a:r>
            <a:r>
              <a:rPr lang="en-US" dirty="0"/>
              <a:t> </a:t>
            </a:r>
          </a:p>
          <a:p>
            <a:r>
              <a:rPr lang="en-US" sz="1800" b="0" i="0" dirty="0">
                <a:solidFill>
                  <a:srgbClr val="242021"/>
                </a:solidFill>
                <a:effectLst/>
                <a:latin typeface="NewCaledoniaLTStd"/>
              </a:rPr>
              <a:t>Stored procedures substantially reduce network traffic and increase performance.</a:t>
            </a:r>
            <a:r>
              <a:rPr lang="en-US" dirty="0"/>
              <a:t> </a:t>
            </a:r>
          </a:p>
          <a:p>
            <a:r>
              <a:rPr lang="en-US" sz="1800" b="0" i="0" dirty="0">
                <a:solidFill>
                  <a:srgbClr val="242021"/>
                </a:solidFill>
                <a:effectLst/>
                <a:latin typeface="NewCaledoniaLTStd"/>
              </a:rPr>
              <a:t>Stored procedures help reduce code duplication by means of code isolation and code sharing (creating unique modules that are called by application programs)</a:t>
            </a:r>
            <a:r>
              <a:rPr lang="en-US" dirty="0"/>
              <a:t> </a:t>
            </a:r>
          </a:p>
          <a:p>
            <a:pPr marL="0" indent="0">
              <a:buNone/>
            </a:pP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4A84676-C444-4AC5-8B4E-405A7C81C0FB}" type="slidenum">
              <a:rPr lang="en-US" altLang="en-US" smtClean="0"/>
              <a:t>46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 Design, Implementation And Management 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fld id="{6D947E3C-0B49-413F-8928-2C02ECEF5B61}" type="datetime1">
              <a:rPr lang="en-US" smtClean="0"/>
              <a:t>12/19/2024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135270F-5CE6-4EF5-9A71-BDCE233B4E76}" type="datetime1">
              <a:rPr lang="en-US" smtClean="0"/>
              <a:t>12/19/2024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1AD3536-327C-4937-83AF-A64971CFA6D9}" type="slidenum">
              <a:rPr lang="en-US" smtClean="0"/>
              <a:t>47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 Design, Implementation And Management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712" y="1838325"/>
            <a:ext cx="11458575" cy="318135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135270F-5CE6-4EF5-9A71-BDCE233B4E76}" type="datetime1">
              <a:rPr lang="en-US" smtClean="0"/>
              <a:t>12/19/2024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1AD3536-327C-4937-83AF-A64971CFA6D9}" type="slidenum">
              <a:rPr lang="en-US" smtClean="0"/>
              <a:t>48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 Design, Implementation And Management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037" y="1381125"/>
            <a:ext cx="11591925" cy="409575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135270F-5CE6-4EF5-9A71-BDCE233B4E76}" type="datetime1">
              <a:rPr lang="en-US" smtClean="0"/>
              <a:t>12/19/2024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1AD3536-327C-4937-83AF-A64971CFA6D9}" type="slidenum">
              <a:rPr lang="en-US" smtClean="0"/>
              <a:t>49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 Design, Implementation And Management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79153"/>
            <a:ext cx="12192000" cy="4099694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135270F-5CE6-4EF5-9A71-BDCE233B4E76}" type="datetime1">
              <a:rPr lang="en-US" smtClean="0"/>
              <a:t>12/19/2024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1AD3536-327C-4937-83AF-A64971CFA6D9}" type="slidenum">
              <a:rPr lang="en-US" smtClean="0"/>
              <a:t>50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 Design, Implementation And Management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90346"/>
            <a:ext cx="12192000" cy="5677308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8-7b Working with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4A84676-C444-4AC5-8B4E-405A7C81C0FB}" type="slidenum">
              <a:rPr lang="en-US" altLang="en-US" smtClean="0"/>
              <a:t>51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 Design, Implementation And Management 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fld id="{6D947E3C-0B49-413F-8928-2C02ECEF5B61}" type="datetime1">
              <a:rPr lang="en-US" smtClean="0"/>
              <a:t>12/19/2024</a:t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135270F-5CE6-4EF5-9A71-BDCE233B4E76}" type="datetime1">
              <a:rPr lang="en-US" smtClean="0"/>
              <a:t>12/19/2024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1AD3536-327C-4937-83AF-A64971CFA6D9}" type="slidenum">
              <a:rPr lang="en-US" smtClean="0"/>
              <a:t>52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 Design, Implementation And Management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1769" y="0"/>
            <a:ext cx="8288461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135270F-5CE6-4EF5-9A71-BDCE233B4E76}" type="datetime1">
              <a:rPr lang="en-US" smtClean="0"/>
              <a:t>12/19/2024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1AD3536-327C-4937-83AF-A64971CFA6D9}" type="slidenum">
              <a:rPr lang="en-US" smtClean="0"/>
              <a:t>53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 Design, Implementation And Management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7144" y="0"/>
            <a:ext cx="7597711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135270F-5CE6-4EF5-9A71-BDCE233B4E76}" type="datetime1">
              <a:rPr lang="en-US" smtClean="0"/>
              <a:t>12/19/2024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1AD3536-327C-4937-83AF-A64971CFA6D9}" type="slidenum">
              <a:rPr lang="en-US" smtClean="0"/>
              <a:t>54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 Design, Implementation And Management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0170" y="0"/>
            <a:ext cx="689165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135270F-5CE6-4EF5-9A71-BDCE233B4E76}" type="datetime1">
              <a:rPr lang="en-US" smtClean="0"/>
              <a:t>12/19/2024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1AD3536-327C-4937-83AF-A64971CFA6D9}" type="slidenum">
              <a:rPr lang="en-US" smtClean="0"/>
              <a:t>55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 Design, Implementation And Management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8850" y="204787"/>
            <a:ext cx="7734300" cy="6448425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135270F-5CE6-4EF5-9A71-BDCE233B4E76}" type="datetime1">
              <a:rPr lang="en-US" smtClean="0"/>
              <a:t>12/19/2024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1AD3536-327C-4937-83AF-A64971CFA6D9}" type="slidenum">
              <a:rPr lang="en-US" smtClean="0"/>
              <a:t>56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 Design, Implementation And Management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4562" y="495300"/>
            <a:ext cx="7762875" cy="586740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135270F-5CE6-4EF5-9A71-BDCE233B4E76}" type="datetime1">
              <a:rPr lang="en-US" smtClean="0"/>
              <a:t>12/19/2024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1AD3536-327C-4937-83AF-A64971CFA6D9}" type="slidenum">
              <a:rPr lang="en-US" smtClean="0"/>
              <a:t>57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 Design, Implementation And Management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2487" y="0"/>
            <a:ext cx="862702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135270F-5CE6-4EF5-9A71-BDCE233B4E76}" type="datetime1">
              <a:rPr lang="en-US" smtClean="0"/>
              <a:t>12/19/2024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1AD3536-327C-4937-83AF-A64971CFA6D9}" type="slidenum">
              <a:rPr lang="en-US" smtClean="0"/>
              <a:t>58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 Design, Implementation And Management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1377" y="0"/>
            <a:ext cx="7029246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135270F-5CE6-4EF5-9A71-BDCE233B4E76}" type="datetime1">
              <a:rPr lang="en-US" smtClean="0"/>
              <a:t>12/19/2024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1AD3536-327C-4937-83AF-A64971CFA6D9}" type="slidenum">
              <a:rPr lang="en-US" smtClean="0"/>
              <a:t>59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 Design, Implementation And Management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9742" y="0"/>
            <a:ext cx="715251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8-7g Triggers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b="1" i="0" dirty="0">
                <a:solidFill>
                  <a:srgbClr val="007DAF"/>
                </a:solidFill>
                <a:effectLst/>
                <a:latin typeface="MyriadPro-BoldSemiCn"/>
              </a:rPr>
              <a:t>Trigger </a:t>
            </a:r>
            <a:r>
              <a:rPr lang="en-US" sz="1800" b="0" i="0" dirty="0">
                <a:solidFill>
                  <a:srgbClr val="242021"/>
                </a:solidFill>
                <a:effectLst/>
                <a:latin typeface="MyriadPro-SemiCn"/>
              </a:rPr>
              <a:t>A procedural SQL code that is automatically invoked by the relational database management system when a data manipulation event occurs.</a:t>
            </a:r>
          </a:p>
          <a:p>
            <a:r>
              <a:rPr lang="en-US" dirty="0"/>
              <a:t>A trigger is invoked before or after a data row is inserted, updated, or deleted.</a:t>
            </a:r>
          </a:p>
          <a:p>
            <a:r>
              <a:rPr lang="en-US" dirty="0"/>
              <a:t>A trigger is associated with a database table.</a:t>
            </a:r>
          </a:p>
          <a:p>
            <a:r>
              <a:rPr lang="en-US" dirty="0"/>
              <a:t>Each database table may have one or more triggers.</a:t>
            </a:r>
          </a:p>
          <a:p>
            <a:r>
              <a:rPr lang="en-US" dirty="0"/>
              <a:t>A trigger is executed as part of the transaction that triggered it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4A84676-C444-4AC5-8B4E-405A7C81C0FB}" type="slidenum">
              <a:rPr lang="en-US" altLang="en-US" smtClean="0"/>
              <a:t>60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 Design, Implementation And Management 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fld id="{6D947E3C-0B49-413F-8928-2C02ECEF5B61}" type="datetime1">
              <a:rPr lang="en-US" smtClean="0"/>
              <a:t>12/19/2024</a:t>
            </a:fld>
            <a:endParaRPr lang="en-US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8-7g Triggers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b="0" i="0" dirty="0">
                <a:solidFill>
                  <a:srgbClr val="242021"/>
                </a:solidFill>
                <a:effectLst/>
                <a:latin typeface="NewCaledoniaLTStd"/>
              </a:rPr>
              <a:t>For example, if a product’s quantity on hand is updated when the product is sold, the system should automatically check whether the quantity on hand falls below its minimum allowable quantity. </a:t>
            </a:r>
          </a:p>
          <a:p>
            <a:r>
              <a:rPr lang="en-US" sz="1800" b="0" i="0" dirty="0">
                <a:solidFill>
                  <a:srgbClr val="242021"/>
                </a:solidFill>
                <a:effectLst/>
                <a:latin typeface="NewCaledoniaLTStd"/>
              </a:rPr>
              <a:t>To demonstrate that process, use the PRODUCT table in Figure 8.22. Note the use of the minimum quantity (P_MIN) and product reorder flag (P_REORDER) columns.</a:t>
            </a:r>
          </a:p>
          <a:p>
            <a:r>
              <a:rPr lang="en-US" sz="1800" b="0" i="0" dirty="0">
                <a:solidFill>
                  <a:srgbClr val="242021"/>
                </a:solidFill>
                <a:effectLst/>
                <a:latin typeface="NewCaledoniaLTStd"/>
              </a:rPr>
              <a:t>The P_MIN indicates the minimum quantity on hand allowable before restocking an item.</a:t>
            </a:r>
          </a:p>
          <a:p>
            <a:r>
              <a:rPr lang="en-US" sz="1800" b="0" i="0" dirty="0">
                <a:solidFill>
                  <a:srgbClr val="242021"/>
                </a:solidFill>
                <a:effectLst/>
                <a:latin typeface="NewCaledoniaLTStd"/>
              </a:rPr>
              <a:t>The P_REORDER column is a numeric field that indicates whether the product needs to be reordered (1 -</a:t>
            </a:r>
            <a:r>
              <a:rPr lang="en-US" sz="1800" b="0" i="0" dirty="0">
                <a:solidFill>
                  <a:srgbClr val="242021"/>
                </a:solidFill>
                <a:effectLst/>
                <a:latin typeface="MathematicalPiLTStd-1"/>
              </a:rPr>
              <a:t> </a:t>
            </a:r>
            <a:r>
              <a:rPr lang="en-US" sz="1800" b="0" i="0" dirty="0">
                <a:solidFill>
                  <a:srgbClr val="242021"/>
                </a:solidFill>
                <a:effectLst/>
                <a:latin typeface="NewCaledoniaLTStd"/>
              </a:rPr>
              <a:t>Yes, - </a:t>
            </a:r>
            <a:r>
              <a:rPr lang="en-US" sz="1800" b="0" i="0" dirty="0">
                <a:solidFill>
                  <a:srgbClr val="242021"/>
                </a:solidFill>
                <a:effectLst/>
                <a:latin typeface="MathematicalPiLTStd-1"/>
              </a:rPr>
              <a:t>5 </a:t>
            </a:r>
            <a:r>
              <a:rPr lang="en-US" sz="1800" b="0" i="0" dirty="0">
                <a:solidFill>
                  <a:srgbClr val="242021"/>
                </a:solidFill>
                <a:effectLst/>
                <a:latin typeface="NewCaledoniaLTStd"/>
              </a:rPr>
              <a:t>No). </a:t>
            </a:r>
          </a:p>
          <a:p>
            <a:r>
              <a:rPr lang="en-US" sz="1800" b="0" i="0" dirty="0">
                <a:solidFill>
                  <a:srgbClr val="242021"/>
                </a:solidFill>
                <a:effectLst/>
                <a:latin typeface="NewCaledoniaLTStd"/>
              </a:rPr>
              <a:t>The initial P_REORDER values are set to 0 (No) to serve as the basis for the initial trigger development.</a:t>
            </a:r>
            <a:r>
              <a:rPr lang="en-US" dirty="0"/>
              <a:t> 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4A84676-C444-4AC5-8B4E-405A7C81C0FB}" type="slidenum">
              <a:rPr lang="en-US" altLang="en-US" smtClean="0"/>
              <a:t>61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 Design, Implementation And Management 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fld id="{6D947E3C-0B49-413F-8928-2C02ECEF5B61}" type="datetime1">
              <a:rPr lang="en-US" smtClean="0"/>
              <a:t>12/19/2024</a:t>
            </a:fld>
            <a:endParaRPr lang="en-US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135270F-5CE6-4EF5-9A71-BDCE233B4E76}" type="datetime1">
              <a:rPr lang="en-US" smtClean="0"/>
              <a:t>12/19/2024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1AD3536-327C-4937-83AF-A64971CFA6D9}" type="slidenum">
              <a:rPr lang="en-US" smtClean="0"/>
              <a:t>62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 Design, Implementation And Management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9350" y="1995487"/>
            <a:ext cx="7353300" cy="2867025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135270F-5CE6-4EF5-9A71-BDCE233B4E76}" type="datetime1">
              <a:rPr lang="en-US" smtClean="0"/>
              <a:t>12/19/2024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1AD3536-327C-4937-83AF-A64971CFA6D9}" type="slidenum">
              <a:rPr lang="en-US" smtClean="0"/>
              <a:t>63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 Design, Implementation And Management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975" y="923925"/>
            <a:ext cx="11830050" cy="5010150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135270F-5CE6-4EF5-9A71-BDCE233B4E76}" type="datetime1">
              <a:rPr lang="en-US" smtClean="0"/>
              <a:t>12/19/2024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1AD3536-327C-4937-83AF-A64971CFA6D9}" type="slidenum">
              <a:rPr lang="en-US" smtClean="0"/>
              <a:t>64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 Design, Implementation And Management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087" y="2424112"/>
            <a:ext cx="11553825" cy="2009775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135270F-5CE6-4EF5-9A71-BDCE233B4E76}" type="datetime1">
              <a:rPr lang="en-US" smtClean="0"/>
              <a:t>12/19/2024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1AD3536-327C-4937-83AF-A64971CFA6D9}" type="slidenum">
              <a:rPr lang="en-US" smtClean="0"/>
              <a:t>65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 Design, Implementation And Management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2150" y="290512"/>
            <a:ext cx="8267700" cy="6276975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135270F-5CE6-4EF5-9A71-BDCE233B4E76}" type="datetime1">
              <a:rPr lang="en-US" smtClean="0"/>
              <a:t>12/19/2024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1AD3536-327C-4937-83AF-A64971CFA6D9}" type="slidenum">
              <a:rPr lang="en-US" smtClean="0"/>
              <a:t>66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 Design, Implementation And Management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4062" y="1019175"/>
            <a:ext cx="8143875" cy="4819650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135270F-5CE6-4EF5-9A71-BDCE233B4E76}" type="datetime1">
              <a:rPr lang="en-US" smtClean="0"/>
              <a:t>12/19/2024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1AD3536-327C-4937-83AF-A64971CFA6D9}" type="slidenum">
              <a:rPr lang="en-US" smtClean="0"/>
              <a:t>67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 Design, Implementation And Management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1675" y="461962"/>
            <a:ext cx="8248650" cy="5934075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135270F-5CE6-4EF5-9A71-BDCE233B4E76}" type="datetime1">
              <a:rPr lang="en-US" smtClean="0"/>
              <a:t>12/19/2024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1AD3536-327C-4937-83AF-A64971CFA6D9}" type="slidenum">
              <a:rPr lang="en-US" smtClean="0"/>
              <a:t>68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 Design, Implementation And Management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1675" y="1057275"/>
            <a:ext cx="8248650" cy="4743450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135270F-5CE6-4EF5-9A71-BDCE233B4E76}" type="datetime1">
              <a:rPr lang="en-US" smtClean="0"/>
              <a:t>12/19/2024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1AD3536-327C-4937-83AF-A64971CFA6D9}" type="slidenum">
              <a:rPr lang="en-US" smtClean="0"/>
              <a:t>69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 Design, Implementation And Management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0725" y="495300"/>
            <a:ext cx="8210550" cy="5867400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135270F-5CE6-4EF5-9A71-BDCE233B4E76}" type="datetime1">
              <a:rPr lang="en-US" smtClean="0"/>
              <a:t>12/19/2024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1AD3536-327C-4937-83AF-A64971CFA6D9}" type="slidenum">
              <a:rPr lang="en-US" smtClean="0"/>
              <a:t>70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 Design, Implementation And Management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9300" y="1119187"/>
            <a:ext cx="8153400" cy="4619625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135270F-5CE6-4EF5-9A71-BDCE233B4E76}" type="datetime1">
              <a:rPr lang="en-US" smtClean="0"/>
              <a:t>12/19/2024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1AD3536-327C-4937-83AF-A64971CFA6D9}" type="slidenum">
              <a:rPr lang="en-US" smtClean="0"/>
              <a:t>71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 Design, Implementation And Management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6437" y="1409700"/>
            <a:ext cx="8239125" cy="4038600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135270F-5CE6-4EF5-9A71-BDCE233B4E76}" type="datetime1">
              <a:rPr lang="en-US" smtClean="0"/>
              <a:t>12/19/2024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1AD3536-327C-4937-83AF-A64971CFA6D9}" type="slidenum">
              <a:rPr lang="en-US" smtClean="0"/>
              <a:t>72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 Design, Implementation And Management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7387" y="23812"/>
            <a:ext cx="8277225" cy="6810375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135270F-5CE6-4EF5-9A71-BDCE233B4E76}" type="datetime1">
              <a:rPr lang="en-US" smtClean="0"/>
              <a:t>12/19/2024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1AD3536-327C-4937-83AF-A64971CFA6D9}" type="slidenum">
              <a:rPr lang="en-US" smtClean="0"/>
              <a:t>73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 Design, Implementation And Management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6912" y="2171700"/>
            <a:ext cx="8258175" cy="2514600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135270F-5CE6-4EF5-9A71-BDCE233B4E76}" type="datetime1">
              <a:rPr lang="en-US" smtClean="0"/>
              <a:t>12/19/2024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1AD3536-327C-4937-83AF-A64971CFA6D9}" type="slidenum">
              <a:rPr lang="en-US" smtClean="0"/>
              <a:t>74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 Design, Implementation And Management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800" y="704850"/>
            <a:ext cx="6248400" cy="5448300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135270F-5CE6-4EF5-9A71-BDCE233B4E76}" type="datetime1">
              <a:rPr lang="en-US" smtClean="0"/>
              <a:t>12/19/2024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1AD3536-327C-4937-83AF-A64971CFA6D9}" type="slidenum">
              <a:rPr lang="en-US" smtClean="0"/>
              <a:t>75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 Design, Implementation And Management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0961" y="623887"/>
            <a:ext cx="7657839" cy="5610225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135270F-5CE6-4EF5-9A71-BDCE233B4E76}" type="datetime1">
              <a:rPr lang="en-US" smtClean="0"/>
              <a:t>12/19/2024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1AD3536-327C-4937-83AF-A64971CFA6D9}" type="slidenum">
              <a:rPr lang="en-US" smtClean="0"/>
              <a:t>76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 Design, Implementation And Management 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5006" y="838200"/>
            <a:ext cx="8441987" cy="4838700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135270F-5CE6-4EF5-9A71-BDCE233B4E76}" type="datetime1">
              <a:rPr lang="en-US" smtClean="0"/>
              <a:t>12/19/2024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1AD3536-327C-4937-83AF-A64971CFA6D9}" type="slidenum">
              <a:rPr lang="en-US" smtClean="0"/>
              <a:t>77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 Design, Implementation And Management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093118"/>
            <a:ext cx="10505916" cy="267176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Vicostone Templat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1995</Words>
  <Application>Microsoft Office PowerPoint</Application>
  <PresentationFormat>Widescreen</PresentationFormat>
  <Paragraphs>332</Paragraphs>
  <Slides>77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77</vt:i4>
      </vt:variant>
    </vt:vector>
  </HeadingPairs>
  <TitlesOfParts>
    <vt:vector size="92" baseType="lpstr">
      <vt:lpstr>Arial</vt:lpstr>
      <vt:lpstr>Calibri</vt:lpstr>
      <vt:lpstr>Calibri Light</vt:lpstr>
      <vt:lpstr>Courier New</vt:lpstr>
      <vt:lpstr>MathematicalPiLTStd-1</vt:lpstr>
      <vt:lpstr>MyriadPro-Black</vt:lpstr>
      <vt:lpstr>MyriadPro-Bold</vt:lpstr>
      <vt:lpstr>MyriadPro-BoldSemiCn</vt:lpstr>
      <vt:lpstr>MyriadPro-SemiboldSemiCn</vt:lpstr>
      <vt:lpstr>MyriadPro-SemiCn</vt:lpstr>
      <vt:lpstr>NewCaledoniaLTStd</vt:lpstr>
      <vt:lpstr>NewCaledoniaLTStd-It</vt:lpstr>
      <vt:lpstr>Times New Roman</vt:lpstr>
      <vt:lpstr>Wingdings</vt:lpstr>
      <vt:lpstr>Vicostone Template</vt:lpstr>
      <vt:lpstr>Learning Objectives</vt:lpstr>
      <vt:lpstr>National Economics University Faculty of Data Science &amp; Artificial Intelligence</vt:lpstr>
      <vt:lpstr>Learning Objectives</vt:lpstr>
      <vt:lpstr>8-1 Data Definition Commands</vt:lpstr>
      <vt:lpstr>PowerPoint Presentation</vt:lpstr>
      <vt:lpstr>8-1b Creating the Database</vt:lpstr>
      <vt:lpstr>8-1c The Database Schema</vt:lpstr>
      <vt:lpstr>8-1d Data Types</vt:lpstr>
      <vt:lpstr>8-2 Creating Table Structures</vt:lpstr>
      <vt:lpstr>8-2a CREATE TABLE command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8-2c Creating a Table with a SELECT Statement</vt:lpstr>
      <vt:lpstr>8-2d SQL Indexes</vt:lpstr>
      <vt:lpstr>8-2d SQL Indexes</vt:lpstr>
      <vt:lpstr>8-3 Altering Table Structures</vt:lpstr>
      <vt:lpstr>8-3 Altering Table Structures</vt:lpstr>
      <vt:lpstr>PowerPoint Presentation</vt:lpstr>
      <vt:lpstr>PowerPoint Presentation</vt:lpstr>
      <vt:lpstr>8-4 Data Manipulation Commands</vt:lpstr>
      <vt:lpstr>8-4a Adding Table Rows</vt:lpstr>
      <vt:lpstr>8-4b Inserting Table Rows with a SELECT Subquery</vt:lpstr>
      <vt:lpstr>8-4c Saving Table Changes</vt:lpstr>
      <vt:lpstr>8-4d Updating Table Rows</vt:lpstr>
      <vt:lpstr>8-4e Deleting Table Rows</vt:lpstr>
      <vt:lpstr>8-4f Restoring Table Contents</vt:lpstr>
      <vt:lpstr>PowerPoint Presentation</vt:lpstr>
      <vt:lpstr>8-5 Virtual Tables: Creating a View</vt:lpstr>
      <vt:lpstr>8-5 Virtual Tables: Creating a View</vt:lpstr>
      <vt:lpstr>PowerPoint Presentation</vt:lpstr>
      <vt:lpstr>PowerPoint Presentation</vt:lpstr>
      <vt:lpstr>8-6 Auto Increment, Identity, and Sequences</vt:lpstr>
      <vt:lpstr>8-7 Procedural SQL</vt:lpstr>
      <vt:lpstr>8-7 Procedural SQL</vt:lpstr>
      <vt:lpstr>8-7a Stored Procedures</vt:lpstr>
      <vt:lpstr>PowerPoint Presentation</vt:lpstr>
      <vt:lpstr>PowerPoint Presentation</vt:lpstr>
      <vt:lpstr>PowerPoint Presentation</vt:lpstr>
      <vt:lpstr>PowerPoint Presentation</vt:lpstr>
      <vt:lpstr>8-7b Working with Variables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8-7g Triggers</vt:lpstr>
      <vt:lpstr>8-7g Triggers (cont.)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</dc:title>
  <dc:creator/>
  <cp:lastModifiedBy/>
  <cp:revision>463</cp:revision>
  <dcterms:created xsi:type="dcterms:W3CDTF">2009-09-28T17:47:00Z</dcterms:created>
  <dcterms:modified xsi:type="dcterms:W3CDTF">2024-12-19T11:37:12Z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6E8732C15E5E4468A8CD668B6D983A91_12</vt:lpwstr>
  </property>
  <property fmtid="{D5CDD505-2E9C-101B-9397-08002B2CF9AE}" pid="3" name="KSOProductBuildVer">
    <vt:lpwstr>1033-12.2.0.13215</vt:lpwstr>
  </property>
</Properties>
</file>