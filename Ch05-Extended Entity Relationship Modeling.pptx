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8" r:id="rId1"/>
  </p:sldMasterIdLst>
  <p:notesMasterIdLst>
    <p:notesMasterId r:id="rId47"/>
  </p:notesMasterIdLst>
  <p:handoutMasterIdLst>
    <p:handoutMasterId r:id="rId48"/>
  </p:handoutMasterIdLst>
  <p:sldIdLst>
    <p:sldId id="392" r:id="rId2"/>
    <p:sldId id="449" r:id="rId3"/>
    <p:sldId id="393" r:id="rId4"/>
    <p:sldId id="394" r:id="rId5"/>
    <p:sldId id="397" r:id="rId6"/>
    <p:sldId id="396" r:id="rId7"/>
    <p:sldId id="395" r:id="rId8"/>
    <p:sldId id="398" r:id="rId9"/>
    <p:sldId id="399" r:id="rId10"/>
    <p:sldId id="401" r:id="rId11"/>
    <p:sldId id="402" r:id="rId12"/>
    <p:sldId id="400" r:id="rId13"/>
    <p:sldId id="403" r:id="rId14"/>
    <p:sldId id="404" r:id="rId15"/>
    <p:sldId id="405" r:id="rId16"/>
    <p:sldId id="407" r:id="rId17"/>
    <p:sldId id="406" r:id="rId18"/>
    <p:sldId id="409" r:id="rId19"/>
    <p:sldId id="408" r:id="rId20"/>
    <p:sldId id="410" r:id="rId21"/>
    <p:sldId id="411" r:id="rId22"/>
    <p:sldId id="412" r:id="rId23"/>
    <p:sldId id="413" r:id="rId24"/>
    <p:sldId id="414" r:id="rId25"/>
    <p:sldId id="415" r:id="rId26"/>
    <p:sldId id="416" r:id="rId27"/>
    <p:sldId id="417" r:id="rId28"/>
    <p:sldId id="418" r:id="rId29"/>
    <p:sldId id="419" r:id="rId30"/>
    <p:sldId id="420" r:id="rId31"/>
    <p:sldId id="422" r:id="rId32"/>
    <p:sldId id="421" r:id="rId33"/>
    <p:sldId id="423" r:id="rId34"/>
    <p:sldId id="424" r:id="rId35"/>
    <p:sldId id="425" r:id="rId36"/>
    <p:sldId id="426" r:id="rId37"/>
    <p:sldId id="427" r:id="rId38"/>
    <p:sldId id="428" r:id="rId39"/>
    <p:sldId id="429" r:id="rId40"/>
    <p:sldId id="430" r:id="rId41"/>
    <p:sldId id="431" r:id="rId42"/>
    <p:sldId id="432" r:id="rId43"/>
    <p:sldId id="433" r:id="rId44"/>
    <p:sldId id="434" r:id="rId45"/>
    <p:sldId id="435" r:id="rId46"/>
  </p:sldIdLst>
  <p:sldSz cx="12192000" cy="6858000"/>
  <p:notesSz cx="6858000" cy="9144000"/>
  <p:defaultTex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2222"/>
    <a:srgbClr val="FFFFFF"/>
    <a:srgbClr val="18B2B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60" autoAdjust="0"/>
  </p:normalViewPr>
  <p:slideViewPr>
    <p:cSldViewPr>
      <p:cViewPr varScale="1">
        <p:scale>
          <a:sx n="105" d="100"/>
          <a:sy n="105" d="100"/>
        </p:scale>
        <p:origin x="798" y="84"/>
      </p:cViewPr>
      <p:guideLst>
        <p:guide orient="horz" pos="2160"/>
        <p:guide pos="3840"/>
      </p:guideLst>
    </p:cSldViewPr>
  </p:slideViewPr>
  <p:outlineViewPr>
    <p:cViewPr>
      <p:scale>
        <a:sx n="33" d="100"/>
        <a:sy n="33" d="100"/>
      </p:scale>
      <p:origin x="0" y="-272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4" d="100"/>
          <a:sy n="84" d="100"/>
        </p:scale>
        <p:origin x="391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1E0CD608-9C48-CFFC-091C-1EB0A50DD52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122883" name="Rectangle 3">
            <a:extLst>
              <a:ext uri="{FF2B5EF4-FFF2-40B4-BE49-F238E27FC236}">
                <a16:creationId xmlns:a16="http://schemas.microsoft.com/office/drawing/2014/main" id="{40A79EA3-0E2A-9BC8-92DE-DE60AD7ACB2C}"/>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Times New Roman" pitchFamily="18" charset="0"/>
                <a:ea typeface="+mn-ea"/>
              </a:defRPr>
            </a:lvl1pPr>
          </a:lstStyle>
          <a:p>
            <a:pPr>
              <a:defRPr/>
            </a:pPr>
            <a:endParaRPr lang="en-US"/>
          </a:p>
        </p:txBody>
      </p:sp>
      <p:sp>
        <p:nvSpPr>
          <p:cNvPr id="122884" name="Rectangle 4">
            <a:extLst>
              <a:ext uri="{FF2B5EF4-FFF2-40B4-BE49-F238E27FC236}">
                <a16:creationId xmlns:a16="http://schemas.microsoft.com/office/drawing/2014/main" id="{FDF3F9D9-6B1E-F3FB-1EE2-507A2BF53520}"/>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122885" name="Rectangle 5">
            <a:extLst>
              <a:ext uri="{FF2B5EF4-FFF2-40B4-BE49-F238E27FC236}">
                <a16:creationId xmlns:a16="http://schemas.microsoft.com/office/drawing/2014/main" id="{C807B6BD-FE77-FDDF-E76E-F014CE394467}"/>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FAC33DE4-4784-45D4-BD47-64193262C564}"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09328F3-5DC5-1B4F-AC31-7F7B3EBD074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64515" name="Rectangle 3">
            <a:extLst>
              <a:ext uri="{FF2B5EF4-FFF2-40B4-BE49-F238E27FC236}">
                <a16:creationId xmlns:a16="http://schemas.microsoft.com/office/drawing/2014/main" id="{0C90B5EC-E3BF-D965-C636-268E0CF481C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Times New Roman" pitchFamily="18" charset="0"/>
                <a:ea typeface="+mn-ea"/>
              </a:defRPr>
            </a:lvl1pPr>
          </a:lstStyle>
          <a:p>
            <a:pPr>
              <a:defRPr/>
            </a:pPr>
            <a:endParaRPr lang="en-US"/>
          </a:p>
        </p:txBody>
      </p:sp>
      <p:sp>
        <p:nvSpPr>
          <p:cNvPr id="13316" name="Rectangle 4">
            <a:extLst>
              <a:ext uri="{FF2B5EF4-FFF2-40B4-BE49-F238E27FC236}">
                <a16:creationId xmlns:a16="http://schemas.microsoft.com/office/drawing/2014/main" id="{4F7C882E-B38E-4AF0-3755-55D00B742B16}"/>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7" name="Rectangle 5">
            <a:extLst>
              <a:ext uri="{FF2B5EF4-FFF2-40B4-BE49-F238E27FC236}">
                <a16:creationId xmlns:a16="http://schemas.microsoft.com/office/drawing/2014/main" id="{25345C98-55FA-262F-4EBB-C287BE5D311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a:extLst>
              <a:ext uri="{FF2B5EF4-FFF2-40B4-BE49-F238E27FC236}">
                <a16:creationId xmlns:a16="http://schemas.microsoft.com/office/drawing/2014/main" id="{7644B954-D13F-DFA1-B30A-F36EC7DE0E54}"/>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64519" name="Rectangle 7">
            <a:extLst>
              <a:ext uri="{FF2B5EF4-FFF2-40B4-BE49-F238E27FC236}">
                <a16:creationId xmlns:a16="http://schemas.microsoft.com/office/drawing/2014/main" id="{2E0066C6-C608-29FA-EB14-B3E0F66870F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94FC1F20-5EAB-41FB-B210-370B9C2C46B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99F73F7-2B99-BEC6-CE62-E002191078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DD6BCF7-8E9F-41C5-A608-0D41664076BA}" type="slidenum">
              <a:rPr lang="en-US" altLang="en-US" sz="1200" smtClean="0">
                <a:latin typeface="Times New Roman" panose="02020603050405020304" pitchFamily="18" charset="0"/>
              </a:rPr>
              <a:pPr/>
              <a:t>1</a:t>
            </a:fld>
            <a:endParaRPr lang="en-US" altLang="en-US" sz="1200">
              <a:latin typeface="Times New Roman" panose="02020603050405020304" pitchFamily="18" charset="0"/>
            </a:endParaRPr>
          </a:p>
        </p:txBody>
      </p:sp>
      <p:sp>
        <p:nvSpPr>
          <p:cNvPr id="19459" name="Rectangle 2">
            <a:extLst>
              <a:ext uri="{FF2B5EF4-FFF2-40B4-BE49-F238E27FC236}">
                <a16:creationId xmlns:a16="http://schemas.microsoft.com/office/drawing/2014/main" id="{8A82C24E-40D0-0AA6-6604-71E8A34BF24B}"/>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AEAAEAB-07EC-3E8B-79E7-643BBF9841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225966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964BB1-7357-BCBC-C333-4CA5E7116E2E}"/>
              </a:ext>
            </a:extLst>
          </p:cNvPr>
          <p:cNvSpPr/>
          <p:nvPr userDrawn="1"/>
        </p:nvSpPr>
        <p:spPr>
          <a:xfrm>
            <a:off x="0" y="0"/>
            <a:ext cx="12192000" cy="6486525"/>
          </a:xfrm>
          <a:prstGeom prst="rect">
            <a:avLst/>
          </a:prstGeom>
          <a:solidFill>
            <a:srgbClr val="22377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7" name="Title 6"/>
          <p:cNvSpPr>
            <a:spLocks noGrp="1"/>
          </p:cNvSpPr>
          <p:nvPr>
            <p:ph type="title"/>
          </p:nvPr>
        </p:nvSpPr>
        <p:spPr>
          <a:xfrm>
            <a:off x="741219" y="3243264"/>
            <a:ext cx="10515600" cy="1325563"/>
          </a:xfrm>
          <a:prstGeom prst="rect">
            <a:avLst/>
          </a:prstGeom>
        </p:spPr>
        <p:txBody>
          <a:bodyPr/>
          <a:lstStyle>
            <a:lvl1pPr>
              <a:defRPr>
                <a:solidFill>
                  <a:schemeClr val="bg1"/>
                </a:solidFill>
              </a:defRPr>
            </a:lvl1pPr>
          </a:lstStyle>
          <a:p>
            <a:r>
              <a:rPr lang="en-US"/>
              <a:t>Click to edit Master title style</a:t>
            </a:r>
            <a:endParaRPr lang="en-VN"/>
          </a:p>
        </p:txBody>
      </p:sp>
      <p:sp>
        <p:nvSpPr>
          <p:cNvPr id="3" name="Date Placeholder 7">
            <a:extLst>
              <a:ext uri="{FF2B5EF4-FFF2-40B4-BE49-F238E27FC236}">
                <a16:creationId xmlns:a16="http://schemas.microsoft.com/office/drawing/2014/main" id="{EFE6BCEB-9D04-0A31-13FD-E54A7886E959}"/>
              </a:ext>
            </a:extLst>
          </p:cNvPr>
          <p:cNvSpPr>
            <a:spLocks noGrp="1"/>
          </p:cNvSpPr>
          <p:nvPr>
            <p:ph type="dt" sz="half" idx="10"/>
          </p:nvPr>
        </p:nvSpPr>
        <p:spPr>
          <a:xfrm>
            <a:off x="0" y="6538913"/>
            <a:ext cx="2743200" cy="365125"/>
          </a:xfrm>
        </p:spPr>
        <p:txBody>
          <a:bodyPr/>
          <a:lstStyle>
            <a:lvl1pPr>
              <a:defRPr smtClean="0"/>
            </a:lvl1pPr>
          </a:lstStyle>
          <a:p>
            <a:pPr>
              <a:defRPr/>
            </a:pPr>
            <a:fld id="{04BF734D-FA21-46CC-B337-08991588F7D2}" type="datetime1">
              <a:rPr lang="en-US"/>
              <a:pPr>
                <a:defRPr/>
              </a:pPr>
              <a:t>12/19/2024</a:t>
            </a:fld>
            <a:endParaRPr lang="en-US"/>
          </a:p>
        </p:txBody>
      </p:sp>
      <p:sp>
        <p:nvSpPr>
          <p:cNvPr id="4" name="Slide Number Placeholder 11">
            <a:extLst>
              <a:ext uri="{FF2B5EF4-FFF2-40B4-BE49-F238E27FC236}">
                <a16:creationId xmlns:a16="http://schemas.microsoft.com/office/drawing/2014/main" id="{21C2B440-578D-B562-B0A6-B54BDB743A02}"/>
              </a:ext>
            </a:extLst>
          </p:cNvPr>
          <p:cNvSpPr>
            <a:spLocks noGrp="1"/>
          </p:cNvSpPr>
          <p:nvPr>
            <p:ph type="sldNum" sz="quarter" idx="11"/>
          </p:nvPr>
        </p:nvSpPr>
        <p:spPr>
          <a:xfrm>
            <a:off x="9448800" y="6538913"/>
            <a:ext cx="2743200" cy="365125"/>
          </a:xfrm>
        </p:spPr>
        <p:txBody>
          <a:bodyPr/>
          <a:lstStyle>
            <a:lvl1pPr>
              <a:defRPr>
                <a:solidFill>
                  <a:prstClr val="white"/>
                </a:solidFill>
              </a:defRPr>
            </a:lvl1pPr>
          </a:lstStyle>
          <a:p>
            <a:pPr>
              <a:defRPr/>
            </a:pPr>
            <a:fld id="{775A0816-9807-4CA3-A3C5-68577B5C9559}" type="slidenum">
              <a:rPr lang="en-US"/>
              <a:pPr>
                <a:defRPr/>
              </a:pPr>
              <a:t>‹#›</a:t>
            </a:fld>
            <a:endParaRPr lang="en-US" dirty="0"/>
          </a:p>
        </p:txBody>
      </p:sp>
      <p:sp>
        <p:nvSpPr>
          <p:cNvPr id="5" name="Rectangle 3">
            <a:extLst>
              <a:ext uri="{FF2B5EF4-FFF2-40B4-BE49-F238E27FC236}">
                <a16:creationId xmlns:a16="http://schemas.microsoft.com/office/drawing/2014/main" id="{AABBDFAC-3ABC-7AF1-C80F-B9A80EC5DAE2}"/>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633009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1A55295-5DC2-C569-6312-199AFA24EE07}"/>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13" name="Title 1"/>
          <p:cNvSpPr>
            <a:spLocks noGrp="1"/>
          </p:cNvSpPr>
          <p:nvPr>
            <p:ph type="title"/>
          </p:nvPr>
        </p:nvSpPr>
        <p:spPr>
          <a:xfrm>
            <a:off x="482252" y="277962"/>
            <a:ext cx="7928429" cy="553289"/>
          </a:xfrm>
          <a:prstGeom prst="rect">
            <a:avLst/>
          </a:prstGeom>
        </p:spPr>
        <p:txBody>
          <a:bodyPr>
            <a:normAutofit/>
          </a:bodyPr>
          <a:lstStyle>
            <a:lvl1pPr>
              <a:defRPr sz="2475" b="1" baseline="0">
                <a:solidFill>
                  <a:srgbClr val="22377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7729624-F3B5-070E-14EF-70CC1B484925}"/>
              </a:ext>
            </a:extLst>
          </p:cNvPr>
          <p:cNvSpPr>
            <a:spLocks noGrp="1"/>
          </p:cNvSpPr>
          <p:nvPr>
            <p:ph type="dt" sz="half" idx="10"/>
          </p:nvPr>
        </p:nvSpPr>
        <p:spPr>
          <a:xfrm>
            <a:off x="0" y="6580188"/>
            <a:ext cx="2743200" cy="277812"/>
          </a:xfrm>
        </p:spPr>
        <p:txBody>
          <a:bodyPr/>
          <a:lstStyle>
            <a:lvl1pPr>
              <a:defRPr smtClean="0"/>
            </a:lvl1pPr>
          </a:lstStyle>
          <a:p>
            <a:pPr>
              <a:defRPr/>
            </a:pPr>
            <a:fld id="{619230D7-F585-4615-8690-EE47007A6E78}" type="datetime1">
              <a:rPr lang="en-US"/>
              <a:pPr>
                <a:defRPr/>
              </a:pPr>
              <a:t>12/19/2024</a:t>
            </a:fld>
            <a:endParaRPr lang="en-US"/>
          </a:p>
        </p:txBody>
      </p:sp>
      <p:sp>
        <p:nvSpPr>
          <p:cNvPr id="5" name="Slide Number Placeholder 5">
            <a:extLst>
              <a:ext uri="{FF2B5EF4-FFF2-40B4-BE49-F238E27FC236}">
                <a16:creationId xmlns:a16="http://schemas.microsoft.com/office/drawing/2014/main" id="{C685519A-3558-75C9-7D9D-2CD34FE8601A}"/>
              </a:ext>
            </a:extLst>
          </p:cNvPr>
          <p:cNvSpPr>
            <a:spLocks noGrp="1"/>
          </p:cNvSpPr>
          <p:nvPr>
            <p:ph type="sldNum" sz="quarter" idx="11"/>
          </p:nvPr>
        </p:nvSpPr>
        <p:spPr>
          <a:xfrm>
            <a:off x="9412288" y="6623050"/>
            <a:ext cx="2743200" cy="234950"/>
          </a:xfrm>
        </p:spPr>
        <p:txBody>
          <a:bodyPr/>
          <a:lstStyle>
            <a:lvl1pPr>
              <a:defRPr/>
            </a:lvl1pPr>
          </a:lstStyle>
          <a:p>
            <a:pPr>
              <a:defRPr/>
            </a:pPr>
            <a:fld id="{3668E2E4-C289-40FA-803B-52DC86338CE3}" type="slidenum">
              <a:rPr lang="en-US"/>
              <a:pPr>
                <a:defRPr/>
              </a:pPr>
              <a:t>‹#›</a:t>
            </a:fld>
            <a:endParaRPr lang="en-US"/>
          </a:p>
        </p:txBody>
      </p:sp>
      <p:sp>
        <p:nvSpPr>
          <p:cNvPr id="6" name="Rectangle 3">
            <a:extLst>
              <a:ext uri="{FF2B5EF4-FFF2-40B4-BE49-F238E27FC236}">
                <a16:creationId xmlns:a16="http://schemas.microsoft.com/office/drawing/2014/main" id="{3678CD4D-49EF-4866-C3F2-B2A61D010B34}"/>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1816587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E98A4D7-51AA-2B15-3D26-501BAE3FD3F8}"/>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7" name="Title 6"/>
          <p:cNvSpPr>
            <a:spLocks noGrp="1"/>
          </p:cNvSpPr>
          <p:nvPr>
            <p:ph type="title"/>
          </p:nvPr>
        </p:nvSpPr>
        <p:spPr>
          <a:xfrm>
            <a:off x="487476" y="2949386"/>
            <a:ext cx="10515600" cy="1325563"/>
          </a:xfrm>
          <a:prstGeom prst="rect">
            <a:avLst/>
          </a:prstGeom>
        </p:spPr>
        <p:txBody>
          <a:bodyPr/>
          <a:lstStyle>
            <a:lvl1pPr>
              <a:defRPr sz="4500">
                <a:solidFill>
                  <a:schemeClr val="accent5"/>
                </a:solidFill>
              </a:defRPr>
            </a:lvl1pPr>
          </a:lstStyle>
          <a:p>
            <a:r>
              <a:rPr lang="en-US" dirty="0"/>
              <a:t>Click to edit Master title style</a:t>
            </a:r>
            <a:endParaRPr lang="en-VN" dirty="0"/>
          </a:p>
        </p:txBody>
      </p:sp>
      <p:sp>
        <p:nvSpPr>
          <p:cNvPr id="4" name="Date Placeholder 3">
            <a:extLst>
              <a:ext uri="{FF2B5EF4-FFF2-40B4-BE49-F238E27FC236}">
                <a16:creationId xmlns:a16="http://schemas.microsoft.com/office/drawing/2014/main" id="{AC24508C-232F-8AA0-F1C6-36CFF9ACCA6D}"/>
              </a:ext>
            </a:extLst>
          </p:cNvPr>
          <p:cNvSpPr>
            <a:spLocks noGrp="1"/>
          </p:cNvSpPr>
          <p:nvPr>
            <p:ph type="dt" sz="half" idx="10"/>
          </p:nvPr>
        </p:nvSpPr>
        <p:spPr>
          <a:xfrm>
            <a:off x="0" y="6592888"/>
            <a:ext cx="2743200" cy="268287"/>
          </a:xfrm>
        </p:spPr>
        <p:txBody>
          <a:bodyPr/>
          <a:lstStyle>
            <a:lvl1pPr>
              <a:defRPr smtClean="0"/>
            </a:lvl1pPr>
          </a:lstStyle>
          <a:p>
            <a:pPr>
              <a:defRPr/>
            </a:pPr>
            <a:fld id="{7F53EECD-5EF2-4F97-996E-6CBAC1BF3011}" type="datetime1">
              <a:rPr lang="en-US"/>
              <a:pPr>
                <a:defRPr/>
              </a:pPr>
              <a:t>12/19/2024</a:t>
            </a:fld>
            <a:endParaRPr lang="en-US"/>
          </a:p>
        </p:txBody>
      </p:sp>
      <p:sp>
        <p:nvSpPr>
          <p:cNvPr id="5" name="Slide Number Placeholder 5">
            <a:extLst>
              <a:ext uri="{FF2B5EF4-FFF2-40B4-BE49-F238E27FC236}">
                <a16:creationId xmlns:a16="http://schemas.microsoft.com/office/drawing/2014/main" id="{5E118D7B-5BE4-D162-C63C-02493336AEA7}"/>
              </a:ext>
            </a:extLst>
          </p:cNvPr>
          <p:cNvSpPr>
            <a:spLocks noGrp="1"/>
          </p:cNvSpPr>
          <p:nvPr>
            <p:ph type="sldNum" sz="quarter" idx="11"/>
          </p:nvPr>
        </p:nvSpPr>
        <p:spPr>
          <a:xfrm>
            <a:off x="9366250" y="6589713"/>
            <a:ext cx="2743200" cy="314325"/>
          </a:xfrm>
        </p:spPr>
        <p:txBody>
          <a:bodyPr/>
          <a:lstStyle>
            <a:lvl1pPr>
              <a:defRPr/>
            </a:lvl1pPr>
          </a:lstStyle>
          <a:p>
            <a:pPr>
              <a:defRPr/>
            </a:pPr>
            <a:fld id="{F9126DDB-45DE-4D72-94FB-1E2D565E80AF}" type="slidenum">
              <a:rPr lang="en-US"/>
              <a:pPr>
                <a:defRPr/>
              </a:pPr>
              <a:t>‹#›</a:t>
            </a:fld>
            <a:endParaRPr lang="en-US"/>
          </a:p>
        </p:txBody>
      </p:sp>
      <p:sp>
        <p:nvSpPr>
          <p:cNvPr id="6" name="Rectangle 3">
            <a:extLst>
              <a:ext uri="{FF2B5EF4-FFF2-40B4-BE49-F238E27FC236}">
                <a16:creationId xmlns:a16="http://schemas.microsoft.com/office/drawing/2014/main" id="{38007CFB-2610-ACA1-B2EA-E3DDAC766C94}"/>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919306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858F73B4-3EA4-F35A-3D60-2923D5658ED7}"/>
              </a:ext>
            </a:extLst>
          </p:cNvPr>
          <p:cNvSpPr/>
          <p:nvPr userDrawn="1"/>
        </p:nvSpPr>
        <p:spPr>
          <a:xfrm>
            <a:off x="311261"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12" name="Title 1"/>
          <p:cNvSpPr>
            <a:spLocks noGrp="1"/>
          </p:cNvSpPr>
          <p:nvPr>
            <p:ph type="title"/>
          </p:nvPr>
        </p:nvSpPr>
        <p:spPr>
          <a:xfrm>
            <a:off x="340858" y="243491"/>
            <a:ext cx="8061101" cy="553289"/>
          </a:xfrm>
          <a:prstGeom prst="rect">
            <a:avLst/>
          </a:prstGeom>
        </p:spPr>
        <p:txBody>
          <a:bodyPr>
            <a:normAutofit/>
          </a:bodyPr>
          <a:lstStyle>
            <a:lvl1pPr>
              <a:defRPr sz="2475" b="1" baseline="0">
                <a:solidFill>
                  <a:srgbClr val="223771"/>
                </a:solidFill>
              </a:defRPr>
            </a:lvl1pPr>
          </a:lstStyle>
          <a:p>
            <a:r>
              <a:rPr lang="en-US"/>
              <a:t>Click to edit Master title style</a:t>
            </a:r>
          </a:p>
        </p:txBody>
      </p:sp>
      <p:sp>
        <p:nvSpPr>
          <p:cNvPr id="13" name="Content Placeholder 12"/>
          <p:cNvSpPr>
            <a:spLocks noGrp="1"/>
          </p:cNvSpPr>
          <p:nvPr>
            <p:ph sz="quarter" idx="13"/>
          </p:nvPr>
        </p:nvSpPr>
        <p:spPr>
          <a:xfrm>
            <a:off x="309220" y="1169082"/>
            <a:ext cx="11551617" cy="495413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925778A0-1739-29FF-2284-D0326B623CD9}"/>
              </a:ext>
            </a:extLst>
          </p:cNvPr>
          <p:cNvSpPr>
            <a:spLocks noGrp="1"/>
          </p:cNvSpPr>
          <p:nvPr>
            <p:ph type="dt" sz="half" idx="14"/>
          </p:nvPr>
        </p:nvSpPr>
        <p:spPr/>
        <p:txBody>
          <a:bodyPr/>
          <a:lstStyle>
            <a:lvl1pPr>
              <a:defRPr smtClean="0"/>
            </a:lvl1pPr>
          </a:lstStyle>
          <a:p>
            <a:pPr>
              <a:defRPr/>
            </a:pPr>
            <a:fld id="{2953D200-00AA-42A7-802D-F180C1D57E6B}" type="datetime1">
              <a:rPr lang="en-US"/>
              <a:pPr>
                <a:defRPr/>
              </a:pPr>
              <a:t>12/19/2024</a:t>
            </a:fld>
            <a:endParaRPr lang="en-US"/>
          </a:p>
        </p:txBody>
      </p:sp>
      <p:sp>
        <p:nvSpPr>
          <p:cNvPr id="5" name="Slide Number Placeholder 5">
            <a:extLst>
              <a:ext uri="{FF2B5EF4-FFF2-40B4-BE49-F238E27FC236}">
                <a16:creationId xmlns:a16="http://schemas.microsoft.com/office/drawing/2014/main" id="{BDC1F769-2EA0-3B74-8A9C-9BD515A3FA5A}"/>
              </a:ext>
            </a:extLst>
          </p:cNvPr>
          <p:cNvSpPr>
            <a:spLocks noGrp="1"/>
          </p:cNvSpPr>
          <p:nvPr>
            <p:ph type="sldNum" sz="quarter" idx="15"/>
          </p:nvPr>
        </p:nvSpPr>
        <p:spPr>
          <a:xfrm>
            <a:off x="9421813" y="6600825"/>
            <a:ext cx="2743200" cy="274638"/>
          </a:xfrm>
        </p:spPr>
        <p:txBody>
          <a:bodyPr/>
          <a:lstStyle>
            <a:lvl1pPr>
              <a:defRPr/>
            </a:lvl1pPr>
          </a:lstStyle>
          <a:p>
            <a:pPr>
              <a:defRPr/>
            </a:pPr>
            <a:fld id="{BC9EDAA9-37F3-4614-95D5-5B7FFAB71D04}" type="slidenum">
              <a:rPr lang="en-US"/>
              <a:pPr>
                <a:defRPr/>
              </a:pPr>
              <a:t>‹#›</a:t>
            </a:fld>
            <a:endParaRPr lang="en-US"/>
          </a:p>
        </p:txBody>
      </p:sp>
      <p:sp>
        <p:nvSpPr>
          <p:cNvPr id="6" name="Rectangle 3">
            <a:extLst>
              <a:ext uri="{FF2B5EF4-FFF2-40B4-BE49-F238E27FC236}">
                <a16:creationId xmlns:a16="http://schemas.microsoft.com/office/drawing/2014/main" id="{2EB4D491-05E9-53AB-E987-C6383C7B7C83}"/>
              </a:ext>
            </a:extLst>
          </p:cNvPr>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162171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63686" y="2846231"/>
            <a:ext cx="4417452" cy="1460428"/>
          </a:xfrm>
          <a:prstGeom prst="rect">
            <a:avLst/>
          </a:prstGeom>
        </p:spPr>
        <p:txBody>
          <a:bodyPr anchor="b">
            <a:normAutofit/>
          </a:bodyPr>
          <a:lstStyle>
            <a:lvl1pPr algn="r">
              <a:defRPr sz="4200" b="1" baseline="0">
                <a:solidFill>
                  <a:srgbClr val="22377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7263686" y="4429523"/>
            <a:ext cx="4417452" cy="750072"/>
          </a:xfrm>
          <a:prstGeom prst="rect">
            <a:avLst/>
          </a:prstGeom>
        </p:spPr>
        <p:txBody>
          <a:bodyPr/>
          <a:lstStyle>
            <a:lvl1pPr marL="0" indent="0" algn="r">
              <a:buNone/>
              <a:defRPr sz="1800" baseline="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1" name="Content Placeholder 2"/>
          <p:cNvSpPr>
            <a:spLocks noGrp="1"/>
          </p:cNvSpPr>
          <p:nvPr>
            <p:ph idx="13"/>
          </p:nvPr>
        </p:nvSpPr>
        <p:spPr>
          <a:xfrm>
            <a:off x="1" y="862151"/>
            <a:ext cx="7096259" cy="5631943"/>
          </a:xfrm>
          <a:prstGeom prst="rect">
            <a:avLst/>
          </a:prstGeom>
        </p:spPr>
        <p:txBody>
          <a:bodyPr/>
          <a:lstStyle>
            <a:lvl1pPr marL="0" indent="0">
              <a:buNone/>
              <a:defRPr baseline="0"/>
            </a:lvl1pPr>
          </a:lstStyle>
          <a:p>
            <a:pPr lvl="0"/>
            <a:r>
              <a:rPr lang="en-US"/>
              <a:t>Click to edit Master text styles</a:t>
            </a:r>
          </a:p>
        </p:txBody>
      </p:sp>
      <p:sp>
        <p:nvSpPr>
          <p:cNvPr id="5" name="Date Placeholder 3">
            <a:extLst>
              <a:ext uri="{FF2B5EF4-FFF2-40B4-BE49-F238E27FC236}">
                <a16:creationId xmlns:a16="http://schemas.microsoft.com/office/drawing/2014/main" id="{F1888363-DACF-4CD3-2499-6E28B3D6969D}"/>
              </a:ext>
            </a:extLst>
          </p:cNvPr>
          <p:cNvSpPr>
            <a:spLocks noGrp="1"/>
          </p:cNvSpPr>
          <p:nvPr>
            <p:ph type="dt" sz="half" idx="14"/>
          </p:nvPr>
        </p:nvSpPr>
        <p:spPr/>
        <p:txBody>
          <a:bodyPr/>
          <a:lstStyle>
            <a:lvl1pPr>
              <a:defRPr smtClean="0"/>
            </a:lvl1pPr>
          </a:lstStyle>
          <a:p>
            <a:pPr>
              <a:defRPr/>
            </a:pPr>
            <a:fld id="{7A147622-DF6C-4AD4-B05B-A94F62E38A86}" type="datetime1">
              <a:rPr lang="en-US"/>
              <a:pPr>
                <a:defRPr/>
              </a:pPr>
              <a:t>12/19/2024</a:t>
            </a:fld>
            <a:endParaRPr lang="en-US"/>
          </a:p>
        </p:txBody>
      </p:sp>
      <p:sp>
        <p:nvSpPr>
          <p:cNvPr id="6" name="Footer Placeholder 4">
            <a:extLst>
              <a:ext uri="{FF2B5EF4-FFF2-40B4-BE49-F238E27FC236}">
                <a16:creationId xmlns:a16="http://schemas.microsoft.com/office/drawing/2014/main" id="{32A37517-8DD7-EEA6-F2E6-49FC8CC73AB6}"/>
              </a:ext>
            </a:extLst>
          </p:cNvPr>
          <p:cNvSpPr>
            <a:spLocks noGrp="1"/>
          </p:cNvSpPr>
          <p:nvPr>
            <p:ph type="ftr" sz="quarter" idx="15"/>
          </p:nvPr>
        </p:nvSpPr>
        <p:spPr>
          <a:xfrm>
            <a:off x="3871913" y="6604000"/>
            <a:ext cx="4114800" cy="254000"/>
          </a:xfrm>
        </p:spPr>
        <p:txBody>
          <a:bodyPr/>
          <a:lstStyle>
            <a:lvl1pPr defTabSz="342900" eaLnBrk="1" fontAlgn="auto" hangingPunct="1">
              <a:spcBef>
                <a:spcPts val="0"/>
              </a:spcBef>
              <a:spcAft>
                <a:spcPts val="0"/>
              </a:spcAft>
              <a:defRPr>
                <a:solidFill>
                  <a:prstClr val="white"/>
                </a:solidFill>
                <a:latin typeface="Calibri" panose="020F0502020204030204"/>
                <a:ea typeface="+mn-ea"/>
              </a:defRPr>
            </a:lvl1pPr>
          </a:lstStyle>
          <a:p>
            <a:pPr>
              <a:defRPr/>
            </a:pPr>
            <a:r>
              <a:rPr lang="en-US"/>
              <a:t>Database System Design, Implementation And Management </a:t>
            </a:r>
          </a:p>
        </p:txBody>
      </p:sp>
      <p:sp>
        <p:nvSpPr>
          <p:cNvPr id="7" name="Slide Number Placeholder 5">
            <a:extLst>
              <a:ext uri="{FF2B5EF4-FFF2-40B4-BE49-F238E27FC236}">
                <a16:creationId xmlns:a16="http://schemas.microsoft.com/office/drawing/2014/main" id="{9E06BDF5-0E4B-7D5D-4DE0-26F369F0EB12}"/>
              </a:ext>
            </a:extLst>
          </p:cNvPr>
          <p:cNvSpPr>
            <a:spLocks noGrp="1"/>
          </p:cNvSpPr>
          <p:nvPr>
            <p:ph type="sldNum" sz="quarter" idx="16"/>
          </p:nvPr>
        </p:nvSpPr>
        <p:spPr/>
        <p:txBody>
          <a:bodyPr/>
          <a:lstStyle>
            <a:lvl1pPr>
              <a:defRPr/>
            </a:lvl1pPr>
          </a:lstStyle>
          <a:p>
            <a:pPr>
              <a:defRPr/>
            </a:pPr>
            <a:fld id="{4FC3DE7D-4EEA-43B2-9617-70FD3CFD639D}" type="slidenum">
              <a:rPr lang="en-US"/>
              <a:pPr>
                <a:defRPr/>
              </a:pPr>
              <a:t>‹#›</a:t>
            </a:fld>
            <a:endParaRPr lang="en-US"/>
          </a:p>
        </p:txBody>
      </p:sp>
    </p:spTree>
    <p:extLst>
      <p:ext uri="{BB962C8B-B14F-4D97-AF65-F5344CB8AC3E}">
        <p14:creationId xmlns:p14="http://schemas.microsoft.com/office/powerpoint/2010/main" val="1683050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Freeform 13">
            <a:extLst>
              <a:ext uri="{FF2B5EF4-FFF2-40B4-BE49-F238E27FC236}">
                <a16:creationId xmlns:a16="http://schemas.microsoft.com/office/drawing/2014/main" id="{397F7F79-C88E-7534-6D6C-7E21232DD335}"/>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a:xfrm>
            <a:off x="831851" y="1709740"/>
            <a:ext cx="105156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16" name="Content Placeholder 15"/>
          <p:cNvSpPr>
            <a:spLocks noGrp="1"/>
          </p:cNvSpPr>
          <p:nvPr>
            <p:ph sz="quarter" idx="13"/>
          </p:nvPr>
        </p:nvSpPr>
        <p:spPr>
          <a:xfrm>
            <a:off x="392906" y="278800"/>
            <a:ext cx="5813199" cy="457200"/>
          </a:xfrm>
          <a:prstGeom prst="rect">
            <a:avLst/>
          </a:prstGeom>
        </p:spPr>
        <p:txBody>
          <a:bodyPr/>
          <a:lstStyle>
            <a:lvl1pPr>
              <a:defRPr lang="en-VN" sz="2475" b="1" baseline="0" dirty="0">
                <a:solidFill>
                  <a:srgbClr val="223771"/>
                </a:solidFill>
                <a:ea typeface="+mj-ea"/>
              </a:defRPr>
            </a:lvl1pPr>
          </a:lstStyle>
          <a:p>
            <a:pPr lvl="0"/>
            <a:r>
              <a:rPr lang="en-US"/>
              <a:t>Click to edit Master text styles</a:t>
            </a:r>
          </a:p>
        </p:txBody>
      </p:sp>
      <p:sp>
        <p:nvSpPr>
          <p:cNvPr id="6" name="Date Placeholder 3">
            <a:extLst>
              <a:ext uri="{FF2B5EF4-FFF2-40B4-BE49-F238E27FC236}">
                <a16:creationId xmlns:a16="http://schemas.microsoft.com/office/drawing/2014/main" id="{7E8D8520-2EEF-7DFE-992F-B17199C9D3A9}"/>
              </a:ext>
            </a:extLst>
          </p:cNvPr>
          <p:cNvSpPr>
            <a:spLocks noGrp="1"/>
          </p:cNvSpPr>
          <p:nvPr>
            <p:ph type="dt" sz="half" idx="14"/>
          </p:nvPr>
        </p:nvSpPr>
        <p:spPr/>
        <p:txBody>
          <a:bodyPr/>
          <a:lstStyle>
            <a:lvl1pPr>
              <a:defRPr smtClean="0"/>
            </a:lvl1pPr>
          </a:lstStyle>
          <a:p>
            <a:pPr>
              <a:defRPr/>
            </a:pPr>
            <a:fld id="{591607DA-A9BC-4664-80C0-A8EF5A98972C}" type="datetime1">
              <a:rPr lang="en-US"/>
              <a:pPr>
                <a:defRPr/>
              </a:pPr>
              <a:t>12/19/2024</a:t>
            </a:fld>
            <a:endParaRPr lang="en-US"/>
          </a:p>
        </p:txBody>
      </p:sp>
      <p:sp>
        <p:nvSpPr>
          <p:cNvPr id="7" name="Slide Number Placeholder 5">
            <a:extLst>
              <a:ext uri="{FF2B5EF4-FFF2-40B4-BE49-F238E27FC236}">
                <a16:creationId xmlns:a16="http://schemas.microsoft.com/office/drawing/2014/main" id="{B86DAE71-5E4C-AD44-94BB-40E3E9BE3B2A}"/>
              </a:ext>
            </a:extLst>
          </p:cNvPr>
          <p:cNvSpPr>
            <a:spLocks noGrp="1"/>
          </p:cNvSpPr>
          <p:nvPr>
            <p:ph type="sldNum" sz="quarter" idx="15"/>
          </p:nvPr>
        </p:nvSpPr>
        <p:spPr/>
        <p:txBody>
          <a:bodyPr/>
          <a:lstStyle>
            <a:lvl1pPr>
              <a:defRPr/>
            </a:lvl1pPr>
          </a:lstStyle>
          <a:p>
            <a:pPr>
              <a:defRPr/>
            </a:pPr>
            <a:fld id="{B9B03C63-2273-46E4-B7DF-3CCA315B6CB6}" type="slidenum">
              <a:rPr lang="en-US"/>
              <a:pPr>
                <a:defRPr/>
              </a:pPr>
              <a:t>‹#›</a:t>
            </a:fld>
            <a:endParaRPr lang="en-US"/>
          </a:p>
        </p:txBody>
      </p:sp>
      <p:sp>
        <p:nvSpPr>
          <p:cNvPr id="8" name="Rectangle 3">
            <a:extLst>
              <a:ext uri="{FF2B5EF4-FFF2-40B4-BE49-F238E27FC236}">
                <a16:creationId xmlns:a16="http://schemas.microsoft.com/office/drawing/2014/main" id="{474D9259-758C-E063-00D3-B9F2238CDAAB}"/>
              </a:ext>
            </a:extLst>
          </p:cNvPr>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681039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reeform 13">
            <a:extLst>
              <a:ext uri="{FF2B5EF4-FFF2-40B4-BE49-F238E27FC236}">
                <a16:creationId xmlns:a16="http://schemas.microsoft.com/office/drawing/2014/main" id="{E54F1EF8-213B-FF64-8429-F8F6501B5178}"/>
              </a:ext>
            </a:extLst>
          </p:cNvPr>
          <p:cNvSpPr/>
          <p:nvPr userDrawn="1"/>
        </p:nvSpPr>
        <p:spPr>
          <a:xfrm>
            <a:off x="701899" y="515148"/>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a:xfrm>
            <a:off x="701900" y="351789"/>
            <a:ext cx="8061101" cy="922762"/>
          </a:xfrm>
          <a:prstGeom prst="rect">
            <a:avLst/>
          </a:prstGeom>
        </p:spPr>
        <p:txBody>
          <a:bodyPr>
            <a:normAutofit/>
          </a:bodyPr>
          <a:lstStyle>
            <a:lvl1pPr>
              <a:defRPr sz="2250" b="1">
                <a:solidFill>
                  <a:srgbClr val="223771"/>
                </a:solidFill>
              </a:defRPr>
            </a:lvl1pPr>
          </a:lstStyle>
          <a:p>
            <a:r>
              <a:rPr lang="en-US"/>
              <a:t>Click to edit Master title style</a:t>
            </a:r>
          </a:p>
        </p:txBody>
      </p:sp>
      <p:sp>
        <p:nvSpPr>
          <p:cNvPr id="3" name="Content Placeholder 2"/>
          <p:cNvSpPr>
            <a:spLocks noGrp="1"/>
          </p:cNvSpPr>
          <p:nvPr>
            <p:ph sz="half" idx="1"/>
          </p:nvPr>
        </p:nvSpPr>
        <p:spPr>
          <a:xfrm>
            <a:off x="701899" y="1639781"/>
            <a:ext cx="3336703"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711"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p:cNvSpPr>
            <a:spLocks noGrp="1"/>
          </p:cNvSpPr>
          <p:nvPr>
            <p:ph sz="half" idx="13"/>
          </p:nvPr>
        </p:nvSpPr>
        <p:spPr>
          <a:xfrm>
            <a:off x="8426539"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9E9E4F77-455A-34FF-7394-C19D63B430BC}"/>
              </a:ext>
            </a:extLst>
          </p:cNvPr>
          <p:cNvSpPr>
            <a:spLocks noGrp="1"/>
          </p:cNvSpPr>
          <p:nvPr>
            <p:ph type="dt" sz="half" idx="14"/>
          </p:nvPr>
        </p:nvSpPr>
        <p:spPr/>
        <p:txBody>
          <a:bodyPr/>
          <a:lstStyle>
            <a:lvl1pPr>
              <a:defRPr smtClean="0"/>
            </a:lvl1pPr>
          </a:lstStyle>
          <a:p>
            <a:pPr>
              <a:defRPr/>
            </a:pPr>
            <a:fld id="{C90A3BB5-049D-4035-BBD7-C54E04C91C61}" type="datetime1">
              <a:rPr lang="en-US"/>
              <a:pPr>
                <a:defRPr/>
              </a:pPr>
              <a:t>12/19/2024</a:t>
            </a:fld>
            <a:endParaRPr lang="en-US"/>
          </a:p>
        </p:txBody>
      </p:sp>
      <p:sp>
        <p:nvSpPr>
          <p:cNvPr id="8" name="Slide Number Placeholder 6">
            <a:extLst>
              <a:ext uri="{FF2B5EF4-FFF2-40B4-BE49-F238E27FC236}">
                <a16:creationId xmlns:a16="http://schemas.microsoft.com/office/drawing/2014/main" id="{7A7C627D-779A-8D83-E2C4-C40DC84F78DD}"/>
              </a:ext>
            </a:extLst>
          </p:cNvPr>
          <p:cNvSpPr>
            <a:spLocks noGrp="1"/>
          </p:cNvSpPr>
          <p:nvPr>
            <p:ph type="sldNum" sz="quarter" idx="15"/>
          </p:nvPr>
        </p:nvSpPr>
        <p:spPr/>
        <p:txBody>
          <a:bodyPr/>
          <a:lstStyle>
            <a:lvl1pPr>
              <a:defRPr/>
            </a:lvl1pPr>
          </a:lstStyle>
          <a:p>
            <a:pPr>
              <a:defRPr/>
            </a:pPr>
            <a:fld id="{FE967A2B-7DC3-460F-82C1-37366D5A5F1B}" type="slidenum">
              <a:rPr lang="en-US"/>
              <a:pPr>
                <a:defRPr/>
              </a:pPr>
              <a:t>‹#›</a:t>
            </a:fld>
            <a:endParaRPr lang="en-US"/>
          </a:p>
        </p:txBody>
      </p:sp>
      <p:sp>
        <p:nvSpPr>
          <p:cNvPr id="10" name="Rectangle 3">
            <a:extLst>
              <a:ext uri="{FF2B5EF4-FFF2-40B4-BE49-F238E27FC236}">
                <a16:creationId xmlns:a16="http://schemas.microsoft.com/office/drawing/2014/main" id="{2E03B860-9F7C-2731-9CAC-7601DE48A514}"/>
              </a:ext>
            </a:extLst>
          </p:cNvPr>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654626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916733C-FBD8-62DA-599D-9BAE44D832F0}"/>
              </a:ext>
            </a:extLst>
          </p:cNvPr>
          <p:cNvSpPr>
            <a:spLocks noGrp="1"/>
          </p:cNvSpPr>
          <p:nvPr>
            <p:ph type="dt" sz="half" idx="10"/>
          </p:nvPr>
        </p:nvSpPr>
        <p:spPr/>
        <p:txBody>
          <a:bodyPr/>
          <a:lstStyle>
            <a:lvl1pPr>
              <a:defRPr smtClean="0"/>
            </a:lvl1pPr>
          </a:lstStyle>
          <a:p>
            <a:pPr>
              <a:defRPr/>
            </a:pPr>
            <a:fld id="{0135270F-5CE6-4EF5-9A71-BDCE233B4E76}" type="datetime1">
              <a:rPr lang="en-US"/>
              <a:pPr>
                <a:defRPr/>
              </a:pPr>
              <a:t>12/19/2024</a:t>
            </a:fld>
            <a:endParaRPr lang="en-US"/>
          </a:p>
        </p:txBody>
      </p:sp>
      <p:sp>
        <p:nvSpPr>
          <p:cNvPr id="4" name="Slide Number Placeholder 3">
            <a:extLst>
              <a:ext uri="{FF2B5EF4-FFF2-40B4-BE49-F238E27FC236}">
                <a16:creationId xmlns:a16="http://schemas.microsoft.com/office/drawing/2014/main" id="{ADA71387-83EF-1FFD-724E-49A6E970C5CC}"/>
              </a:ext>
            </a:extLst>
          </p:cNvPr>
          <p:cNvSpPr>
            <a:spLocks noGrp="1"/>
          </p:cNvSpPr>
          <p:nvPr>
            <p:ph type="sldNum" sz="quarter" idx="11"/>
          </p:nvPr>
        </p:nvSpPr>
        <p:spPr/>
        <p:txBody>
          <a:bodyPr/>
          <a:lstStyle>
            <a:lvl1pPr>
              <a:defRPr/>
            </a:lvl1pPr>
          </a:lstStyle>
          <a:p>
            <a:pPr>
              <a:defRPr/>
            </a:pPr>
            <a:fld id="{D1AD3536-327C-4937-83AF-A64971CFA6D9}" type="slidenum">
              <a:rPr lang="en-US"/>
              <a:pPr>
                <a:defRPr/>
              </a:pPr>
              <a:t>‹#›</a:t>
            </a:fld>
            <a:endParaRPr lang="en-US"/>
          </a:p>
        </p:txBody>
      </p:sp>
      <p:sp>
        <p:nvSpPr>
          <p:cNvPr id="5" name="Rectangle 3">
            <a:extLst>
              <a:ext uri="{FF2B5EF4-FFF2-40B4-BE49-F238E27FC236}">
                <a16:creationId xmlns:a16="http://schemas.microsoft.com/office/drawing/2014/main" id="{82812D8D-EA8D-1B75-F994-BA3986DCE525}"/>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1600669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4" name="Title 1"/>
          <p:cNvSpPr>
            <a:spLocks noGrp="1"/>
          </p:cNvSpPr>
          <p:nvPr>
            <p:ph type="title"/>
          </p:nvPr>
        </p:nvSpPr>
        <p:spPr>
          <a:xfrm>
            <a:off x="741484" y="785428"/>
            <a:ext cx="8061101" cy="553289"/>
          </a:xfrm>
          <a:prstGeom prst="rect">
            <a:avLst/>
          </a:prstGeom>
        </p:spPr>
        <p:txBody>
          <a:bodyPr>
            <a:normAutofit/>
          </a:bodyPr>
          <a:lstStyle>
            <a:lvl1pPr>
              <a:defRPr sz="1875" b="1" baseline="0">
                <a:solidFill>
                  <a:srgbClr val="223771"/>
                </a:solidFill>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95DDBC1F-BF9C-7B51-59FB-F19B6984EB64}"/>
              </a:ext>
            </a:extLst>
          </p:cNvPr>
          <p:cNvSpPr>
            <a:spLocks noGrp="1"/>
          </p:cNvSpPr>
          <p:nvPr>
            <p:ph type="dt" sz="half" idx="10"/>
          </p:nvPr>
        </p:nvSpPr>
        <p:spPr/>
        <p:txBody>
          <a:bodyPr/>
          <a:lstStyle>
            <a:lvl1pPr>
              <a:defRPr smtClean="0"/>
            </a:lvl1pPr>
          </a:lstStyle>
          <a:p>
            <a:pPr>
              <a:defRPr/>
            </a:pPr>
            <a:fld id="{42F541BA-B8B3-45BF-9568-D96FA3A28EA4}" type="datetime1">
              <a:rPr lang="en-US"/>
              <a:pPr>
                <a:defRPr/>
              </a:pPr>
              <a:t>12/19/2024</a:t>
            </a:fld>
            <a:endParaRPr lang="en-US"/>
          </a:p>
        </p:txBody>
      </p:sp>
      <p:sp>
        <p:nvSpPr>
          <p:cNvPr id="4" name="Slide Number Placeholder 5">
            <a:extLst>
              <a:ext uri="{FF2B5EF4-FFF2-40B4-BE49-F238E27FC236}">
                <a16:creationId xmlns:a16="http://schemas.microsoft.com/office/drawing/2014/main" id="{F3C17964-6658-65D0-C4E0-286261C6CE64}"/>
              </a:ext>
            </a:extLst>
          </p:cNvPr>
          <p:cNvSpPr>
            <a:spLocks noGrp="1"/>
          </p:cNvSpPr>
          <p:nvPr>
            <p:ph type="sldNum" sz="quarter" idx="11"/>
          </p:nvPr>
        </p:nvSpPr>
        <p:spPr/>
        <p:txBody>
          <a:bodyPr/>
          <a:lstStyle>
            <a:lvl1pPr>
              <a:defRPr/>
            </a:lvl1pPr>
          </a:lstStyle>
          <a:p>
            <a:pPr>
              <a:defRPr/>
            </a:pPr>
            <a:fld id="{2BE77ECF-F060-4D46-A3D9-128B9B0DFB4A}" type="slidenum">
              <a:rPr lang="en-US"/>
              <a:pPr>
                <a:defRPr/>
              </a:pPr>
              <a:t>‹#›</a:t>
            </a:fld>
            <a:endParaRPr lang="en-US"/>
          </a:p>
        </p:txBody>
      </p:sp>
      <p:sp>
        <p:nvSpPr>
          <p:cNvPr id="5" name="Rectangle 3">
            <a:extLst>
              <a:ext uri="{FF2B5EF4-FFF2-40B4-BE49-F238E27FC236}">
                <a16:creationId xmlns:a16="http://schemas.microsoft.com/office/drawing/2014/main" id="{C83511F7-1E66-04C0-64CE-2CA8940B2D71}"/>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34848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5" name="Freeform 13">
            <a:extLst>
              <a:ext uri="{FF2B5EF4-FFF2-40B4-BE49-F238E27FC236}">
                <a16:creationId xmlns:a16="http://schemas.microsoft.com/office/drawing/2014/main" id="{AB79923C-0D24-F53B-D9C9-FA068E03CBFF}"/>
              </a:ext>
            </a:extLst>
          </p:cNvPr>
          <p:cNvSpPr/>
          <p:nvPr userDrawn="1"/>
        </p:nvSpPr>
        <p:spPr>
          <a:xfrm>
            <a:off x="851140" y="711200"/>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lnSpc>
                <a:spcPct val="150000"/>
              </a:lnSpc>
              <a:buClr>
                <a:schemeClr val="accent2"/>
              </a:buClr>
              <a:buFont typeface="Wingdings" panose="05000000000000000000" pitchFamily="2" charset="2"/>
              <a:buChar char="q"/>
              <a:defRPr>
                <a:latin typeface="NewCaledoniaLTStd"/>
              </a:defRPr>
            </a:lvl1pPr>
            <a:lvl2pPr marL="514350" indent="-171450">
              <a:lnSpc>
                <a:spcPct val="150000"/>
              </a:lnSpc>
              <a:buClr>
                <a:schemeClr val="accent2"/>
              </a:buClr>
              <a:buFont typeface="Wingdings" panose="05000000000000000000" pitchFamily="2" charset="2"/>
              <a:buChar char="Ø"/>
              <a:defRPr>
                <a:latin typeface="NewCaledoniaLTStd"/>
              </a:defRPr>
            </a:lvl2pPr>
            <a:lvl3pPr marL="857250" indent="-171450">
              <a:lnSpc>
                <a:spcPct val="150000"/>
              </a:lnSpc>
              <a:buClr>
                <a:schemeClr val="accent2"/>
              </a:buClr>
              <a:buFont typeface="Wingdings" panose="05000000000000000000" pitchFamily="2" charset="2"/>
              <a:buChar char="ü"/>
              <a:defRPr>
                <a:latin typeface="NewCaledoniaLTStd"/>
              </a:defRPr>
            </a:lvl3pPr>
            <a:lvl4pPr marL="1200150" indent="-171450">
              <a:lnSpc>
                <a:spcPct val="150000"/>
              </a:lnSpc>
              <a:buClr>
                <a:schemeClr val="accent2"/>
              </a:buClr>
              <a:buFont typeface="Courier New" panose="02070309020205020404" pitchFamily="49" charset="0"/>
              <a:buChar char="o"/>
              <a:defRPr>
                <a:latin typeface="NewCaledoniaLTStd"/>
              </a:defRPr>
            </a:lvl4pPr>
            <a:lvl5pPr marL="1543050" indent="-171450">
              <a:lnSpc>
                <a:spcPct val="150000"/>
              </a:lnSpc>
              <a:buClr>
                <a:schemeClr val="accent2"/>
              </a:buClr>
              <a:buFont typeface="Arial" panose="020B0604020202020204" pitchFamily="34" charset="0"/>
              <a:buChar char="•"/>
              <a:defRPr>
                <a:latin typeface="NewCaledoniaLTStd"/>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8">
            <a:extLst>
              <a:ext uri="{FF2B5EF4-FFF2-40B4-BE49-F238E27FC236}">
                <a16:creationId xmlns:a16="http://schemas.microsoft.com/office/drawing/2014/main" id="{6123AFBE-2234-186F-5F0C-22D156916CE5}"/>
              </a:ext>
            </a:extLst>
          </p:cNvPr>
          <p:cNvSpPr>
            <a:spLocks noGrp="1" noChangeArrowheads="1"/>
          </p:cNvSpPr>
          <p:nvPr>
            <p:ph type="sldNum" sz="quarter" idx="10"/>
          </p:nvPr>
        </p:nvSpPr>
        <p:spPr/>
        <p:txBody>
          <a:bodyPr/>
          <a:lstStyle>
            <a:lvl1pPr defTabSz="9144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defRPr/>
            </a:pPr>
            <a:fld id="{34A84676-C444-4AC5-8B4E-405A7C81C0FB}" type="slidenum">
              <a:rPr lang="en-US" altLang="en-US"/>
              <a:pPr>
                <a:defRPr/>
              </a:pPr>
              <a:t>‹#›</a:t>
            </a:fld>
            <a:endParaRPr lang="en-US" altLang="en-US"/>
          </a:p>
        </p:txBody>
      </p:sp>
      <p:sp>
        <p:nvSpPr>
          <p:cNvPr id="7" name="Rectangle 3">
            <a:extLst>
              <a:ext uri="{FF2B5EF4-FFF2-40B4-BE49-F238E27FC236}">
                <a16:creationId xmlns:a16="http://schemas.microsoft.com/office/drawing/2014/main" id="{2964D1F0-47D7-5B21-B6DA-1122FAFAABBE}"/>
              </a:ext>
            </a:extLst>
          </p:cNvPr>
          <p:cNvSpPr>
            <a:spLocks noGrp="1" noChangeArrowheads="1"/>
          </p:cNvSpPr>
          <p:nvPr>
            <p:ph type="ftr" sz="quarter" idx="11"/>
          </p:nvPr>
        </p:nvSpPr>
        <p:spPr/>
        <p:txBody>
          <a:bodyPr/>
          <a:lstStyle>
            <a:lvl1pPr>
              <a:defRPr/>
            </a:lvl1pPr>
          </a:lstStyle>
          <a:p>
            <a:pPr>
              <a:defRPr/>
            </a:pPr>
            <a:r>
              <a:rPr lang="en-US"/>
              <a:t>Database System Design, Implementation And Management </a:t>
            </a:r>
          </a:p>
        </p:txBody>
      </p:sp>
      <p:sp>
        <p:nvSpPr>
          <p:cNvPr id="8" name="Date Placeholder 1">
            <a:extLst>
              <a:ext uri="{FF2B5EF4-FFF2-40B4-BE49-F238E27FC236}">
                <a16:creationId xmlns:a16="http://schemas.microsoft.com/office/drawing/2014/main" id="{AD08CD51-62C0-58FD-6E1D-88EF84F0130D}"/>
              </a:ext>
            </a:extLst>
          </p:cNvPr>
          <p:cNvSpPr>
            <a:spLocks noGrp="1"/>
          </p:cNvSpPr>
          <p:nvPr>
            <p:ph type="dt" sz="half" idx="12"/>
          </p:nvPr>
        </p:nvSpPr>
        <p:spPr/>
        <p:txBody>
          <a:bodyPr/>
          <a:lstStyle>
            <a:lvl1pPr>
              <a:defRPr smtClean="0"/>
            </a:lvl1pPr>
          </a:lstStyle>
          <a:p>
            <a:pPr>
              <a:defRPr/>
            </a:pPr>
            <a:fld id="{6D947E3C-0B49-413F-8928-2C02ECEF5B61}" type="datetime1">
              <a:rPr lang="en-US"/>
              <a:pPr>
                <a:defRPr/>
              </a:pPr>
              <a:t>12/19/2024</a:t>
            </a:fld>
            <a:endParaRPr lang="en-US"/>
          </a:p>
        </p:txBody>
      </p:sp>
    </p:spTree>
    <p:extLst>
      <p:ext uri="{BB962C8B-B14F-4D97-AF65-F5344CB8AC3E}">
        <p14:creationId xmlns:p14="http://schemas.microsoft.com/office/powerpoint/2010/main" val="3378677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6">
            <a:extLst>
              <a:ext uri="{FF2B5EF4-FFF2-40B4-BE49-F238E27FC236}">
                <a16:creationId xmlns:a16="http://schemas.microsoft.com/office/drawing/2014/main" id="{95787B45-CCD1-2665-35CA-26FF8EFF88D7}"/>
              </a:ext>
            </a:extLst>
          </p:cNvPr>
          <p:cNvGrpSpPr>
            <a:grpSpLocks/>
          </p:cNvGrpSpPr>
          <p:nvPr/>
        </p:nvGrpSpPr>
        <p:grpSpPr bwMode="auto">
          <a:xfrm>
            <a:off x="0" y="6494463"/>
            <a:ext cx="12192000" cy="373062"/>
            <a:chOff x="0" y="1661375"/>
            <a:chExt cx="12192000" cy="373091"/>
          </a:xfrm>
        </p:grpSpPr>
        <p:sp>
          <p:nvSpPr>
            <p:cNvPr id="8" name="Rectangle 7">
              <a:extLst>
                <a:ext uri="{FF2B5EF4-FFF2-40B4-BE49-F238E27FC236}">
                  <a16:creationId xmlns:a16="http://schemas.microsoft.com/office/drawing/2014/main" id="{E0A8C841-F6D0-23B2-733A-1CD90B3F4DAD}"/>
                </a:ext>
              </a:extLst>
            </p:cNvPr>
            <p:cNvSpPr/>
            <p:nvPr/>
          </p:nvSpPr>
          <p:spPr>
            <a:xfrm>
              <a:off x="0" y="1661375"/>
              <a:ext cx="12192000" cy="109546"/>
            </a:xfrm>
            <a:prstGeom prst="rect">
              <a:avLst/>
            </a:prstGeom>
            <a:solidFill>
              <a:srgbClr val="F265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000">
                <a:solidFill>
                  <a:prstClr val="white"/>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F0B988D-9418-5175-B8F1-38CA646ADBA2}"/>
                </a:ext>
              </a:extLst>
            </p:cNvPr>
            <p:cNvSpPr/>
            <p:nvPr/>
          </p:nvSpPr>
          <p:spPr>
            <a:xfrm>
              <a:off x="0" y="1759808"/>
              <a:ext cx="12192000" cy="274658"/>
            </a:xfrm>
            <a:prstGeom prst="rect">
              <a:avLst/>
            </a:prstGeom>
            <a:solidFill>
              <a:srgbClr val="2237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000">
                <a:solidFill>
                  <a:prstClr val="white"/>
                </a:solidFill>
                <a:latin typeface="Arial" panose="020B0604020202020204" pitchFamily="34" charset="0"/>
                <a:cs typeface="Arial" panose="020B0604020202020204" pitchFamily="34" charset="0"/>
              </a:endParaRPr>
            </a:p>
          </p:txBody>
        </p:sp>
      </p:grpSp>
      <p:sp>
        <p:nvSpPr>
          <p:cNvPr id="6" name="Slide Number Placeholder 5">
            <a:extLst>
              <a:ext uri="{FF2B5EF4-FFF2-40B4-BE49-F238E27FC236}">
                <a16:creationId xmlns:a16="http://schemas.microsoft.com/office/drawing/2014/main" id="{9B3B3991-06E6-1D64-C030-E5657676DBBE}"/>
              </a:ext>
            </a:extLst>
          </p:cNvPr>
          <p:cNvSpPr>
            <a:spLocks noGrp="1"/>
          </p:cNvSpPr>
          <p:nvPr>
            <p:ph type="sldNum" sz="quarter" idx="4"/>
          </p:nvPr>
        </p:nvSpPr>
        <p:spPr>
          <a:xfrm>
            <a:off x="9448800" y="6600825"/>
            <a:ext cx="2743200" cy="274638"/>
          </a:xfrm>
          <a:prstGeom prst="rect">
            <a:avLst/>
          </a:prstGeom>
        </p:spPr>
        <p:txBody>
          <a:bodyPr vert="horz" lIns="91440" tIns="45720" rIns="91440" bIns="45720" rtlCol="0" anchor="ctr"/>
          <a:lstStyle>
            <a:lvl1pPr algn="r" defTabSz="342900" eaLnBrk="1" fontAlgn="auto" hangingPunct="1">
              <a:spcBef>
                <a:spcPts val="0"/>
              </a:spcBef>
              <a:spcAft>
                <a:spcPts val="0"/>
              </a:spcAft>
              <a:defRPr sz="1000">
                <a:solidFill>
                  <a:prstClr val="white"/>
                </a:solidFill>
                <a:latin typeface="Arial" panose="020B0604020202020204" pitchFamily="34" charset="0"/>
                <a:ea typeface="+mn-ea"/>
                <a:cs typeface="Arial" panose="020B0604020202020204" pitchFamily="34" charset="0"/>
              </a:defRPr>
            </a:lvl1pPr>
          </a:lstStyle>
          <a:p>
            <a:pPr>
              <a:defRPr/>
            </a:pPr>
            <a:fld id="{B77A7909-E221-4E66-A5EF-13497EA60DDF}" type="slidenum">
              <a:rPr lang="en-US" smtClean="0"/>
              <a:pPr>
                <a:defRPr/>
              </a:pPr>
              <a:t>‹#›</a:t>
            </a:fld>
            <a:endParaRPr lang="en-US"/>
          </a:p>
        </p:txBody>
      </p:sp>
      <p:sp>
        <p:nvSpPr>
          <p:cNvPr id="4" name="Date Placeholder 3">
            <a:extLst>
              <a:ext uri="{FF2B5EF4-FFF2-40B4-BE49-F238E27FC236}">
                <a16:creationId xmlns:a16="http://schemas.microsoft.com/office/drawing/2014/main" id="{0DB57D17-CBC3-C51E-EB1C-7963F0F1D19C}"/>
              </a:ext>
            </a:extLst>
          </p:cNvPr>
          <p:cNvSpPr>
            <a:spLocks noGrp="1"/>
          </p:cNvSpPr>
          <p:nvPr>
            <p:ph type="dt" sz="half" idx="2"/>
          </p:nvPr>
        </p:nvSpPr>
        <p:spPr>
          <a:xfrm>
            <a:off x="0" y="6600825"/>
            <a:ext cx="2743200" cy="257175"/>
          </a:xfrm>
          <a:prstGeom prst="rect">
            <a:avLst/>
          </a:prstGeom>
        </p:spPr>
        <p:txBody>
          <a:bodyPr vert="horz" lIns="91440" tIns="45720" rIns="91440" bIns="45720" rtlCol="0" anchor="ctr"/>
          <a:lstStyle>
            <a:lvl1pPr algn="l" defTabSz="342900" eaLnBrk="1" fontAlgn="auto" hangingPunct="1">
              <a:spcBef>
                <a:spcPts val="0"/>
              </a:spcBef>
              <a:spcAft>
                <a:spcPts val="0"/>
              </a:spcAft>
              <a:defRPr sz="1000" smtClean="0">
                <a:solidFill>
                  <a:prstClr val="white"/>
                </a:solidFill>
                <a:latin typeface="Arial" panose="020B0604020202020204" pitchFamily="34" charset="0"/>
                <a:ea typeface="+mn-ea"/>
                <a:cs typeface="Arial" panose="020B0604020202020204" pitchFamily="34" charset="0"/>
              </a:defRPr>
            </a:lvl1pPr>
          </a:lstStyle>
          <a:p>
            <a:pPr>
              <a:defRPr/>
            </a:pPr>
            <a:fld id="{AE5C34FE-8DBA-47D2-B92C-42DE287139A6}" type="datetime1">
              <a:rPr lang="en-US" smtClean="0"/>
              <a:pPr>
                <a:defRPr/>
              </a:pPr>
              <a:t>12/19/2024</a:t>
            </a:fld>
            <a:endParaRPr lang="en-US" dirty="0"/>
          </a:p>
        </p:txBody>
      </p:sp>
      <p:sp>
        <p:nvSpPr>
          <p:cNvPr id="1029" name="Title Placeholder 1">
            <a:extLst>
              <a:ext uri="{FF2B5EF4-FFF2-40B4-BE49-F238E27FC236}">
                <a16:creationId xmlns:a16="http://schemas.microsoft.com/office/drawing/2014/main" id="{B3DE4959-DECB-5DE9-5280-05B3FE6EB057}"/>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Text Placeholder 2">
            <a:extLst>
              <a:ext uri="{FF2B5EF4-FFF2-40B4-BE49-F238E27FC236}">
                <a16:creationId xmlns:a16="http://schemas.microsoft.com/office/drawing/2014/main" id="{810CF440-6E0B-2021-0C2C-5CE6B0FDCE5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Rectangle 3">
            <a:extLst>
              <a:ext uri="{FF2B5EF4-FFF2-40B4-BE49-F238E27FC236}">
                <a16:creationId xmlns:a16="http://schemas.microsoft.com/office/drawing/2014/main" id="{CCD044D3-EBD5-9CF6-2CD8-89513494DC68}"/>
              </a:ext>
            </a:extLst>
          </p:cNvPr>
          <p:cNvSpPr>
            <a:spLocks noGrp="1" noChangeArrowheads="1"/>
          </p:cNvSpPr>
          <p:nvPr>
            <p:ph type="ftr" sz="quarter" idx="3"/>
          </p:nvPr>
        </p:nvSpPr>
        <p:spPr>
          <a:xfrm>
            <a:off x="3871913" y="6604000"/>
            <a:ext cx="4967287" cy="254000"/>
          </a:xfrm>
          <a:prstGeom prst="rect">
            <a:avLst/>
          </a:prstGeom>
          <a:ln/>
        </p:spPr>
        <p:txBody>
          <a:bodyPr/>
          <a:lstStyle>
            <a:lvl1pPr>
              <a:defRPr sz="1000">
                <a:solidFill>
                  <a:schemeClr val="bg1"/>
                </a:solidFill>
                <a:latin typeface="Arial" panose="020B0604020202020204" pitchFamily="34" charset="0"/>
                <a:cs typeface="Arial" panose="020B0604020202020204" pitchFamily="34" charset="0"/>
              </a:defRPr>
            </a:lvl1pPr>
          </a:lstStyle>
          <a:p>
            <a:pPr>
              <a:defRPr/>
            </a:pPr>
            <a:r>
              <a:rPr lang="en-US"/>
              <a:t>Database System Design, Implementation And Management </a:t>
            </a: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hdr="0"/>
  <p:txStyles>
    <p:titleStyle>
      <a:lvl1pPr algn="l" defTabSz="685800" rtl="0" eaLnBrk="0" fontAlgn="base" hangingPunct="0">
        <a:lnSpc>
          <a:spcPct val="90000"/>
        </a:lnSpc>
        <a:spcBef>
          <a:spcPct val="0"/>
        </a:spcBef>
        <a:spcAft>
          <a:spcPct val="0"/>
        </a:spcAft>
        <a:defRPr sz="3300" kern="1200">
          <a:solidFill>
            <a:schemeClr val="tx1"/>
          </a:solidFill>
          <a:latin typeface="Arial" panose="020B0604020202020204" pitchFamily="34" charset="0"/>
          <a:ea typeface="+mj-ea"/>
          <a:cs typeface="Arial" panose="020B0604020202020204" pitchFamily="34" charset="0"/>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55D12DE-3880-DE12-CE17-D7CD7AFD7B88}"/>
              </a:ext>
            </a:extLst>
          </p:cNvPr>
          <p:cNvSpPr>
            <a:spLocks noGrp="1" noChangeArrowheads="1"/>
          </p:cNvSpPr>
          <p:nvPr>
            <p:ph type="title"/>
          </p:nvPr>
        </p:nvSpPr>
        <p:spPr/>
        <p:txBody>
          <a:bodyPr/>
          <a:lstStyle/>
          <a:p>
            <a:pPr eaLnBrk="1" hangingPunct="1"/>
            <a:r>
              <a:rPr lang="en-US" altLang="en-US"/>
              <a:t>Learning Objectives</a:t>
            </a:r>
          </a:p>
        </p:txBody>
      </p:sp>
      <p:sp>
        <p:nvSpPr>
          <p:cNvPr id="18435" name="Rectangle 3">
            <a:extLst>
              <a:ext uri="{FF2B5EF4-FFF2-40B4-BE49-F238E27FC236}">
                <a16:creationId xmlns:a16="http://schemas.microsoft.com/office/drawing/2014/main" id="{55AFAA60-0CDA-A322-906A-3A5AB6B6D2D6}"/>
              </a:ext>
            </a:extLst>
          </p:cNvPr>
          <p:cNvSpPr>
            <a:spLocks noGrp="1" noChangeArrowheads="1"/>
          </p:cNvSpPr>
          <p:nvPr>
            <p:ph idx="1"/>
          </p:nvPr>
        </p:nvSpPr>
        <p:spPr/>
        <p:txBody>
          <a:bodyPr/>
          <a:lstStyle/>
          <a:p>
            <a:pPr marL="457200" indent="-457200" eaLnBrk="1" hangingPunct="1">
              <a:lnSpc>
                <a:spcPct val="150000"/>
              </a:lnSpc>
              <a:buFont typeface="Calibri Light" panose="020F0302020204030204" pitchFamily="34" charset="0"/>
              <a:buAutoNum type="arabicPeriod"/>
            </a:pPr>
            <a:r>
              <a:rPr lang="en-US" altLang="en-US" sz="1800" dirty="0"/>
              <a:t>Define the difference between data and information</a:t>
            </a:r>
          </a:p>
          <a:p>
            <a:pPr marL="457200" indent="-457200" eaLnBrk="1" hangingPunct="1">
              <a:lnSpc>
                <a:spcPct val="150000"/>
              </a:lnSpc>
              <a:buFont typeface="Calibri Light" panose="020F0302020204030204" pitchFamily="34" charset="0"/>
              <a:buAutoNum type="arabicPeriod"/>
            </a:pPr>
            <a:r>
              <a:rPr lang="en-US" altLang="en-US" sz="1800" dirty="0"/>
              <a:t>Describe what a database is, the various types of databases, and why they are valuable assets for decision making</a:t>
            </a:r>
          </a:p>
          <a:p>
            <a:pPr marL="457200" indent="-457200" eaLnBrk="1" hangingPunct="1">
              <a:lnSpc>
                <a:spcPct val="150000"/>
              </a:lnSpc>
              <a:buFont typeface="Calibri Light" panose="020F0302020204030204" pitchFamily="34" charset="0"/>
              <a:buAutoNum type="arabicPeriod"/>
            </a:pPr>
            <a:r>
              <a:rPr lang="en-US" altLang="en-US" sz="1800" dirty="0"/>
              <a:t>Explain the importance of database design</a:t>
            </a:r>
          </a:p>
          <a:p>
            <a:pPr marL="457200" indent="-457200" eaLnBrk="1" hangingPunct="1">
              <a:lnSpc>
                <a:spcPct val="150000"/>
              </a:lnSpc>
              <a:buFont typeface="Calibri Light" panose="020F0302020204030204" pitchFamily="34" charset="0"/>
              <a:buAutoNum type="arabicPeriod"/>
            </a:pPr>
            <a:r>
              <a:rPr lang="en-US" altLang="en-US" sz="1800" dirty="0"/>
              <a:t>Outline how modern databases evolved from file systems</a:t>
            </a:r>
          </a:p>
          <a:p>
            <a:pPr marL="457200" indent="-457200" eaLnBrk="1" hangingPunct="1">
              <a:lnSpc>
                <a:spcPct val="150000"/>
              </a:lnSpc>
              <a:buFont typeface="Calibri Light" panose="020F0302020204030204" pitchFamily="34" charset="0"/>
              <a:buAutoNum type="arabicPeriod"/>
            </a:pPr>
            <a:r>
              <a:rPr lang="en-US" altLang="en-US" sz="1800" dirty="0"/>
              <a:t>Identify flaws in file system data management</a:t>
            </a:r>
          </a:p>
          <a:p>
            <a:pPr marL="457200" indent="-457200" eaLnBrk="1" hangingPunct="1">
              <a:lnSpc>
                <a:spcPct val="150000"/>
              </a:lnSpc>
              <a:buFont typeface="Calibri Light" panose="020F0302020204030204" pitchFamily="34" charset="0"/>
              <a:buAutoNum type="arabicPeriod"/>
            </a:pPr>
            <a:r>
              <a:rPr lang="en-US" altLang="en-US" sz="1800" dirty="0"/>
              <a:t>Outline the main components of the database system</a:t>
            </a:r>
          </a:p>
          <a:p>
            <a:pPr marL="457200" indent="-457200" eaLnBrk="1" hangingPunct="1">
              <a:lnSpc>
                <a:spcPct val="150000"/>
              </a:lnSpc>
              <a:buFont typeface="Calibri Light" panose="020F0302020204030204" pitchFamily="34" charset="0"/>
              <a:buAutoNum type="arabicPeriod"/>
            </a:pPr>
            <a:r>
              <a:rPr lang="en-US" altLang="en-US" sz="1800" dirty="0"/>
              <a:t>Describe the main functions of a database management system (DBMS)</a:t>
            </a:r>
          </a:p>
        </p:txBody>
      </p:sp>
      <p:sp>
        <p:nvSpPr>
          <p:cNvPr id="2" name="Date Placeholder 1">
            <a:extLst>
              <a:ext uri="{FF2B5EF4-FFF2-40B4-BE49-F238E27FC236}">
                <a16:creationId xmlns:a16="http://schemas.microsoft.com/office/drawing/2014/main" id="{5CF56535-3CEC-D929-4BC5-BFFFA746272B}"/>
              </a:ext>
            </a:extLst>
          </p:cNvPr>
          <p:cNvSpPr>
            <a:spLocks noGrp="1"/>
          </p:cNvSpPr>
          <p:nvPr>
            <p:ph type="dt" sz="quarter" idx="12"/>
          </p:nvPr>
        </p:nvSpPr>
        <p:spPr/>
        <p:txBody>
          <a:bodyPr/>
          <a:lstStyle/>
          <a:p>
            <a:pPr>
              <a:defRPr/>
            </a:pPr>
            <a:fld id="{70935733-0070-4FC4-AA67-45D4DA740129}" type="datetime1">
              <a:rPr lang="en-US"/>
              <a:pPr>
                <a:defRPr/>
              </a:pPr>
              <a:t>12/19/2024</a:t>
            </a:fld>
            <a:endParaRPr lang="en-US"/>
          </a:p>
        </p:txBody>
      </p:sp>
      <p:sp>
        <p:nvSpPr>
          <p:cNvPr id="18437" name="Footer Placeholder 5">
            <a:extLst>
              <a:ext uri="{FF2B5EF4-FFF2-40B4-BE49-F238E27FC236}">
                <a16:creationId xmlns:a16="http://schemas.microsoft.com/office/drawing/2014/main" id="{485A426D-6530-9FB2-88B2-A3A18506708A}"/>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Database System Design, Implementation And Management </a:t>
            </a:r>
          </a:p>
        </p:txBody>
      </p:sp>
      <p:sp>
        <p:nvSpPr>
          <p:cNvPr id="18438" name="Slide Number Placeholder 6">
            <a:extLst>
              <a:ext uri="{FF2B5EF4-FFF2-40B4-BE49-F238E27FC236}">
                <a16:creationId xmlns:a16="http://schemas.microsoft.com/office/drawing/2014/main" id="{B056787B-F6F1-4E67-9330-2245C057F8F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25E4E02F-8D0B-4F73-B3DD-858F1DB63CB0}" type="slidenum">
              <a:rPr lang="en-US" altLang="en-US" sz="900" smtClean="0">
                <a:solidFill>
                  <a:schemeClr val="bg1"/>
                </a:solidFill>
              </a:rPr>
              <a:pPr/>
              <a:t>1</a:t>
            </a:fld>
            <a:endParaRPr lang="en-US" altLang="en-US" sz="900" dirty="0">
              <a:solidFill>
                <a:schemeClr val="bg1"/>
              </a:solidFill>
            </a:endParaRPr>
          </a:p>
        </p:txBody>
      </p:sp>
      <p:pic>
        <p:nvPicPr>
          <p:cNvPr id="5" name="Picture 8">
            <a:extLst>
              <a:ext uri="{FF2B5EF4-FFF2-40B4-BE49-F238E27FC236}">
                <a16:creationId xmlns:a16="http://schemas.microsoft.com/office/drawing/2014/main" id="{93202BEA-2638-74DD-C797-07253743C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10" y="76200"/>
            <a:ext cx="11904379" cy="623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230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0FFC1CF-C6D1-C190-5CBD-BA8BD4CDF186}"/>
              </a:ext>
            </a:extLst>
          </p:cNvPr>
          <p:cNvSpPr>
            <a:spLocks noGrp="1" noChangeArrowheads="1"/>
          </p:cNvSpPr>
          <p:nvPr>
            <p:ph type="title"/>
          </p:nvPr>
        </p:nvSpPr>
        <p:spPr>
          <a:xfrm>
            <a:off x="838200" y="304800"/>
            <a:ext cx="10515600" cy="1325563"/>
          </a:xfrm>
        </p:spPr>
        <p:txBody>
          <a:bodyPr/>
          <a:lstStyle/>
          <a:p>
            <a:pPr algn="ctr" eaLnBrk="1" hangingPunct="1"/>
            <a:r>
              <a:rPr lang="en-US" altLang="en-US" dirty="0"/>
              <a:t>National Economics University</a:t>
            </a:r>
            <a:br>
              <a:rPr lang="en-US" altLang="en-US" dirty="0"/>
            </a:br>
            <a:r>
              <a:rPr lang="en-US" altLang="en-US" dirty="0"/>
              <a:t>Faculty of Data Science &amp; Artificial Intelligence</a:t>
            </a:r>
          </a:p>
        </p:txBody>
      </p:sp>
      <p:sp>
        <p:nvSpPr>
          <p:cNvPr id="3" name="Title 1">
            <a:extLst>
              <a:ext uri="{FF2B5EF4-FFF2-40B4-BE49-F238E27FC236}">
                <a16:creationId xmlns:a16="http://schemas.microsoft.com/office/drawing/2014/main" id="{650F7E22-523E-06DC-63AF-3DDDA301838E}"/>
              </a:ext>
            </a:extLst>
          </p:cNvPr>
          <p:cNvSpPr txBox="1">
            <a:spLocks/>
          </p:cNvSpPr>
          <p:nvPr/>
        </p:nvSpPr>
        <p:spPr bwMode="auto">
          <a:xfrm>
            <a:off x="838200" y="1828800"/>
            <a:ext cx="10515600" cy="3657600"/>
          </a:xfrm>
          <a:prstGeom prst="rect">
            <a:avLst/>
          </a:prstGeom>
          <a:noFill/>
          <a:ln>
            <a:noFill/>
          </a:ln>
        </p:spPr>
        <p:txBody>
          <a:bodyPr anchor="ctr"/>
          <a:lstStyle>
            <a:lvl1pPr algn="l" defTabSz="685800" rtl="0" fontAlgn="base">
              <a:lnSpc>
                <a:spcPct val="90000"/>
              </a:lnSpc>
              <a:spcBef>
                <a:spcPct val="0"/>
              </a:spcBef>
              <a:spcAft>
                <a:spcPct val="0"/>
              </a:spcAft>
              <a:defRPr sz="3300" kern="1200">
                <a:solidFill>
                  <a:schemeClr val="bg1"/>
                </a:solidFill>
                <a:latin typeface="Arial" panose="020B0604020202020204" pitchFamily="34" charset="0"/>
                <a:ea typeface="+mj-ea"/>
                <a:cs typeface="Arial" panose="020B0604020202020204" pitchFamily="34" charset="0"/>
              </a:defRPr>
            </a:lvl1pPr>
            <a:lvl2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a:lstStyle>
          <a:p>
            <a:pPr eaLnBrk="1" hangingPunct="1">
              <a:defRPr/>
            </a:pPr>
            <a:r>
              <a:rPr lang="en-US" dirty="0"/>
              <a:t>Database System Design, Implementation And Management Course – Advanced Data Modeling</a:t>
            </a:r>
          </a:p>
          <a:p>
            <a:pPr eaLnBrk="1" hangingPunct="1">
              <a:defRPr/>
            </a:pPr>
            <a:endParaRPr lang="en-US" dirty="0"/>
          </a:p>
          <a:p>
            <a:pPr marL="457200" indent="-457200" eaLnBrk="1" hangingPunct="1">
              <a:buFont typeface="Wingdings" panose="05000000000000000000" pitchFamily="2" charset="2"/>
              <a:buChar char="q"/>
              <a:defRPr/>
            </a:pPr>
            <a:r>
              <a:rPr lang="en-US" dirty="0"/>
              <a:t>Instructor: Duc Minh Vu (FDA – SLSCM Lab)</a:t>
            </a:r>
          </a:p>
          <a:p>
            <a:pPr marL="457200" indent="-457200" eaLnBrk="1" hangingPunct="1">
              <a:buFont typeface="Wingdings" panose="05000000000000000000" pitchFamily="2" charset="2"/>
              <a:buChar char="q"/>
              <a:defRPr/>
            </a:pPr>
            <a:r>
              <a:rPr lang="en-US" dirty="0"/>
              <a:t>Email: </a:t>
            </a:r>
            <a:r>
              <a:rPr lang="en-US" dirty="0" err="1"/>
              <a:t>minhvd</a:t>
            </a:r>
            <a:r>
              <a:rPr lang="en-US" dirty="0"/>
              <a:t> [at] neu.edu.vn</a:t>
            </a:r>
            <a:br>
              <a:rPr lang="en-US" dirty="0"/>
            </a:br>
            <a:endParaRPr lang="en-US" dirty="0"/>
          </a:p>
        </p:txBody>
      </p:sp>
      <p:pic>
        <p:nvPicPr>
          <p:cNvPr id="2" name="Picture 2">
            <a:extLst>
              <a:ext uri="{FF2B5EF4-FFF2-40B4-BE49-F238E27FC236}">
                <a16:creationId xmlns:a16="http://schemas.microsoft.com/office/drawing/2014/main" id="{276F99BE-16D2-D698-B84F-294467AC8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44034" y="204634"/>
            <a:ext cx="1243166" cy="1243166"/>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1">
            <a:extLst>
              <a:ext uri="{FF2B5EF4-FFF2-40B4-BE49-F238E27FC236}">
                <a16:creationId xmlns:a16="http://schemas.microsoft.com/office/drawing/2014/main" id="{19BFC2BE-16EA-CF2A-0193-BCC3544BE7F1}"/>
              </a:ext>
            </a:extLst>
          </p:cNvPr>
          <p:cNvSpPr txBox="1">
            <a:spLocks/>
          </p:cNvSpPr>
          <p:nvPr/>
        </p:nvSpPr>
        <p:spPr>
          <a:xfrm>
            <a:off x="0" y="6600825"/>
            <a:ext cx="2743200" cy="257175"/>
          </a:xfrm>
          <a:prstGeom prst="rect">
            <a:avLst/>
          </a:prstGeom>
          <a:ln/>
        </p:spPr>
        <p:txBody>
          <a:bodyPr/>
          <a:lstStyle>
            <a:defPPr>
              <a:defRPr lang="en-US"/>
            </a:defPPr>
            <a:lvl1pPr algn="l" rtl="0" eaLnBrk="0" fontAlgn="base" hangingPunct="0">
              <a:spcBef>
                <a:spcPct val="0"/>
              </a:spcBef>
              <a:spcAft>
                <a:spcPct val="0"/>
              </a:spcAft>
              <a:defRPr sz="1000"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a:lstStyle>
          <a:p>
            <a:pPr>
              <a:defRPr/>
            </a:pPr>
            <a:fld id="{70935733-0070-4FC4-AA67-45D4DA740129}" type="datetime1">
              <a:rPr lang="en-US" sz="900" smtClean="0"/>
              <a:pPr>
                <a:defRPr/>
              </a:pPr>
              <a:t>12/19/2024</a:t>
            </a:fld>
            <a:endParaRPr lang="en-US" dirty="0"/>
          </a:p>
        </p:txBody>
      </p:sp>
      <p:sp>
        <p:nvSpPr>
          <p:cNvPr id="6" name="Footer Placeholder 5">
            <a:extLst>
              <a:ext uri="{FF2B5EF4-FFF2-40B4-BE49-F238E27FC236}">
                <a16:creationId xmlns:a16="http://schemas.microsoft.com/office/drawing/2014/main" id="{13836BB0-D354-C3A9-B5A0-5D1CD2961152}"/>
              </a:ext>
            </a:extLst>
          </p:cNvPr>
          <p:cNvSpPr txBox="1">
            <a:spLocks noChangeArrowheads="1"/>
          </p:cNvSpPr>
          <p:nvPr/>
        </p:nvSpPr>
        <p:spPr bwMode="auto">
          <a:xfrm>
            <a:off x="3871913" y="6604000"/>
            <a:ext cx="4967287" cy="254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defPPr>
              <a:defRPr lang="en-US"/>
            </a:defPPr>
            <a:lvl1pPr algn="r"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ctr"/>
            <a:r>
              <a:rPr lang="en-US" altLang="en-US" sz="900" dirty="0">
                <a:solidFill>
                  <a:schemeClr val="bg1"/>
                </a:solidFill>
              </a:rPr>
              <a:t>Database System Design, Implementation And Management </a:t>
            </a:r>
          </a:p>
        </p:txBody>
      </p:sp>
      <p:sp>
        <p:nvSpPr>
          <p:cNvPr id="7" name="Slide Number Placeholder 6">
            <a:extLst>
              <a:ext uri="{FF2B5EF4-FFF2-40B4-BE49-F238E27FC236}">
                <a16:creationId xmlns:a16="http://schemas.microsoft.com/office/drawing/2014/main" id="{E59EEC19-2A29-080D-84C0-C504A808E7DA}"/>
              </a:ext>
            </a:extLst>
          </p:cNvPr>
          <p:cNvSpPr txBox="1">
            <a:spLocks noChangeArrowheads="1"/>
          </p:cNvSpPr>
          <p:nvPr/>
        </p:nvSpPr>
        <p:spPr bwMode="auto">
          <a:xfrm>
            <a:off x="9448800" y="6600825"/>
            <a:ext cx="2743200" cy="2746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algn="l"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r"/>
            <a:fld id="{25E4E02F-8D0B-4F73-B3DD-858F1DB63CB0}" type="slidenum">
              <a:rPr lang="en-US" altLang="en-US" sz="900" smtClean="0">
                <a:solidFill>
                  <a:schemeClr val="bg1"/>
                </a:solidFill>
              </a:rPr>
              <a:pPr algn="r"/>
              <a:t>2</a:t>
            </a:fld>
            <a:endParaRPr lang="en-US" altLang="en-US" sz="900" dirty="0">
              <a:solidFill>
                <a:schemeClr val="bg1"/>
              </a:solidFill>
            </a:endParaRPr>
          </a:p>
        </p:txBody>
      </p:sp>
      <p:pic>
        <p:nvPicPr>
          <p:cNvPr id="1026" name="Picture 2" descr="No photo description available.">
            <a:extLst>
              <a:ext uri="{FF2B5EF4-FFF2-40B4-BE49-F238E27FC236}">
                <a16:creationId xmlns:a16="http://schemas.microsoft.com/office/drawing/2014/main" id="{11910D4C-A8E1-69FA-9253-D7771B263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209550"/>
            <a:ext cx="1162050" cy="1162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0DA7-AC14-657A-B65E-6C7711BCA482}"/>
              </a:ext>
            </a:extLst>
          </p:cNvPr>
          <p:cNvSpPr>
            <a:spLocks noGrp="1"/>
          </p:cNvSpPr>
          <p:nvPr>
            <p:ph type="title"/>
          </p:nvPr>
        </p:nvSpPr>
        <p:spPr/>
        <p:txBody>
          <a:bodyPr/>
          <a:lstStyle/>
          <a:p>
            <a:r>
              <a:rPr lang="en-US" dirty="0"/>
              <a:t>Learning Objectives</a:t>
            </a:r>
          </a:p>
        </p:txBody>
      </p:sp>
      <p:sp>
        <p:nvSpPr>
          <p:cNvPr id="3" name="Content Placeholder 2">
            <a:extLst>
              <a:ext uri="{FF2B5EF4-FFF2-40B4-BE49-F238E27FC236}">
                <a16:creationId xmlns:a16="http://schemas.microsoft.com/office/drawing/2014/main" id="{DD22CAA6-61A0-1ABB-6AE0-8956A0AF5EE3}"/>
              </a:ext>
            </a:extLst>
          </p:cNvPr>
          <p:cNvSpPr>
            <a:spLocks noGrp="1"/>
          </p:cNvSpPr>
          <p:nvPr>
            <p:ph idx="1"/>
          </p:nvPr>
        </p:nvSpPr>
        <p:spPr/>
        <p:txBody>
          <a:bodyPr/>
          <a:lstStyle/>
          <a:p>
            <a:r>
              <a:rPr lang="en-US" sz="2000" b="1" i="0" dirty="0">
                <a:solidFill>
                  <a:srgbClr val="474A9E"/>
                </a:solidFill>
                <a:effectLst/>
                <a:latin typeface="MyriadPro-Black"/>
              </a:rPr>
              <a:t>5-1 </a:t>
            </a:r>
            <a:r>
              <a:rPr lang="en-US" sz="2000" b="0" i="0" dirty="0">
                <a:solidFill>
                  <a:srgbClr val="242021"/>
                </a:solidFill>
                <a:effectLst/>
                <a:latin typeface="MyriadPro-SemiboldSemiCn"/>
              </a:rPr>
              <a:t>Describe the main extended entity relationship (EER) model constructs and how they are represented in ERDs and EERDs</a:t>
            </a:r>
          </a:p>
          <a:p>
            <a:r>
              <a:rPr lang="en-US" sz="2000" b="1" i="0" dirty="0">
                <a:solidFill>
                  <a:srgbClr val="474A9E"/>
                </a:solidFill>
                <a:effectLst/>
                <a:latin typeface="MyriadPro-Black"/>
              </a:rPr>
              <a:t>5-2 </a:t>
            </a:r>
            <a:r>
              <a:rPr lang="en-US" sz="2000" b="0" i="0" dirty="0">
                <a:solidFill>
                  <a:srgbClr val="242021"/>
                </a:solidFill>
                <a:effectLst/>
                <a:latin typeface="MyriadPro-SemiboldSemiCn"/>
              </a:rPr>
              <a:t>Use entity clusters to represent multiple entities and relationships in an entity relationship diagram (ERD)</a:t>
            </a:r>
          </a:p>
          <a:p>
            <a:r>
              <a:rPr lang="en-US" sz="2000" b="1" i="0" dirty="0">
                <a:solidFill>
                  <a:srgbClr val="474A9E"/>
                </a:solidFill>
                <a:effectLst/>
                <a:latin typeface="MyriadPro-Black"/>
              </a:rPr>
              <a:t>5-3 </a:t>
            </a:r>
            <a:r>
              <a:rPr lang="en-US" sz="2000" b="0" i="0" dirty="0">
                <a:solidFill>
                  <a:srgbClr val="242021"/>
                </a:solidFill>
                <a:effectLst/>
                <a:latin typeface="MyriadPro-SemiboldSemiCn"/>
              </a:rPr>
              <a:t>Describe the characteristics of good primary keys and how to select them</a:t>
            </a:r>
          </a:p>
          <a:p>
            <a:r>
              <a:rPr lang="en-US" sz="2000" b="1" i="0" dirty="0">
                <a:solidFill>
                  <a:srgbClr val="474A9E"/>
                </a:solidFill>
                <a:effectLst/>
                <a:latin typeface="MyriadPro-Black"/>
              </a:rPr>
              <a:t>5-4 </a:t>
            </a:r>
            <a:r>
              <a:rPr lang="en-US" sz="2000" b="0" i="0" dirty="0">
                <a:solidFill>
                  <a:srgbClr val="242021"/>
                </a:solidFill>
                <a:effectLst/>
                <a:latin typeface="MyriadPro-SemiboldSemiCn"/>
              </a:rPr>
              <a:t>Apply flexible solutions for special data-modeling cases</a:t>
            </a:r>
            <a:br>
              <a:rPr lang="en-US" sz="2400" dirty="0"/>
            </a:br>
            <a:endParaRPr lang="en-US" sz="2400" dirty="0"/>
          </a:p>
        </p:txBody>
      </p:sp>
      <p:sp>
        <p:nvSpPr>
          <p:cNvPr id="4" name="Slide Number Placeholder 3">
            <a:extLst>
              <a:ext uri="{FF2B5EF4-FFF2-40B4-BE49-F238E27FC236}">
                <a16:creationId xmlns:a16="http://schemas.microsoft.com/office/drawing/2014/main" id="{3AB04E03-CFDC-8496-B141-12E33FFDEF26}"/>
              </a:ext>
            </a:extLst>
          </p:cNvPr>
          <p:cNvSpPr>
            <a:spLocks noGrp="1"/>
          </p:cNvSpPr>
          <p:nvPr>
            <p:ph type="sldNum" sz="quarter" idx="10"/>
          </p:nvPr>
        </p:nvSpPr>
        <p:spPr/>
        <p:txBody>
          <a:bodyPr/>
          <a:lstStyle/>
          <a:p>
            <a:pPr>
              <a:defRPr/>
            </a:pPr>
            <a:fld id="{34A84676-C444-4AC5-8B4E-405A7C81C0FB}" type="slidenum">
              <a:rPr lang="en-US" altLang="en-US" smtClean="0"/>
              <a:pPr>
                <a:defRPr/>
              </a:pPr>
              <a:t>3</a:t>
            </a:fld>
            <a:endParaRPr lang="en-US" altLang="en-US"/>
          </a:p>
        </p:txBody>
      </p:sp>
      <p:sp>
        <p:nvSpPr>
          <p:cNvPr id="5" name="Footer Placeholder 4">
            <a:extLst>
              <a:ext uri="{FF2B5EF4-FFF2-40B4-BE49-F238E27FC236}">
                <a16:creationId xmlns:a16="http://schemas.microsoft.com/office/drawing/2014/main" id="{71C188EE-963D-A173-9000-E5CD0A99CAF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4A4C7548-FAE8-AAA6-4170-2281F5E08BF1}"/>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910690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3EA73-3B0D-F17D-9DE2-9196158EDC69}"/>
              </a:ext>
            </a:extLst>
          </p:cNvPr>
          <p:cNvSpPr>
            <a:spLocks noGrp="1"/>
          </p:cNvSpPr>
          <p:nvPr>
            <p:ph type="title"/>
          </p:nvPr>
        </p:nvSpPr>
        <p:spPr/>
        <p:txBody>
          <a:bodyPr/>
          <a:lstStyle/>
          <a:p>
            <a:r>
              <a:rPr lang="en-US" dirty="0"/>
              <a:t>5-1 The Extended Entity Relationship Model</a:t>
            </a:r>
          </a:p>
        </p:txBody>
      </p:sp>
      <p:sp>
        <p:nvSpPr>
          <p:cNvPr id="3" name="Date Placeholder 2">
            <a:extLst>
              <a:ext uri="{FF2B5EF4-FFF2-40B4-BE49-F238E27FC236}">
                <a16:creationId xmlns:a16="http://schemas.microsoft.com/office/drawing/2014/main" id="{FEFC8BD0-0CCD-4513-FE50-3B406DAF0784}"/>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E6220B62-14E6-C9BE-5633-E9075030D345}"/>
              </a:ext>
            </a:extLst>
          </p:cNvPr>
          <p:cNvSpPr>
            <a:spLocks noGrp="1"/>
          </p:cNvSpPr>
          <p:nvPr>
            <p:ph type="sldNum" sz="quarter" idx="11"/>
          </p:nvPr>
        </p:nvSpPr>
        <p:spPr/>
        <p:txBody>
          <a:bodyPr/>
          <a:lstStyle/>
          <a:p>
            <a:pPr>
              <a:defRPr/>
            </a:pPr>
            <a:fld id="{F9126DDB-45DE-4D72-94FB-1E2D565E80AF}" type="slidenum">
              <a:rPr lang="en-US" smtClean="0"/>
              <a:pPr>
                <a:defRPr/>
              </a:pPr>
              <a:t>4</a:t>
            </a:fld>
            <a:endParaRPr lang="en-US"/>
          </a:p>
        </p:txBody>
      </p:sp>
      <p:sp>
        <p:nvSpPr>
          <p:cNvPr id="5" name="Footer Placeholder 4">
            <a:extLst>
              <a:ext uri="{FF2B5EF4-FFF2-40B4-BE49-F238E27FC236}">
                <a16:creationId xmlns:a16="http://schemas.microsoft.com/office/drawing/2014/main" id="{427E40DB-8ACC-5373-59D0-282F7356F3A4}"/>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3801337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C3CFC9-2D66-23BE-0EB9-ED59A583552C}"/>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D782238-F4D5-DA95-9015-6DCE20C9EFF3}"/>
              </a:ext>
            </a:extLst>
          </p:cNvPr>
          <p:cNvSpPr>
            <a:spLocks noGrp="1"/>
          </p:cNvSpPr>
          <p:nvPr>
            <p:ph type="sldNum" sz="quarter" idx="11"/>
          </p:nvPr>
        </p:nvSpPr>
        <p:spPr/>
        <p:txBody>
          <a:bodyPr/>
          <a:lstStyle/>
          <a:p>
            <a:pPr>
              <a:defRPr/>
            </a:pPr>
            <a:fld id="{D1AD3536-327C-4937-83AF-A64971CFA6D9}" type="slidenum">
              <a:rPr lang="en-US" smtClean="0"/>
              <a:pPr>
                <a:defRPr/>
              </a:pPr>
              <a:t>5</a:t>
            </a:fld>
            <a:endParaRPr lang="en-US"/>
          </a:p>
        </p:txBody>
      </p:sp>
      <p:sp>
        <p:nvSpPr>
          <p:cNvPr id="4" name="Footer Placeholder 3">
            <a:extLst>
              <a:ext uri="{FF2B5EF4-FFF2-40B4-BE49-F238E27FC236}">
                <a16:creationId xmlns:a16="http://schemas.microsoft.com/office/drawing/2014/main" id="{4F2BE2C7-0557-E48D-41DD-E057A6960514}"/>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E5976DF8-584D-1EC2-5304-739596396057}"/>
              </a:ext>
            </a:extLst>
          </p:cNvPr>
          <p:cNvPicPr>
            <a:picLocks noChangeAspect="1"/>
          </p:cNvPicPr>
          <p:nvPr/>
        </p:nvPicPr>
        <p:blipFill>
          <a:blip r:embed="rId2"/>
          <a:stretch>
            <a:fillRect/>
          </a:stretch>
        </p:blipFill>
        <p:spPr>
          <a:xfrm>
            <a:off x="800100" y="1443037"/>
            <a:ext cx="10591800" cy="3971925"/>
          </a:xfrm>
          <a:prstGeom prst="rect">
            <a:avLst/>
          </a:prstGeom>
        </p:spPr>
      </p:pic>
      <p:sp>
        <p:nvSpPr>
          <p:cNvPr id="7" name="TextBox 6">
            <a:extLst>
              <a:ext uri="{FF2B5EF4-FFF2-40B4-BE49-F238E27FC236}">
                <a16:creationId xmlns:a16="http://schemas.microsoft.com/office/drawing/2014/main" id="{09255D20-9230-E5F3-26C2-BDCA68211583}"/>
              </a:ext>
            </a:extLst>
          </p:cNvPr>
          <p:cNvSpPr txBox="1"/>
          <p:nvPr/>
        </p:nvSpPr>
        <p:spPr>
          <a:xfrm>
            <a:off x="3048000" y="5638800"/>
            <a:ext cx="7010400" cy="584775"/>
          </a:xfrm>
          <a:prstGeom prst="rect">
            <a:avLst/>
          </a:prstGeom>
          <a:noFill/>
        </p:spPr>
        <p:txBody>
          <a:bodyPr wrap="square" rtlCol="0">
            <a:spAutoFit/>
          </a:bodyPr>
          <a:lstStyle/>
          <a:p>
            <a:r>
              <a:rPr lang="en-US" sz="1600" dirty="0"/>
              <a:t>An EMPLOYEE table with many empty and null cells because of many types of employees (pilot, mechanic, account, etc.)</a:t>
            </a:r>
          </a:p>
        </p:txBody>
      </p:sp>
    </p:spTree>
    <p:extLst>
      <p:ext uri="{BB962C8B-B14F-4D97-AF65-F5344CB8AC3E}">
        <p14:creationId xmlns:p14="http://schemas.microsoft.com/office/powerpoint/2010/main" val="336771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A496-42B0-0894-0DB8-E242680ADAB2}"/>
              </a:ext>
            </a:extLst>
          </p:cNvPr>
          <p:cNvSpPr>
            <a:spLocks noGrp="1"/>
          </p:cNvSpPr>
          <p:nvPr>
            <p:ph type="title"/>
          </p:nvPr>
        </p:nvSpPr>
        <p:spPr/>
        <p:txBody>
          <a:bodyPr/>
          <a:lstStyle/>
          <a:p>
            <a:r>
              <a:rPr lang="en-US" dirty="0"/>
              <a:t>5-1 The Extended Entity Relationship Model</a:t>
            </a:r>
          </a:p>
        </p:txBody>
      </p:sp>
      <p:sp>
        <p:nvSpPr>
          <p:cNvPr id="3" name="Content Placeholder 2">
            <a:extLst>
              <a:ext uri="{FF2B5EF4-FFF2-40B4-BE49-F238E27FC236}">
                <a16:creationId xmlns:a16="http://schemas.microsoft.com/office/drawing/2014/main" id="{0FCA54AE-95A9-2D8C-BDBA-4315E2A2EC34}"/>
              </a:ext>
            </a:extLst>
          </p:cNvPr>
          <p:cNvSpPr>
            <a:spLocks noGrp="1"/>
          </p:cNvSpPr>
          <p:nvPr>
            <p:ph idx="1"/>
          </p:nvPr>
        </p:nvSpPr>
        <p:spPr>
          <a:xfrm>
            <a:off x="838200" y="1825625"/>
            <a:ext cx="9372600" cy="4351338"/>
          </a:xfrm>
        </p:spPr>
        <p:txBody>
          <a:bodyPr/>
          <a:lstStyle/>
          <a:p>
            <a:r>
              <a:rPr lang="en-US" sz="2400" b="1" i="0" dirty="0">
                <a:solidFill>
                  <a:srgbClr val="007DAF"/>
                </a:solidFill>
                <a:effectLst/>
                <a:latin typeface="MyriadPro-BoldSemiCn"/>
              </a:rPr>
              <a:t>extended entity relationship model (EERM)</a:t>
            </a:r>
          </a:p>
          <a:p>
            <a:pPr lvl="1"/>
            <a:r>
              <a:rPr lang="en-US" b="0" i="0" dirty="0">
                <a:solidFill>
                  <a:srgbClr val="242021"/>
                </a:solidFill>
                <a:effectLst/>
                <a:latin typeface="MyriadPro-SemiCn"/>
              </a:rPr>
              <a:t>Enhanced entity relationship model; the result of adding more semantic constructs, such as entity supertypes, entity subtypes, and entity clustering, to the original entity relationship (ER) model.</a:t>
            </a:r>
            <a:r>
              <a:rPr lang="en-US" sz="2400" dirty="0"/>
              <a:t> </a:t>
            </a:r>
          </a:p>
          <a:p>
            <a:r>
              <a:rPr lang="en-US" sz="2400" b="1" i="0" dirty="0">
                <a:solidFill>
                  <a:srgbClr val="007DAF"/>
                </a:solidFill>
                <a:effectLst/>
                <a:latin typeface="MyriadPro-BoldSemiCn"/>
              </a:rPr>
              <a:t>EER diagram (EERD)</a:t>
            </a:r>
          </a:p>
          <a:p>
            <a:pPr lvl="1"/>
            <a:r>
              <a:rPr lang="en-US" b="0" i="0" dirty="0">
                <a:solidFill>
                  <a:srgbClr val="242021"/>
                </a:solidFill>
                <a:effectLst/>
                <a:latin typeface="MyriadPro-SemiCn"/>
              </a:rPr>
              <a:t>The entity relationship diagram resulting from the application of extended entity relationship concepts that provide additional semantic content in the ER model.</a:t>
            </a:r>
            <a:r>
              <a:rPr lang="en-US" sz="2400" dirty="0"/>
              <a:t> </a:t>
            </a:r>
          </a:p>
        </p:txBody>
      </p:sp>
      <p:sp>
        <p:nvSpPr>
          <p:cNvPr id="4" name="Slide Number Placeholder 3">
            <a:extLst>
              <a:ext uri="{FF2B5EF4-FFF2-40B4-BE49-F238E27FC236}">
                <a16:creationId xmlns:a16="http://schemas.microsoft.com/office/drawing/2014/main" id="{8AC43993-E275-CD24-6179-4237AD10B00C}"/>
              </a:ext>
            </a:extLst>
          </p:cNvPr>
          <p:cNvSpPr>
            <a:spLocks noGrp="1"/>
          </p:cNvSpPr>
          <p:nvPr>
            <p:ph type="sldNum" sz="quarter" idx="10"/>
          </p:nvPr>
        </p:nvSpPr>
        <p:spPr/>
        <p:txBody>
          <a:bodyPr/>
          <a:lstStyle/>
          <a:p>
            <a:pPr>
              <a:defRPr/>
            </a:pPr>
            <a:fld id="{34A84676-C444-4AC5-8B4E-405A7C81C0FB}" type="slidenum">
              <a:rPr lang="en-US" altLang="en-US" smtClean="0"/>
              <a:pPr>
                <a:defRPr/>
              </a:pPr>
              <a:t>6</a:t>
            </a:fld>
            <a:endParaRPr lang="en-US" altLang="en-US"/>
          </a:p>
        </p:txBody>
      </p:sp>
      <p:sp>
        <p:nvSpPr>
          <p:cNvPr id="5" name="Footer Placeholder 4">
            <a:extLst>
              <a:ext uri="{FF2B5EF4-FFF2-40B4-BE49-F238E27FC236}">
                <a16:creationId xmlns:a16="http://schemas.microsoft.com/office/drawing/2014/main" id="{60907232-8302-AC53-36BD-E7927AC78A46}"/>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3714D0E3-8E7C-AE70-405F-063A77C21B8F}"/>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12294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DBED2-9562-F531-8475-AC008836963F}"/>
              </a:ext>
            </a:extLst>
          </p:cNvPr>
          <p:cNvSpPr>
            <a:spLocks noGrp="1"/>
          </p:cNvSpPr>
          <p:nvPr>
            <p:ph type="title"/>
          </p:nvPr>
        </p:nvSpPr>
        <p:spPr/>
        <p:txBody>
          <a:bodyPr/>
          <a:lstStyle/>
          <a:p>
            <a:r>
              <a:rPr lang="en-US" dirty="0"/>
              <a:t>5-1a Entity Supertypes and Subtypes</a:t>
            </a:r>
          </a:p>
        </p:txBody>
      </p:sp>
      <p:sp>
        <p:nvSpPr>
          <p:cNvPr id="3" name="Content Placeholder 2">
            <a:extLst>
              <a:ext uri="{FF2B5EF4-FFF2-40B4-BE49-F238E27FC236}">
                <a16:creationId xmlns:a16="http://schemas.microsoft.com/office/drawing/2014/main" id="{BC328F70-135B-1FAD-0F65-27249B319864}"/>
              </a:ext>
            </a:extLst>
          </p:cNvPr>
          <p:cNvSpPr>
            <a:spLocks noGrp="1"/>
          </p:cNvSpPr>
          <p:nvPr>
            <p:ph idx="1"/>
          </p:nvPr>
        </p:nvSpPr>
        <p:spPr/>
        <p:txBody>
          <a:bodyPr/>
          <a:lstStyle/>
          <a:p>
            <a:r>
              <a:rPr lang="en-US" sz="2000" dirty="0"/>
              <a:t>Similar to base class and derived class in OOP.</a:t>
            </a:r>
          </a:p>
          <a:p>
            <a:r>
              <a:rPr lang="en-US" sz="1800" b="1" i="0" dirty="0">
                <a:solidFill>
                  <a:srgbClr val="007DAF"/>
                </a:solidFill>
                <a:effectLst/>
                <a:latin typeface="MyriadPro-BoldSemiCn"/>
              </a:rPr>
              <a:t>entity supertype: </a:t>
            </a:r>
            <a:r>
              <a:rPr lang="en-US" sz="1800" b="0" i="0" dirty="0">
                <a:solidFill>
                  <a:srgbClr val="242021"/>
                </a:solidFill>
                <a:effectLst/>
                <a:latin typeface="MyriadPro-SemiCn"/>
              </a:rPr>
              <a:t>generic entity type that contains the common characteristics of entity subtypes.</a:t>
            </a:r>
            <a:r>
              <a:rPr lang="en-US" dirty="0"/>
              <a:t> </a:t>
            </a:r>
          </a:p>
          <a:p>
            <a:pPr lvl="1"/>
            <a:r>
              <a:rPr lang="en-US" dirty="0"/>
              <a:t>EMPLOYEE</a:t>
            </a:r>
          </a:p>
          <a:p>
            <a:r>
              <a:rPr lang="en-US" sz="1800" b="1" i="0" dirty="0">
                <a:solidFill>
                  <a:srgbClr val="007DAF"/>
                </a:solidFill>
                <a:effectLst/>
                <a:latin typeface="MyriadPro-BoldSemiCn"/>
              </a:rPr>
              <a:t>entity subtype: </a:t>
            </a:r>
            <a:r>
              <a:rPr lang="en-US" sz="1800" dirty="0">
                <a:solidFill>
                  <a:srgbClr val="242021"/>
                </a:solidFill>
                <a:latin typeface="MyriadPro-SemiCn"/>
              </a:rPr>
              <a:t>t</a:t>
            </a:r>
            <a:r>
              <a:rPr lang="en-US" sz="1800" b="0" i="0" dirty="0">
                <a:solidFill>
                  <a:srgbClr val="242021"/>
                </a:solidFill>
                <a:effectLst/>
                <a:latin typeface="MyriadPro-SemiCn"/>
              </a:rPr>
              <a:t>he subtypes contain the unique characteristics of each entity.</a:t>
            </a:r>
            <a:r>
              <a:rPr lang="en-US" dirty="0"/>
              <a:t> </a:t>
            </a:r>
          </a:p>
          <a:p>
            <a:pPr lvl="1"/>
            <a:r>
              <a:rPr lang="en-US" dirty="0"/>
              <a:t>PILOT, MECHANIC, ACCOUNTANT</a:t>
            </a:r>
          </a:p>
          <a:p>
            <a:r>
              <a:rPr lang="en-US" sz="1800" b="0" i="0" dirty="0">
                <a:solidFill>
                  <a:srgbClr val="242021"/>
                </a:solidFill>
                <a:effectLst/>
                <a:latin typeface="NewCaledoniaLTStd"/>
              </a:rPr>
              <a:t>Two criteria help the designer determine when to use subtypes and supertypes:</a:t>
            </a:r>
            <a:br>
              <a:rPr lang="en-US" sz="1800" b="0" i="0" dirty="0">
                <a:solidFill>
                  <a:srgbClr val="242021"/>
                </a:solidFill>
                <a:effectLst/>
                <a:latin typeface="NewCaledoniaLTStd"/>
              </a:rPr>
            </a:br>
            <a:r>
              <a:rPr lang="en-US" sz="1800" b="0" i="0" dirty="0">
                <a:solidFill>
                  <a:srgbClr val="403F41"/>
                </a:solidFill>
                <a:effectLst/>
                <a:latin typeface="NewCaledoniaLTStd"/>
              </a:rPr>
              <a:t>• </a:t>
            </a:r>
            <a:r>
              <a:rPr lang="en-US" sz="1800" b="0" i="0" dirty="0">
                <a:solidFill>
                  <a:srgbClr val="242021"/>
                </a:solidFill>
                <a:effectLst/>
                <a:latin typeface="NewCaledoniaLTStd"/>
              </a:rPr>
              <a:t>There must be different, identifiable kinds or types of the entity in the user’s environment.</a:t>
            </a:r>
            <a:br>
              <a:rPr lang="en-US" sz="1800" b="0" i="0" dirty="0">
                <a:solidFill>
                  <a:srgbClr val="242021"/>
                </a:solidFill>
                <a:effectLst/>
                <a:latin typeface="NewCaledoniaLTStd"/>
              </a:rPr>
            </a:br>
            <a:r>
              <a:rPr lang="en-US" sz="1800" b="0" i="0" dirty="0">
                <a:solidFill>
                  <a:srgbClr val="403F41"/>
                </a:solidFill>
                <a:effectLst/>
                <a:latin typeface="NewCaledoniaLTStd"/>
              </a:rPr>
              <a:t>• </a:t>
            </a:r>
            <a:r>
              <a:rPr lang="en-US" sz="1800" b="0" i="0" dirty="0">
                <a:solidFill>
                  <a:srgbClr val="242021"/>
                </a:solidFill>
                <a:effectLst/>
                <a:latin typeface="NewCaledoniaLTStd"/>
              </a:rPr>
              <a:t>The different kinds or types of instances should each have one or more attributes that are unique to that kind or type of instance.</a:t>
            </a:r>
            <a:r>
              <a:rPr lang="en-US" dirty="0"/>
              <a:t> </a:t>
            </a:r>
          </a:p>
        </p:txBody>
      </p:sp>
      <p:sp>
        <p:nvSpPr>
          <p:cNvPr id="4" name="Slide Number Placeholder 3">
            <a:extLst>
              <a:ext uri="{FF2B5EF4-FFF2-40B4-BE49-F238E27FC236}">
                <a16:creationId xmlns:a16="http://schemas.microsoft.com/office/drawing/2014/main" id="{98AFB6DF-C7C4-D9A4-C823-7FAEB0B8C0CA}"/>
              </a:ext>
            </a:extLst>
          </p:cNvPr>
          <p:cNvSpPr>
            <a:spLocks noGrp="1"/>
          </p:cNvSpPr>
          <p:nvPr>
            <p:ph type="sldNum" sz="quarter" idx="10"/>
          </p:nvPr>
        </p:nvSpPr>
        <p:spPr/>
        <p:txBody>
          <a:bodyPr/>
          <a:lstStyle/>
          <a:p>
            <a:pPr>
              <a:defRPr/>
            </a:pPr>
            <a:fld id="{34A84676-C444-4AC5-8B4E-405A7C81C0FB}" type="slidenum">
              <a:rPr lang="en-US" altLang="en-US" smtClean="0"/>
              <a:pPr>
                <a:defRPr/>
              </a:pPr>
              <a:t>7</a:t>
            </a:fld>
            <a:endParaRPr lang="en-US" altLang="en-US"/>
          </a:p>
        </p:txBody>
      </p:sp>
      <p:sp>
        <p:nvSpPr>
          <p:cNvPr id="5" name="Footer Placeholder 4">
            <a:extLst>
              <a:ext uri="{FF2B5EF4-FFF2-40B4-BE49-F238E27FC236}">
                <a16:creationId xmlns:a16="http://schemas.microsoft.com/office/drawing/2014/main" id="{EFD99BB1-E06D-C9F8-2D8E-B14DFDD39BAD}"/>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B35AF5CC-CFCD-C874-EB6B-19B168C2D733}"/>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909986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53DF2-ABCE-4510-4AA4-25F0FF525130}"/>
              </a:ext>
            </a:extLst>
          </p:cNvPr>
          <p:cNvSpPr>
            <a:spLocks noGrp="1"/>
          </p:cNvSpPr>
          <p:nvPr>
            <p:ph type="title"/>
          </p:nvPr>
        </p:nvSpPr>
        <p:spPr/>
        <p:txBody>
          <a:bodyPr/>
          <a:lstStyle/>
          <a:p>
            <a:r>
              <a:rPr lang="en-US" dirty="0"/>
              <a:t>5-1b Specialization Hierarchy</a:t>
            </a:r>
          </a:p>
        </p:txBody>
      </p:sp>
      <p:sp>
        <p:nvSpPr>
          <p:cNvPr id="3" name="Content Placeholder 2">
            <a:extLst>
              <a:ext uri="{FF2B5EF4-FFF2-40B4-BE49-F238E27FC236}">
                <a16:creationId xmlns:a16="http://schemas.microsoft.com/office/drawing/2014/main" id="{6F02AD57-3D46-257A-4194-B4CDC1F0577D}"/>
              </a:ext>
            </a:extLst>
          </p:cNvPr>
          <p:cNvSpPr>
            <a:spLocks noGrp="1"/>
          </p:cNvSpPr>
          <p:nvPr>
            <p:ph idx="1"/>
          </p:nvPr>
        </p:nvSpPr>
        <p:spPr>
          <a:xfrm>
            <a:off x="825910" y="1524000"/>
            <a:ext cx="10515600" cy="4351338"/>
          </a:xfrm>
        </p:spPr>
        <p:txBody>
          <a:bodyPr/>
          <a:lstStyle/>
          <a:p>
            <a:r>
              <a:rPr lang="en-US" sz="2000" b="0" i="0" dirty="0">
                <a:solidFill>
                  <a:srgbClr val="242021"/>
                </a:solidFill>
                <a:effectLst/>
                <a:latin typeface="NewCaledoniaLTStd"/>
              </a:rPr>
              <a:t>Entity supertypes and subtypes are organized in a </a:t>
            </a:r>
            <a:r>
              <a:rPr lang="en-US" sz="2000" b="1" i="0" dirty="0">
                <a:solidFill>
                  <a:srgbClr val="007DAF"/>
                </a:solidFill>
                <a:effectLst/>
                <a:latin typeface="MyriadPro-Bold"/>
              </a:rPr>
              <a:t>specialization hierarchy</a:t>
            </a:r>
            <a:r>
              <a:rPr lang="en-US" sz="2000" b="0" i="0" dirty="0">
                <a:solidFill>
                  <a:srgbClr val="242021"/>
                </a:solidFill>
                <a:effectLst/>
                <a:latin typeface="NewCaledoniaLTStd"/>
              </a:rPr>
              <a:t>, which depicts the</a:t>
            </a:r>
            <a:br>
              <a:rPr lang="en-US" sz="2000" b="0" i="0" dirty="0">
                <a:solidFill>
                  <a:srgbClr val="242021"/>
                </a:solidFill>
                <a:effectLst/>
                <a:latin typeface="NewCaledoniaLTStd"/>
              </a:rPr>
            </a:br>
            <a:r>
              <a:rPr lang="en-US" sz="2000" b="0" i="0" dirty="0">
                <a:solidFill>
                  <a:srgbClr val="242021"/>
                </a:solidFill>
                <a:effectLst/>
                <a:latin typeface="NewCaledoniaLTStd"/>
              </a:rPr>
              <a:t>arrangement of higher-level entity supertypes (parent entities) and lower-level entity subtypes</a:t>
            </a:r>
            <a:br>
              <a:rPr lang="en-US" sz="2000" b="0" i="0" dirty="0">
                <a:solidFill>
                  <a:srgbClr val="242021"/>
                </a:solidFill>
                <a:effectLst/>
                <a:latin typeface="NewCaledoniaLTStd"/>
              </a:rPr>
            </a:br>
            <a:r>
              <a:rPr lang="en-US" sz="2000" b="0" i="0" dirty="0">
                <a:solidFill>
                  <a:srgbClr val="242021"/>
                </a:solidFill>
                <a:effectLst/>
                <a:latin typeface="NewCaledoniaLTStd"/>
              </a:rPr>
              <a:t>(child entities). </a:t>
            </a:r>
          </a:p>
          <a:p>
            <a:pPr lvl="1"/>
            <a:r>
              <a:rPr lang="en-US" sz="2000" b="0" i="0" dirty="0">
                <a:solidFill>
                  <a:srgbClr val="242021"/>
                </a:solidFill>
                <a:effectLst/>
                <a:latin typeface="NewCaledoniaLTStd"/>
              </a:rPr>
              <a:t>The specialization hierarchy formed by an EMPLOYEE supertype and three entity subtypes—PILOT, MECHANIC, and ACCOUNTANT.</a:t>
            </a:r>
            <a:r>
              <a:rPr lang="en-US" sz="2000" dirty="0"/>
              <a:t> </a:t>
            </a:r>
          </a:p>
          <a:p>
            <a:r>
              <a:rPr lang="en-US" sz="2000" dirty="0"/>
              <a:t>“Is-a” relation: </a:t>
            </a:r>
            <a:r>
              <a:rPr lang="en-US" sz="1800" b="0" i="0" dirty="0">
                <a:solidFill>
                  <a:srgbClr val="242021"/>
                </a:solidFill>
                <a:effectLst/>
                <a:latin typeface="NewCaledoniaLTStd"/>
              </a:rPr>
              <a:t>a pilot </a:t>
            </a:r>
            <a:r>
              <a:rPr lang="en-US" sz="1800" b="0" i="1" dirty="0">
                <a:solidFill>
                  <a:srgbClr val="242021"/>
                </a:solidFill>
                <a:effectLst/>
                <a:latin typeface="NewCaledoniaLTStd-It"/>
              </a:rPr>
              <a:t>is an </a:t>
            </a:r>
            <a:r>
              <a:rPr lang="en-US" sz="1800" b="0" i="0" dirty="0">
                <a:solidFill>
                  <a:srgbClr val="242021"/>
                </a:solidFill>
                <a:effectLst/>
                <a:latin typeface="NewCaledoniaLTStd"/>
              </a:rPr>
              <a:t>employee, a mechanic </a:t>
            </a:r>
            <a:r>
              <a:rPr lang="en-US" sz="1800" b="0" i="1" dirty="0">
                <a:solidFill>
                  <a:srgbClr val="242021"/>
                </a:solidFill>
                <a:effectLst/>
                <a:latin typeface="NewCaledoniaLTStd-It"/>
              </a:rPr>
              <a:t>is an </a:t>
            </a:r>
            <a:r>
              <a:rPr lang="en-US" sz="1800" b="0" i="0" dirty="0">
                <a:solidFill>
                  <a:srgbClr val="242021"/>
                </a:solidFill>
                <a:effectLst/>
                <a:latin typeface="NewCaledoniaLTStd"/>
              </a:rPr>
              <a:t>employee.</a:t>
            </a:r>
          </a:p>
          <a:p>
            <a:r>
              <a:rPr lang="en-US" sz="2000" b="0" i="0" dirty="0">
                <a:solidFill>
                  <a:srgbClr val="242021"/>
                </a:solidFill>
                <a:effectLst/>
                <a:latin typeface="NewCaledoniaLTStd"/>
              </a:rPr>
              <a:t>A specialization hierarchy provides the means to:</a:t>
            </a:r>
            <a:endParaRPr lang="en-US" sz="2000" dirty="0">
              <a:solidFill>
                <a:srgbClr val="242021"/>
              </a:solidFill>
            </a:endParaRPr>
          </a:p>
          <a:p>
            <a:pPr lvl="1"/>
            <a:r>
              <a:rPr lang="en-US" b="0" i="0" dirty="0">
                <a:solidFill>
                  <a:srgbClr val="242021"/>
                </a:solidFill>
                <a:effectLst/>
                <a:latin typeface="NewCaledoniaLTStd"/>
              </a:rPr>
              <a:t>Support attribute inheritance.</a:t>
            </a:r>
            <a:endParaRPr lang="en-US" dirty="0">
              <a:solidFill>
                <a:srgbClr val="242021"/>
              </a:solidFill>
            </a:endParaRPr>
          </a:p>
          <a:p>
            <a:pPr lvl="1"/>
            <a:r>
              <a:rPr lang="en-US" b="0" i="0" dirty="0">
                <a:solidFill>
                  <a:srgbClr val="242021"/>
                </a:solidFill>
                <a:effectLst/>
                <a:latin typeface="NewCaledoniaLTStd"/>
              </a:rPr>
              <a:t>Define a special supertype attribute known as the subtype discriminator.</a:t>
            </a:r>
            <a:endParaRPr lang="en-US" dirty="0">
              <a:solidFill>
                <a:srgbClr val="242021"/>
              </a:solidFill>
            </a:endParaRPr>
          </a:p>
          <a:p>
            <a:pPr lvl="1"/>
            <a:r>
              <a:rPr lang="en-US" b="0" i="0" dirty="0">
                <a:solidFill>
                  <a:srgbClr val="242021"/>
                </a:solidFill>
                <a:effectLst/>
                <a:latin typeface="NewCaledoniaLTStd"/>
              </a:rPr>
              <a:t>Define disjoint or overlapping constraints and complete or partial constraints.</a:t>
            </a:r>
            <a:r>
              <a:rPr lang="en-US" sz="1400" dirty="0"/>
              <a:t> </a:t>
            </a:r>
            <a:br>
              <a:rPr lang="en-US" sz="1100" dirty="0"/>
            </a:br>
            <a:r>
              <a:rPr lang="en-US" sz="1500" b="0" i="0" dirty="0">
                <a:solidFill>
                  <a:srgbClr val="242021"/>
                </a:solidFill>
                <a:effectLst/>
                <a:latin typeface="NewCaledoniaLTStd"/>
              </a:rPr>
              <a:t>	</a:t>
            </a:r>
            <a:r>
              <a:rPr lang="en-US" sz="1300" dirty="0"/>
              <a:t> </a:t>
            </a:r>
            <a:br>
              <a:rPr lang="en-US" sz="1300" dirty="0"/>
            </a:br>
            <a:endParaRPr lang="en-US" sz="1700" dirty="0"/>
          </a:p>
          <a:p>
            <a:pPr lvl="1"/>
            <a:endParaRPr lang="en-US" sz="1700" dirty="0"/>
          </a:p>
          <a:p>
            <a:pPr marL="0" indent="0">
              <a:buNone/>
            </a:pPr>
            <a:br>
              <a:rPr lang="en-US" sz="2000" dirty="0"/>
            </a:br>
            <a:br>
              <a:rPr lang="en-US" sz="2000" dirty="0"/>
            </a:br>
            <a:endParaRPr lang="en-US" sz="2000" dirty="0"/>
          </a:p>
        </p:txBody>
      </p:sp>
      <p:sp>
        <p:nvSpPr>
          <p:cNvPr id="4" name="Slide Number Placeholder 3">
            <a:extLst>
              <a:ext uri="{FF2B5EF4-FFF2-40B4-BE49-F238E27FC236}">
                <a16:creationId xmlns:a16="http://schemas.microsoft.com/office/drawing/2014/main" id="{C17DE855-4DC7-5A49-0160-D1BBCCAF7AEA}"/>
              </a:ext>
            </a:extLst>
          </p:cNvPr>
          <p:cNvSpPr>
            <a:spLocks noGrp="1"/>
          </p:cNvSpPr>
          <p:nvPr>
            <p:ph type="sldNum" sz="quarter" idx="10"/>
          </p:nvPr>
        </p:nvSpPr>
        <p:spPr/>
        <p:txBody>
          <a:bodyPr/>
          <a:lstStyle/>
          <a:p>
            <a:pPr>
              <a:defRPr/>
            </a:pPr>
            <a:fld id="{34A84676-C444-4AC5-8B4E-405A7C81C0FB}" type="slidenum">
              <a:rPr lang="en-US" altLang="en-US" smtClean="0"/>
              <a:pPr>
                <a:defRPr/>
              </a:pPr>
              <a:t>8</a:t>
            </a:fld>
            <a:endParaRPr lang="en-US" altLang="en-US"/>
          </a:p>
        </p:txBody>
      </p:sp>
      <p:sp>
        <p:nvSpPr>
          <p:cNvPr id="5" name="Footer Placeholder 4">
            <a:extLst>
              <a:ext uri="{FF2B5EF4-FFF2-40B4-BE49-F238E27FC236}">
                <a16:creationId xmlns:a16="http://schemas.microsoft.com/office/drawing/2014/main" id="{5FC335E8-A102-8BC9-9176-94007DFE61B4}"/>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480FA40E-550C-1D61-69B9-742FB95FB5F3}"/>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2949095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FA1F8C-6032-E9DB-9477-B3EC5FF14E10}"/>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3D33AF67-9ADF-E008-03F8-F42C422C031B}"/>
              </a:ext>
            </a:extLst>
          </p:cNvPr>
          <p:cNvSpPr>
            <a:spLocks noGrp="1"/>
          </p:cNvSpPr>
          <p:nvPr>
            <p:ph type="sldNum" sz="quarter" idx="11"/>
          </p:nvPr>
        </p:nvSpPr>
        <p:spPr/>
        <p:txBody>
          <a:bodyPr/>
          <a:lstStyle/>
          <a:p>
            <a:pPr>
              <a:defRPr/>
            </a:pPr>
            <a:fld id="{D1AD3536-327C-4937-83AF-A64971CFA6D9}" type="slidenum">
              <a:rPr lang="en-US" smtClean="0"/>
              <a:pPr>
                <a:defRPr/>
              </a:pPr>
              <a:t>9</a:t>
            </a:fld>
            <a:endParaRPr lang="en-US"/>
          </a:p>
        </p:txBody>
      </p:sp>
      <p:sp>
        <p:nvSpPr>
          <p:cNvPr id="4" name="Footer Placeholder 3">
            <a:extLst>
              <a:ext uri="{FF2B5EF4-FFF2-40B4-BE49-F238E27FC236}">
                <a16:creationId xmlns:a16="http://schemas.microsoft.com/office/drawing/2014/main" id="{9AE838A2-EC55-CBD0-CBE5-FCF219A8E99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6634AD7B-6CE0-0E1E-499A-388715F6FFC6}"/>
              </a:ext>
            </a:extLst>
          </p:cNvPr>
          <p:cNvPicPr>
            <a:picLocks noChangeAspect="1"/>
          </p:cNvPicPr>
          <p:nvPr/>
        </p:nvPicPr>
        <p:blipFill>
          <a:blip r:embed="rId2"/>
          <a:stretch>
            <a:fillRect/>
          </a:stretch>
        </p:blipFill>
        <p:spPr>
          <a:xfrm>
            <a:off x="1106277" y="0"/>
            <a:ext cx="9979446" cy="6858000"/>
          </a:xfrm>
          <a:prstGeom prst="rect">
            <a:avLst/>
          </a:prstGeom>
        </p:spPr>
      </p:pic>
    </p:spTree>
    <p:extLst>
      <p:ext uri="{BB962C8B-B14F-4D97-AF65-F5344CB8AC3E}">
        <p14:creationId xmlns:p14="http://schemas.microsoft.com/office/powerpoint/2010/main" val="3182577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3F575-4C10-B528-641D-782AF1832C5B}"/>
              </a:ext>
            </a:extLst>
          </p:cNvPr>
          <p:cNvSpPr>
            <a:spLocks noGrp="1"/>
          </p:cNvSpPr>
          <p:nvPr>
            <p:ph type="title"/>
          </p:nvPr>
        </p:nvSpPr>
        <p:spPr/>
        <p:txBody>
          <a:bodyPr/>
          <a:lstStyle/>
          <a:p>
            <a:r>
              <a:rPr lang="en-US" dirty="0"/>
              <a:t>5-1c Inheritance</a:t>
            </a:r>
          </a:p>
        </p:txBody>
      </p:sp>
      <p:sp>
        <p:nvSpPr>
          <p:cNvPr id="3" name="Content Placeholder 2">
            <a:extLst>
              <a:ext uri="{FF2B5EF4-FFF2-40B4-BE49-F238E27FC236}">
                <a16:creationId xmlns:a16="http://schemas.microsoft.com/office/drawing/2014/main" id="{F28C5E65-B5E2-226B-69D4-04677CFF9468}"/>
              </a:ext>
            </a:extLst>
          </p:cNvPr>
          <p:cNvSpPr>
            <a:spLocks noGrp="1"/>
          </p:cNvSpPr>
          <p:nvPr>
            <p:ph idx="1"/>
          </p:nvPr>
        </p:nvSpPr>
        <p:spPr/>
        <p:txBody>
          <a:bodyPr/>
          <a:lstStyle/>
          <a:p>
            <a:r>
              <a:rPr lang="en-US" sz="1800" b="0" i="0" dirty="0">
                <a:solidFill>
                  <a:srgbClr val="242021"/>
                </a:solidFill>
                <a:effectLst/>
                <a:latin typeface="NewCaledoniaLTStd"/>
              </a:rPr>
              <a:t>The property of </a:t>
            </a:r>
            <a:r>
              <a:rPr lang="en-US" sz="1800" b="1" i="0" dirty="0">
                <a:solidFill>
                  <a:srgbClr val="007DAF"/>
                </a:solidFill>
                <a:effectLst/>
                <a:latin typeface="MyriadPro-Bold"/>
              </a:rPr>
              <a:t>inheritance </a:t>
            </a:r>
            <a:r>
              <a:rPr lang="en-US" sz="1800" b="0" i="0" dirty="0">
                <a:solidFill>
                  <a:srgbClr val="242021"/>
                </a:solidFill>
                <a:effectLst/>
                <a:latin typeface="NewCaledoniaLTStd"/>
              </a:rPr>
              <a:t>enables an entity subtype to inherit the attributes and relationships of the supertype.</a:t>
            </a:r>
          </a:p>
          <a:p>
            <a:r>
              <a:rPr lang="en-US" sz="1800" b="0" i="1" dirty="0">
                <a:solidFill>
                  <a:srgbClr val="242021"/>
                </a:solidFill>
                <a:effectLst/>
                <a:latin typeface="NewCaledoniaLTStd-It"/>
              </a:rPr>
              <a:t>Entity subtypes inherit their primary key attribute from their supertype</a:t>
            </a:r>
            <a:r>
              <a:rPr lang="en-US" dirty="0"/>
              <a:t> </a:t>
            </a:r>
          </a:p>
          <a:p>
            <a:r>
              <a:rPr lang="en-US" sz="1800" b="0" i="0" dirty="0">
                <a:solidFill>
                  <a:srgbClr val="242021"/>
                </a:solidFill>
                <a:effectLst/>
                <a:latin typeface="NewCaledoniaLTStd"/>
              </a:rPr>
              <a:t>Entity subtypes inherit all relationships in which the supertype entity participates</a:t>
            </a:r>
            <a:r>
              <a:rPr lang="en-US" dirty="0"/>
              <a:t> </a:t>
            </a: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541FE2AF-8DF1-B70E-CF0F-1B6B745EC4A5}"/>
              </a:ext>
            </a:extLst>
          </p:cNvPr>
          <p:cNvSpPr>
            <a:spLocks noGrp="1"/>
          </p:cNvSpPr>
          <p:nvPr>
            <p:ph type="sldNum" sz="quarter" idx="10"/>
          </p:nvPr>
        </p:nvSpPr>
        <p:spPr/>
        <p:txBody>
          <a:bodyPr/>
          <a:lstStyle/>
          <a:p>
            <a:pPr>
              <a:defRPr/>
            </a:pPr>
            <a:fld id="{34A84676-C444-4AC5-8B4E-405A7C81C0FB}" type="slidenum">
              <a:rPr lang="en-US" altLang="en-US" smtClean="0"/>
              <a:pPr>
                <a:defRPr/>
              </a:pPr>
              <a:t>10</a:t>
            </a:fld>
            <a:endParaRPr lang="en-US" altLang="en-US"/>
          </a:p>
        </p:txBody>
      </p:sp>
      <p:sp>
        <p:nvSpPr>
          <p:cNvPr id="5" name="Footer Placeholder 4">
            <a:extLst>
              <a:ext uri="{FF2B5EF4-FFF2-40B4-BE49-F238E27FC236}">
                <a16:creationId xmlns:a16="http://schemas.microsoft.com/office/drawing/2014/main" id="{0ED953AA-B570-1C3C-6737-CD5CD53E6B69}"/>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FB48D8BB-EDE7-CAF6-3955-FA51B7C83AC4}"/>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2435677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260632-2384-EF26-BCAB-E85E9278CDD6}"/>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1A1DB656-C91A-20F2-B0A8-386670814E86}"/>
              </a:ext>
            </a:extLst>
          </p:cNvPr>
          <p:cNvSpPr>
            <a:spLocks noGrp="1"/>
          </p:cNvSpPr>
          <p:nvPr>
            <p:ph type="sldNum" sz="quarter" idx="11"/>
          </p:nvPr>
        </p:nvSpPr>
        <p:spPr/>
        <p:txBody>
          <a:bodyPr/>
          <a:lstStyle/>
          <a:p>
            <a:pPr>
              <a:defRPr/>
            </a:pPr>
            <a:fld id="{D1AD3536-327C-4937-83AF-A64971CFA6D9}" type="slidenum">
              <a:rPr lang="en-US" smtClean="0"/>
              <a:pPr>
                <a:defRPr/>
              </a:pPr>
              <a:t>11</a:t>
            </a:fld>
            <a:endParaRPr lang="en-US"/>
          </a:p>
        </p:txBody>
      </p:sp>
      <p:sp>
        <p:nvSpPr>
          <p:cNvPr id="4" name="Footer Placeholder 3">
            <a:extLst>
              <a:ext uri="{FF2B5EF4-FFF2-40B4-BE49-F238E27FC236}">
                <a16:creationId xmlns:a16="http://schemas.microsoft.com/office/drawing/2014/main" id="{AFECA098-95F0-2E78-60FF-FDFD4619F42A}"/>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70CB830E-AB59-66C4-8850-A276C3063849}"/>
              </a:ext>
            </a:extLst>
          </p:cNvPr>
          <p:cNvPicPr>
            <a:picLocks noChangeAspect="1"/>
          </p:cNvPicPr>
          <p:nvPr/>
        </p:nvPicPr>
        <p:blipFill>
          <a:blip r:embed="rId2"/>
          <a:stretch>
            <a:fillRect/>
          </a:stretch>
        </p:blipFill>
        <p:spPr>
          <a:xfrm>
            <a:off x="900112" y="914252"/>
            <a:ext cx="10391775" cy="3248025"/>
          </a:xfrm>
          <a:prstGeom prst="rect">
            <a:avLst/>
          </a:prstGeom>
        </p:spPr>
      </p:pic>
      <p:sp>
        <p:nvSpPr>
          <p:cNvPr id="8" name="TextBox 7">
            <a:extLst>
              <a:ext uri="{FF2B5EF4-FFF2-40B4-BE49-F238E27FC236}">
                <a16:creationId xmlns:a16="http://schemas.microsoft.com/office/drawing/2014/main" id="{64095B25-DDAB-3471-805C-D0A9EC46AB11}"/>
              </a:ext>
            </a:extLst>
          </p:cNvPr>
          <p:cNvSpPr txBox="1"/>
          <p:nvPr/>
        </p:nvSpPr>
        <p:spPr>
          <a:xfrm>
            <a:off x="1219200" y="4558753"/>
            <a:ext cx="9829800" cy="1631216"/>
          </a:xfrm>
          <a:prstGeom prst="rect">
            <a:avLst/>
          </a:prstGeom>
          <a:noFill/>
        </p:spPr>
        <p:txBody>
          <a:bodyPr wrap="square">
            <a:spAutoFit/>
          </a:bodyPr>
          <a:lstStyle/>
          <a:p>
            <a:r>
              <a:rPr lang="en-US" sz="2000" b="0" i="0" dirty="0">
                <a:solidFill>
                  <a:srgbClr val="242021"/>
                </a:solidFill>
                <a:effectLst/>
                <a:latin typeface="NewCaledoniaLTStd"/>
              </a:rPr>
              <a:t>At the implementation level, the supertype and its subtype(s) depicted in the specialization hierarchy maintain a 1:1 relationship. For example, the specialization hierarchy lets you replace the undesirable EMPLOYEE table structure in Figure 5.1 with two tables—one representing the supertype EMPLOYEE and the other representing the subtype PILOT.</a:t>
            </a:r>
            <a:r>
              <a:rPr lang="en-US" sz="2000" dirty="0"/>
              <a:t> </a:t>
            </a:r>
            <a:br>
              <a:rPr lang="en-US" sz="2000" dirty="0"/>
            </a:br>
            <a:endParaRPr lang="en-US" sz="2000" dirty="0"/>
          </a:p>
        </p:txBody>
      </p:sp>
    </p:spTree>
    <p:extLst>
      <p:ext uri="{BB962C8B-B14F-4D97-AF65-F5344CB8AC3E}">
        <p14:creationId xmlns:p14="http://schemas.microsoft.com/office/powerpoint/2010/main" val="2977995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E5B01A-4DC9-EEE8-CB04-85F50708BBE5}"/>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A9757A00-860C-EB9B-4B69-973DCA106BC4}"/>
              </a:ext>
            </a:extLst>
          </p:cNvPr>
          <p:cNvSpPr>
            <a:spLocks noGrp="1"/>
          </p:cNvSpPr>
          <p:nvPr>
            <p:ph type="sldNum" sz="quarter" idx="11"/>
          </p:nvPr>
        </p:nvSpPr>
        <p:spPr/>
        <p:txBody>
          <a:bodyPr/>
          <a:lstStyle/>
          <a:p>
            <a:pPr>
              <a:defRPr/>
            </a:pPr>
            <a:fld id="{D1AD3536-327C-4937-83AF-A64971CFA6D9}" type="slidenum">
              <a:rPr lang="en-US" smtClean="0"/>
              <a:pPr>
                <a:defRPr/>
              </a:pPr>
              <a:t>12</a:t>
            </a:fld>
            <a:endParaRPr lang="en-US"/>
          </a:p>
        </p:txBody>
      </p:sp>
      <p:sp>
        <p:nvSpPr>
          <p:cNvPr id="4" name="Footer Placeholder 3">
            <a:extLst>
              <a:ext uri="{FF2B5EF4-FFF2-40B4-BE49-F238E27FC236}">
                <a16:creationId xmlns:a16="http://schemas.microsoft.com/office/drawing/2014/main" id="{F2CE03A0-1ABF-48F5-B2E4-26244CB0A314}"/>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821AC764-8506-1E79-31B3-6973FF77C615}"/>
              </a:ext>
            </a:extLst>
          </p:cNvPr>
          <p:cNvPicPr>
            <a:picLocks noChangeAspect="1"/>
          </p:cNvPicPr>
          <p:nvPr/>
        </p:nvPicPr>
        <p:blipFill>
          <a:blip r:embed="rId2"/>
          <a:stretch>
            <a:fillRect/>
          </a:stretch>
        </p:blipFill>
        <p:spPr>
          <a:xfrm>
            <a:off x="2057400" y="328612"/>
            <a:ext cx="8077200" cy="6200775"/>
          </a:xfrm>
          <a:prstGeom prst="rect">
            <a:avLst/>
          </a:prstGeom>
        </p:spPr>
      </p:pic>
    </p:spTree>
    <p:extLst>
      <p:ext uri="{BB962C8B-B14F-4D97-AF65-F5344CB8AC3E}">
        <p14:creationId xmlns:p14="http://schemas.microsoft.com/office/powerpoint/2010/main" val="1610798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62DAB-4EDE-8039-FA23-412DA5D78C0A}"/>
              </a:ext>
            </a:extLst>
          </p:cNvPr>
          <p:cNvSpPr>
            <a:spLocks noGrp="1"/>
          </p:cNvSpPr>
          <p:nvPr>
            <p:ph type="title"/>
          </p:nvPr>
        </p:nvSpPr>
        <p:spPr/>
        <p:txBody>
          <a:bodyPr/>
          <a:lstStyle/>
          <a:p>
            <a:r>
              <a:rPr lang="en-US" dirty="0"/>
              <a:t>5-1d Subtype Discriminator</a:t>
            </a:r>
          </a:p>
        </p:txBody>
      </p:sp>
      <p:sp>
        <p:nvSpPr>
          <p:cNvPr id="3" name="Content Placeholder 2">
            <a:extLst>
              <a:ext uri="{FF2B5EF4-FFF2-40B4-BE49-F238E27FC236}">
                <a16:creationId xmlns:a16="http://schemas.microsoft.com/office/drawing/2014/main" id="{9BF57940-B557-067D-CE46-F605A4AD643E}"/>
              </a:ext>
            </a:extLst>
          </p:cNvPr>
          <p:cNvSpPr>
            <a:spLocks noGrp="1"/>
          </p:cNvSpPr>
          <p:nvPr>
            <p:ph idx="1"/>
          </p:nvPr>
        </p:nvSpPr>
        <p:spPr/>
        <p:txBody>
          <a:bodyPr/>
          <a:lstStyle/>
          <a:p>
            <a:r>
              <a:rPr lang="en-US" sz="2000" b="0" i="0" dirty="0">
                <a:solidFill>
                  <a:srgbClr val="242021"/>
                </a:solidFill>
                <a:effectLst/>
                <a:latin typeface="NewCaledoniaLTStd"/>
              </a:rPr>
              <a:t>A </a:t>
            </a:r>
            <a:r>
              <a:rPr lang="en-US" sz="2000" b="1" i="0" dirty="0">
                <a:solidFill>
                  <a:srgbClr val="007DAF"/>
                </a:solidFill>
                <a:effectLst/>
                <a:latin typeface="MyriadPro-Bold"/>
              </a:rPr>
              <a:t>subtype discriminator </a:t>
            </a:r>
            <a:r>
              <a:rPr lang="en-US" sz="2000" b="0" i="0" dirty="0">
                <a:solidFill>
                  <a:srgbClr val="242021"/>
                </a:solidFill>
                <a:effectLst/>
                <a:latin typeface="NewCaledoniaLTStd"/>
              </a:rPr>
              <a:t>is the attribute in the supertype entity that determines to which subtype the supertype occurrence is related</a:t>
            </a:r>
            <a:r>
              <a:rPr lang="en-US" sz="2400" dirty="0"/>
              <a:t> </a:t>
            </a:r>
          </a:p>
          <a:p>
            <a:pPr lvl="1"/>
            <a:r>
              <a:rPr lang="en-US" sz="2000" b="0" i="0" dirty="0">
                <a:solidFill>
                  <a:srgbClr val="242021"/>
                </a:solidFill>
                <a:effectLst/>
                <a:latin typeface="NewCaledoniaLTStd"/>
              </a:rPr>
              <a:t>The subtype discriminator is the employee type (EMP_TYPE)</a:t>
            </a:r>
            <a:r>
              <a:rPr lang="en-US" sz="2000" dirty="0"/>
              <a:t> </a:t>
            </a:r>
          </a:p>
          <a:p>
            <a:pPr lvl="1"/>
            <a:r>
              <a:rPr lang="en-US" sz="2000" b="0" i="0" dirty="0">
                <a:solidFill>
                  <a:srgbClr val="242021"/>
                </a:solidFill>
                <a:effectLst/>
                <a:latin typeface="NewCaledoniaLTStd"/>
              </a:rPr>
              <a:t>the supertype is related to a PILOT subtype if the EMP_TYPE has a value of “P.” If the EMP_TYPE value is</a:t>
            </a:r>
            <a:br>
              <a:rPr lang="en-US" sz="2000" b="0" i="0" dirty="0">
                <a:solidFill>
                  <a:srgbClr val="242021"/>
                </a:solidFill>
                <a:effectLst/>
                <a:latin typeface="NewCaledoniaLTStd"/>
              </a:rPr>
            </a:br>
            <a:r>
              <a:rPr lang="en-US" sz="2000" b="0" i="0" dirty="0">
                <a:solidFill>
                  <a:srgbClr val="242021"/>
                </a:solidFill>
                <a:effectLst/>
                <a:latin typeface="NewCaledoniaLTStd"/>
              </a:rPr>
              <a:t>“M,” the supertype is related to a MECHANIC subtype. If the EMP_TYPE value is “A,” the supertype is related to the ACCOUNTANT subtype.</a:t>
            </a:r>
            <a:r>
              <a:rPr lang="en-US" sz="2000" dirty="0"/>
              <a:t> </a:t>
            </a:r>
          </a:p>
          <a:p>
            <a:endParaRPr lang="en-US" sz="2400" dirty="0"/>
          </a:p>
        </p:txBody>
      </p:sp>
      <p:sp>
        <p:nvSpPr>
          <p:cNvPr id="4" name="Slide Number Placeholder 3">
            <a:extLst>
              <a:ext uri="{FF2B5EF4-FFF2-40B4-BE49-F238E27FC236}">
                <a16:creationId xmlns:a16="http://schemas.microsoft.com/office/drawing/2014/main" id="{C1474DB9-35CF-DF47-EB15-C75030F42D9B}"/>
              </a:ext>
            </a:extLst>
          </p:cNvPr>
          <p:cNvSpPr>
            <a:spLocks noGrp="1"/>
          </p:cNvSpPr>
          <p:nvPr>
            <p:ph type="sldNum" sz="quarter" idx="10"/>
          </p:nvPr>
        </p:nvSpPr>
        <p:spPr/>
        <p:txBody>
          <a:bodyPr/>
          <a:lstStyle/>
          <a:p>
            <a:pPr>
              <a:defRPr/>
            </a:pPr>
            <a:fld id="{34A84676-C444-4AC5-8B4E-405A7C81C0FB}" type="slidenum">
              <a:rPr lang="en-US" altLang="en-US" smtClean="0"/>
              <a:pPr>
                <a:defRPr/>
              </a:pPr>
              <a:t>13</a:t>
            </a:fld>
            <a:endParaRPr lang="en-US" altLang="en-US"/>
          </a:p>
        </p:txBody>
      </p:sp>
      <p:sp>
        <p:nvSpPr>
          <p:cNvPr id="5" name="Footer Placeholder 4">
            <a:extLst>
              <a:ext uri="{FF2B5EF4-FFF2-40B4-BE49-F238E27FC236}">
                <a16:creationId xmlns:a16="http://schemas.microsoft.com/office/drawing/2014/main" id="{05184394-D777-3166-533A-68FB8AD7201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21331E37-2076-4F7B-7E1F-374A399A861F}"/>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570401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73BC5-9E42-A8BB-FD8A-979DE23115F0}"/>
              </a:ext>
            </a:extLst>
          </p:cNvPr>
          <p:cNvSpPr>
            <a:spLocks noGrp="1"/>
          </p:cNvSpPr>
          <p:nvPr>
            <p:ph type="title"/>
          </p:nvPr>
        </p:nvSpPr>
        <p:spPr/>
        <p:txBody>
          <a:bodyPr/>
          <a:lstStyle/>
          <a:p>
            <a:r>
              <a:rPr lang="en-US" dirty="0"/>
              <a:t>5-1e Disjoint and Overlapping Constraints</a:t>
            </a:r>
          </a:p>
        </p:txBody>
      </p:sp>
      <p:sp>
        <p:nvSpPr>
          <p:cNvPr id="3" name="Content Placeholder 2">
            <a:extLst>
              <a:ext uri="{FF2B5EF4-FFF2-40B4-BE49-F238E27FC236}">
                <a16:creationId xmlns:a16="http://schemas.microsoft.com/office/drawing/2014/main" id="{055E54D9-DE31-073E-D50E-4220E50DE93A}"/>
              </a:ext>
            </a:extLst>
          </p:cNvPr>
          <p:cNvSpPr>
            <a:spLocks noGrp="1"/>
          </p:cNvSpPr>
          <p:nvPr>
            <p:ph idx="1"/>
          </p:nvPr>
        </p:nvSpPr>
        <p:spPr>
          <a:xfrm>
            <a:off x="838200" y="1825625"/>
            <a:ext cx="8077200" cy="4351338"/>
          </a:xfrm>
        </p:spPr>
        <p:txBody>
          <a:bodyPr/>
          <a:lstStyle/>
          <a:p>
            <a:r>
              <a:rPr lang="en-US" sz="1800" b="0" i="0" dirty="0">
                <a:solidFill>
                  <a:srgbClr val="242021"/>
                </a:solidFill>
                <a:effectLst/>
                <a:latin typeface="NewCaledoniaLTStd"/>
              </a:rPr>
              <a:t>An entity supertype can have disjoint or overlapping entity subtypes</a:t>
            </a:r>
            <a:r>
              <a:rPr lang="en-US" dirty="0"/>
              <a:t> </a:t>
            </a:r>
          </a:p>
          <a:p>
            <a:pPr lvl="1"/>
            <a:r>
              <a:rPr lang="en-US" sz="1800" b="0" i="0" dirty="0">
                <a:solidFill>
                  <a:srgbClr val="242021"/>
                </a:solidFill>
                <a:effectLst/>
                <a:latin typeface="NewCaledoniaLTStd"/>
              </a:rPr>
              <a:t>an employee can be a pilot, a mechanic, or an accountant</a:t>
            </a:r>
            <a:r>
              <a:rPr lang="en-US" dirty="0"/>
              <a:t> </a:t>
            </a:r>
          </a:p>
          <a:p>
            <a:r>
              <a:rPr lang="en-US" sz="1800" b="1" i="0" dirty="0">
                <a:solidFill>
                  <a:srgbClr val="007DAF"/>
                </a:solidFill>
                <a:effectLst/>
                <a:latin typeface="MyriadPro-Bold"/>
              </a:rPr>
              <a:t>Disjoint subtypes</a:t>
            </a:r>
            <a:r>
              <a:rPr lang="en-US" sz="1800" b="0" i="0" dirty="0">
                <a:solidFill>
                  <a:srgbClr val="242021"/>
                </a:solidFill>
                <a:effectLst/>
                <a:latin typeface="NewCaledoniaLTStd"/>
              </a:rPr>
              <a:t>, or </a:t>
            </a:r>
            <a:r>
              <a:rPr lang="en-US" sz="1800" b="1" i="0" dirty="0">
                <a:solidFill>
                  <a:srgbClr val="007DAF"/>
                </a:solidFill>
                <a:effectLst/>
                <a:latin typeface="MyriadPro-Bold"/>
              </a:rPr>
              <a:t>nonoverlapping subtypes</a:t>
            </a:r>
            <a:r>
              <a:rPr lang="en-US" sz="1800" b="0" i="0" dirty="0">
                <a:solidFill>
                  <a:srgbClr val="242021"/>
                </a:solidFill>
                <a:effectLst/>
                <a:latin typeface="NewCaledoniaLTStd"/>
              </a:rPr>
              <a:t>, are subtypes that contain a </a:t>
            </a:r>
            <a:r>
              <a:rPr lang="en-US" sz="1800" b="0" i="1" dirty="0">
                <a:solidFill>
                  <a:srgbClr val="242021"/>
                </a:solidFill>
                <a:effectLst/>
                <a:latin typeface="NewCaledoniaLTStd-It"/>
              </a:rPr>
              <a:t>unique </a:t>
            </a:r>
            <a:r>
              <a:rPr lang="en-US" sz="1800" b="0" i="0" dirty="0">
                <a:solidFill>
                  <a:srgbClr val="242021"/>
                </a:solidFill>
                <a:effectLst/>
                <a:latin typeface="NewCaledoniaLTStd"/>
              </a:rPr>
              <a:t>subset of the supertype entity set - each entity instance of the supertype can appear in only one of the subtypes</a:t>
            </a:r>
            <a:r>
              <a:rPr lang="en-US" sz="1800" dirty="0"/>
              <a:t> </a:t>
            </a:r>
          </a:p>
          <a:p>
            <a:pPr lvl="1"/>
            <a:r>
              <a:rPr lang="en-US" dirty="0"/>
              <a:t>Employee cannot be pilot and accountant at the same time</a:t>
            </a:r>
          </a:p>
          <a:p>
            <a:r>
              <a:rPr lang="en-US" sz="1800" b="1" i="0" dirty="0">
                <a:solidFill>
                  <a:srgbClr val="007DAF"/>
                </a:solidFill>
                <a:effectLst/>
                <a:latin typeface="MyriadPro-Bold"/>
              </a:rPr>
              <a:t>Overlapping subtypes </a:t>
            </a:r>
            <a:r>
              <a:rPr lang="en-US" sz="1800" b="0" i="0" dirty="0">
                <a:solidFill>
                  <a:srgbClr val="242021"/>
                </a:solidFill>
                <a:effectLst/>
                <a:latin typeface="NewCaledoniaLTStd"/>
              </a:rPr>
              <a:t>are subtypes that contain nonunique subsets of the supertype entity set; that is, each entity instance of the supertype may appear in more than one subtype</a:t>
            </a:r>
            <a:r>
              <a:rPr lang="en-US" dirty="0"/>
              <a:t> </a:t>
            </a:r>
          </a:p>
          <a:p>
            <a:pPr lvl="1"/>
            <a:br>
              <a:rPr lang="en-US" dirty="0"/>
            </a:br>
            <a:br>
              <a:rPr lang="en-US" dirty="0"/>
            </a:br>
            <a:br>
              <a:rPr lang="en-US" dirty="0"/>
            </a:br>
            <a:r>
              <a:rPr lang="en-US" dirty="0"/>
              <a:t>	</a:t>
            </a:r>
            <a:br>
              <a:rPr lang="en-US" dirty="0"/>
            </a:br>
            <a:endParaRPr lang="en-US" dirty="0"/>
          </a:p>
        </p:txBody>
      </p:sp>
      <p:sp>
        <p:nvSpPr>
          <p:cNvPr id="4" name="Slide Number Placeholder 3">
            <a:extLst>
              <a:ext uri="{FF2B5EF4-FFF2-40B4-BE49-F238E27FC236}">
                <a16:creationId xmlns:a16="http://schemas.microsoft.com/office/drawing/2014/main" id="{9E9BE7EC-2DE8-0B51-9B2C-0C0FD881F1C2}"/>
              </a:ext>
            </a:extLst>
          </p:cNvPr>
          <p:cNvSpPr>
            <a:spLocks noGrp="1"/>
          </p:cNvSpPr>
          <p:nvPr>
            <p:ph type="sldNum" sz="quarter" idx="10"/>
          </p:nvPr>
        </p:nvSpPr>
        <p:spPr/>
        <p:txBody>
          <a:bodyPr/>
          <a:lstStyle/>
          <a:p>
            <a:pPr>
              <a:defRPr/>
            </a:pPr>
            <a:fld id="{34A84676-C444-4AC5-8B4E-405A7C81C0FB}" type="slidenum">
              <a:rPr lang="en-US" altLang="en-US" smtClean="0"/>
              <a:pPr>
                <a:defRPr/>
              </a:pPr>
              <a:t>14</a:t>
            </a:fld>
            <a:endParaRPr lang="en-US" altLang="en-US"/>
          </a:p>
        </p:txBody>
      </p:sp>
      <p:sp>
        <p:nvSpPr>
          <p:cNvPr id="5" name="Footer Placeholder 4">
            <a:extLst>
              <a:ext uri="{FF2B5EF4-FFF2-40B4-BE49-F238E27FC236}">
                <a16:creationId xmlns:a16="http://schemas.microsoft.com/office/drawing/2014/main" id="{4C4667BE-FCB9-F198-7434-1D235245FDB6}"/>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3F5CE5AD-1D03-1A44-A699-BA9FD2346660}"/>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C1B275D5-A59D-62C1-DDD0-B8C32830BBBC}"/>
              </a:ext>
            </a:extLst>
          </p:cNvPr>
          <p:cNvPicPr>
            <a:picLocks noChangeAspect="1"/>
          </p:cNvPicPr>
          <p:nvPr/>
        </p:nvPicPr>
        <p:blipFill>
          <a:blip r:embed="rId2"/>
          <a:stretch>
            <a:fillRect/>
          </a:stretch>
        </p:blipFill>
        <p:spPr>
          <a:xfrm>
            <a:off x="9372600" y="1832999"/>
            <a:ext cx="2581275" cy="3981450"/>
          </a:xfrm>
          <a:prstGeom prst="rect">
            <a:avLst/>
          </a:prstGeom>
        </p:spPr>
      </p:pic>
    </p:spTree>
    <p:extLst>
      <p:ext uri="{BB962C8B-B14F-4D97-AF65-F5344CB8AC3E}">
        <p14:creationId xmlns:p14="http://schemas.microsoft.com/office/powerpoint/2010/main" val="2325636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A49016-2D65-9F36-B0F8-6FE27D720D66}"/>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96E75252-F1AD-5A61-D608-8A33F966B591}"/>
              </a:ext>
            </a:extLst>
          </p:cNvPr>
          <p:cNvSpPr>
            <a:spLocks noGrp="1"/>
          </p:cNvSpPr>
          <p:nvPr>
            <p:ph type="sldNum" sz="quarter" idx="11"/>
          </p:nvPr>
        </p:nvSpPr>
        <p:spPr/>
        <p:txBody>
          <a:bodyPr/>
          <a:lstStyle/>
          <a:p>
            <a:pPr>
              <a:defRPr/>
            </a:pPr>
            <a:fld id="{D1AD3536-327C-4937-83AF-A64971CFA6D9}" type="slidenum">
              <a:rPr lang="en-US" smtClean="0"/>
              <a:pPr>
                <a:defRPr/>
              </a:pPr>
              <a:t>15</a:t>
            </a:fld>
            <a:endParaRPr lang="en-US"/>
          </a:p>
        </p:txBody>
      </p:sp>
      <p:sp>
        <p:nvSpPr>
          <p:cNvPr id="4" name="Footer Placeholder 3">
            <a:extLst>
              <a:ext uri="{FF2B5EF4-FFF2-40B4-BE49-F238E27FC236}">
                <a16:creationId xmlns:a16="http://schemas.microsoft.com/office/drawing/2014/main" id="{D056FF92-3E53-97CE-A1CA-8090A5556ED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CAC081AD-64CA-2B78-16BF-12E5AE3435C3}"/>
              </a:ext>
            </a:extLst>
          </p:cNvPr>
          <p:cNvPicPr>
            <a:picLocks noChangeAspect="1"/>
          </p:cNvPicPr>
          <p:nvPr/>
        </p:nvPicPr>
        <p:blipFill>
          <a:blip r:embed="rId2"/>
          <a:stretch>
            <a:fillRect/>
          </a:stretch>
        </p:blipFill>
        <p:spPr>
          <a:xfrm>
            <a:off x="2902943" y="655079"/>
            <a:ext cx="6386113" cy="5547841"/>
          </a:xfrm>
          <a:prstGeom prst="rect">
            <a:avLst/>
          </a:prstGeom>
        </p:spPr>
      </p:pic>
    </p:spTree>
    <p:extLst>
      <p:ext uri="{BB962C8B-B14F-4D97-AF65-F5344CB8AC3E}">
        <p14:creationId xmlns:p14="http://schemas.microsoft.com/office/powerpoint/2010/main" val="248459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6FA331-3BBA-C68B-7F5D-299E42BA605F}"/>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24F717B2-7333-34E6-B404-EFEAB5786A4D}"/>
              </a:ext>
            </a:extLst>
          </p:cNvPr>
          <p:cNvSpPr>
            <a:spLocks noGrp="1"/>
          </p:cNvSpPr>
          <p:nvPr>
            <p:ph type="sldNum" sz="quarter" idx="11"/>
          </p:nvPr>
        </p:nvSpPr>
        <p:spPr/>
        <p:txBody>
          <a:bodyPr/>
          <a:lstStyle/>
          <a:p>
            <a:pPr>
              <a:defRPr/>
            </a:pPr>
            <a:fld id="{D1AD3536-327C-4937-83AF-A64971CFA6D9}" type="slidenum">
              <a:rPr lang="en-US" smtClean="0"/>
              <a:pPr>
                <a:defRPr/>
              </a:pPr>
              <a:t>16</a:t>
            </a:fld>
            <a:endParaRPr lang="en-US"/>
          </a:p>
        </p:txBody>
      </p:sp>
      <p:sp>
        <p:nvSpPr>
          <p:cNvPr id="4" name="Footer Placeholder 3">
            <a:extLst>
              <a:ext uri="{FF2B5EF4-FFF2-40B4-BE49-F238E27FC236}">
                <a16:creationId xmlns:a16="http://schemas.microsoft.com/office/drawing/2014/main" id="{F2F89110-5A1E-B3D9-DCDE-F4D0868D4368}"/>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F4D44D2-547E-B059-9441-3325D8B76D75}"/>
              </a:ext>
            </a:extLst>
          </p:cNvPr>
          <p:cNvPicPr>
            <a:picLocks noChangeAspect="1"/>
          </p:cNvPicPr>
          <p:nvPr/>
        </p:nvPicPr>
        <p:blipFill>
          <a:blip r:embed="rId2"/>
          <a:stretch>
            <a:fillRect/>
          </a:stretch>
        </p:blipFill>
        <p:spPr>
          <a:xfrm>
            <a:off x="1023937" y="2047875"/>
            <a:ext cx="10144125" cy="2762250"/>
          </a:xfrm>
          <a:prstGeom prst="rect">
            <a:avLst/>
          </a:prstGeom>
        </p:spPr>
      </p:pic>
    </p:spTree>
    <p:extLst>
      <p:ext uri="{BB962C8B-B14F-4D97-AF65-F5344CB8AC3E}">
        <p14:creationId xmlns:p14="http://schemas.microsoft.com/office/powerpoint/2010/main" val="772467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816E2-5679-F9A4-3096-DE13FE398944}"/>
              </a:ext>
            </a:extLst>
          </p:cNvPr>
          <p:cNvSpPr>
            <a:spLocks noGrp="1"/>
          </p:cNvSpPr>
          <p:nvPr>
            <p:ph type="title"/>
          </p:nvPr>
        </p:nvSpPr>
        <p:spPr/>
        <p:txBody>
          <a:bodyPr/>
          <a:lstStyle/>
          <a:p>
            <a:r>
              <a:rPr lang="en-US" dirty="0"/>
              <a:t>5-1f Completeness Constraint</a:t>
            </a:r>
          </a:p>
        </p:txBody>
      </p:sp>
      <p:sp>
        <p:nvSpPr>
          <p:cNvPr id="3" name="Content Placeholder 2">
            <a:extLst>
              <a:ext uri="{FF2B5EF4-FFF2-40B4-BE49-F238E27FC236}">
                <a16:creationId xmlns:a16="http://schemas.microsoft.com/office/drawing/2014/main" id="{9328A35D-7FA3-6E93-FC5B-217FEA7CFC4D}"/>
              </a:ext>
            </a:extLst>
          </p:cNvPr>
          <p:cNvSpPr>
            <a:spLocks noGrp="1"/>
          </p:cNvSpPr>
          <p:nvPr>
            <p:ph idx="1"/>
          </p:nvPr>
        </p:nvSpPr>
        <p:spPr>
          <a:xfrm>
            <a:off x="838200" y="1825625"/>
            <a:ext cx="5334000" cy="4351338"/>
          </a:xfrm>
        </p:spPr>
        <p:txBody>
          <a:bodyPr/>
          <a:lstStyle/>
          <a:p>
            <a:r>
              <a:rPr lang="en-US" sz="1800" b="0" i="0" dirty="0">
                <a:solidFill>
                  <a:srgbClr val="242021"/>
                </a:solidFill>
                <a:effectLst/>
                <a:latin typeface="NewCaledoniaLTStd"/>
              </a:rPr>
              <a:t>The </a:t>
            </a:r>
            <a:r>
              <a:rPr lang="en-US" sz="1800" b="1" i="0" dirty="0">
                <a:solidFill>
                  <a:srgbClr val="007DAF"/>
                </a:solidFill>
                <a:effectLst/>
                <a:latin typeface="MyriadPro-Bold"/>
              </a:rPr>
              <a:t>completeness constraint </a:t>
            </a:r>
            <a:r>
              <a:rPr lang="en-US" sz="1800" b="0" i="0" dirty="0">
                <a:solidFill>
                  <a:srgbClr val="242021"/>
                </a:solidFill>
                <a:effectLst/>
                <a:latin typeface="NewCaledoniaLTStd"/>
              </a:rPr>
              <a:t>specifies whether each entity supertype occurrence must also be a member of at least one subtype.</a:t>
            </a:r>
          </a:p>
          <a:p>
            <a:r>
              <a:rPr lang="en-US" sz="1800" b="1" i="0" dirty="0">
                <a:solidFill>
                  <a:srgbClr val="007DAF"/>
                </a:solidFill>
                <a:effectLst/>
                <a:latin typeface="MyriadPro-Bold"/>
              </a:rPr>
              <a:t>Partial completeness </a:t>
            </a:r>
            <a:r>
              <a:rPr lang="en-US" sz="1800" b="0" i="0" dirty="0">
                <a:solidFill>
                  <a:srgbClr val="242021"/>
                </a:solidFill>
                <a:effectLst/>
                <a:latin typeface="NewCaledoniaLTStd"/>
              </a:rPr>
              <a:t>means that not every supertype occurrence is a member of a subtype; some supertype occurrences may not be members of any subtype. </a:t>
            </a:r>
          </a:p>
          <a:p>
            <a:r>
              <a:rPr lang="en-US" sz="1800" b="1" i="0" dirty="0">
                <a:solidFill>
                  <a:srgbClr val="007DAF"/>
                </a:solidFill>
                <a:effectLst/>
                <a:latin typeface="MyriadPro-Bold"/>
              </a:rPr>
              <a:t>Total completeness </a:t>
            </a:r>
            <a:r>
              <a:rPr lang="en-US" sz="1800" b="0" i="0" dirty="0">
                <a:solidFill>
                  <a:srgbClr val="242021"/>
                </a:solidFill>
                <a:effectLst/>
                <a:latin typeface="NewCaledoniaLTStd"/>
              </a:rPr>
              <a:t>means that every supertype occurrence must be a member of at least one subtype</a:t>
            </a:r>
            <a:r>
              <a:rPr lang="en-US" dirty="0"/>
              <a:t>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86F035A7-6CBF-7D7B-B7CB-67DB4554DD03}"/>
              </a:ext>
            </a:extLst>
          </p:cNvPr>
          <p:cNvSpPr>
            <a:spLocks noGrp="1"/>
          </p:cNvSpPr>
          <p:nvPr>
            <p:ph type="sldNum" sz="quarter" idx="10"/>
          </p:nvPr>
        </p:nvSpPr>
        <p:spPr/>
        <p:txBody>
          <a:bodyPr/>
          <a:lstStyle/>
          <a:p>
            <a:pPr>
              <a:defRPr/>
            </a:pPr>
            <a:fld id="{34A84676-C444-4AC5-8B4E-405A7C81C0FB}" type="slidenum">
              <a:rPr lang="en-US" altLang="en-US" smtClean="0"/>
              <a:pPr>
                <a:defRPr/>
              </a:pPr>
              <a:t>17</a:t>
            </a:fld>
            <a:endParaRPr lang="en-US" altLang="en-US"/>
          </a:p>
        </p:txBody>
      </p:sp>
      <p:sp>
        <p:nvSpPr>
          <p:cNvPr id="5" name="Footer Placeholder 4">
            <a:extLst>
              <a:ext uri="{FF2B5EF4-FFF2-40B4-BE49-F238E27FC236}">
                <a16:creationId xmlns:a16="http://schemas.microsoft.com/office/drawing/2014/main" id="{25EEDE3A-CAF3-6AE0-15CF-F948D0572B43}"/>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1390DADB-1A45-7409-527C-42928BE373BB}"/>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693A3BB6-84A9-64FF-7D99-6FBDF5C80566}"/>
              </a:ext>
            </a:extLst>
          </p:cNvPr>
          <p:cNvPicPr>
            <a:picLocks noChangeAspect="1"/>
          </p:cNvPicPr>
          <p:nvPr/>
        </p:nvPicPr>
        <p:blipFill>
          <a:blip r:embed="rId2"/>
          <a:stretch>
            <a:fillRect/>
          </a:stretch>
        </p:blipFill>
        <p:spPr>
          <a:xfrm>
            <a:off x="8220075" y="966454"/>
            <a:ext cx="2457450" cy="5267325"/>
          </a:xfrm>
          <a:prstGeom prst="rect">
            <a:avLst/>
          </a:prstGeom>
        </p:spPr>
      </p:pic>
    </p:spTree>
    <p:extLst>
      <p:ext uri="{BB962C8B-B14F-4D97-AF65-F5344CB8AC3E}">
        <p14:creationId xmlns:p14="http://schemas.microsoft.com/office/powerpoint/2010/main" val="2818319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81B937-36DF-07C8-CA37-8672E4D9E57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0D920C5-B5AD-9C12-8675-F623277865F1}"/>
              </a:ext>
            </a:extLst>
          </p:cNvPr>
          <p:cNvSpPr>
            <a:spLocks noGrp="1"/>
          </p:cNvSpPr>
          <p:nvPr>
            <p:ph type="sldNum" sz="quarter" idx="11"/>
          </p:nvPr>
        </p:nvSpPr>
        <p:spPr/>
        <p:txBody>
          <a:bodyPr/>
          <a:lstStyle/>
          <a:p>
            <a:pPr>
              <a:defRPr/>
            </a:pPr>
            <a:fld id="{D1AD3536-327C-4937-83AF-A64971CFA6D9}" type="slidenum">
              <a:rPr lang="en-US" smtClean="0"/>
              <a:pPr>
                <a:defRPr/>
              </a:pPr>
              <a:t>18</a:t>
            </a:fld>
            <a:endParaRPr lang="en-US"/>
          </a:p>
        </p:txBody>
      </p:sp>
      <p:sp>
        <p:nvSpPr>
          <p:cNvPr id="4" name="Footer Placeholder 3">
            <a:extLst>
              <a:ext uri="{FF2B5EF4-FFF2-40B4-BE49-F238E27FC236}">
                <a16:creationId xmlns:a16="http://schemas.microsoft.com/office/drawing/2014/main" id="{61DF400B-E0B5-6D6E-2BE3-41F84F2EFB6A}"/>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BA2DC781-E0EB-A027-618E-AFEEFE7F5537}"/>
              </a:ext>
            </a:extLst>
          </p:cNvPr>
          <p:cNvPicPr>
            <a:picLocks noChangeAspect="1"/>
          </p:cNvPicPr>
          <p:nvPr/>
        </p:nvPicPr>
        <p:blipFill>
          <a:blip r:embed="rId2"/>
          <a:stretch>
            <a:fillRect/>
          </a:stretch>
        </p:blipFill>
        <p:spPr>
          <a:xfrm>
            <a:off x="1057275" y="2214562"/>
            <a:ext cx="10077450" cy="2428875"/>
          </a:xfrm>
          <a:prstGeom prst="rect">
            <a:avLst/>
          </a:prstGeom>
        </p:spPr>
      </p:pic>
    </p:spTree>
    <p:extLst>
      <p:ext uri="{BB962C8B-B14F-4D97-AF65-F5344CB8AC3E}">
        <p14:creationId xmlns:p14="http://schemas.microsoft.com/office/powerpoint/2010/main" val="2910338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152D4-5CD6-321C-4680-EF37B2799B15}"/>
              </a:ext>
            </a:extLst>
          </p:cNvPr>
          <p:cNvSpPr>
            <a:spLocks noGrp="1"/>
          </p:cNvSpPr>
          <p:nvPr>
            <p:ph type="title"/>
          </p:nvPr>
        </p:nvSpPr>
        <p:spPr/>
        <p:txBody>
          <a:bodyPr/>
          <a:lstStyle/>
          <a:p>
            <a:r>
              <a:rPr lang="en-US" dirty="0"/>
              <a:t>5-1g Specialization and Generalization</a:t>
            </a:r>
          </a:p>
        </p:txBody>
      </p:sp>
      <p:sp>
        <p:nvSpPr>
          <p:cNvPr id="3" name="Content Placeholder 2">
            <a:extLst>
              <a:ext uri="{FF2B5EF4-FFF2-40B4-BE49-F238E27FC236}">
                <a16:creationId xmlns:a16="http://schemas.microsoft.com/office/drawing/2014/main" id="{8267302C-DC12-8737-D8FA-1FEC6DD29F04}"/>
              </a:ext>
            </a:extLst>
          </p:cNvPr>
          <p:cNvSpPr>
            <a:spLocks noGrp="1"/>
          </p:cNvSpPr>
          <p:nvPr>
            <p:ph idx="1"/>
          </p:nvPr>
        </p:nvSpPr>
        <p:spPr>
          <a:xfrm>
            <a:off x="838200" y="1673482"/>
            <a:ext cx="7543800" cy="4351338"/>
          </a:xfrm>
        </p:spPr>
        <p:txBody>
          <a:bodyPr/>
          <a:lstStyle/>
          <a:p>
            <a:r>
              <a:rPr lang="en-US" sz="2000" b="0" i="0" dirty="0">
                <a:solidFill>
                  <a:srgbClr val="242021"/>
                </a:solidFill>
                <a:effectLst/>
                <a:latin typeface="NewCaledoniaLTStd"/>
              </a:rPr>
              <a:t>Various approaches to develop entity supertypes and subtypes. </a:t>
            </a:r>
          </a:p>
          <a:p>
            <a:pPr lvl="1"/>
            <a:r>
              <a:rPr lang="en-US" sz="1600" b="0" i="0" dirty="0">
                <a:solidFill>
                  <a:srgbClr val="242021"/>
                </a:solidFill>
                <a:effectLst/>
                <a:latin typeface="NewCaledoniaLTStd"/>
              </a:rPr>
              <a:t>Identify a regular entity and then identify all entity subtypes based on their distinguishing characteristics. </a:t>
            </a:r>
          </a:p>
          <a:p>
            <a:pPr lvl="1"/>
            <a:r>
              <a:rPr lang="en-US" sz="1600" b="0" i="0" dirty="0">
                <a:solidFill>
                  <a:srgbClr val="242021"/>
                </a:solidFill>
                <a:effectLst/>
                <a:latin typeface="NewCaledoniaLTStd"/>
              </a:rPr>
              <a:t>Identify multiple entity types and then later extract the common characteristics of those entities to create a higher-level supertype entity.</a:t>
            </a:r>
            <a:r>
              <a:rPr lang="en-US" sz="2000" dirty="0"/>
              <a:t> </a:t>
            </a:r>
          </a:p>
          <a:p>
            <a:r>
              <a:rPr lang="en-US" sz="2000" b="1" i="0" dirty="0">
                <a:solidFill>
                  <a:srgbClr val="007DAF"/>
                </a:solidFill>
                <a:effectLst/>
                <a:latin typeface="MyriadPro-Bold"/>
              </a:rPr>
              <a:t>Specialization </a:t>
            </a:r>
            <a:r>
              <a:rPr lang="en-US" sz="2000" b="0" i="0" dirty="0">
                <a:solidFill>
                  <a:srgbClr val="242021"/>
                </a:solidFill>
                <a:effectLst/>
                <a:latin typeface="NewCaledoniaLTStd"/>
              </a:rPr>
              <a:t>is the top-down process of identifying lower-level, more specific entity subtypes from a higher-level entity supertype</a:t>
            </a:r>
            <a:r>
              <a:rPr lang="en-US" sz="2400" dirty="0"/>
              <a:t> </a:t>
            </a:r>
          </a:p>
          <a:p>
            <a:r>
              <a:rPr lang="en-US" sz="2000" b="1" i="0" dirty="0">
                <a:solidFill>
                  <a:srgbClr val="007DAF"/>
                </a:solidFill>
                <a:effectLst/>
                <a:latin typeface="MyriadPro-Bold"/>
              </a:rPr>
              <a:t>Generalization </a:t>
            </a:r>
            <a:r>
              <a:rPr lang="en-US" sz="2000" b="0" i="0" dirty="0">
                <a:solidFill>
                  <a:srgbClr val="242021"/>
                </a:solidFill>
                <a:effectLst/>
                <a:latin typeface="NewCaledoniaLTStd"/>
              </a:rPr>
              <a:t>is the bottom-up process of identifying a higher-level, more generic entity supertype from lower-level entity subtypes</a:t>
            </a:r>
            <a:r>
              <a:rPr lang="en-US" sz="2400" dirty="0"/>
              <a:t> </a:t>
            </a:r>
          </a:p>
        </p:txBody>
      </p:sp>
      <p:sp>
        <p:nvSpPr>
          <p:cNvPr id="4" name="Slide Number Placeholder 3">
            <a:extLst>
              <a:ext uri="{FF2B5EF4-FFF2-40B4-BE49-F238E27FC236}">
                <a16:creationId xmlns:a16="http://schemas.microsoft.com/office/drawing/2014/main" id="{F4A97223-5A21-A0C2-971F-43B3DA5E9554}"/>
              </a:ext>
            </a:extLst>
          </p:cNvPr>
          <p:cNvSpPr>
            <a:spLocks noGrp="1"/>
          </p:cNvSpPr>
          <p:nvPr>
            <p:ph type="sldNum" sz="quarter" idx="10"/>
          </p:nvPr>
        </p:nvSpPr>
        <p:spPr/>
        <p:txBody>
          <a:bodyPr/>
          <a:lstStyle/>
          <a:p>
            <a:pPr>
              <a:defRPr/>
            </a:pPr>
            <a:fld id="{34A84676-C444-4AC5-8B4E-405A7C81C0FB}" type="slidenum">
              <a:rPr lang="en-US" altLang="en-US" smtClean="0"/>
              <a:pPr>
                <a:defRPr/>
              </a:pPr>
              <a:t>19</a:t>
            </a:fld>
            <a:endParaRPr lang="en-US" altLang="en-US"/>
          </a:p>
        </p:txBody>
      </p:sp>
      <p:sp>
        <p:nvSpPr>
          <p:cNvPr id="5" name="Footer Placeholder 4">
            <a:extLst>
              <a:ext uri="{FF2B5EF4-FFF2-40B4-BE49-F238E27FC236}">
                <a16:creationId xmlns:a16="http://schemas.microsoft.com/office/drawing/2014/main" id="{94E7DAB5-1A80-1108-540A-11E7B5563E53}"/>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11A7BFF8-6F45-70F8-37E9-02F842DB7AA6}"/>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B41045C7-CE32-D5F7-4072-EADD9607181D}"/>
              </a:ext>
            </a:extLst>
          </p:cNvPr>
          <p:cNvPicPr>
            <a:picLocks noChangeAspect="1"/>
          </p:cNvPicPr>
          <p:nvPr/>
        </p:nvPicPr>
        <p:blipFill>
          <a:blip r:embed="rId2"/>
          <a:stretch>
            <a:fillRect/>
          </a:stretch>
        </p:blipFill>
        <p:spPr>
          <a:xfrm>
            <a:off x="9191625" y="2286000"/>
            <a:ext cx="2162175" cy="2600325"/>
          </a:xfrm>
          <a:prstGeom prst="rect">
            <a:avLst/>
          </a:prstGeom>
        </p:spPr>
      </p:pic>
    </p:spTree>
    <p:extLst>
      <p:ext uri="{BB962C8B-B14F-4D97-AF65-F5344CB8AC3E}">
        <p14:creationId xmlns:p14="http://schemas.microsoft.com/office/powerpoint/2010/main" val="1958677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4856B-09EB-D15A-3BE3-AC2253C0945F}"/>
              </a:ext>
            </a:extLst>
          </p:cNvPr>
          <p:cNvSpPr>
            <a:spLocks noGrp="1"/>
          </p:cNvSpPr>
          <p:nvPr>
            <p:ph type="title"/>
          </p:nvPr>
        </p:nvSpPr>
        <p:spPr/>
        <p:txBody>
          <a:bodyPr/>
          <a:lstStyle/>
          <a:p>
            <a:r>
              <a:rPr lang="en-US" dirty="0"/>
              <a:t>5-2 Entity Clustering</a:t>
            </a:r>
          </a:p>
        </p:txBody>
      </p:sp>
      <p:sp>
        <p:nvSpPr>
          <p:cNvPr id="3" name="Date Placeholder 2">
            <a:extLst>
              <a:ext uri="{FF2B5EF4-FFF2-40B4-BE49-F238E27FC236}">
                <a16:creationId xmlns:a16="http://schemas.microsoft.com/office/drawing/2014/main" id="{99553E8E-47E1-3D3A-17E4-9686A5B9366E}"/>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B031D759-2275-DCFB-3F89-BB62D74E8D06}"/>
              </a:ext>
            </a:extLst>
          </p:cNvPr>
          <p:cNvSpPr>
            <a:spLocks noGrp="1"/>
          </p:cNvSpPr>
          <p:nvPr>
            <p:ph type="sldNum" sz="quarter" idx="11"/>
          </p:nvPr>
        </p:nvSpPr>
        <p:spPr/>
        <p:txBody>
          <a:bodyPr/>
          <a:lstStyle/>
          <a:p>
            <a:pPr>
              <a:defRPr/>
            </a:pPr>
            <a:fld id="{F9126DDB-45DE-4D72-94FB-1E2D565E80AF}" type="slidenum">
              <a:rPr lang="en-US" smtClean="0"/>
              <a:pPr>
                <a:defRPr/>
              </a:pPr>
              <a:t>20</a:t>
            </a:fld>
            <a:endParaRPr lang="en-US"/>
          </a:p>
        </p:txBody>
      </p:sp>
      <p:sp>
        <p:nvSpPr>
          <p:cNvPr id="5" name="Footer Placeholder 4">
            <a:extLst>
              <a:ext uri="{FF2B5EF4-FFF2-40B4-BE49-F238E27FC236}">
                <a16:creationId xmlns:a16="http://schemas.microsoft.com/office/drawing/2014/main" id="{EB005297-CF4A-DED8-9347-5A96A4B9BBA3}"/>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2902181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BEE82-CA3E-2195-B1B0-EC2AE9A98D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9454D4-9350-2852-8C1A-C1BF1A67D3A8}"/>
              </a:ext>
            </a:extLst>
          </p:cNvPr>
          <p:cNvSpPr>
            <a:spLocks noGrp="1"/>
          </p:cNvSpPr>
          <p:nvPr>
            <p:ph idx="1"/>
          </p:nvPr>
        </p:nvSpPr>
        <p:spPr/>
        <p:txBody>
          <a:bodyPr/>
          <a:lstStyle/>
          <a:p>
            <a:r>
              <a:rPr lang="en-US" sz="1800" b="0" i="0" dirty="0">
                <a:solidFill>
                  <a:srgbClr val="242021"/>
                </a:solidFill>
                <a:effectLst/>
                <a:latin typeface="NewCaledoniaLTStd"/>
              </a:rPr>
              <a:t>An </a:t>
            </a:r>
            <a:r>
              <a:rPr lang="en-US" sz="1800" b="1" i="0" dirty="0">
                <a:solidFill>
                  <a:srgbClr val="007DAF"/>
                </a:solidFill>
                <a:effectLst/>
                <a:latin typeface="MyriadPro-Bold"/>
              </a:rPr>
              <a:t>entity cluster </a:t>
            </a:r>
            <a:r>
              <a:rPr lang="en-US" sz="1800" b="0" i="0" dirty="0">
                <a:solidFill>
                  <a:srgbClr val="242021"/>
                </a:solidFill>
                <a:effectLst/>
                <a:latin typeface="NewCaledoniaLTStd"/>
              </a:rPr>
              <a:t>is a “virtual” entity type used to represent multiple entities and relationships in the ERD.</a:t>
            </a:r>
          </a:p>
          <a:p>
            <a:r>
              <a:rPr lang="en-US" dirty="0"/>
              <a:t> </a:t>
            </a:r>
            <a:r>
              <a:rPr lang="en-US" sz="1800" b="0" i="0" dirty="0">
                <a:solidFill>
                  <a:srgbClr val="242021"/>
                </a:solidFill>
                <a:effectLst/>
                <a:latin typeface="NewCaledoniaLTStd"/>
              </a:rPr>
              <a:t>An entity cluster is formed by combining multiple interrelated entities into a single, abstract entity object. </a:t>
            </a:r>
          </a:p>
          <a:p>
            <a:r>
              <a:rPr lang="en-US" sz="1800" b="0" i="0" dirty="0">
                <a:solidFill>
                  <a:srgbClr val="242021"/>
                </a:solidFill>
                <a:effectLst/>
                <a:latin typeface="NewCaledoniaLTStd"/>
              </a:rPr>
              <a:t>it is a “conceptual” entity used to represent multiple entities and relationships, with the purpose of simplifying the ERD and thus enhancing its readability.</a:t>
            </a:r>
          </a:p>
          <a:p>
            <a:r>
              <a:rPr lang="en-US" b="0" i="0" dirty="0">
                <a:solidFill>
                  <a:srgbClr val="242021"/>
                </a:solidFill>
                <a:effectLst/>
                <a:latin typeface="NewCaledoniaLTStd"/>
              </a:rPr>
              <a:t>Tiny College Example:</a:t>
            </a:r>
          </a:p>
          <a:p>
            <a:pPr lvl="1"/>
            <a:r>
              <a:rPr lang="en-US" b="0" i="0" dirty="0">
                <a:solidFill>
                  <a:srgbClr val="242021"/>
                </a:solidFill>
                <a:effectLst/>
                <a:latin typeface="NewCaledoniaLTStd"/>
              </a:rPr>
              <a:t>OFFERING, which groups the SEMESTER, COURSE, and CLASS entities and relationships</a:t>
            </a:r>
          </a:p>
          <a:p>
            <a:pPr lvl="1"/>
            <a:r>
              <a:rPr lang="en-US" b="0" i="0" dirty="0">
                <a:solidFill>
                  <a:srgbClr val="242021"/>
                </a:solidFill>
                <a:effectLst/>
                <a:latin typeface="NewCaledoniaLTStd"/>
              </a:rPr>
              <a:t>LOCATION, which groups the ROOM and BUILDING entities and relationships</a:t>
            </a:r>
            <a:r>
              <a:rPr lang="en-US" dirty="0"/>
              <a:t> </a:t>
            </a:r>
            <a:br>
              <a:rPr lang="en-US" dirty="0"/>
            </a:b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0FCC6697-F1C7-92A7-5621-8D3F944BD438}"/>
              </a:ext>
            </a:extLst>
          </p:cNvPr>
          <p:cNvSpPr>
            <a:spLocks noGrp="1"/>
          </p:cNvSpPr>
          <p:nvPr>
            <p:ph type="sldNum" sz="quarter" idx="10"/>
          </p:nvPr>
        </p:nvSpPr>
        <p:spPr/>
        <p:txBody>
          <a:bodyPr/>
          <a:lstStyle/>
          <a:p>
            <a:pPr>
              <a:defRPr/>
            </a:pPr>
            <a:fld id="{34A84676-C444-4AC5-8B4E-405A7C81C0FB}" type="slidenum">
              <a:rPr lang="en-US" altLang="en-US" smtClean="0"/>
              <a:pPr>
                <a:defRPr/>
              </a:pPr>
              <a:t>21</a:t>
            </a:fld>
            <a:endParaRPr lang="en-US" altLang="en-US"/>
          </a:p>
        </p:txBody>
      </p:sp>
      <p:sp>
        <p:nvSpPr>
          <p:cNvPr id="5" name="Footer Placeholder 4">
            <a:extLst>
              <a:ext uri="{FF2B5EF4-FFF2-40B4-BE49-F238E27FC236}">
                <a16:creationId xmlns:a16="http://schemas.microsoft.com/office/drawing/2014/main" id="{474DDC0E-39F8-FC6E-6A1D-DC703D78AAD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2DAED09-205F-B704-32EC-88F93F62645B}"/>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447408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6F65B5-7592-0994-A81E-012E87C06B2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BE8C122-A37A-57B8-2358-C71D998F2CA5}"/>
              </a:ext>
            </a:extLst>
          </p:cNvPr>
          <p:cNvSpPr>
            <a:spLocks noGrp="1"/>
          </p:cNvSpPr>
          <p:nvPr>
            <p:ph type="sldNum" sz="quarter" idx="11"/>
          </p:nvPr>
        </p:nvSpPr>
        <p:spPr/>
        <p:txBody>
          <a:bodyPr/>
          <a:lstStyle/>
          <a:p>
            <a:pPr>
              <a:defRPr/>
            </a:pPr>
            <a:fld id="{D1AD3536-327C-4937-83AF-A64971CFA6D9}" type="slidenum">
              <a:rPr lang="en-US" smtClean="0"/>
              <a:pPr>
                <a:defRPr/>
              </a:pPr>
              <a:t>22</a:t>
            </a:fld>
            <a:endParaRPr lang="en-US"/>
          </a:p>
        </p:txBody>
      </p:sp>
      <p:sp>
        <p:nvSpPr>
          <p:cNvPr id="4" name="Footer Placeholder 3">
            <a:extLst>
              <a:ext uri="{FF2B5EF4-FFF2-40B4-BE49-F238E27FC236}">
                <a16:creationId xmlns:a16="http://schemas.microsoft.com/office/drawing/2014/main" id="{A0582877-EE44-4A73-4B20-3DDD881D263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7BD052E-2EC4-AFE7-2C1B-6383016E26B1}"/>
              </a:ext>
            </a:extLst>
          </p:cNvPr>
          <p:cNvPicPr>
            <a:picLocks noChangeAspect="1"/>
          </p:cNvPicPr>
          <p:nvPr/>
        </p:nvPicPr>
        <p:blipFill>
          <a:blip r:embed="rId2"/>
          <a:stretch>
            <a:fillRect/>
          </a:stretch>
        </p:blipFill>
        <p:spPr>
          <a:xfrm>
            <a:off x="3062287" y="385762"/>
            <a:ext cx="6067425" cy="6086475"/>
          </a:xfrm>
          <a:prstGeom prst="rect">
            <a:avLst/>
          </a:prstGeom>
        </p:spPr>
      </p:pic>
    </p:spTree>
    <p:extLst>
      <p:ext uri="{BB962C8B-B14F-4D97-AF65-F5344CB8AC3E}">
        <p14:creationId xmlns:p14="http://schemas.microsoft.com/office/powerpoint/2010/main" val="1301786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9D2FB-A9D6-6F90-9861-FAAA8C343D9B}"/>
              </a:ext>
            </a:extLst>
          </p:cNvPr>
          <p:cNvSpPr>
            <a:spLocks noGrp="1"/>
          </p:cNvSpPr>
          <p:nvPr>
            <p:ph type="title"/>
          </p:nvPr>
        </p:nvSpPr>
        <p:spPr/>
        <p:txBody>
          <a:bodyPr/>
          <a:lstStyle/>
          <a:p>
            <a:r>
              <a:rPr lang="en-US" dirty="0"/>
              <a:t>5-3 Entity Integrity: Selecting Primary Keys</a:t>
            </a:r>
          </a:p>
        </p:txBody>
      </p:sp>
      <p:sp>
        <p:nvSpPr>
          <p:cNvPr id="3" name="Date Placeholder 2">
            <a:extLst>
              <a:ext uri="{FF2B5EF4-FFF2-40B4-BE49-F238E27FC236}">
                <a16:creationId xmlns:a16="http://schemas.microsoft.com/office/drawing/2014/main" id="{A9440112-F338-BBF0-F874-E3745E94BE9C}"/>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A9712344-FE60-2060-4AA2-B3856CFDC223}"/>
              </a:ext>
            </a:extLst>
          </p:cNvPr>
          <p:cNvSpPr>
            <a:spLocks noGrp="1"/>
          </p:cNvSpPr>
          <p:nvPr>
            <p:ph type="sldNum" sz="quarter" idx="11"/>
          </p:nvPr>
        </p:nvSpPr>
        <p:spPr/>
        <p:txBody>
          <a:bodyPr/>
          <a:lstStyle/>
          <a:p>
            <a:pPr>
              <a:defRPr/>
            </a:pPr>
            <a:fld id="{F9126DDB-45DE-4D72-94FB-1E2D565E80AF}" type="slidenum">
              <a:rPr lang="en-US" smtClean="0"/>
              <a:pPr>
                <a:defRPr/>
              </a:pPr>
              <a:t>23</a:t>
            </a:fld>
            <a:endParaRPr lang="en-US"/>
          </a:p>
        </p:txBody>
      </p:sp>
      <p:sp>
        <p:nvSpPr>
          <p:cNvPr id="5" name="Footer Placeholder 4">
            <a:extLst>
              <a:ext uri="{FF2B5EF4-FFF2-40B4-BE49-F238E27FC236}">
                <a16:creationId xmlns:a16="http://schemas.microsoft.com/office/drawing/2014/main" id="{AEE52F24-B8D3-8A1A-8EF3-6F840E332AB1}"/>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2722396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72938-D06D-77DD-1607-CDEFF87553B9}"/>
              </a:ext>
            </a:extLst>
          </p:cNvPr>
          <p:cNvSpPr>
            <a:spLocks noGrp="1"/>
          </p:cNvSpPr>
          <p:nvPr>
            <p:ph type="title"/>
          </p:nvPr>
        </p:nvSpPr>
        <p:spPr/>
        <p:txBody>
          <a:bodyPr/>
          <a:lstStyle/>
          <a:p>
            <a:r>
              <a:rPr lang="en-US" dirty="0"/>
              <a:t>5-3a Natural Keys and Primary Keys</a:t>
            </a:r>
          </a:p>
        </p:txBody>
      </p:sp>
      <p:sp>
        <p:nvSpPr>
          <p:cNvPr id="3" name="Content Placeholder 2">
            <a:extLst>
              <a:ext uri="{FF2B5EF4-FFF2-40B4-BE49-F238E27FC236}">
                <a16:creationId xmlns:a16="http://schemas.microsoft.com/office/drawing/2014/main" id="{F831A84E-F3EC-567D-A255-8FA79D6818B9}"/>
              </a:ext>
            </a:extLst>
          </p:cNvPr>
          <p:cNvSpPr>
            <a:spLocks noGrp="1"/>
          </p:cNvSpPr>
          <p:nvPr>
            <p:ph idx="1"/>
          </p:nvPr>
        </p:nvSpPr>
        <p:spPr/>
        <p:txBody>
          <a:bodyPr/>
          <a:lstStyle/>
          <a:p>
            <a:r>
              <a:rPr lang="en-US" sz="2400" b="0" i="0" dirty="0">
                <a:solidFill>
                  <a:srgbClr val="242021"/>
                </a:solidFill>
                <a:effectLst/>
                <a:latin typeface="NewCaledoniaLTStd"/>
              </a:rPr>
              <a:t>A </a:t>
            </a:r>
            <a:r>
              <a:rPr lang="en-US" sz="2400" b="1" i="0" dirty="0">
                <a:solidFill>
                  <a:srgbClr val="007DAF"/>
                </a:solidFill>
                <a:effectLst/>
                <a:latin typeface="MyriadPro-Bold"/>
              </a:rPr>
              <a:t>natural key </a:t>
            </a:r>
            <a:r>
              <a:rPr lang="en-US" sz="2400" b="0" i="0" dirty="0">
                <a:solidFill>
                  <a:srgbClr val="242021"/>
                </a:solidFill>
                <a:effectLst/>
                <a:latin typeface="NewCaledoniaLTStd"/>
              </a:rPr>
              <a:t>or </a:t>
            </a:r>
            <a:r>
              <a:rPr lang="en-US" sz="2400" b="1" i="0" dirty="0">
                <a:solidFill>
                  <a:srgbClr val="007DAF"/>
                </a:solidFill>
                <a:effectLst/>
                <a:latin typeface="MyriadPro-Bold"/>
              </a:rPr>
              <a:t>natural identifier </a:t>
            </a:r>
            <a:r>
              <a:rPr lang="en-US" sz="2400" b="0" i="0" dirty="0">
                <a:solidFill>
                  <a:srgbClr val="242021"/>
                </a:solidFill>
                <a:effectLst/>
                <a:latin typeface="NewCaledoniaLTStd"/>
              </a:rPr>
              <a:t>is a real-world, generally accepted identifier used to distinguish—that is, uniquely identify—real-world objects. </a:t>
            </a:r>
          </a:p>
          <a:p>
            <a:r>
              <a:rPr lang="en-US" sz="2400" b="0" i="0" dirty="0">
                <a:solidFill>
                  <a:srgbClr val="242021"/>
                </a:solidFill>
                <a:effectLst/>
                <a:latin typeface="NewCaledoniaLTStd"/>
              </a:rPr>
              <a:t>As its name implies, a natural key is familiar to end users and forms part of their day-to-day business vocabulary.</a:t>
            </a:r>
            <a:br>
              <a:rPr lang="en-US" sz="2800" dirty="0"/>
            </a:br>
            <a:endParaRPr lang="en-US" sz="2800" dirty="0"/>
          </a:p>
        </p:txBody>
      </p:sp>
      <p:sp>
        <p:nvSpPr>
          <p:cNvPr id="4" name="Slide Number Placeholder 3">
            <a:extLst>
              <a:ext uri="{FF2B5EF4-FFF2-40B4-BE49-F238E27FC236}">
                <a16:creationId xmlns:a16="http://schemas.microsoft.com/office/drawing/2014/main" id="{17B001F8-1E7A-D028-C725-B6767393D157}"/>
              </a:ext>
            </a:extLst>
          </p:cNvPr>
          <p:cNvSpPr>
            <a:spLocks noGrp="1"/>
          </p:cNvSpPr>
          <p:nvPr>
            <p:ph type="sldNum" sz="quarter" idx="10"/>
          </p:nvPr>
        </p:nvSpPr>
        <p:spPr/>
        <p:txBody>
          <a:bodyPr/>
          <a:lstStyle/>
          <a:p>
            <a:pPr>
              <a:defRPr/>
            </a:pPr>
            <a:fld id="{34A84676-C444-4AC5-8B4E-405A7C81C0FB}" type="slidenum">
              <a:rPr lang="en-US" altLang="en-US" smtClean="0"/>
              <a:pPr>
                <a:defRPr/>
              </a:pPr>
              <a:t>24</a:t>
            </a:fld>
            <a:endParaRPr lang="en-US" altLang="en-US"/>
          </a:p>
        </p:txBody>
      </p:sp>
      <p:sp>
        <p:nvSpPr>
          <p:cNvPr id="5" name="Footer Placeholder 4">
            <a:extLst>
              <a:ext uri="{FF2B5EF4-FFF2-40B4-BE49-F238E27FC236}">
                <a16:creationId xmlns:a16="http://schemas.microsoft.com/office/drawing/2014/main" id="{A4F50298-88D2-2EBE-8B15-8A07CA268167}"/>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1492D342-6C0D-85BA-521F-DA276E6A7F3F}"/>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920663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713B9-71E5-BBD4-96BF-063E80441189}"/>
              </a:ext>
            </a:extLst>
          </p:cNvPr>
          <p:cNvSpPr>
            <a:spLocks noGrp="1"/>
          </p:cNvSpPr>
          <p:nvPr>
            <p:ph type="title"/>
          </p:nvPr>
        </p:nvSpPr>
        <p:spPr/>
        <p:txBody>
          <a:bodyPr/>
          <a:lstStyle/>
          <a:p>
            <a:r>
              <a:rPr lang="en-US" dirty="0"/>
              <a:t>5-3b Primary Key Guidelines</a:t>
            </a:r>
          </a:p>
        </p:txBody>
      </p:sp>
      <p:sp>
        <p:nvSpPr>
          <p:cNvPr id="3" name="Content Placeholder 2">
            <a:extLst>
              <a:ext uri="{FF2B5EF4-FFF2-40B4-BE49-F238E27FC236}">
                <a16:creationId xmlns:a16="http://schemas.microsoft.com/office/drawing/2014/main" id="{721D2C4D-45F6-92FB-0425-CEFC6A1F6E3E}"/>
              </a:ext>
            </a:extLst>
          </p:cNvPr>
          <p:cNvSpPr>
            <a:spLocks noGrp="1"/>
          </p:cNvSpPr>
          <p:nvPr>
            <p:ph idx="1"/>
          </p:nvPr>
        </p:nvSpPr>
        <p:spPr/>
        <p:txBody>
          <a:bodyPr/>
          <a:lstStyle/>
          <a:p>
            <a:r>
              <a:rPr lang="en-US" sz="2400" b="0" i="0" dirty="0">
                <a:solidFill>
                  <a:srgbClr val="242021"/>
                </a:solidFill>
                <a:effectLst/>
                <a:latin typeface="NewCaledoniaLTStd"/>
              </a:rPr>
              <a:t>A primary key is the attribute or combination of attributes that uniquely identifies entity instances in an entity set.</a:t>
            </a:r>
          </a:p>
          <a:p>
            <a:r>
              <a:rPr lang="en-US" sz="2400" b="0" i="0" dirty="0">
                <a:solidFill>
                  <a:srgbClr val="242021"/>
                </a:solidFill>
                <a:effectLst/>
                <a:latin typeface="NewCaledoniaLTStd"/>
              </a:rPr>
              <a:t>Its main function is to uniquely identify an entity instance or row within a table</a:t>
            </a:r>
            <a:r>
              <a:rPr lang="en-US" sz="2800" dirty="0"/>
              <a:t> </a:t>
            </a:r>
          </a:p>
          <a:p>
            <a:r>
              <a:rPr lang="en-US" sz="2400" b="0" i="0" dirty="0">
                <a:solidFill>
                  <a:srgbClr val="242021"/>
                </a:solidFill>
                <a:effectLst/>
                <a:latin typeface="NewCaledoniaLTStd"/>
              </a:rPr>
              <a:t>Second, primary keys and foreign keys are used to implement relationships among entities</a:t>
            </a:r>
            <a:r>
              <a:rPr lang="en-US" sz="2800" dirty="0"/>
              <a:t> </a:t>
            </a:r>
            <a:br>
              <a:rPr lang="en-US" sz="2800" dirty="0"/>
            </a:br>
            <a:endParaRPr lang="en-US" sz="2800" dirty="0"/>
          </a:p>
        </p:txBody>
      </p:sp>
      <p:sp>
        <p:nvSpPr>
          <p:cNvPr id="4" name="Slide Number Placeholder 3">
            <a:extLst>
              <a:ext uri="{FF2B5EF4-FFF2-40B4-BE49-F238E27FC236}">
                <a16:creationId xmlns:a16="http://schemas.microsoft.com/office/drawing/2014/main" id="{B2AFA871-FDA0-3603-830C-B874BF97F21C}"/>
              </a:ext>
            </a:extLst>
          </p:cNvPr>
          <p:cNvSpPr>
            <a:spLocks noGrp="1"/>
          </p:cNvSpPr>
          <p:nvPr>
            <p:ph type="sldNum" sz="quarter" idx="10"/>
          </p:nvPr>
        </p:nvSpPr>
        <p:spPr/>
        <p:txBody>
          <a:bodyPr/>
          <a:lstStyle/>
          <a:p>
            <a:pPr>
              <a:defRPr/>
            </a:pPr>
            <a:fld id="{34A84676-C444-4AC5-8B4E-405A7C81C0FB}" type="slidenum">
              <a:rPr lang="en-US" altLang="en-US" smtClean="0"/>
              <a:pPr>
                <a:defRPr/>
              </a:pPr>
              <a:t>25</a:t>
            </a:fld>
            <a:endParaRPr lang="en-US" altLang="en-US"/>
          </a:p>
        </p:txBody>
      </p:sp>
      <p:sp>
        <p:nvSpPr>
          <p:cNvPr id="5" name="Footer Placeholder 4">
            <a:extLst>
              <a:ext uri="{FF2B5EF4-FFF2-40B4-BE49-F238E27FC236}">
                <a16:creationId xmlns:a16="http://schemas.microsoft.com/office/drawing/2014/main" id="{8A4500F3-C876-360C-96F5-93C1AAC0E2A3}"/>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4C6DAF56-8278-8AA5-CA29-FD89FFE74305}"/>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628081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4DF77-D16A-C078-E927-1488B9AC33AF}"/>
              </a:ext>
            </a:extLst>
          </p:cNvPr>
          <p:cNvSpPr>
            <a:spLocks noGrp="1"/>
          </p:cNvSpPr>
          <p:nvPr>
            <p:ph type="title"/>
          </p:nvPr>
        </p:nvSpPr>
        <p:spPr/>
        <p:txBody>
          <a:bodyPr/>
          <a:lstStyle/>
          <a:p>
            <a:r>
              <a:rPr lang="en-US" dirty="0"/>
              <a:t>5-3c When to Use Composite Primary Keys</a:t>
            </a:r>
          </a:p>
        </p:txBody>
      </p:sp>
      <p:sp>
        <p:nvSpPr>
          <p:cNvPr id="3" name="Content Placeholder 2">
            <a:extLst>
              <a:ext uri="{FF2B5EF4-FFF2-40B4-BE49-F238E27FC236}">
                <a16:creationId xmlns:a16="http://schemas.microsoft.com/office/drawing/2014/main" id="{044C0D24-8D58-F88F-D4AC-0948E2C64CA7}"/>
              </a:ext>
            </a:extLst>
          </p:cNvPr>
          <p:cNvSpPr>
            <a:spLocks noGrp="1"/>
          </p:cNvSpPr>
          <p:nvPr>
            <p:ph idx="1"/>
          </p:nvPr>
        </p:nvSpPr>
        <p:spPr/>
        <p:txBody>
          <a:bodyPr/>
          <a:lstStyle/>
          <a:p>
            <a:r>
              <a:rPr lang="en-US" sz="2400" b="0" i="0" dirty="0">
                <a:solidFill>
                  <a:srgbClr val="242021"/>
                </a:solidFill>
                <a:effectLst/>
                <a:latin typeface="NewCaledoniaLTStd"/>
              </a:rPr>
              <a:t>As identifiers of composite entities, in which each primary key combination is allowed only once in the M:N relationship</a:t>
            </a:r>
          </a:p>
          <a:p>
            <a:r>
              <a:rPr lang="en-US" sz="2400" b="0" i="0" dirty="0">
                <a:solidFill>
                  <a:srgbClr val="242021"/>
                </a:solidFill>
                <a:effectLst/>
                <a:latin typeface="NewCaledoniaLTStd"/>
              </a:rPr>
              <a:t>As identifiers of weak entities, in which the weak entity has a strong identifying relationship with the parent entity</a:t>
            </a:r>
            <a:r>
              <a:rPr lang="en-US" sz="2800" dirty="0"/>
              <a:t> </a:t>
            </a:r>
            <a:br>
              <a:rPr lang="en-US" sz="2800" dirty="0"/>
            </a:br>
            <a:endParaRPr lang="en-US" sz="2800" dirty="0"/>
          </a:p>
        </p:txBody>
      </p:sp>
      <p:sp>
        <p:nvSpPr>
          <p:cNvPr id="4" name="Slide Number Placeholder 3">
            <a:extLst>
              <a:ext uri="{FF2B5EF4-FFF2-40B4-BE49-F238E27FC236}">
                <a16:creationId xmlns:a16="http://schemas.microsoft.com/office/drawing/2014/main" id="{F958807E-227C-EC9D-8E2D-6EB40A0A8BFD}"/>
              </a:ext>
            </a:extLst>
          </p:cNvPr>
          <p:cNvSpPr>
            <a:spLocks noGrp="1"/>
          </p:cNvSpPr>
          <p:nvPr>
            <p:ph type="sldNum" sz="quarter" idx="10"/>
          </p:nvPr>
        </p:nvSpPr>
        <p:spPr/>
        <p:txBody>
          <a:bodyPr/>
          <a:lstStyle/>
          <a:p>
            <a:pPr>
              <a:defRPr/>
            </a:pPr>
            <a:fld id="{34A84676-C444-4AC5-8B4E-405A7C81C0FB}" type="slidenum">
              <a:rPr lang="en-US" altLang="en-US" smtClean="0"/>
              <a:pPr>
                <a:defRPr/>
              </a:pPr>
              <a:t>26</a:t>
            </a:fld>
            <a:endParaRPr lang="en-US" altLang="en-US"/>
          </a:p>
        </p:txBody>
      </p:sp>
      <p:sp>
        <p:nvSpPr>
          <p:cNvPr id="5" name="Footer Placeholder 4">
            <a:extLst>
              <a:ext uri="{FF2B5EF4-FFF2-40B4-BE49-F238E27FC236}">
                <a16:creationId xmlns:a16="http://schemas.microsoft.com/office/drawing/2014/main" id="{C0AA8EDA-6A1D-9CAC-32B3-888BBD98920A}"/>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C7E02784-2CC9-DB42-6762-A29CC1F3ABCC}"/>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903562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61616A-1CE0-C582-A880-4D6DE824298F}"/>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98C0E950-0694-DC6A-FC2B-FF2F99058898}"/>
              </a:ext>
            </a:extLst>
          </p:cNvPr>
          <p:cNvSpPr>
            <a:spLocks noGrp="1"/>
          </p:cNvSpPr>
          <p:nvPr>
            <p:ph type="sldNum" sz="quarter" idx="11"/>
          </p:nvPr>
        </p:nvSpPr>
        <p:spPr/>
        <p:txBody>
          <a:bodyPr/>
          <a:lstStyle/>
          <a:p>
            <a:pPr>
              <a:defRPr/>
            </a:pPr>
            <a:fld id="{D1AD3536-327C-4937-83AF-A64971CFA6D9}" type="slidenum">
              <a:rPr lang="en-US" smtClean="0"/>
              <a:pPr>
                <a:defRPr/>
              </a:pPr>
              <a:t>27</a:t>
            </a:fld>
            <a:endParaRPr lang="en-US"/>
          </a:p>
        </p:txBody>
      </p:sp>
      <p:sp>
        <p:nvSpPr>
          <p:cNvPr id="4" name="Footer Placeholder 3">
            <a:extLst>
              <a:ext uri="{FF2B5EF4-FFF2-40B4-BE49-F238E27FC236}">
                <a16:creationId xmlns:a16="http://schemas.microsoft.com/office/drawing/2014/main" id="{71B3A632-A1C0-D335-2116-B1CA68E9DF73}"/>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44A20BE5-0FB5-A35D-28B0-D05E95222151}"/>
              </a:ext>
            </a:extLst>
          </p:cNvPr>
          <p:cNvPicPr>
            <a:picLocks noChangeAspect="1"/>
          </p:cNvPicPr>
          <p:nvPr/>
        </p:nvPicPr>
        <p:blipFill>
          <a:blip r:embed="rId2"/>
          <a:stretch>
            <a:fillRect/>
          </a:stretch>
        </p:blipFill>
        <p:spPr>
          <a:xfrm>
            <a:off x="781050" y="280987"/>
            <a:ext cx="10629900" cy="6296025"/>
          </a:xfrm>
          <a:prstGeom prst="rect">
            <a:avLst/>
          </a:prstGeom>
        </p:spPr>
      </p:pic>
    </p:spTree>
    <p:extLst>
      <p:ext uri="{BB962C8B-B14F-4D97-AF65-F5344CB8AC3E}">
        <p14:creationId xmlns:p14="http://schemas.microsoft.com/office/powerpoint/2010/main" val="2161163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EA50A-8448-A7C5-81AB-45C7F6EE8856}"/>
              </a:ext>
            </a:extLst>
          </p:cNvPr>
          <p:cNvSpPr>
            <a:spLocks noGrp="1"/>
          </p:cNvSpPr>
          <p:nvPr>
            <p:ph type="title"/>
          </p:nvPr>
        </p:nvSpPr>
        <p:spPr/>
        <p:txBody>
          <a:bodyPr/>
          <a:lstStyle/>
          <a:p>
            <a:r>
              <a:rPr lang="en-US" dirty="0"/>
              <a:t>5-3d When to Use Surrogate Primary Keys</a:t>
            </a:r>
          </a:p>
        </p:txBody>
      </p:sp>
      <p:sp>
        <p:nvSpPr>
          <p:cNvPr id="3" name="Content Placeholder 2">
            <a:extLst>
              <a:ext uri="{FF2B5EF4-FFF2-40B4-BE49-F238E27FC236}">
                <a16:creationId xmlns:a16="http://schemas.microsoft.com/office/drawing/2014/main" id="{4B396429-692A-9BC4-4E1D-0C386FFF3D63}"/>
              </a:ext>
            </a:extLst>
          </p:cNvPr>
          <p:cNvSpPr>
            <a:spLocks noGrp="1"/>
          </p:cNvSpPr>
          <p:nvPr>
            <p:ph idx="1"/>
          </p:nvPr>
        </p:nvSpPr>
        <p:spPr/>
        <p:txBody>
          <a:bodyPr/>
          <a:lstStyle/>
          <a:p>
            <a:r>
              <a:rPr lang="en-US" sz="2400" b="0" i="0" dirty="0">
                <a:solidFill>
                  <a:srgbClr val="242021"/>
                </a:solidFill>
                <a:effectLst/>
                <a:latin typeface="NewCaledoniaLTStd"/>
              </a:rPr>
              <a:t>A </a:t>
            </a:r>
            <a:r>
              <a:rPr lang="en-US" sz="2400" b="1" i="0" dirty="0">
                <a:solidFill>
                  <a:srgbClr val="007DAF"/>
                </a:solidFill>
                <a:effectLst/>
                <a:latin typeface="MyriadPro-Bold"/>
              </a:rPr>
              <a:t>surrogate key </a:t>
            </a:r>
            <a:r>
              <a:rPr lang="en-US" sz="2400" b="0" i="0" dirty="0">
                <a:solidFill>
                  <a:srgbClr val="242021"/>
                </a:solidFill>
                <a:effectLst/>
                <a:latin typeface="NewCaledoniaLTStd"/>
              </a:rPr>
              <a:t>is a primary key created by the database designer to simplify the identification of entity instances.</a:t>
            </a:r>
          </a:p>
          <a:p>
            <a:r>
              <a:rPr lang="en-US" sz="2400" b="0" i="0" dirty="0">
                <a:solidFill>
                  <a:srgbClr val="242021"/>
                </a:solidFill>
                <a:effectLst/>
                <a:latin typeface="MyriadPro-SemiCn"/>
              </a:rPr>
              <a:t>A system-assigned primary key, generally numeric and auto-incremented</a:t>
            </a:r>
            <a:r>
              <a:rPr lang="en-US" sz="2800" dirty="0"/>
              <a:t> </a:t>
            </a:r>
          </a:p>
        </p:txBody>
      </p:sp>
      <p:sp>
        <p:nvSpPr>
          <p:cNvPr id="4" name="Slide Number Placeholder 3">
            <a:extLst>
              <a:ext uri="{FF2B5EF4-FFF2-40B4-BE49-F238E27FC236}">
                <a16:creationId xmlns:a16="http://schemas.microsoft.com/office/drawing/2014/main" id="{91D8746B-6CCB-0224-2DA0-09872A56FAB6}"/>
              </a:ext>
            </a:extLst>
          </p:cNvPr>
          <p:cNvSpPr>
            <a:spLocks noGrp="1"/>
          </p:cNvSpPr>
          <p:nvPr>
            <p:ph type="sldNum" sz="quarter" idx="10"/>
          </p:nvPr>
        </p:nvSpPr>
        <p:spPr/>
        <p:txBody>
          <a:bodyPr/>
          <a:lstStyle/>
          <a:p>
            <a:pPr>
              <a:defRPr/>
            </a:pPr>
            <a:fld id="{34A84676-C444-4AC5-8B4E-405A7C81C0FB}" type="slidenum">
              <a:rPr lang="en-US" altLang="en-US" smtClean="0"/>
              <a:pPr>
                <a:defRPr/>
              </a:pPr>
              <a:t>28</a:t>
            </a:fld>
            <a:endParaRPr lang="en-US" altLang="en-US"/>
          </a:p>
        </p:txBody>
      </p:sp>
      <p:sp>
        <p:nvSpPr>
          <p:cNvPr id="5" name="Footer Placeholder 4">
            <a:extLst>
              <a:ext uri="{FF2B5EF4-FFF2-40B4-BE49-F238E27FC236}">
                <a16:creationId xmlns:a16="http://schemas.microsoft.com/office/drawing/2014/main" id="{7E075DC8-2CC8-5A10-5A97-11CB8EF4F4C1}"/>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4DAE3B2C-4497-454A-3FC3-B6B2944A6B32}"/>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5872413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410AD-D372-7A35-321C-235E1A9846C0}"/>
              </a:ext>
            </a:extLst>
          </p:cNvPr>
          <p:cNvSpPr>
            <a:spLocks noGrp="1"/>
          </p:cNvSpPr>
          <p:nvPr>
            <p:ph type="title"/>
          </p:nvPr>
        </p:nvSpPr>
        <p:spPr/>
        <p:txBody>
          <a:bodyPr/>
          <a:lstStyle/>
          <a:p>
            <a:r>
              <a:rPr lang="en-US" dirty="0"/>
              <a:t>5-4 Design Cases: Learning Flexible Database Design</a:t>
            </a:r>
          </a:p>
        </p:txBody>
      </p:sp>
      <p:sp>
        <p:nvSpPr>
          <p:cNvPr id="3" name="Date Placeholder 2">
            <a:extLst>
              <a:ext uri="{FF2B5EF4-FFF2-40B4-BE49-F238E27FC236}">
                <a16:creationId xmlns:a16="http://schemas.microsoft.com/office/drawing/2014/main" id="{E5A25893-446A-9CC3-F133-23D4AA922491}"/>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1A1C34DB-1CB9-630F-A630-F007F54DE6F5}"/>
              </a:ext>
            </a:extLst>
          </p:cNvPr>
          <p:cNvSpPr>
            <a:spLocks noGrp="1"/>
          </p:cNvSpPr>
          <p:nvPr>
            <p:ph type="sldNum" sz="quarter" idx="11"/>
          </p:nvPr>
        </p:nvSpPr>
        <p:spPr/>
        <p:txBody>
          <a:bodyPr/>
          <a:lstStyle/>
          <a:p>
            <a:pPr>
              <a:defRPr/>
            </a:pPr>
            <a:fld id="{F9126DDB-45DE-4D72-94FB-1E2D565E80AF}" type="slidenum">
              <a:rPr lang="en-US" smtClean="0"/>
              <a:pPr>
                <a:defRPr/>
              </a:pPr>
              <a:t>29</a:t>
            </a:fld>
            <a:endParaRPr lang="en-US"/>
          </a:p>
        </p:txBody>
      </p:sp>
      <p:sp>
        <p:nvSpPr>
          <p:cNvPr id="5" name="Footer Placeholder 4">
            <a:extLst>
              <a:ext uri="{FF2B5EF4-FFF2-40B4-BE49-F238E27FC236}">
                <a16:creationId xmlns:a16="http://schemas.microsoft.com/office/drawing/2014/main" id="{A4DA6B80-5ED2-E22C-E5BC-155DB5A8185E}"/>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40299366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0A22A-0EBF-9F0A-EC66-0755E6D20C69}"/>
              </a:ext>
            </a:extLst>
          </p:cNvPr>
          <p:cNvSpPr>
            <a:spLocks noGrp="1"/>
          </p:cNvSpPr>
          <p:nvPr>
            <p:ph type="title"/>
          </p:nvPr>
        </p:nvSpPr>
        <p:spPr/>
        <p:txBody>
          <a:bodyPr/>
          <a:lstStyle/>
          <a:p>
            <a:r>
              <a:rPr lang="en-US" dirty="0"/>
              <a:t>5-4a Design Case 1: Implementing 1:1 Relationships</a:t>
            </a:r>
          </a:p>
        </p:txBody>
      </p:sp>
      <p:sp>
        <p:nvSpPr>
          <p:cNvPr id="3" name="Content Placeholder 2">
            <a:extLst>
              <a:ext uri="{FF2B5EF4-FFF2-40B4-BE49-F238E27FC236}">
                <a16:creationId xmlns:a16="http://schemas.microsoft.com/office/drawing/2014/main" id="{C7B22A40-F999-B17D-328E-27C0DD5F624D}"/>
              </a:ext>
            </a:extLst>
          </p:cNvPr>
          <p:cNvSpPr>
            <a:spLocks noGrp="1"/>
          </p:cNvSpPr>
          <p:nvPr>
            <p:ph idx="1"/>
          </p:nvPr>
        </p:nvSpPr>
        <p:spPr/>
        <p:txBody>
          <a:bodyPr/>
          <a:lstStyle/>
          <a:p>
            <a:r>
              <a:rPr lang="en-US" sz="2400" b="0" i="0" dirty="0">
                <a:solidFill>
                  <a:srgbClr val="242021"/>
                </a:solidFill>
                <a:effectLst/>
                <a:latin typeface="NewCaledoniaLTStd"/>
              </a:rPr>
              <a:t>1:1 relationship between EMPLOYEE and DEPARTMENT based on the business rule “one EMPLOYEE is the manager of one DEPARTMENT, and one DEPARTMENT is managed by one EMPLOYEE.”</a:t>
            </a:r>
          </a:p>
          <a:p>
            <a:pPr lvl="1"/>
            <a:r>
              <a:rPr lang="en-US" sz="2400" dirty="0"/>
              <a:t> </a:t>
            </a:r>
            <a:r>
              <a:rPr lang="en-US" sz="2400" b="0" i="1" dirty="0">
                <a:solidFill>
                  <a:srgbClr val="242021"/>
                </a:solidFill>
                <a:effectLst/>
                <a:latin typeface="NewCaledoniaLTStd-It"/>
              </a:rPr>
              <a:t>Place a foreign key in both entities</a:t>
            </a:r>
            <a:r>
              <a:rPr lang="en-US" sz="2400" dirty="0"/>
              <a:t> </a:t>
            </a:r>
          </a:p>
          <a:p>
            <a:pPr lvl="1"/>
            <a:r>
              <a:rPr lang="en-US" sz="2400" b="0" i="1" dirty="0">
                <a:solidFill>
                  <a:srgbClr val="242021"/>
                </a:solidFill>
                <a:effectLst/>
                <a:latin typeface="NewCaledoniaLTStd-It"/>
              </a:rPr>
              <a:t>Place a foreign key in one of the entities</a:t>
            </a:r>
            <a:r>
              <a:rPr lang="en-US" sz="2400" dirty="0"/>
              <a:t> </a:t>
            </a:r>
          </a:p>
        </p:txBody>
      </p:sp>
      <p:sp>
        <p:nvSpPr>
          <p:cNvPr id="4" name="Slide Number Placeholder 3">
            <a:extLst>
              <a:ext uri="{FF2B5EF4-FFF2-40B4-BE49-F238E27FC236}">
                <a16:creationId xmlns:a16="http://schemas.microsoft.com/office/drawing/2014/main" id="{518467A9-0C37-ECED-D1FE-8DB92A507957}"/>
              </a:ext>
            </a:extLst>
          </p:cNvPr>
          <p:cNvSpPr>
            <a:spLocks noGrp="1"/>
          </p:cNvSpPr>
          <p:nvPr>
            <p:ph type="sldNum" sz="quarter" idx="10"/>
          </p:nvPr>
        </p:nvSpPr>
        <p:spPr/>
        <p:txBody>
          <a:bodyPr/>
          <a:lstStyle/>
          <a:p>
            <a:pPr>
              <a:defRPr/>
            </a:pPr>
            <a:fld id="{34A84676-C444-4AC5-8B4E-405A7C81C0FB}" type="slidenum">
              <a:rPr lang="en-US" altLang="en-US" smtClean="0"/>
              <a:pPr>
                <a:defRPr/>
              </a:pPr>
              <a:t>30</a:t>
            </a:fld>
            <a:endParaRPr lang="en-US" altLang="en-US"/>
          </a:p>
        </p:txBody>
      </p:sp>
      <p:sp>
        <p:nvSpPr>
          <p:cNvPr id="5" name="Footer Placeholder 4">
            <a:extLst>
              <a:ext uri="{FF2B5EF4-FFF2-40B4-BE49-F238E27FC236}">
                <a16:creationId xmlns:a16="http://schemas.microsoft.com/office/drawing/2014/main" id="{E52E10D8-9E07-FF8C-05A3-C74982515379}"/>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034656A8-7448-F774-E639-34397078B0AA}"/>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482462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519169-A941-5126-C48C-38167BDDB4A6}"/>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3BC617EF-EDF7-E989-F9C0-C69C3A8E860A}"/>
              </a:ext>
            </a:extLst>
          </p:cNvPr>
          <p:cNvSpPr>
            <a:spLocks noGrp="1"/>
          </p:cNvSpPr>
          <p:nvPr>
            <p:ph type="sldNum" sz="quarter" idx="11"/>
          </p:nvPr>
        </p:nvSpPr>
        <p:spPr/>
        <p:txBody>
          <a:bodyPr/>
          <a:lstStyle/>
          <a:p>
            <a:pPr>
              <a:defRPr/>
            </a:pPr>
            <a:fld id="{D1AD3536-327C-4937-83AF-A64971CFA6D9}" type="slidenum">
              <a:rPr lang="en-US" smtClean="0"/>
              <a:pPr>
                <a:defRPr/>
              </a:pPr>
              <a:t>31</a:t>
            </a:fld>
            <a:endParaRPr lang="en-US"/>
          </a:p>
        </p:txBody>
      </p:sp>
      <p:sp>
        <p:nvSpPr>
          <p:cNvPr id="4" name="Footer Placeholder 3">
            <a:extLst>
              <a:ext uri="{FF2B5EF4-FFF2-40B4-BE49-F238E27FC236}">
                <a16:creationId xmlns:a16="http://schemas.microsoft.com/office/drawing/2014/main" id="{F9746AB5-3A5D-BBC6-0461-A36FA86CD076}"/>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7D4FA34A-C0DF-AB7E-01D0-A025168B2504}"/>
              </a:ext>
            </a:extLst>
          </p:cNvPr>
          <p:cNvPicPr>
            <a:picLocks noChangeAspect="1"/>
          </p:cNvPicPr>
          <p:nvPr/>
        </p:nvPicPr>
        <p:blipFill>
          <a:blip r:embed="rId2"/>
          <a:stretch>
            <a:fillRect/>
          </a:stretch>
        </p:blipFill>
        <p:spPr>
          <a:xfrm>
            <a:off x="2019300" y="1795462"/>
            <a:ext cx="8153400" cy="3267075"/>
          </a:xfrm>
          <a:prstGeom prst="rect">
            <a:avLst/>
          </a:prstGeom>
        </p:spPr>
      </p:pic>
    </p:spTree>
    <p:extLst>
      <p:ext uri="{BB962C8B-B14F-4D97-AF65-F5344CB8AC3E}">
        <p14:creationId xmlns:p14="http://schemas.microsoft.com/office/powerpoint/2010/main" val="5785911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497A7A-D6D4-9C25-8628-2E542D86A0A2}"/>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64B5DAB3-C468-451F-57C9-314A121A669D}"/>
              </a:ext>
            </a:extLst>
          </p:cNvPr>
          <p:cNvSpPr>
            <a:spLocks noGrp="1"/>
          </p:cNvSpPr>
          <p:nvPr>
            <p:ph type="sldNum" sz="quarter" idx="11"/>
          </p:nvPr>
        </p:nvSpPr>
        <p:spPr/>
        <p:txBody>
          <a:bodyPr/>
          <a:lstStyle/>
          <a:p>
            <a:pPr>
              <a:defRPr/>
            </a:pPr>
            <a:fld id="{D1AD3536-327C-4937-83AF-A64971CFA6D9}" type="slidenum">
              <a:rPr lang="en-US" smtClean="0"/>
              <a:pPr>
                <a:defRPr/>
              </a:pPr>
              <a:t>32</a:t>
            </a:fld>
            <a:endParaRPr lang="en-US"/>
          </a:p>
        </p:txBody>
      </p:sp>
      <p:sp>
        <p:nvSpPr>
          <p:cNvPr id="4" name="Footer Placeholder 3">
            <a:extLst>
              <a:ext uri="{FF2B5EF4-FFF2-40B4-BE49-F238E27FC236}">
                <a16:creationId xmlns:a16="http://schemas.microsoft.com/office/drawing/2014/main" id="{2F56C4D0-3A06-FFEB-C3E3-C1854433C4DB}"/>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0830065B-5346-8032-FF95-DE1C265AC63F}"/>
              </a:ext>
            </a:extLst>
          </p:cNvPr>
          <p:cNvPicPr>
            <a:picLocks noChangeAspect="1"/>
          </p:cNvPicPr>
          <p:nvPr/>
        </p:nvPicPr>
        <p:blipFill>
          <a:blip r:embed="rId2"/>
          <a:stretch>
            <a:fillRect/>
          </a:stretch>
        </p:blipFill>
        <p:spPr>
          <a:xfrm>
            <a:off x="776287" y="2147887"/>
            <a:ext cx="10639425" cy="2562225"/>
          </a:xfrm>
          <a:prstGeom prst="rect">
            <a:avLst/>
          </a:prstGeom>
        </p:spPr>
      </p:pic>
    </p:spTree>
    <p:extLst>
      <p:ext uri="{BB962C8B-B14F-4D97-AF65-F5344CB8AC3E}">
        <p14:creationId xmlns:p14="http://schemas.microsoft.com/office/powerpoint/2010/main" val="149739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AD767-58F4-945D-A172-BD9EBA557A59}"/>
              </a:ext>
            </a:extLst>
          </p:cNvPr>
          <p:cNvSpPr>
            <a:spLocks noGrp="1"/>
          </p:cNvSpPr>
          <p:nvPr>
            <p:ph type="title"/>
          </p:nvPr>
        </p:nvSpPr>
        <p:spPr/>
        <p:txBody>
          <a:bodyPr/>
          <a:lstStyle/>
          <a:p>
            <a:r>
              <a:rPr lang="en-US" sz="2800" dirty="0"/>
              <a:t>5-4b Design Case 2: Maintaining History of Time-Variant Data</a:t>
            </a:r>
          </a:p>
        </p:txBody>
      </p:sp>
      <p:sp>
        <p:nvSpPr>
          <p:cNvPr id="3" name="Content Placeholder 2">
            <a:extLst>
              <a:ext uri="{FF2B5EF4-FFF2-40B4-BE49-F238E27FC236}">
                <a16:creationId xmlns:a16="http://schemas.microsoft.com/office/drawing/2014/main" id="{0D3F006B-5619-D853-5409-0D9FADA93D51}"/>
              </a:ext>
            </a:extLst>
          </p:cNvPr>
          <p:cNvSpPr>
            <a:spLocks noGrp="1"/>
          </p:cNvSpPr>
          <p:nvPr>
            <p:ph idx="1"/>
          </p:nvPr>
        </p:nvSpPr>
        <p:spPr/>
        <p:txBody>
          <a:bodyPr/>
          <a:lstStyle/>
          <a:p>
            <a:r>
              <a:rPr lang="en-US" sz="1800" b="1" i="0" dirty="0">
                <a:solidFill>
                  <a:srgbClr val="007DAF"/>
                </a:solidFill>
                <a:effectLst/>
                <a:latin typeface="MyriadPro-Bold"/>
              </a:rPr>
              <a:t>time-variant data </a:t>
            </a:r>
            <a:r>
              <a:rPr lang="en-US" sz="1800" b="0" i="0" dirty="0">
                <a:solidFill>
                  <a:srgbClr val="242021"/>
                </a:solidFill>
                <a:effectLst/>
                <a:latin typeface="NewCaledoniaLTStd"/>
              </a:rPr>
              <a:t>refers to data whose values change over time and for which you </a:t>
            </a:r>
            <a:r>
              <a:rPr lang="en-US" sz="1800" b="0" i="1" dirty="0">
                <a:solidFill>
                  <a:srgbClr val="242021"/>
                </a:solidFill>
                <a:effectLst/>
                <a:latin typeface="NewCaledoniaLTStd-It"/>
              </a:rPr>
              <a:t>must </a:t>
            </a:r>
            <a:r>
              <a:rPr lang="en-US" sz="1800" b="0" i="0" dirty="0">
                <a:solidFill>
                  <a:srgbClr val="242021"/>
                </a:solidFill>
                <a:effectLst/>
                <a:latin typeface="NewCaledoniaLTStd"/>
              </a:rPr>
              <a:t>keep a history of the data changes.</a:t>
            </a:r>
          </a:p>
          <a:p>
            <a:r>
              <a:rPr lang="en-US" sz="1800" b="0" i="0" dirty="0">
                <a:solidFill>
                  <a:srgbClr val="242021"/>
                </a:solidFill>
                <a:effectLst/>
                <a:latin typeface="NewCaledoniaLTStd"/>
              </a:rPr>
              <a:t>Some time-variant data is equivalent to having a multivalued attribute in your entity</a:t>
            </a:r>
            <a:r>
              <a:rPr lang="en-US" sz="1400" b="0" i="0" dirty="0">
                <a:solidFill>
                  <a:srgbClr val="242021"/>
                </a:solidFill>
                <a:effectLst/>
                <a:latin typeface="NewCaledoniaLTStd"/>
              </a:rPr>
              <a:t>. </a:t>
            </a:r>
            <a:r>
              <a:rPr lang="en-US" sz="1800" b="0" i="0" dirty="0">
                <a:solidFill>
                  <a:srgbClr val="242021"/>
                </a:solidFill>
                <a:effectLst/>
                <a:latin typeface="NewCaledoniaLTStd"/>
              </a:rPr>
              <a:t>To model this type </a:t>
            </a:r>
            <a:r>
              <a:rPr lang="en-US" sz="1800" dirty="0">
                <a:solidFill>
                  <a:srgbClr val="242021"/>
                </a:solidFill>
              </a:rPr>
              <a:t>of </a:t>
            </a:r>
            <a:r>
              <a:rPr lang="en-US" sz="1800" b="0" i="0" dirty="0">
                <a:solidFill>
                  <a:srgbClr val="242021"/>
                </a:solidFill>
                <a:effectLst/>
                <a:latin typeface="NewCaledoniaLTStd"/>
              </a:rPr>
              <a:t>time-variant data, create a new entity in a 1:M relationship with the original entity. </a:t>
            </a:r>
          </a:p>
          <a:p>
            <a:pPr lvl="1"/>
            <a:r>
              <a:rPr lang="en-US" sz="1500" b="0" i="0" dirty="0">
                <a:solidFill>
                  <a:srgbClr val="242021"/>
                </a:solidFill>
                <a:effectLst/>
                <a:latin typeface="NewCaledoniaLTStd"/>
              </a:rPr>
              <a:t>This new entity will contain the new value, the date of the change, and any other attribute that is pertinent to the event being modeled</a:t>
            </a:r>
            <a:r>
              <a:rPr lang="en-US" dirty="0"/>
              <a:t> </a:t>
            </a:r>
          </a:p>
          <a:p>
            <a:r>
              <a:rPr lang="en-US" sz="1800" b="0" i="0" dirty="0">
                <a:solidFill>
                  <a:srgbClr val="242021"/>
                </a:solidFill>
                <a:effectLst/>
                <a:latin typeface="NewCaledoniaLTStd"/>
              </a:rPr>
              <a:t>Other time-variant data can turn a 1:M relationship into an M:N relationship. </a:t>
            </a:r>
          </a:p>
          <a:p>
            <a:pPr lvl="1"/>
            <a:r>
              <a:rPr lang="en-US" sz="1500" b="0" i="0" dirty="0">
                <a:solidFill>
                  <a:srgbClr val="242021"/>
                </a:solidFill>
                <a:effectLst/>
                <a:latin typeface="NewCaledoniaLTStd"/>
              </a:rPr>
              <a:t>Your data model includes data about the different departments in the organization and which employee manages each department. Each department is managed by only one employee and each employee can manage one department at most, then a 1:1 relationship would exist between EMPLOYEE and DEPARTMENT.</a:t>
            </a:r>
            <a:endParaRPr lang="en-US" dirty="0"/>
          </a:p>
        </p:txBody>
      </p:sp>
      <p:sp>
        <p:nvSpPr>
          <p:cNvPr id="4" name="Slide Number Placeholder 3">
            <a:extLst>
              <a:ext uri="{FF2B5EF4-FFF2-40B4-BE49-F238E27FC236}">
                <a16:creationId xmlns:a16="http://schemas.microsoft.com/office/drawing/2014/main" id="{0D119699-3FCB-16EF-8D6D-9FCD506999E2}"/>
              </a:ext>
            </a:extLst>
          </p:cNvPr>
          <p:cNvSpPr>
            <a:spLocks noGrp="1"/>
          </p:cNvSpPr>
          <p:nvPr>
            <p:ph type="sldNum" sz="quarter" idx="10"/>
          </p:nvPr>
        </p:nvSpPr>
        <p:spPr/>
        <p:txBody>
          <a:bodyPr/>
          <a:lstStyle/>
          <a:p>
            <a:pPr>
              <a:defRPr/>
            </a:pPr>
            <a:fld id="{34A84676-C444-4AC5-8B4E-405A7C81C0FB}" type="slidenum">
              <a:rPr lang="en-US" altLang="en-US" smtClean="0"/>
              <a:pPr>
                <a:defRPr/>
              </a:pPr>
              <a:t>33</a:t>
            </a:fld>
            <a:endParaRPr lang="en-US" altLang="en-US"/>
          </a:p>
        </p:txBody>
      </p:sp>
      <p:sp>
        <p:nvSpPr>
          <p:cNvPr id="5" name="Footer Placeholder 4">
            <a:extLst>
              <a:ext uri="{FF2B5EF4-FFF2-40B4-BE49-F238E27FC236}">
                <a16:creationId xmlns:a16="http://schemas.microsoft.com/office/drawing/2014/main" id="{8D826EB1-3F27-64C8-10E4-6D5590DF9664}"/>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C9D6BDA2-F485-2AF1-16EF-B411BFAA1E4B}"/>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2826284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78914E-0C9B-005C-3DE3-8ECB6D2A82D8}"/>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A0DAE9E-3A5D-F07E-CF85-996F24CC3E64}"/>
              </a:ext>
            </a:extLst>
          </p:cNvPr>
          <p:cNvSpPr>
            <a:spLocks noGrp="1"/>
          </p:cNvSpPr>
          <p:nvPr>
            <p:ph type="sldNum" sz="quarter" idx="11"/>
          </p:nvPr>
        </p:nvSpPr>
        <p:spPr/>
        <p:txBody>
          <a:bodyPr/>
          <a:lstStyle/>
          <a:p>
            <a:pPr>
              <a:defRPr/>
            </a:pPr>
            <a:fld id="{D1AD3536-327C-4937-83AF-A64971CFA6D9}" type="slidenum">
              <a:rPr lang="en-US" smtClean="0"/>
              <a:pPr>
                <a:defRPr/>
              </a:pPr>
              <a:t>34</a:t>
            </a:fld>
            <a:endParaRPr lang="en-US"/>
          </a:p>
        </p:txBody>
      </p:sp>
      <p:sp>
        <p:nvSpPr>
          <p:cNvPr id="4" name="Footer Placeholder 3">
            <a:extLst>
              <a:ext uri="{FF2B5EF4-FFF2-40B4-BE49-F238E27FC236}">
                <a16:creationId xmlns:a16="http://schemas.microsoft.com/office/drawing/2014/main" id="{B7A82FFC-1454-7B3F-B9B4-BDC435C8A3B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99EEF187-AF4C-CAFC-5065-81DF4B23DB65}"/>
              </a:ext>
            </a:extLst>
          </p:cNvPr>
          <p:cNvPicPr>
            <a:picLocks noChangeAspect="1"/>
          </p:cNvPicPr>
          <p:nvPr/>
        </p:nvPicPr>
        <p:blipFill>
          <a:blip r:embed="rId2"/>
          <a:stretch>
            <a:fillRect/>
          </a:stretch>
        </p:blipFill>
        <p:spPr>
          <a:xfrm>
            <a:off x="2066573" y="0"/>
            <a:ext cx="8058854" cy="6858000"/>
          </a:xfrm>
          <a:prstGeom prst="rect">
            <a:avLst/>
          </a:prstGeom>
        </p:spPr>
      </p:pic>
    </p:spTree>
    <p:extLst>
      <p:ext uri="{BB962C8B-B14F-4D97-AF65-F5344CB8AC3E}">
        <p14:creationId xmlns:p14="http://schemas.microsoft.com/office/powerpoint/2010/main" val="1084664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4753-002D-86C7-D125-E8D9F32C2385}"/>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6C6E37F-8DFE-B5D2-86EE-874839CB7C8C}"/>
              </a:ext>
            </a:extLst>
          </p:cNvPr>
          <p:cNvSpPr>
            <a:spLocks noGrp="1"/>
          </p:cNvSpPr>
          <p:nvPr>
            <p:ph type="sldNum" sz="quarter" idx="11"/>
          </p:nvPr>
        </p:nvSpPr>
        <p:spPr/>
        <p:txBody>
          <a:bodyPr/>
          <a:lstStyle/>
          <a:p>
            <a:pPr>
              <a:defRPr/>
            </a:pPr>
            <a:fld id="{D1AD3536-327C-4937-83AF-A64971CFA6D9}" type="slidenum">
              <a:rPr lang="en-US" smtClean="0"/>
              <a:pPr>
                <a:defRPr/>
              </a:pPr>
              <a:t>35</a:t>
            </a:fld>
            <a:endParaRPr lang="en-US"/>
          </a:p>
        </p:txBody>
      </p:sp>
      <p:sp>
        <p:nvSpPr>
          <p:cNvPr id="4" name="Footer Placeholder 3">
            <a:extLst>
              <a:ext uri="{FF2B5EF4-FFF2-40B4-BE49-F238E27FC236}">
                <a16:creationId xmlns:a16="http://schemas.microsoft.com/office/drawing/2014/main" id="{32A41A45-7EA1-9662-3C2F-742170FAA326}"/>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1F3E7DC2-C127-2DFF-F43C-10C9017C37AB}"/>
              </a:ext>
            </a:extLst>
          </p:cNvPr>
          <p:cNvPicPr>
            <a:picLocks noChangeAspect="1"/>
          </p:cNvPicPr>
          <p:nvPr/>
        </p:nvPicPr>
        <p:blipFill>
          <a:blip r:embed="rId2"/>
          <a:stretch>
            <a:fillRect/>
          </a:stretch>
        </p:blipFill>
        <p:spPr>
          <a:xfrm>
            <a:off x="785812" y="252412"/>
            <a:ext cx="10620375" cy="6353175"/>
          </a:xfrm>
          <a:prstGeom prst="rect">
            <a:avLst/>
          </a:prstGeom>
        </p:spPr>
      </p:pic>
    </p:spTree>
    <p:extLst>
      <p:ext uri="{BB962C8B-B14F-4D97-AF65-F5344CB8AC3E}">
        <p14:creationId xmlns:p14="http://schemas.microsoft.com/office/powerpoint/2010/main" val="13704804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CF6DC3-EA0B-4B85-5146-F3B271C8CD1F}"/>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0A82DF60-A3C0-FD89-EA85-B0FD81EBAD05}"/>
              </a:ext>
            </a:extLst>
          </p:cNvPr>
          <p:cNvSpPr>
            <a:spLocks noGrp="1"/>
          </p:cNvSpPr>
          <p:nvPr>
            <p:ph type="sldNum" sz="quarter" idx="11"/>
          </p:nvPr>
        </p:nvSpPr>
        <p:spPr/>
        <p:txBody>
          <a:bodyPr/>
          <a:lstStyle/>
          <a:p>
            <a:pPr>
              <a:defRPr/>
            </a:pPr>
            <a:fld id="{D1AD3536-327C-4937-83AF-A64971CFA6D9}" type="slidenum">
              <a:rPr lang="en-US" smtClean="0"/>
              <a:pPr>
                <a:defRPr/>
              </a:pPr>
              <a:t>36</a:t>
            </a:fld>
            <a:endParaRPr lang="en-US"/>
          </a:p>
        </p:txBody>
      </p:sp>
      <p:sp>
        <p:nvSpPr>
          <p:cNvPr id="4" name="Footer Placeholder 3">
            <a:extLst>
              <a:ext uri="{FF2B5EF4-FFF2-40B4-BE49-F238E27FC236}">
                <a16:creationId xmlns:a16="http://schemas.microsoft.com/office/drawing/2014/main" id="{E3322707-AFB6-BEEE-00D4-67E750D8333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A74D3C1A-2DF0-837D-96F1-92CB3AB7154D}"/>
              </a:ext>
            </a:extLst>
          </p:cNvPr>
          <p:cNvPicPr>
            <a:picLocks noChangeAspect="1"/>
          </p:cNvPicPr>
          <p:nvPr/>
        </p:nvPicPr>
        <p:blipFill>
          <a:blip r:embed="rId2"/>
          <a:stretch>
            <a:fillRect/>
          </a:stretch>
        </p:blipFill>
        <p:spPr>
          <a:xfrm>
            <a:off x="762000" y="90487"/>
            <a:ext cx="10668000" cy="6677025"/>
          </a:xfrm>
          <a:prstGeom prst="rect">
            <a:avLst/>
          </a:prstGeom>
        </p:spPr>
      </p:pic>
    </p:spTree>
    <p:extLst>
      <p:ext uri="{BB962C8B-B14F-4D97-AF65-F5344CB8AC3E}">
        <p14:creationId xmlns:p14="http://schemas.microsoft.com/office/powerpoint/2010/main" val="2953247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F17AE-5DFF-8A25-0570-123BE2D44E0B}"/>
              </a:ext>
            </a:extLst>
          </p:cNvPr>
          <p:cNvSpPr>
            <a:spLocks noGrp="1"/>
          </p:cNvSpPr>
          <p:nvPr>
            <p:ph type="title"/>
          </p:nvPr>
        </p:nvSpPr>
        <p:spPr/>
        <p:txBody>
          <a:bodyPr/>
          <a:lstStyle/>
          <a:p>
            <a:r>
              <a:rPr lang="en-US" dirty="0"/>
              <a:t>5-4c Design Case 3: Fan Traps</a:t>
            </a:r>
          </a:p>
        </p:txBody>
      </p:sp>
      <p:sp>
        <p:nvSpPr>
          <p:cNvPr id="3" name="Content Placeholder 2">
            <a:extLst>
              <a:ext uri="{FF2B5EF4-FFF2-40B4-BE49-F238E27FC236}">
                <a16:creationId xmlns:a16="http://schemas.microsoft.com/office/drawing/2014/main" id="{846DCC01-AEEF-DD2B-05D5-6DBC45B1AA14}"/>
              </a:ext>
            </a:extLst>
          </p:cNvPr>
          <p:cNvSpPr>
            <a:spLocks noGrp="1"/>
          </p:cNvSpPr>
          <p:nvPr>
            <p:ph idx="1"/>
          </p:nvPr>
        </p:nvSpPr>
        <p:spPr/>
        <p:txBody>
          <a:bodyPr/>
          <a:lstStyle/>
          <a:p>
            <a:r>
              <a:rPr lang="en-US" sz="2400" b="0" i="0" dirty="0">
                <a:solidFill>
                  <a:srgbClr val="242021"/>
                </a:solidFill>
                <a:effectLst/>
                <a:latin typeface="NewCaledoniaLTStd"/>
              </a:rPr>
              <a:t>A </a:t>
            </a:r>
            <a:r>
              <a:rPr lang="en-US" sz="2400" b="1" i="0" dirty="0">
                <a:solidFill>
                  <a:srgbClr val="007DAF"/>
                </a:solidFill>
                <a:effectLst/>
                <a:latin typeface="MyriadPro-Bold"/>
              </a:rPr>
              <a:t>design trap </a:t>
            </a:r>
            <a:r>
              <a:rPr lang="en-US" sz="2400" b="0" i="0" dirty="0">
                <a:solidFill>
                  <a:srgbClr val="242021"/>
                </a:solidFill>
                <a:effectLst/>
                <a:latin typeface="NewCaledoniaLTStd"/>
              </a:rPr>
              <a:t>occurs when a relationship is improperly or incompletely identified and is, therefore, represented in a way that is not consistent with the real world.</a:t>
            </a:r>
          </a:p>
          <a:p>
            <a:r>
              <a:rPr lang="en-US" sz="2400" b="0" i="0" dirty="0">
                <a:solidFill>
                  <a:srgbClr val="242021"/>
                </a:solidFill>
                <a:effectLst/>
                <a:latin typeface="NewCaledoniaLTStd"/>
              </a:rPr>
              <a:t>A </a:t>
            </a:r>
            <a:r>
              <a:rPr lang="en-US" sz="2400" b="1" i="0" dirty="0">
                <a:solidFill>
                  <a:srgbClr val="007DAF"/>
                </a:solidFill>
                <a:effectLst/>
                <a:latin typeface="MyriadPro-Bold"/>
              </a:rPr>
              <a:t>fan trap </a:t>
            </a:r>
            <a:r>
              <a:rPr lang="en-US" sz="2400" b="0" i="0" dirty="0">
                <a:solidFill>
                  <a:srgbClr val="242021"/>
                </a:solidFill>
                <a:effectLst/>
                <a:latin typeface="NewCaledoniaLTStd"/>
              </a:rPr>
              <a:t>occurs when you have one entity in two 1:M relationships to other entities, thus producing an association among the other entities that is not expressed in the model.</a:t>
            </a:r>
            <a:r>
              <a:rPr lang="en-US" sz="2800" dirty="0"/>
              <a:t> </a:t>
            </a:r>
          </a:p>
        </p:txBody>
      </p:sp>
      <p:sp>
        <p:nvSpPr>
          <p:cNvPr id="4" name="Slide Number Placeholder 3">
            <a:extLst>
              <a:ext uri="{FF2B5EF4-FFF2-40B4-BE49-F238E27FC236}">
                <a16:creationId xmlns:a16="http://schemas.microsoft.com/office/drawing/2014/main" id="{0FEC6B2B-BD09-8D88-2D41-04D2B1F22737}"/>
              </a:ext>
            </a:extLst>
          </p:cNvPr>
          <p:cNvSpPr>
            <a:spLocks noGrp="1"/>
          </p:cNvSpPr>
          <p:nvPr>
            <p:ph type="sldNum" sz="quarter" idx="10"/>
          </p:nvPr>
        </p:nvSpPr>
        <p:spPr/>
        <p:txBody>
          <a:bodyPr/>
          <a:lstStyle/>
          <a:p>
            <a:pPr>
              <a:defRPr/>
            </a:pPr>
            <a:fld id="{34A84676-C444-4AC5-8B4E-405A7C81C0FB}" type="slidenum">
              <a:rPr lang="en-US" altLang="en-US" smtClean="0"/>
              <a:pPr>
                <a:defRPr/>
              </a:pPr>
              <a:t>37</a:t>
            </a:fld>
            <a:endParaRPr lang="en-US" altLang="en-US"/>
          </a:p>
        </p:txBody>
      </p:sp>
      <p:sp>
        <p:nvSpPr>
          <p:cNvPr id="5" name="Footer Placeholder 4">
            <a:extLst>
              <a:ext uri="{FF2B5EF4-FFF2-40B4-BE49-F238E27FC236}">
                <a16:creationId xmlns:a16="http://schemas.microsoft.com/office/drawing/2014/main" id="{F666D1FC-BFB8-9FF3-31C5-66F4F3EB223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D7574963-DF84-7997-3D64-A1D102752EBF}"/>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26884824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2E9A09-DA9A-A656-6210-6978D6D6CB9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0974E579-9631-8997-F489-9175B2A25636}"/>
              </a:ext>
            </a:extLst>
          </p:cNvPr>
          <p:cNvSpPr>
            <a:spLocks noGrp="1"/>
          </p:cNvSpPr>
          <p:nvPr>
            <p:ph type="sldNum" sz="quarter" idx="11"/>
          </p:nvPr>
        </p:nvSpPr>
        <p:spPr/>
        <p:txBody>
          <a:bodyPr/>
          <a:lstStyle/>
          <a:p>
            <a:pPr>
              <a:defRPr/>
            </a:pPr>
            <a:fld id="{D1AD3536-327C-4937-83AF-A64971CFA6D9}" type="slidenum">
              <a:rPr lang="en-US" smtClean="0"/>
              <a:pPr>
                <a:defRPr/>
              </a:pPr>
              <a:t>38</a:t>
            </a:fld>
            <a:endParaRPr lang="en-US"/>
          </a:p>
        </p:txBody>
      </p:sp>
      <p:sp>
        <p:nvSpPr>
          <p:cNvPr id="4" name="Footer Placeholder 3">
            <a:extLst>
              <a:ext uri="{FF2B5EF4-FFF2-40B4-BE49-F238E27FC236}">
                <a16:creationId xmlns:a16="http://schemas.microsoft.com/office/drawing/2014/main" id="{DAEB2AD8-DAAD-1D21-1011-C8BDD18A280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4ED4766-BB08-48B8-DD6E-44DC8B57170F}"/>
              </a:ext>
            </a:extLst>
          </p:cNvPr>
          <p:cNvPicPr>
            <a:picLocks noChangeAspect="1"/>
          </p:cNvPicPr>
          <p:nvPr/>
        </p:nvPicPr>
        <p:blipFill>
          <a:blip r:embed="rId2"/>
          <a:stretch>
            <a:fillRect/>
          </a:stretch>
        </p:blipFill>
        <p:spPr>
          <a:xfrm>
            <a:off x="762000" y="533400"/>
            <a:ext cx="8143875" cy="5629275"/>
          </a:xfrm>
          <a:prstGeom prst="rect">
            <a:avLst/>
          </a:prstGeom>
        </p:spPr>
      </p:pic>
      <p:sp>
        <p:nvSpPr>
          <p:cNvPr id="8" name="TextBox 7">
            <a:extLst>
              <a:ext uri="{FF2B5EF4-FFF2-40B4-BE49-F238E27FC236}">
                <a16:creationId xmlns:a16="http://schemas.microsoft.com/office/drawing/2014/main" id="{F67A10F2-4E1D-8269-DA95-75396EE556E7}"/>
              </a:ext>
            </a:extLst>
          </p:cNvPr>
          <p:cNvSpPr txBox="1"/>
          <p:nvPr/>
        </p:nvSpPr>
        <p:spPr>
          <a:xfrm>
            <a:off x="9426191" y="1447800"/>
            <a:ext cx="2003809" cy="2677656"/>
          </a:xfrm>
          <a:prstGeom prst="rect">
            <a:avLst/>
          </a:prstGeom>
          <a:noFill/>
        </p:spPr>
        <p:txBody>
          <a:bodyPr wrap="square">
            <a:spAutoFit/>
          </a:bodyPr>
          <a:lstStyle/>
          <a:p>
            <a:r>
              <a:rPr lang="en-US" sz="2400" b="0" i="0" dirty="0">
                <a:solidFill>
                  <a:srgbClr val="242021"/>
                </a:solidFill>
                <a:effectLst/>
                <a:latin typeface="NewCaledoniaLTStd"/>
              </a:rPr>
              <a:t>there is no way to </a:t>
            </a:r>
          </a:p>
          <a:p>
            <a:r>
              <a:rPr lang="en-US" sz="2400" b="0" i="0" dirty="0">
                <a:solidFill>
                  <a:srgbClr val="242021"/>
                </a:solidFill>
                <a:effectLst/>
                <a:latin typeface="NewCaledoniaLTStd"/>
              </a:rPr>
              <a:t>identify which players belong</a:t>
            </a:r>
            <a:br>
              <a:rPr lang="en-US" sz="2400" b="0" i="0" dirty="0">
                <a:solidFill>
                  <a:srgbClr val="242021"/>
                </a:solidFill>
                <a:effectLst/>
                <a:latin typeface="NewCaledoniaLTStd"/>
              </a:rPr>
            </a:br>
            <a:r>
              <a:rPr lang="en-US" sz="2400" b="0" i="0" dirty="0">
                <a:solidFill>
                  <a:srgbClr val="242021"/>
                </a:solidFill>
                <a:effectLst/>
                <a:latin typeface="NewCaledoniaLTStd"/>
              </a:rPr>
              <a:t>to which team.</a:t>
            </a:r>
            <a:r>
              <a:rPr lang="en-US" sz="2400" dirty="0"/>
              <a:t> </a:t>
            </a:r>
            <a:br>
              <a:rPr lang="en-US" sz="2400" dirty="0"/>
            </a:br>
            <a:endParaRPr lang="en-US" sz="2400" dirty="0"/>
          </a:p>
        </p:txBody>
      </p:sp>
    </p:spTree>
    <p:extLst>
      <p:ext uri="{BB962C8B-B14F-4D97-AF65-F5344CB8AC3E}">
        <p14:creationId xmlns:p14="http://schemas.microsoft.com/office/powerpoint/2010/main" val="824292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68B299-3D6C-759A-41D0-882FA1B13B82}"/>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44B98118-A8E7-C273-C1FF-975B9031D74E}"/>
              </a:ext>
            </a:extLst>
          </p:cNvPr>
          <p:cNvSpPr>
            <a:spLocks noGrp="1"/>
          </p:cNvSpPr>
          <p:nvPr>
            <p:ph type="sldNum" sz="quarter" idx="11"/>
          </p:nvPr>
        </p:nvSpPr>
        <p:spPr/>
        <p:txBody>
          <a:bodyPr/>
          <a:lstStyle/>
          <a:p>
            <a:pPr>
              <a:defRPr/>
            </a:pPr>
            <a:fld id="{D1AD3536-327C-4937-83AF-A64971CFA6D9}" type="slidenum">
              <a:rPr lang="en-US" smtClean="0"/>
              <a:pPr>
                <a:defRPr/>
              </a:pPr>
              <a:t>39</a:t>
            </a:fld>
            <a:endParaRPr lang="en-US"/>
          </a:p>
        </p:txBody>
      </p:sp>
      <p:sp>
        <p:nvSpPr>
          <p:cNvPr id="4" name="Footer Placeholder 3">
            <a:extLst>
              <a:ext uri="{FF2B5EF4-FFF2-40B4-BE49-F238E27FC236}">
                <a16:creationId xmlns:a16="http://schemas.microsoft.com/office/drawing/2014/main" id="{DCCCA803-4CA5-4F8B-4302-E83663ED2DE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E07829A-57ED-2AEA-5C1F-801A9E0DA9D1}"/>
              </a:ext>
            </a:extLst>
          </p:cNvPr>
          <p:cNvPicPr>
            <a:picLocks noChangeAspect="1"/>
          </p:cNvPicPr>
          <p:nvPr/>
        </p:nvPicPr>
        <p:blipFill>
          <a:blip r:embed="rId2"/>
          <a:stretch>
            <a:fillRect/>
          </a:stretch>
        </p:blipFill>
        <p:spPr>
          <a:xfrm>
            <a:off x="2024062" y="633412"/>
            <a:ext cx="8143875" cy="5591175"/>
          </a:xfrm>
          <a:prstGeom prst="rect">
            <a:avLst/>
          </a:prstGeom>
        </p:spPr>
      </p:pic>
    </p:spTree>
    <p:extLst>
      <p:ext uri="{BB962C8B-B14F-4D97-AF65-F5344CB8AC3E}">
        <p14:creationId xmlns:p14="http://schemas.microsoft.com/office/powerpoint/2010/main" val="24318521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25CB7-B7C0-F0A9-5F2B-04809B817534}"/>
              </a:ext>
            </a:extLst>
          </p:cNvPr>
          <p:cNvSpPr>
            <a:spLocks noGrp="1"/>
          </p:cNvSpPr>
          <p:nvPr>
            <p:ph type="title"/>
          </p:nvPr>
        </p:nvSpPr>
        <p:spPr/>
        <p:txBody>
          <a:bodyPr/>
          <a:lstStyle/>
          <a:p>
            <a:r>
              <a:rPr lang="en-US" dirty="0"/>
              <a:t>5-4d Design Case 4: Redundant Relationships</a:t>
            </a:r>
          </a:p>
        </p:txBody>
      </p:sp>
      <p:sp>
        <p:nvSpPr>
          <p:cNvPr id="3" name="Content Placeholder 2">
            <a:extLst>
              <a:ext uri="{FF2B5EF4-FFF2-40B4-BE49-F238E27FC236}">
                <a16:creationId xmlns:a16="http://schemas.microsoft.com/office/drawing/2014/main" id="{D8D12FA2-31D9-8CE9-A65B-0604C7482353}"/>
              </a:ext>
            </a:extLst>
          </p:cNvPr>
          <p:cNvSpPr>
            <a:spLocks noGrp="1"/>
          </p:cNvSpPr>
          <p:nvPr>
            <p:ph idx="1"/>
          </p:nvPr>
        </p:nvSpPr>
        <p:spPr/>
        <p:txBody>
          <a:bodyPr/>
          <a:lstStyle/>
          <a:p>
            <a:r>
              <a:rPr lang="en-US" sz="1800" b="0" i="0" dirty="0">
                <a:solidFill>
                  <a:srgbClr val="242021"/>
                </a:solidFill>
                <a:effectLst/>
                <a:latin typeface="NewCaledoniaLTStd"/>
              </a:rPr>
              <a:t>Redundant relationships occur when there are multiple relationship paths between related entities. </a:t>
            </a:r>
          </a:p>
          <a:p>
            <a:pPr lvl="1"/>
            <a:r>
              <a:rPr lang="en-US" sz="1800" b="0" i="0" dirty="0">
                <a:solidFill>
                  <a:srgbClr val="242021"/>
                </a:solidFill>
                <a:effectLst/>
                <a:latin typeface="NewCaledoniaLTStd"/>
              </a:rPr>
              <a:t>Transitive 1:M relationship between DIVISION and PLAYER through the TEAM entity set. Therefore, the relationship that connects DIVISION and PLAYER is redundant </a:t>
            </a:r>
            <a:br>
              <a:rPr lang="en-US" dirty="0"/>
            </a:br>
            <a:endParaRPr lang="en-US" dirty="0"/>
          </a:p>
        </p:txBody>
      </p:sp>
      <p:sp>
        <p:nvSpPr>
          <p:cNvPr id="4" name="Slide Number Placeholder 3">
            <a:extLst>
              <a:ext uri="{FF2B5EF4-FFF2-40B4-BE49-F238E27FC236}">
                <a16:creationId xmlns:a16="http://schemas.microsoft.com/office/drawing/2014/main" id="{B2D4AC8B-973D-FF83-49A7-4A444C1A7DB4}"/>
              </a:ext>
            </a:extLst>
          </p:cNvPr>
          <p:cNvSpPr>
            <a:spLocks noGrp="1"/>
          </p:cNvSpPr>
          <p:nvPr>
            <p:ph type="sldNum" sz="quarter" idx="10"/>
          </p:nvPr>
        </p:nvSpPr>
        <p:spPr/>
        <p:txBody>
          <a:bodyPr/>
          <a:lstStyle/>
          <a:p>
            <a:pPr>
              <a:defRPr/>
            </a:pPr>
            <a:fld id="{34A84676-C444-4AC5-8B4E-405A7C81C0FB}" type="slidenum">
              <a:rPr lang="en-US" altLang="en-US" smtClean="0"/>
              <a:pPr>
                <a:defRPr/>
              </a:pPr>
              <a:t>40</a:t>
            </a:fld>
            <a:endParaRPr lang="en-US" altLang="en-US"/>
          </a:p>
        </p:txBody>
      </p:sp>
      <p:sp>
        <p:nvSpPr>
          <p:cNvPr id="5" name="Footer Placeholder 4">
            <a:extLst>
              <a:ext uri="{FF2B5EF4-FFF2-40B4-BE49-F238E27FC236}">
                <a16:creationId xmlns:a16="http://schemas.microsoft.com/office/drawing/2014/main" id="{8484042A-7AC9-5E66-B26B-568CF73DDDE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7F8CEED8-02A6-07D3-0769-3A9A78B44D06}"/>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C71B685F-3FBA-50C4-F5A9-B3562928D8D2}"/>
              </a:ext>
            </a:extLst>
          </p:cNvPr>
          <p:cNvPicPr>
            <a:picLocks noChangeAspect="1"/>
          </p:cNvPicPr>
          <p:nvPr/>
        </p:nvPicPr>
        <p:blipFill>
          <a:blip r:embed="rId2"/>
          <a:stretch>
            <a:fillRect/>
          </a:stretch>
        </p:blipFill>
        <p:spPr>
          <a:xfrm>
            <a:off x="1905000" y="3270634"/>
            <a:ext cx="8096250" cy="3019425"/>
          </a:xfrm>
          <a:prstGeom prst="rect">
            <a:avLst/>
          </a:prstGeom>
        </p:spPr>
      </p:pic>
    </p:spTree>
    <p:extLst>
      <p:ext uri="{BB962C8B-B14F-4D97-AF65-F5344CB8AC3E}">
        <p14:creationId xmlns:p14="http://schemas.microsoft.com/office/powerpoint/2010/main" val="22286288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993019-5BE1-99D9-0332-5436B7F261AB}"/>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CF6D1741-7902-4A96-C6A6-8213AEE9A936}"/>
              </a:ext>
            </a:extLst>
          </p:cNvPr>
          <p:cNvSpPr>
            <a:spLocks noGrp="1"/>
          </p:cNvSpPr>
          <p:nvPr>
            <p:ph type="sldNum" sz="quarter" idx="11"/>
          </p:nvPr>
        </p:nvSpPr>
        <p:spPr/>
        <p:txBody>
          <a:bodyPr/>
          <a:lstStyle/>
          <a:p>
            <a:pPr>
              <a:defRPr/>
            </a:pPr>
            <a:fld id="{D1AD3536-327C-4937-83AF-A64971CFA6D9}" type="slidenum">
              <a:rPr lang="en-US" smtClean="0"/>
              <a:pPr>
                <a:defRPr/>
              </a:pPr>
              <a:t>41</a:t>
            </a:fld>
            <a:endParaRPr lang="en-US"/>
          </a:p>
        </p:txBody>
      </p:sp>
      <p:sp>
        <p:nvSpPr>
          <p:cNvPr id="4" name="Footer Placeholder 3">
            <a:extLst>
              <a:ext uri="{FF2B5EF4-FFF2-40B4-BE49-F238E27FC236}">
                <a16:creationId xmlns:a16="http://schemas.microsoft.com/office/drawing/2014/main" id="{A5265D79-C677-A173-E369-87DF69B6B957}"/>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D5939A2-504E-FB82-6CFF-9F94DBE4B71C}"/>
              </a:ext>
            </a:extLst>
          </p:cNvPr>
          <p:cNvPicPr>
            <a:picLocks noChangeAspect="1"/>
          </p:cNvPicPr>
          <p:nvPr/>
        </p:nvPicPr>
        <p:blipFill>
          <a:blip r:embed="rId2"/>
          <a:stretch>
            <a:fillRect/>
          </a:stretch>
        </p:blipFill>
        <p:spPr>
          <a:xfrm>
            <a:off x="1938337" y="442912"/>
            <a:ext cx="8315325" cy="5972175"/>
          </a:xfrm>
          <a:prstGeom prst="rect">
            <a:avLst/>
          </a:prstGeom>
        </p:spPr>
      </p:pic>
    </p:spTree>
    <p:extLst>
      <p:ext uri="{BB962C8B-B14F-4D97-AF65-F5344CB8AC3E}">
        <p14:creationId xmlns:p14="http://schemas.microsoft.com/office/powerpoint/2010/main" val="11886254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706E7C-9B12-340D-1AF0-A7B6D5EDDD81}"/>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D8537B1D-2B14-B19C-EDC7-8BAFAE386BE7}"/>
              </a:ext>
            </a:extLst>
          </p:cNvPr>
          <p:cNvSpPr>
            <a:spLocks noGrp="1"/>
          </p:cNvSpPr>
          <p:nvPr>
            <p:ph type="sldNum" sz="quarter" idx="11"/>
          </p:nvPr>
        </p:nvSpPr>
        <p:spPr/>
        <p:txBody>
          <a:bodyPr/>
          <a:lstStyle/>
          <a:p>
            <a:pPr>
              <a:defRPr/>
            </a:pPr>
            <a:fld id="{D1AD3536-327C-4937-83AF-A64971CFA6D9}" type="slidenum">
              <a:rPr lang="en-US" smtClean="0"/>
              <a:pPr>
                <a:defRPr/>
              </a:pPr>
              <a:t>42</a:t>
            </a:fld>
            <a:endParaRPr lang="en-US"/>
          </a:p>
        </p:txBody>
      </p:sp>
      <p:sp>
        <p:nvSpPr>
          <p:cNvPr id="4" name="Footer Placeholder 3">
            <a:extLst>
              <a:ext uri="{FF2B5EF4-FFF2-40B4-BE49-F238E27FC236}">
                <a16:creationId xmlns:a16="http://schemas.microsoft.com/office/drawing/2014/main" id="{47F03816-4DEC-FF26-383B-D6D1D5DB5E4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8A5C2029-38DC-140B-316D-ACC2CCC76308}"/>
              </a:ext>
            </a:extLst>
          </p:cNvPr>
          <p:cNvPicPr>
            <a:picLocks noChangeAspect="1"/>
          </p:cNvPicPr>
          <p:nvPr/>
        </p:nvPicPr>
        <p:blipFill>
          <a:blip r:embed="rId2"/>
          <a:stretch>
            <a:fillRect/>
          </a:stretch>
        </p:blipFill>
        <p:spPr>
          <a:xfrm>
            <a:off x="1143000" y="1759743"/>
            <a:ext cx="10202964" cy="3338513"/>
          </a:xfrm>
          <a:prstGeom prst="rect">
            <a:avLst/>
          </a:prstGeom>
        </p:spPr>
      </p:pic>
    </p:spTree>
    <p:extLst>
      <p:ext uri="{BB962C8B-B14F-4D97-AF65-F5344CB8AC3E}">
        <p14:creationId xmlns:p14="http://schemas.microsoft.com/office/powerpoint/2010/main" val="30265418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AEE64E-25E4-F13E-3F05-40E978348DA8}"/>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9AD61BA-D719-DF9F-8BF2-1EB2C8D161AA}"/>
              </a:ext>
            </a:extLst>
          </p:cNvPr>
          <p:cNvSpPr>
            <a:spLocks noGrp="1"/>
          </p:cNvSpPr>
          <p:nvPr>
            <p:ph type="sldNum" sz="quarter" idx="11"/>
          </p:nvPr>
        </p:nvSpPr>
        <p:spPr/>
        <p:txBody>
          <a:bodyPr/>
          <a:lstStyle/>
          <a:p>
            <a:pPr>
              <a:defRPr/>
            </a:pPr>
            <a:fld id="{D1AD3536-327C-4937-83AF-A64971CFA6D9}" type="slidenum">
              <a:rPr lang="en-US" smtClean="0"/>
              <a:pPr>
                <a:defRPr/>
              </a:pPr>
              <a:t>43</a:t>
            </a:fld>
            <a:endParaRPr lang="en-US"/>
          </a:p>
        </p:txBody>
      </p:sp>
      <p:sp>
        <p:nvSpPr>
          <p:cNvPr id="4" name="Footer Placeholder 3">
            <a:extLst>
              <a:ext uri="{FF2B5EF4-FFF2-40B4-BE49-F238E27FC236}">
                <a16:creationId xmlns:a16="http://schemas.microsoft.com/office/drawing/2014/main" id="{34F7590D-FF57-BF2C-065C-A98D0A1547A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465E611F-8D2E-5886-B6DC-47044A1D4750}"/>
              </a:ext>
            </a:extLst>
          </p:cNvPr>
          <p:cNvPicPr>
            <a:picLocks noChangeAspect="1"/>
          </p:cNvPicPr>
          <p:nvPr/>
        </p:nvPicPr>
        <p:blipFill>
          <a:blip r:embed="rId2"/>
          <a:stretch>
            <a:fillRect/>
          </a:stretch>
        </p:blipFill>
        <p:spPr>
          <a:xfrm>
            <a:off x="685800" y="2514600"/>
            <a:ext cx="11286184" cy="2462213"/>
          </a:xfrm>
          <a:prstGeom prst="rect">
            <a:avLst/>
          </a:prstGeom>
        </p:spPr>
      </p:pic>
    </p:spTree>
    <p:extLst>
      <p:ext uri="{BB962C8B-B14F-4D97-AF65-F5344CB8AC3E}">
        <p14:creationId xmlns:p14="http://schemas.microsoft.com/office/powerpoint/2010/main" val="28109996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085081-9D46-CA70-5507-402D7E054AE4}"/>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92A37C42-AAA8-EBE5-CFE6-FCB944723BE2}"/>
              </a:ext>
            </a:extLst>
          </p:cNvPr>
          <p:cNvSpPr>
            <a:spLocks noGrp="1"/>
          </p:cNvSpPr>
          <p:nvPr>
            <p:ph type="sldNum" sz="quarter" idx="11"/>
          </p:nvPr>
        </p:nvSpPr>
        <p:spPr/>
        <p:txBody>
          <a:bodyPr/>
          <a:lstStyle/>
          <a:p>
            <a:pPr>
              <a:defRPr/>
            </a:pPr>
            <a:fld id="{D1AD3536-327C-4937-83AF-A64971CFA6D9}" type="slidenum">
              <a:rPr lang="en-US" smtClean="0"/>
              <a:pPr>
                <a:defRPr/>
              </a:pPr>
              <a:t>44</a:t>
            </a:fld>
            <a:endParaRPr lang="en-US"/>
          </a:p>
        </p:txBody>
      </p:sp>
      <p:sp>
        <p:nvSpPr>
          <p:cNvPr id="4" name="Footer Placeholder 3">
            <a:extLst>
              <a:ext uri="{FF2B5EF4-FFF2-40B4-BE49-F238E27FC236}">
                <a16:creationId xmlns:a16="http://schemas.microsoft.com/office/drawing/2014/main" id="{DE69D3EC-9A3C-18CA-882E-42C33720A548}"/>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B5C4B27-6A07-66D5-D50A-3A4CA6A9B568}"/>
              </a:ext>
            </a:extLst>
          </p:cNvPr>
          <p:cNvPicPr>
            <a:picLocks noChangeAspect="1"/>
          </p:cNvPicPr>
          <p:nvPr/>
        </p:nvPicPr>
        <p:blipFill>
          <a:blip r:embed="rId2"/>
          <a:stretch>
            <a:fillRect/>
          </a:stretch>
        </p:blipFill>
        <p:spPr>
          <a:xfrm>
            <a:off x="2043112" y="1085850"/>
            <a:ext cx="8105775" cy="4686300"/>
          </a:xfrm>
          <a:prstGeom prst="rect">
            <a:avLst/>
          </a:prstGeom>
        </p:spPr>
      </p:pic>
    </p:spTree>
    <p:extLst>
      <p:ext uri="{BB962C8B-B14F-4D97-AF65-F5344CB8AC3E}">
        <p14:creationId xmlns:p14="http://schemas.microsoft.com/office/powerpoint/2010/main" val="3804944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15F66B-414C-6320-B1D7-1D039CBEB074}"/>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CB989BF7-A8D3-7ACA-D18A-68A8676AE247}"/>
              </a:ext>
            </a:extLst>
          </p:cNvPr>
          <p:cNvSpPr>
            <a:spLocks noGrp="1"/>
          </p:cNvSpPr>
          <p:nvPr>
            <p:ph type="sldNum" sz="quarter" idx="11"/>
          </p:nvPr>
        </p:nvSpPr>
        <p:spPr/>
        <p:txBody>
          <a:bodyPr/>
          <a:lstStyle/>
          <a:p>
            <a:pPr>
              <a:defRPr/>
            </a:pPr>
            <a:fld id="{D1AD3536-327C-4937-83AF-A64971CFA6D9}" type="slidenum">
              <a:rPr lang="en-US" smtClean="0"/>
              <a:pPr>
                <a:defRPr/>
              </a:pPr>
              <a:t>45</a:t>
            </a:fld>
            <a:endParaRPr lang="en-US"/>
          </a:p>
        </p:txBody>
      </p:sp>
      <p:sp>
        <p:nvSpPr>
          <p:cNvPr id="4" name="Footer Placeholder 3">
            <a:extLst>
              <a:ext uri="{FF2B5EF4-FFF2-40B4-BE49-F238E27FC236}">
                <a16:creationId xmlns:a16="http://schemas.microsoft.com/office/drawing/2014/main" id="{3C9B36B7-9FB9-15A9-1444-064CB222AE96}"/>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9408F4C-24A5-FFA1-26B1-9C7AC043D871}"/>
              </a:ext>
            </a:extLst>
          </p:cNvPr>
          <p:cNvPicPr>
            <a:picLocks noChangeAspect="1"/>
          </p:cNvPicPr>
          <p:nvPr/>
        </p:nvPicPr>
        <p:blipFill>
          <a:blip r:embed="rId2"/>
          <a:stretch>
            <a:fillRect/>
          </a:stretch>
        </p:blipFill>
        <p:spPr>
          <a:xfrm>
            <a:off x="966594" y="1905000"/>
            <a:ext cx="10258811" cy="3543300"/>
          </a:xfrm>
          <a:prstGeom prst="rect">
            <a:avLst/>
          </a:prstGeom>
        </p:spPr>
      </p:pic>
    </p:spTree>
    <p:extLst>
      <p:ext uri="{BB962C8B-B14F-4D97-AF65-F5344CB8AC3E}">
        <p14:creationId xmlns:p14="http://schemas.microsoft.com/office/powerpoint/2010/main" val="3646271304"/>
      </p:ext>
    </p:extLst>
  </p:cSld>
  <p:clrMapOvr>
    <a:masterClrMapping/>
  </p:clrMapOvr>
</p:sld>
</file>

<file path=ppt/theme/theme1.xml><?xml version="1.0" encoding="utf-8"?>
<a:theme xmlns:a="http://schemas.openxmlformats.org/drawingml/2006/main" name="Vicoston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u thuyet trình cong ty Vicostone" id="{123813FF-2186-4307-88AB-E52DC4E764C5}" vid="{7A2E833A-1ED4-4E30-9CFE-D6481D7B3B5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2034</Words>
  <Application>Microsoft Office PowerPoint</Application>
  <PresentationFormat>Widescreen</PresentationFormat>
  <Paragraphs>244</Paragraphs>
  <Slides>45</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45</vt:i4>
      </vt:variant>
    </vt:vector>
  </HeadingPairs>
  <TitlesOfParts>
    <vt:vector size="59" baseType="lpstr">
      <vt:lpstr>Arial</vt:lpstr>
      <vt:lpstr>Calibri</vt:lpstr>
      <vt:lpstr>Calibri Light</vt:lpstr>
      <vt:lpstr>Courier New</vt:lpstr>
      <vt:lpstr>MyriadPro-Black</vt:lpstr>
      <vt:lpstr>MyriadPro-Bold</vt:lpstr>
      <vt:lpstr>MyriadPro-BoldSemiCn</vt:lpstr>
      <vt:lpstr>MyriadPro-SemiboldSemiCn</vt:lpstr>
      <vt:lpstr>MyriadPro-SemiCn</vt:lpstr>
      <vt:lpstr>NewCaledoniaLTStd</vt:lpstr>
      <vt:lpstr>NewCaledoniaLTStd-It</vt:lpstr>
      <vt:lpstr>Times New Roman</vt:lpstr>
      <vt:lpstr>Wingdings</vt:lpstr>
      <vt:lpstr>Vicostone Template</vt:lpstr>
      <vt:lpstr>Learning Objectives</vt:lpstr>
      <vt:lpstr>National Economics University Faculty of Data Science &amp; Artificial Intelligence</vt:lpstr>
      <vt:lpstr>Learning Objectives</vt:lpstr>
      <vt:lpstr>5-1 The Extended Entity Relationship Model</vt:lpstr>
      <vt:lpstr>PowerPoint Presentation</vt:lpstr>
      <vt:lpstr>5-1 The Extended Entity Relationship Model</vt:lpstr>
      <vt:lpstr>5-1a Entity Supertypes and Subtypes</vt:lpstr>
      <vt:lpstr>5-1b Specialization Hierarchy</vt:lpstr>
      <vt:lpstr>PowerPoint Presentation</vt:lpstr>
      <vt:lpstr>5-1c Inheritance</vt:lpstr>
      <vt:lpstr>PowerPoint Presentation</vt:lpstr>
      <vt:lpstr>PowerPoint Presentation</vt:lpstr>
      <vt:lpstr>5-1d Subtype Discriminator</vt:lpstr>
      <vt:lpstr>5-1e Disjoint and Overlapping Constraints</vt:lpstr>
      <vt:lpstr>PowerPoint Presentation</vt:lpstr>
      <vt:lpstr>PowerPoint Presentation</vt:lpstr>
      <vt:lpstr>5-1f Completeness Constraint</vt:lpstr>
      <vt:lpstr>PowerPoint Presentation</vt:lpstr>
      <vt:lpstr>5-1g Specialization and Generalization</vt:lpstr>
      <vt:lpstr>5-2 Entity Clustering</vt:lpstr>
      <vt:lpstr>PowerPoint Presentation</vt:lpstr>
      <vt:lpstr>PowerPoint Presentation</vt:lpstr>
      <vt:lpstr>5-3 Entity Integrity: Selecting Primary Keys</vt:lpstr>
      <vt:lpstr>5-3a Natural Keys and Primary Keys</vt:lpstr>
      <vt:lpstr>5-3b Primary Key Guidelines</vt:lpstr>
      <vt:lpstr>5-3c When to Use Composite Primary Keys</vt:lpstr>
      <vt:lpstr>PowerPoint Presentation</vt:lpstr>
      <vt:lpstr>5-3d When to Use Surrogate Primary Keys</vt:lpstr>
      <vt:lpstr>5-4 Design Cases: Learning Flexible Database Design</vt:lpstr>
      <vt:lpstr>5-4a Design Case 1: Implementing 1:1 Relationships</vt:lpstr>
      <vt:lpstr>PowerPoint Presentation</vt:lpstr>
      <vt:lpstr>PowerPoint Presentation</vt:lpstr>
      <vt:lpstr>5-4b Design Case 2: Maintaining History of Time-Variant Data</vt:lpstr>
      <vt:lpstr>PowerPoint Presentation</vt:lpstr>
      <vt:lpstr>PowerPoint Presentation</vt:lpstr>
      <vt:lpstr>PowerPoint Presentation</vt:lpstr>
      <vt:lpstr>5-4c Design Case 3: Fan Traps</vt:lpstr>
      <vt:lpstr>PowerPoint Presentation</vt:lpstr>
      <vt:lpstr>PowerPoint Presentation</vt:lpstr>
      <vt:lpstr>5-4d Design Case 4: Redundant Relationships</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
  <dc:creator/>
  <cp:lastModifiedBy/>
  <cp:revision>462</cp:revision>
  <dcterms:created xsi:type="dcterms:W3CDTF">2009-09-28T17:47:54Z</dcterms:created>
  <dcterms:modified xsi:type="dcterms:W3CDTF">2024-12-19T10:55:52Z</dcterms:modified>
</cp:coreProperties>
</file>