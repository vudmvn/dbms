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85"/>
  </p:notesMasterIdLst>
  <p:handoutMasterIdLst>
    <p:handoutMasterId r:id="rId86"/>
  </p:handoutMasterIdLst>
  <p:sldIdLst>
    <p:sldId id="349" r:id="rId2"/>
    <p:sldId id="384" r:id="rId3"/>
    <p:sldId id="257" r:id="rId4"/>
    <p:sldId id="386" r:id="rId5"/>
    <p:sldId id="387" r:id="rId6"/>
    <p:sldId id="408" r:id="rId7"/>
    <p:sldId id="388" r:id="rId8"/>
    <p:sldId id="389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409" r:id="rId19"/>
    <p:sldId id="410" r:id="rId20"/>
    <p:sldId id="411" r:id="rId21"/>
    <p:sldId id="412" r:id="rId22"/>
    <p:sldId id="413" r:id="rId23"/>
    <p:sldId id="414" r:id="rId24"/>
    <p:sldId id="415" r:id="rId25"/>
    <p:sldId id="416" r:id="rId26"/>
    <p:sldId id="418" r:id="rId27"/>
    <p:sldId id="417" r:id="rId28"/>
    <p:sldId id="419" r:id="rId29"/>
    <p:sldId id="421" r:id="rId30"/>
    <p:sldId id="420" r:id="rId31"/>
    <p:sldId id="422" r:id="rId32"/>
    <p:sldId id="399" r:id="rId33"/>
    <p:sldId id="423" r:id="rId34"/>
    <p:sldId id="424" r:id="rId35"/>
    <p:sldId id="425" r:id="rId36"/>
    <p:sldId id="426" r:id="rId37"/>
    <p:sldId id="427" r:id="rId38"/>
    <p:sldId id="428" r:id="rId39"/>
    <p:sldId id="429" r:id="rId40"/>
    <p:sldId id="430" r:id="rId41"/>
    <p:sldId id="431" r:id="rId42"/>
    <p:sldId id="432" r:id="rId43"/>
    <p:sldId id="401" r:id="rId44"/>
    <p:sldId id="433" r:id="rId45"/>
    <p:sldId id="434" r:id="rId46"/>
    <p:sldId id="402" r:id="rId47"/>
    <p:sldId id="403" r:id="rId48"/>
    <p:sldId id="404" r:id="rId49"/>
    <p:sldId id="405" r:id="rId50"/>
    <p:sldId id="435" r:id="rId51"/>
    <p:sldId id="436" r:id="rId52"/>
    <p:sldId id="437" r:id="rId53"/>
    <p:sldId id="438" r:id="rId54"/>
    <p:sldId id="439" r:id="rId55"/>
    <p:sldId id="440" r:id="rId56"/>
    <p:sldId id="441" r:id="rId57"/>
    <p:sldId id="442" r:id="rId58"/>
    <p:sldId id="443" r:id="rId59"/>
    <p:sldId id="444" r:id="rId60"/>
    <p:sldId id="445" r:id="rId61"/>
    <p:sldId id="446" r:id="rId62"/>
    <p:sldId id="447" r:id="rId63"/>
    <p:sldId id="448" r:id="rId64"/>
    <p:sldId id="449" r:id="rId65"/>
    <p:sldId id="450" r:id="rId66"/>
    <p:sldId id="452" r:id="rId67"/>
    <p:sldId id="453" r:id="rId68"/>
    <p:sldId id="451" r:id="rId69"/>
    <p:sldId id="406" r:id="rId70"/>
    <p:sldId id="455" r:id="rId71"/>
    <p:sldId id="456" r:id="rId72"/>
    <p:sldId id="407" r:id="rId73"/>
    <p:sldId id="457" r:id="rId74"/>
    <p:sldId id="458" r:id="rId75"/>
    <p:sldId id="459" r:id="rId76"/>
    <p:sldId id="460" r:id="rId77"/>
    <p:sldId id="464" r:id="rId78"/>
    <p:sldId id="465" r:id="rId79"/>
    <p:sldId id="461" r:id="rId80"/>
    <p:sldId id="463" r:id="rId81"/>
    <p:sldId id="462" r:id="rId82"/>
    <p:sldId id="466" r:id="rId83"/>
    <p:sldId id="467" r:id="rId84"/>
  </p:sldIdLst>
  <p:sldSz cx="12192000" cy="6858000"/>
  <p:notesSz cx="7102475" cy="9388475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FF6600"/>
      </a:buClr>
      <a:buSzPct val="75000"/>
      <a:buFont typeface="Monotype Sorts" charset="2"/>
      <a:buChar char="l"/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96D549CF-6DFD-CFDB-4965-58194CF4F2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8E19A229-EAF8-2AAF-E6EC-E0366ADCBC2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2" name="Rectangle 4">
            <a:extLst>
              <a:ext uri="{FF2B5EF4-FFF2-40B4-BE49-F238E27FC236}">
                <a16:creationId xmlns:a16="http://schemas.microsoft.com/office/drawing/2014/main" id="{F0195859-3B9C-EA5A-DAC2-F772721978B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3" name="Rectangle 5">
            <a:extLst>
              <a:ext uri="{FF2B5EF4-FFF2-40B4-BE49-F238E27FC236}">
                <a16:creationId xmlns:a16="http://schemas.microsoft.com/office/drawing/2014/main" id="{B8E62657-3ACA-464B-2D2E-4F1C967F22F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1AA94293-E3C3-4E54-B9F5-BDD568EB9D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7B0EA7D-2BA2-8120-5ABC-58CDE72589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C10E525-0B9B-E215-412D-1BFB60849A0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D0C47E53-5BA5-1AAE-751E-1F2FCB50DCD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23863" y="704850"/>
            <a:ext cx="6254750" cy="3519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C9F7E04-E094-DF99-87DE-5755394A5A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459288"/>
            <a:ext cx="5683250" cy="4224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B63EB7C0-6B53-7D30-2E9B-C6D99EA8D4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defTabSz="942975" eaLnBrk="1" hangingPunct="1">
              <a:spcBef>
                <a:spcPct val="0"/>
              </a:spcBef>
              <a:buClrTx/>
              <a:buSzTx/>
              <a:buFontTx/>
              <a:buNone/>
              <a:defRPr sz="1200" dirty="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93E52514-5308-A2CB-4759-555ACCF988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29" tIns="47114" rIns="94229" bIns="47114" numCol="1" anchor="b" anchorCtr="0" compatLnSpc="1">
            <a:prstTxWarp prst="textNoShape">
              <a:avLst/>
            </a:prstTxWarp>
          </a:bodyPr>
          <a:lstStyle>
            <a:lvl1pPr algn="r" defTabSz="942975" eaLnBrk="1" hangingPunct="1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8A144A25-5569-4442-A77C-2A296DF0D2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BD0B5F7-2B7A-DA2F-7070-6EF7799975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35C4C7B-183C-403B-84D5-321BC85875A1}" type="slidenum">
              <a:rPr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DF4AD010-AA0B-CF86-F1F1-8CF3B11AFC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BCAB0135-16F3-2242-1C12-4813333113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4991CFF-1925-B2DC-0C79-EFA4CA20EA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42975"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42975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FBE478-A0BF-42B8-A0DC-3DB0C1A712F1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D89EA09E-FDE6-9DE3-FDF9-7CA57728B9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48AFACFC-483F-60C7-7B04-AE823E11C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964BB1-7357-BCBC-C333-4CA5E7116E2E}"/>
              </a:ext>
            </a:extLst>
          </p:cNvPr>
          <p:cNvSpPr/>
          <p:nvPr userDrawn="1"/>
        </p:nvSpPr>
        <p:spPr>
          <a:xfrm>
            <a:off x="0" y="2"/>
            <a:ext cx="12192000" cy="6486525"/>
          </a:xfrm>
          <a:prstGeom prst="rect">
            <a:avLst/>
          </a:prstGeom>
          <a:solidFill>
            <a:srgbClr val="22377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41219" y="3243266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EFE6BCEB-9D04-0A31-13FD-E54A7886E9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38915"/>
            <a:ext cx="2743200" cy="365125"/>
          </a:xfrm>
        </p:spPr>
        <p:txBody>
          <a:bodyPr/>
          <a:lstStyle>
            <a:lvl1pPr>
              <a:defRPr sz="1000" smtClean="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0AB240B4-1A2E-4C00-9336-DA12AFA09EBD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1C2B440-578D-B562-B0A6-B54BDB743A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48800" y="6538915"/>
            <a:ext cx="2743200" cy="365125"/>
          </a:xfrm>
        </p:spPr>
        <p:txBody>
          <a:bodyPr/>
          <a:lstStyle>
            <a:lvl1pPr>
              <a:defRPr sz="1000">
                <a:solidFill>
                  <a:prstClr val="white"/>
                </a:solidFill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fld id="{775A0816-9807-4CA3-A3C5-68577B5C955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BBDFAC-3ABC-7AF1-C80F-B9A80EC5DAE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sz="1000">
                <a:latin typeface="+mn-lt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709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A55295-5DC2-C569-6312-199AFA24EE07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pic>
        <p:nvPicPr>
          <p:cNvPr id="3" name="Picture 4" descr="MFE NEU – Khoa Toán Đại học kinh tế quốc dân">
            <a:extLst>
              <a:ext uri="{FF2B5EF4-FFF2-40B4-BE49-F238E27FC236}">
                <a16:creationId xmlns:a16="http://schemas.microsoft.com/office/drawing/2014/main" id="{CB79D81B-0A4D-CD0E-CF5A-BDF1A29DDC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82252" y="277964"/>
            <a:ext cx="7928429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29624-F3B5-070E-14EF-70CC1B4849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80188"/>
            <a:ext cx="2743200" cy="277812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C4105860-DA06-4136-8ED8-157A1C8FEBE0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685519A-3558-75C9-7D9D-2CD34FE860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412288" y="6623050"/>
            <a:ext cx="2743200" cy="234950"/>
          </a:xfrm>
        </p:spPr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78CD4D-49EF-4866-C3F2-B2A61D010B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247985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98A4D7-51AA-2B15-3D26-501BAE3FD3F8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pic>
        <p:nvPicPr>
          <p:cNvPr id="3" name="Picture 4" descr="MFE NEU – Khoa Toán Đại học kinh tế quốc dân">
            <a:extLst>
              <a:ext uri="{FF2B5EF4-FFF2-40B4-BE49-F238E27FC236}">
                <a16:creationId xmlns:a16="http://schemas.microsoft.com/office/drawing/2014/main" id="{D54CA3DE-1E83-4AFB-79E9-4A8E692D81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87476" y="2949388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508C-232F-8AA0-F1C6-36CFF9ACC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2890"/>
            <a:ext cx="2743200" cy="268287"/>
          </a:xfrm>
        </p:spPr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118D7B-5BE4-D162-C63C-02493336AE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66251" y="6589715"/>
            <a:ext cx="2743200" cy="314325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8007CFB-2610-ACA1-B2EA-E3DDAC766C9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943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58F73B4-3EA4-F35A-3D60-2923D5658ED7}"/>
              </a:ext>
            </a:extLst>
          </p:cNvPr>
          <p:cNvSpPr/>
          <p:nvPr userDrawn="1"/>
        </p:nvSpPr>
        <p:spPr>
          <a:xfrm>
            <a:off x="311261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pic>
        <p:nvPicPr>
          <p:cNvPr id="3" name="Picture 4" descr="MFE NEU – Khoa Toán Đại học kinh tế quốc dân">
            <a:extLst>
              <a:ext uri="{FF2B5EF4-FFF2-40B4-BE49-F238E27FC236}">
                <a16:creationId xmlns:a16="http://schemas.microsoft.com/office/drawing/2014/main" id="{54DECEA9-BFAC-F01E-60B4-9A01859707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0859" y="243492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5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309221" y="1169083"/>
            <a:ext cx="11551617" cy="495413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800"/>
            </a:lvl2pPr>
            <a:lvl3pPr>
              <a:defRPr sz="18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V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778A0-1739-29FF-2284-D0326B623CD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BBEB22E7-5009-4A4A-A166-B272187857D2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C1F769-2EA0-3B74-8A9C-9BD515A3FA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9421813" y="6600825"/>
            <a:ext cx="2743200" cy="274638"/>
          </a:xfrm>
        </p:spPr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B4D491-05E9-53AB-E987-C6383C7B7C83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14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MFE NEU – Khoa Toán Đại học kinh tế quốc dân">
            <a:extLst>
              <a:ext uri="{FF2B5EF4-FFF2-40B4-BE49-F238E27FC236}">
                <a16:creationId xmlns:a16="http://schemas.microsoft.com/office/drawing/2014/main" id="{B7FB5D43-4603-DE81-8776-249FE8F99E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3687" y="2846231"/>
            <a:ext cx="4417452" cy="1460428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150" b="1" baseline="0">
                <a:solidFill>
                  <a:srgbClr val="22377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63687" y="4429523"/>
            <a:ext cx="4417452" cy="7500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350" baseline="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/>
          </p:nvPr>
        </p:nvSpPr>
        <p:spPr>
          <a:xfrm>
            <a:off x="1" y="862153"/>
            <a:ext cx="7096259" cy="5631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1888363-DACF-4CD3-2499-6E28B3D6969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83F9286B-6EB0-415E-9FD7-53754A124BCC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2A37517-8DD7-EEA6-F2E6-49FC8CC73A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871913" y="6604000"/>
            <a:ext cx="4114800" cy="254000"/>
          </a:xfrm>
        </p:spPr>
        <p:txBody>
          <a:bodyPr/>
          <a:lstStyle>
            <a:lvl1pPr defTabSz="257175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06BDF5-0E4B-7D5D-4DE0-26F369F0EB1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4FC3DE7D-4EEA-43B2-9617-70FD3CFD639D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97F7F79-C88E-7534-6D6C-7E21232DD335}"/>
              </a:ext>
            </a:extLst>
          </p:cNvPr>
          <p:cNvSpPr/>
          <p:nvPr userDrawn="1"/>
        </p:nvSpPr>
        <p:spPr>
          <a:xfrm>
            <a:off x="392908" y="235206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pic>
        <p:nvPicPr>
          <p:cNvPr id="5" name="Picture 4" descr="MFE NEU – Khoa Toán Đại học kinh tế quốc dân">
            <a:extLst>
              <a:ext uri="{FF2B5EF4-FFF2-40B4-BE49-F238E27FC236}">
                <a16:creationId xmlns:a16="http://schemas.microsoft.com/office/drawing/2014/main" id="{6187C4AF-BC0A-827B-F0CB-5F0B6BE69DB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392907" y="278800"/>
            <a:ext cx="5813199" cy="457200"/>
          </a:xfrm>
          <a:prstGeom prst="rect">
            <a:avLst/>
          </a:prstGeom>
        </p:spPr>
        <p:txBody>
          <a:bodyPr/>
          <a:lstStyle>
            <a:lvl1pPr>
              <a:defRPr lang="en-VN" sz="1856" b="1" baseline="0" dirty="0">
                <a:solidFill>
                  <a:srgbClr val="223771"/>
                </a:solidFill>
                <a:ea typeface="+mj-e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7E8D8520-2EEF-7DFE-992F-B17199C9D3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z="1000" smtClean="0"/>
            </a:lvl1pPr>
          </a:lstStyle>
          <a:p>
            <a:pPr>
              <a:buFont typeface="Monotype Sorts" charset="2"/>
              <a:buNone/>
              <a:defRPr/>
            </a:pPr>
            <a:fld id="{C1CF96D5-A543-45D5-8992-B94C1177E4C6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6DAE71-5E4C-AD44-94BB-40E3E9BE3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fld id="{B9B03C63-2273-46E4-B7DF-3CCA315B6CB6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74D9259-758C-E063-00D3-B9F2238CDAAB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2586617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MFE NEU – Khoa Toán Đại học kinh tế quốc dân">
            <a:extLst>
              <a:ext uri="{FF2B5EF4-FFF2-40B4-BE49-F238E27FC236}">
                <a16:creationId xmlns:a16="http://schemas.microsoft.com/office/drawing/2014/main" id="{9BAA4C63-7B4E-82F4-553C-3B14BC3A12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13">
            <a:extLst>
              <a:ext uri="{FF2B5EF4-FFF2-40B4-BE49-F238E27FC236}">
                <a16:creationId xmlns:a16="http://schemas.microsoft.com/office/drawing/2014/main" id="{E54F1EF8-213B-FF64-8429-F8F6501B5178}"/>
              </a:ext>
            </a:extLst>
          </p:cNvPr>
          <p:cNvSpPr/>
          <p:nvPr userDrawn="1"/>
        </p:nvSpPr>
        <p:spPr>
          <a:xfrm>
            <a:off x="701900" y="515148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00" y="351789"/>
            <a:ext cx="8061101" cy="92276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88" b="1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901" y="1639781"/>
            <a:ext cx="333670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711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3"/>
          </p:nvPr>
        </p:nvSpPr>
        <p:spPr>
          <a:xfrm>
            <a:off x="8426539" y="1639781"/>
            <a:ext cx="333187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9E9E4F77-455A-34FF-7394-C19D63B430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DF507722-439B-4523-9CE9-B70AFEB2097E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A7C627D-779A-8D83-E2C4-C40DC84F78D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FE967A2B-7DC3-460F-82C1-37366D5A5F1B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E03B860-9F7C-2731-9CAC-7601DE48A514}"/>
              </a:ext>
            </a:extLst>
          </p:cNvPr>
          <p:cNvSpPr>
            <a:spLocks noGrp="1" noChangeArrowheads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3802271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MFE NEU – Khoa Toán Đại học kinh tế quốc dân">
            <a:extLst>
              <a:ext uri="{FF2B5EF4-FFF2-40B4-BE49-F238E27FC236}">
                <a16:creationId xmlns:a16="http://schemas.microsoft.com/office/drawing/2014/main" id="{D31798AE-B162-0E97-9756-EE1871F992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3916733C-FBD8-62DA-599D-9BAE44D83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1387-83EF-1FFD-724E-49A6E970C5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12D8D-EA8D-1B75-F994-BA3986DCE52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186073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MFE NEU – Khoa Toán Đại học kinh tế quốc dân">
            <a:extLst>
              <a:ext uri="{FF2B5EF4-FFF2-40B4-BE49-F238E27FC236}">
                <a16:creationId xmlns:a16="http://schemas.microsoft.com/office/drawing/2014/main" id="{688C9D86-E730-E613-2489-76191531AF4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741484" y="785430"/>
            <a:ext cx="8061101" cy="55328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6" b="1" baseline="0">
                <a:solidFill>
                  <a:srgbClr val="22377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5DDBC1F-BF9C-7B51-59FB-F19B6984E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239B916D-9C2D-42AB-AE14-E538FDD0069B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C17964-6658-65D0-C4E0-286261C6CE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83511F7-1E66-04C0-64CE-2CA8940B2D7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</p:spTree>
    <p:extLst>
      <p:ext uri="{BB962C8B-B14F-4D97-AF65-F5344CB8AC3E}">
        <p14:creationId xmlns:p14="http://schemas.microsoft.com/office/powerpoint/2010/main" val="1313785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MFE NEU – Khoa Toán Đại học kinh tế quốc dân">
            <a:extLst>
              <a:ext uri="{FF2B5EF4-FFF2-40B4-BE49-F238E27FC236}">
                <a16:creationId xmlns:a16="http://schemas.microsoft.com/office/drawing/2014/main" id="{E3DD5CD5-03D4-60F7-A7D2-418ECFBB3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B79923C-0D24-F53B-D9C9-FA068E03CBFF}"/>
              </a:ext>
            </a:extLst>
          </p:cNvPr>
          <p:cNvSpPr/>
          <p:nvPr userDrawn="1"/>
        </p:nvSpPr>
        <p:spPr>
          <a:xfrm>
            <a:off x="851141" y="711200"/>
            <a:ext cx="1750219" cy="596044"/>
          </a:xfrm>
          <a:custGeom>
            <a:avLst/>
            <a:gdLst>
              <a:gd name="connsiteX0" fmla="*/ 471488 w 1750219"/>
              <a:gd name="connsiteY0" fmla="*/ 0 h 721518"/>
              <a:gd name="connsiteX1" fmla="*/ 0 w 1750219"/>
              <a:gd name="connsiteY1" fmla="*/ 0 h 721518"/>
              <a:gd name="connsiteX2" fmla="*/ 0 w 1750219"/>
              <a:gd name="connsiteY2" fmla="*/ 721518 h 721518"/>
              <a:gd name="connsiteX3" fmla="*/ 1750219 w 1750219"/>
              <a:gd name="connsiteY3" fmla="*/ 721518 h 72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0219" h="721518">
                <a:moveTo>
                  <a:pt x="471488" y="0"/>
                </a:moveTo>
                <a:lnTo>
                  <a:pt x="0" y="0"/>
                </a:lnTo>
                <a:lnTo>
                  <a:pt x="0" y="721518"/>
                </a:lnTo>
                <a:lnTo>
                  <a:pt x="1750219" y="721518"/>
                </a:lnTo>
              </a:path>
            </a:pathLst>
          </a:custGeom>
          <a:noFill/>
          <a:ln w="57150" cmpd="thickThin">
            <a:solidFill>
              <a:srgbClr val="223771"/>
            </a:solidFill>
          </a:ln>
          <a:scene3d>
            <a:camera prst="orthographicFront"/>
            <a:lightRig rig="threePt" dir="t"/>
          </a:scene3d>
          <a:sp3d>
            <a:bevelB/>
            <a:contourClr>
              <a:srgbClr val="00000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25717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285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q"/>
              <a:defRPr sz="2400"/>
            </a:lvl1pPr>
            <a:lvl2pPr marL="385763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Ø"/>
              <a:defRPr sz="2000"/>
            </a:lvl2pPr>
            <a:lvl3pPr marL="64293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ü"/>
              <a:defRPr sz="2000"/>
            </a:lvl3pPr>
            <a:lvl4pPr marL="900113" indent="-128588">
              <a:lnSpc>
                <a:spcPct val="150000"/>
              </a:lnSpc>
              <a:buClr>
                <a:schemeClr val="accent2"/>
              </a:buClr>
              <a:buFont typeface="Courier New" panose="02070309020205020404" pitchFamily="49" charset="0"/>
              <a:buChar char="o"/>
              <a:defRPr sz="1600"/>
            </a:lvl4pPr>
            <a:lvl5pPr marL="1157288" indent="-128588">
              <a:lnSpc>
                <a:spcPct val="15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3AFBE-2234-186F-5F0C-22D156916CE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64D1F0-47D7-5B21-B6DA-1122FAFAAB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AD08CD51-62C0-58FD-6E1D-88EF84F0130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708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MFE NEU – Khoa Toán Đại học kinh tế quốc dân">
            <a:extLst>
              <a:ext uri="{FF2B5EF4-FFF2-40B4-BE49-F238E27FC236}">
                <a16:creationId xmlns:a16="http://schemas.microsoft.com/office/drawing/2014/main" id="{674A9898-7971-B5A8-417E-1AFD68C3E8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0850" y="0"/>
            <a:ext cx="2851151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661F23F4-6AD8-94D5-2C85-4CB1F4DB441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 defTabSz="685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buFont typeface="Monotype Sorts" charset="2"/>
              <a:buNone/>
              <a:defRPr/>
            </a:pPr>
            <a:fld id="{B0510DBD-B54C-4BB2-9910-15204BA8081C}" type="slidenum">
              <a:rPr lang="en-US" alt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5" name="Footer Placeholder 11">
            <a:extLst>
              <a:ext uri="{FF2B5EF4-FFF2-40B4-BE49-F238E27FC236}">
                <a16:creationId xmlns:a16="http://schemas.microsoft.com/office/drawing/2014/main" id="{928E7F04-0F8E-0741-CB89-B9A5C1DC84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 typeface="Monotype Sorts" charset="2"/>
              <a:buNone/>
              <a:defRPr/>
            </a:pPr>
            <a:r>
              <a:rPr lang="en-US" dirty="0"/>
              <a:t>Data Structures and Algorithms in Python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00BDC9-ED95-ECCB-3AA2-7C715A291A5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buFont typeface="Monotype Sorts" charset="2"/>
              <a:buNone/>
              <a:defRPr/>
            </a:pPr>
            <a:fld id="{3F34B5DD-F4AF-4694-A8F2-2077CF15276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08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6">
            <a:extLst>
              <a:ext uri="{FF2B5EF4-FFF2-40B4-BE49-F238E27FC236}">
                <a16:creationId xmlns:a16="http://schemas.microsoft.com/office/drawing/2014/main" id="{95787B45-CCD1-2665-35CA-26FF8EFF88D7}"/>
              </a:ext>
            </a:extLst>
          </p:cNvPr>
          <p:cNvGrpSpPr>
            <a:grpSpLocks/>
          </p:cNvGrpSpPr>
          <p:nvPr/>
        </p:nvGrpSpPr>
        <p:grpSpPr bwMode="auto">
          <a:xfrm>
            <a:off x="0" y="6494463"/>
            <a:ext cx="12192000" cy="373062"/>
            <a:chOff x="0" y="1661375"/>
            <a:chExt cx="12192000" cy="3730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0A8C841-F6D0-23B2-733A-1CD90B3F4DAD}"/>
                </a:ext>
              </a:extLst>
            </p:cNvPr>
            <p:cNvSpPr/>
            <p:nvPr/>
          </p:nvSpPr>
          <p:spPr>
            <a:xfrm>
              <a:off x="0" y="1661375"/>
              <a:ext cx="12192000" cy="109546"/>
            </a:xfrm>
            <a:prstGeom prst="rect">
              <a:avLst/>
            </a:prstGeom>
            <a:solidFill>
              <a:srgbClr val="F26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>
                <a:solidFill>
                  <a:prstClr val="white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0B988D-9418-5175-B8F1-38CA646ADBA2}"/>
                </a:ext>
              </a:extLst>
            </p:cNvPr>
            <p:cNvSpPr/>
            <p:nvPr/>
          </p:nvSpPr>
          <p:spPr>
            <a:xfrm>
              <a:off x="0" y="1759808"/>
              <a:ext cx="12192000" cy="274658"/>
            </a:xfrm>
            <a:prstGeom prst="rect">
              <a:avLst/>
            </a:prstGeom>
            <a:solidFill>
              <a:srgbClr val="2237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257175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B3991-06E6-1D64-C030-E5657676D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257175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B77A7909-E221-4E66-A5EF-13497EA60DDF}" type="slidenum">
              <a:rPr lang="en-US" smtClean="0"/>
              <a:pPr>
                <a:buFont typeface="Monotype Sorts" charset="2"/>
                <a:buNone/>
                <a:defRPr/>
              </a:pPr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57D17-CBC3-C51E-EB1C-7963F0F1D1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600827"/>
            <a:ext cx="2743200" cy="257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257175" eaLnBrk="1" fontAlgn="auto" hangingPunct="1">
              <a:spcBef>
                <a:spcPts val="0"/>
              </a:spcBef>
              <a:spcAft>
                <a:spcPts val="0"/>
              </a:spcAft>
              <a:defRPr sz="1000" smtClean="0">
                <a:solidFill>
                  <a:prstClr val="white"/>
                </a:solidFill>
                <a:latin typeface="Calibri" panose="020F0502020204030204"/>
                <a:ea typeface="+mn-ea"/>
              </a:defRPr>
            </a:lvl1pPr>
          </a:lstStyle>
          <a:p>
            <a:pPr>
              <a:buFont typeface="Monotype Sorts" charset="2"/>
              <a:buNone/>
              <a:defRPr/>
            </a:pPr>
            <a:fld id="{D956F7ED-D063-4ECE-9B57-E455597CA49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B3DE4959-DECB-5DE9-5280-05B3FE6EB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810CF440-6E0B-2021-0C2C-5CE6B0FDCE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CCD044D3-EBD5-9CF6-2CD8-89513494DC6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871914" y="6604000"/>
            <a:ext cx="4967287" cy="254000"/>
          </a:xfrm>
          <a:prstGeom prst="rect">
            <a:avLst/>
          </a:prstGeom>
          <a:ln/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20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/>
  <p:txStyles>
    <p:titleStyle>
      <a:lvl1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defTabSz="51435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3429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6858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0287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371600" algn="l" defTabSz="514350" rtl="0" fontAlgn="base">
        <a:lnSpc>
          <a:spcPct val="90000"/>
        </a:lnSpc>
        <a:spcBef>
          <a:spcPct val="0"/>
        </a:spcBef>
        <a:spcAft>
          <a:spcPct val="0"/>
        </a:spcAft>
        <a:defRPr sz="2475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28588" indent="-128588" algn="l" defTabSz="51435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6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3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113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88" indent="-128588" algn="l" defTabSz="514350" rtl="0" eaLnBrk="0" fontAlgn="base" hangingPunct="0">
        <a:lnSpc>
          <a:spcPct val="90000"/>
        </a:lnSpc>
        <a:spcBef>
          <a:spcPts val="281"/>
        </a:spcBef>
        <a:spcAft>
          <a:spcPct val="0"/>
        </a:spcAft>
        <a:buFont typeface="Arial" panose="020B0604020202020204" pitchFamily="34" charset="0"/>
        <a:buChar char="•"/>
        <a:defRPr sz="97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8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8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026">
            <a:extLst>
              <a:ext uri="{FF2B5EF4-FFF2-40B4-BE49-F238E27FC236}">
                <a16:creationId xmlns:a16="http://schemas.microsoft.com/office/drawing/2014/main" id="{92E5D540-A172-47D4-6805-9B492CBB4B8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2667000" y="1447800"/>
            <a:ext cx="8001000" cy="2209800"/>
          </a:xfrm>
        </p:spPr>
        <p:txBody>
          <a:bodyPr/>
          <a:lstStyle/>
          <a:p>
            <a:pPr eaLnBrk="1" hangingPunct="1"/>
            <a:r>
              <a:rPr lang="en-US" altLang="en-US" sz="4000" b="1"/>
              <a:t>Database Systems: </a:t>
            </a:r>
            <a:br>
              <a:rPr lang="en-US" altLang="en-US" sz="4000" b="1"/>
            </a:br>
            <a:r>
              <a:rPr lang="en-US" altLang="en-US" sz="4000" b="1"/>
              <a:t>Design, Implementation, and Management</a:t>
            </a:r>
            <a:br>
              <a:rPr lang="en-US" altLang="en-US" sz="4000" b="1"/>
            </a:br>
            <a:r>
              <a:rPr lang="en-US" altLang="en-US" sz="4000" b="1"/>
              <a:t>14</a:t>
            </a:r>
            <a:r>
              <a:rPr lang="en-US" altLang="en-US" sz="2800" b="1"/>
              <a:t>th Edition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248535E3-6B0B-E1D8-9717-427E36E84EA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2740025" y="4524375"/>
            <a:ext cx="7927975" cy="146208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Chapter 1</a:t>
            </a:r>
          </a:p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3400" i="1"/>
              <a:t>Database Systems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48246-CEB8-0971-5EF9-56854AD4362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863D60C-B233-4073-9E4F-853A6F50270F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15365" name="Footer Placeholder 5">
            <a:extLst>
              <a:ext uri="{FF2B5EF4-FFF2-40B4-BE49-F238E27FC236}">
                <a16:creationId xmlns:a16="http://schemas.microsoft.com/office/drawing/2014/main" id="{AAF4E8F2-2222-1382-2DBB-5EDCE12E239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>
                <a:solidFill>
                  <a:schemeClr val="bg1"/>
                </a:solidFill>
              </a:rPr>
              <a:t>Data Structures and Algorithms in Python</a:t>
            </a:r>
            <a:endParaRPr lang="en-US" altLang="en-US" sz="1000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A4F77A-56CD-A304-C081-F43792560C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4FF61F-2683-08B0-9745-3DDA87C76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995"/>
            <a:ext cx="12192000" cy="6654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20FFC1CF-C6D1-C190-5CBD-BA8BD4CDF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04800"/>
            <a:ext cx="10515600" cy="1325563"/>
          </a:xfrm>
        </p:spPr>
        <p:txBody>
          <a:bodyPr/>
          <a:lstStyle/>
          <a:p>
            <a:pPr algn="ctr" eaLnBrk="1" hangingPunct="1"/>
            <a:r>
              <a:rPr lang="en-US" altLang="en-US" dirty="0"/>
              <a:t>National Economics University</a:t>
            </a:r>
            <a:br>
              <a:rPr lang="en-US" altLang="en-US" dirty="0"/>
            </a:br>
            <a:r>
              <a:rPr lang="en-US" altLang="en-US" dirty="0"/>
              <a:t>Faculty of Mathematical Economics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50F7E22-523E-06DC-63AF-3DDDA301838E}"/>
              </a:ext>
            </a:extLst>
          </p:cNvPr>
          <p:cNvSpPr txBox="1">
            <a:spLocks/>
          </p:cNvSpPr>
          <p:nvPr/>
        </p:nvSpPr>
        <p:spPr bwMode="auto">
          <a:xfrm>
            <a:off x="838200" y="1828800"/>
            <a:ext cx="10515600" cy="36576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None/>
              <a:defRPr/>
            </a:pPr>
            <a:r>
              <a:rPr lang="en-US" dirty="0"/>
              <a:t>EP03.TITH1121 - DATA STRUCTURES AND ALGORITHMS: Trees</a:t>
            </a:r>
          </a:p>
          <a:p>
            <a:pPr eaLnBrk="1" hangingPunct="1">
              <a:buNone/>
              <a:defRPr/>
            </a:pPr>
            <a:endParaRPr lang="en-US" dirty="0"/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Instructor: Duc Minh Vu (MFE)</a:t>
            </a:r>
          </a:p>
          <a:p>
            <a:pPr marL="457200" indent="-457200" eaLnBrk="1" hangingPunct="1">
              <a:buFont typeface="Wingdings" panose="05000000000000000000" pitchFamily="2" charset="2"/>
              <a:buChar char="q"/>
              <a:defRPr/>
            </a:pPr>
            <a:r>
              <a:rPr lang="en-US" dirty="0"/>
              <a:t>Email: </a:t>
            </a:r>
            <a:r>
              <a:rPr lang="en-US" dirty="0" err="1"/>
              <a:t>minhvd</a:t>
            </a:r>
            <a:r>
              <a:rPr lang="en-US" dirty="0"/>
              <a:t> [at] neu.edu.vn</a:t>
            </a:r>
            <a:br>
              <a:rPr lang="en-US" dirty="0"/>
            </a:br>
            <a:endParaRPr lang="en-US" dirty="0"/>
          </a:p>
        </p:txBody>
      </p:sp>
      <p:pic>
        <p:nvPicPr>
          <p:cNvPr id="119810" name="Picture 2">
            <a:extLst>
              <a:ext uri="{FF2B5EF4-FFF2-40B4-BE49-F238E27FC236}">
                <a16:creationId xmlns:a16="http://schemas.microsoft.com/office/drawing/2014/main" id="{5E8352BB-95F8-731F-2EE2-CDB382ECF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72281"/>
            <a:ext cx="9906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FF2E9559-A610-6BCA-EEBA-A8DDB5882BF8}"/>
              </a:ext>
            </a:extLst>
          </p:cNvPr>
          <p:cNvSpPr txBox="1">
            <a:spLocks/>
          </p:cNvSpPr>
          <p:nvPr/>
        </p:nvSpPr>
        <p:spPr>
          <a:xfrm>
            <a:off x="0" y="6600827"/>
            <a:ext cx="2743200" cy="257175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750" kern="12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>
              <a:defRPr/>
            </a:pPr>
            <a:fld id="{51F7BAB8-80DB-4E62-842E-B5FE49FBC773}" type="datetime1">
              <a:rPr lang="en-US" sz="1000" smtClean="0">
                <a:latin typeface="+mn-lt"/>
              </a:rPr>
              <a:pPr>
                <a:defRPr/>
              </a:pPr>
              <a:t>3/13/2024</a:t>
            </a:fld>
            <a:endParaRPr lang="en-US" sz="1000" dirty="0">
              <a:latin typeface="+mn-lt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296C59F-53C6-1B43-72EC-A1FCFF66E337}"/>
              </a:ext>
            </a:extLst>
          </p:cNvPr>
          <p:cNvSpPr txBox="1">
            <a:spLocks/>
          </p:cNvSpPr>
          <p:nvPr/>
        </p:nvSpPr>
        <p:spPr>
          <a:xfrm>
            <a:off x="3871914" y="6604000"/>
            <a:ext cx="4967287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defTabSz="257175" rtl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675" kern="120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ctr">
              <a:buFont typeface="Monotype Sorts" charset="2"/>
              <a:buNone/>
              <a:defRPr/>
            </a:pPr>
            <a:r>
              <a:rPr lang="en-US" sz="1000" dirty="0">
                <a:latin typeface="+mn-lt"/>
              </a:rPr>
              <a:t>Data Structures and Algorithms in Python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6ECC19A-CE8F-18B3-D359-9CCECB6EABCC}"/>
              </a:ext>
            </a:extLst>
          </p:cNvPr>
          <p:cNvSpPr txBox="1">
            <a:spLocks/>
          </p:cNvSpPr>
          <p:nvPr/>
        </p:nvSpPr>
        <p:spPr>
          <a:xfrm>
            <a:off x="9448800" y="6600825"/>
            <a:ext cx="27432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l" defTabSz="257175" rtl="0" eaLnBrk="1" fontAlgn="auto" hangingPunct="1"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675" kern="1200" smtClean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75000"/>
              <a:buFont typeface="Monotype Sorts" charset="2"/>
              <a:buChar char="l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algn="r">
              <a:defRPr/>
            </a:pPr>
            <a:fld id="{34A84676-C444-4AC5-8B4E-405A7C81C0FB}" type="slidenum">
              <a:rPr lang="en-US" altLang="en-US" sz="1000" smtClean="0">
                <a:latin typeface="+mn-lt"/>
              </a:rPr>
              <a:pPr algn="r">
                <a:defRPr/>
              </a:pPr>
              <a:t>2</a:t>
            </a:fld>
            <a:endParaRPr lang="en-US" altLang="en-US" sz="100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FB2FAE43-6016-F4A1-0F7F-F81955AA5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Learning Objectives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D864084F-6DEF-3D43-730D-5A6F7F7037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 tree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various types of tree traversals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Recognize three common applications where it is appropriate to use a tree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 binary search tree and the operations on it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Recognize the three common applications where it is appropriate to use a binary search tree</a:t>
            </a:r>
          </a:p>
          <a:p>
            <a:pPr marL="457200" indent="-457200">
              <a:buAutoNum type="arabicPeriod"/>
            </a:pPr>
            <a:r>
              <a:rPr lang="en-US" b="0" i="0" dirty="0">
                <a:effectLst/>
                <a:latin typeface="NewsGothicStd"/>
              </a:rPr>
              <a:t>Describe the features of an expression tree and the operations on it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7C4DE-CC03-B7D4-1ECF-F374CDF3F52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fld id="{AABE9123-2607-4938-9511-9CCBFBB1BFEF}" type="datetime1">
              <a:rPr lang="en-US" smtClean="0"/>
              <a:t>3/13/2024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B50547-D408-5F4B-F3A4-A9C3C269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ED99F-0129-AEE9-074F-E711FBCBBA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A84676-C444-4AC5-8B4E-405A7C81C0F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Translating infix expressions to postfix form and evaluating postfix expressions. </a:t>
            </a:r>
          </a:p>
          <a:p>
            <a:r>
              <a:rPr lang="en-US" sz="2000" dirty="0"/>
              <a:t>CPU access—Processes are queued for access to a shared CPU.</a:t>
            </a:r>
          </a:p>
          <a:p>
            <a:r>
              <a:rPr lang="en-US" sz="2000" dirty="0"/>
              <a:t>Disk access—Processes are queued for access to a shared secondary storage device.</a:t>
            </a:r>
          </a:p>
          <a:p>
            <a:r>
              <a:rPr lang="en-US" sz="2000" dirty="0"/>
              <a:t>Printer access—Print jobs are queued for access to a shared laser printer.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43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9EF1-E773-49B7-FA76-BD0FF686A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BA453-EEC6-C52D-402F-5AE37DD3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4526D-43A7-3D58-0E7E-63D6D33F57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AAC88-3033-E4CB-91C2-C9D0FEEAC5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7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A92E4-0677-F4A8-95E1-7D5BDB18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C87473-B3C2-2143-93BB-8F808C3C48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BD3B5-BDE8-5F10-4DD9-A5B14E384E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9B7338-D070-9E85-AFED-00FD63D3E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64" y="0"/>
            <a:ext cx="10078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03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F07F5-BE87-3A58-0DA0-C7992A90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overview of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2DCF4-0A63-2C24-9488-66721CD99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linear data structures, all items except for the first have a distinct predecessor, and all items except the last have a distinct successor.</a:t>
            </a:r>
          </a:p>
          <a:p>
            <a:r>
              <a:rPr lang="en-US" dirty="0"/>
              <a:t>In a tree, the ideas of predecessor and successor are replaced with those of </a:t>
            </a:r>
            <a:r>
              <a:rPr lang="en-US" b="1" dirty="0"/>
              <a:t>parent</a:t>
            </a:r>
            <a:r>
              <a:rPr lang="en-US" dirty="0"/>
              <a:t> and </a:t>
            </a:r>
            <a:r>
              <a:rPr lang="en-US" b="1" dirty="0"/>
              <a:t>child</a:t>
            </a:r>
            <a:r>
              <a:rPr lang="en-US" dirty="0"/>
              <a:t>. Trees have two main characteristics:</a:t>
            </a:r>
          </a:p>
          <a:p>
            <a:pPr lvl="1"/>
            <a:r>
              <a:rPr lang="en-US" dirty="0"/>
              <a:t>Each item can have multiple children.</a:t>
            </a:r>
          </a:p>
          <a:p>
            <a:pPr lvl="1"/>
            <a:r>
              <a:rPr lang="en-US" dirty="0"/>
              <a:t>All items, except an item called the </a:t>
            </a:r>
            <a:r>
              <a:rPr lang="en-US" b="1" dirty="0"/>
              <a:t>root</a:t>
            </a:r>
            <a:r>
              <a:rPr lang="en-US" dirty="0"/>
              <a:t>, have exactly one parent. The root has no parent.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F5E796-5D40-139F-5CB9-9ACCF82B3D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B7B0F-BE45-E538-9FB6-03F2FE9F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2A0210C-9CB2-93A1-FEDC-DBC8000D609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140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8694D-EF33-47A6-DA78-7C150AD8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Tree Terminology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358B0-67DE-23B2-2A9C-03E021DC1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4105860-DA06-4136-8ED8-157A1C8FEBE0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0FEE3-E76B-B19C-825E-F0F0986BAC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7DBF5-A7F7-926D-2C01-287BF360BC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48D9D4-C94B-D259-6465-AB0C8BCC8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607"/>
            <a:ext cx="12192000" cy="613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60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3F69-374D-1664-DC81-6678560D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23663C-450E-50AE-0A45-C312B19D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239B916D-9C2D-42AB-AE14-E538FDD0069B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9EBB9-84D7-67FE-CBEA-460B42AB77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BBD6B-AB9B-F4D6-3417-A7660123AC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947837-0B2E-A343-0EB1-5060C6D68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869"/>
            <a:ext cx="12192000" cy="640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0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FB3A1-4E1E-6568-4ACC-27FEBCBEE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9E4103-F01D-0479-ECC0-75173C042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01988D-1A55-B6E8-60CE-CBDC6C2C674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B96686-E886-DE56-8A77-4DCC8E43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1674"/>
            <a:ext cx="12192000" cy="535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44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D9F4F-70F2-E624-F550-4D0F9F056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Trees and Binary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738D-8333-CB18-68D4-C02B97235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351338"/>
          </a:xfrm>
        </p:spPr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The tree shown in Figure 10-1 is sometimes called a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general tree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to distinguish it from a special category called a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binary tree.</a:t>
            </a:r>
            <a:r>
              <a:rPr lang="en-US" dirty="0"/>
              <a:t> </a:t>
            </a:r>
          </a:p>
          <a:p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In a binary tree, each node has at most two children, referred to as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left child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and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right child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AB30E-B339-D8F8-541E-6535C5C95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10C24-D15C-5434-E5BE-448962B5B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EF94A1-3473-9290-8F53-DF8B4181F33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88DB3B-F137-7DFA-A4BA-712CF6AF6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3264574"/>
            <a:ext cx="7977188" cy="320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9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AA4CC-423B-F9FC-D3A9-5EF41AEF2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Definitions of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59F34-EB29-C1A9-1635-7D6F7CF18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42021"/>
                </a:solidFill>
                <a:effectLst/>
                <a:latin typeface="WarnockPro-Bold"/>
              </a:rPr>
              <a:t>General tree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—A general tree is either empty or consists of a finite set of nodes </a:t>
            </a:r>
            <a:r>
              <a:rPr lang="en-US" b="0" i="1" dirty="0">
                <a:solidFill>
                  <a:srgbClr val="242021"/>
                </a:solidFill>
                <a:effectLst/>
                <a:latin typeface="WarnockPro-LightIt"/>
              </a:rPr>
              <a:t>T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. One node </a:t>
            </a:r>
            <a:r>
              <a:rPr lang="en-US" b="0" i="1" dirty="0">
                <a:solidFill>
                  <a:srgbClr val="242021"/>
                </a:solidFill>
                <a:effectLst/>
                <a:latin typeface="WarnockPro-LightIt"/>
              </a:rPr>
              <a:t>r 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is distinguished from all others and is called the root. In addition, the set </a:t>
            </a:r>
            <a:r>
              <a:rPr lang="en-US" b="0" i="1" dirty="0">
                <a:solidFill>
                  <a:srgbClr val="242021"/>
                </a:solidFill>
                <a:effectLst/>
                <a:latin typeface="WarnockPro-LightIt"/>
              </a:rPr>
              <a:t>T 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– {</a:t>
            </a:r>
            <a:r>
              <a:rPr lang="en-US" b="0" i="1" dirty="0">
                <a:solidFill>
                  <a:srgbClr val="242021"/>
                </a:solidFill>
                <a:effectLst/>
                <a:latin typeface="WarnockPro-LightIt"/>
              </a:rPr>
              <a:t>r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} is partitioned into disjointed subsets, each of which is a general tree.</a:t>
            </a:r>
          </a:p>
          <a:p>
            <a:r>
              <a:rPr lang="en-US" b="1" i="0" dirty="0">
                <a:solidFill>
                  <a:srgbClr val="242021"/>
                </a:solidFill>
                <a:effectLst/>
                <a:latin typeface="WarnockPro-Bold"/>
              </a:rPr>
              <a:t>Binary tree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—A binary tree is either empty or consists of a root plus a left subtree and a right subtree, each of which is a binary tree.</a:t>
            </a:r>
            <a:r>
              <a:rPr lang="en-US" sz="3200" dirty="0"/>
              <a:t>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E8FBF-679D-BC38-03D8-F0FAE2A7B0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D880A-145F-D196-E6C2-DB76FD73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E9B200-E890-0EF4-7220-E26C365A1C3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4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557AEC-846F-7BFB-3142-86BEDCE01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79A995-42E1-16BF-FDE8-6CD23E7F9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283A6C-0BF3-F3F9-1BA0-9A39AA458F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7C8F44-1949-E90E-4C3C-2537E3CB3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" y="752475"/>
            <a:ext cx="8058150" cy="5353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A8C8B-5DC6-9D9F-38CC-F84480695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969" y="2887662"/>
            <a:ext cx="5665611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91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51649-3C99-D7B8-FA28-A417CB9F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45286F-E7FB-3799-E1F7-008EB7ED6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9A2A4-53EE-C029-1250-BE5E76537A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DDE8C-F098-F124-CE9C-30AEBF7B12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749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8035DC-842C-5A0A-81E2-05C6D194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3D44AA-D5C1-57C6-B63B-548F0FC142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AC2994-2A62-D225-8A9D-24BAAF756D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DC2B55-D0E7-73CC-7DFE-8B934AD06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200025"/>
            <a:ext cx="8010525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111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135BF-F822-4DAC-4973-53A808F3E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EEA17-5564-CA8A-291F-015D47A301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1D9EFF-CC99-54C9-F2F7-6F7F062E6E1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797EDF-27EC-302C-416F-8FD87825B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75" y="542925"/>
            <a:ext cx="5200650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39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20F51-A9D2-279B-0B38-ECF43949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E378CC-85FF-B1B8-4485-57E86709FE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17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86651C-28FC-1611-7630-D66F13141E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19759-9276-ED99-1946-7A16D0C6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062" y="1052512"/>
            <a:ext cx="7381875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004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3543A-7981-FA28-136E-3E554E629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8.1. General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F3556-6DEA-46DB-499B-67E92A7D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1CD5F-5089-6A3A-14C4-C1A0544144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56E69C-34A6-8B55-D609-6872ECF85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4109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3A8A-2377-6C73-0E6E-EA10ED0B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8.1.2 The Tree Abstract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27CE2-00D4-CBAA-CD61-A6F27B0EA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A position object for a tree supports the method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: </a:t>
            </a:r>
          </a:p>
          <a:p>
            <a:pPr lvl="1"/>
            <a:r>
              <a:rPr lang="en-US" sz="1800" b="0" i="0" dirty="0" err="1">
                <a:solidFill>
                  <a:srgbClr val="000000"/>
                </a:solidFill>
                <a:effectLst/>
                <a:latin typeface="CMSSBX10"/>
              </a:rPr>
              <a:t>p.element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SSBX10"/>
              </a:rPr>
              <a:t>( )</a:t>
            </a:r>
            <a:r>
              <a:rPr lang="en-US" sz="1800" b="1" i="0" dirty="0">
                <a:solidFill>
                  <a:srgbClr val="000000"/>
                </a:solidFill>
                <a:effectLst/>
                <a:latin typeface="Times-Bold"/>
              </a:rPr>
              <a:t>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Return the element stored at position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SS10"/>
              </a:rPr>
              <a:t>p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.</a:t>
            </a:r>
          </a:p>
          <a:p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accessor methods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, allowing a user to navigate the various positions of a tree:</a:t>
            </a:r>
            <a:r>
              <a:rPr lang="en-US" sz="36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B5D3-2CA1-34C9-92DD-AFF0495E21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19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8228D-4E0B-718A-A7D9-8C70B228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AD840C4-83DC-0391-4552-1FA56E41BA6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5811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91593F-00D4-944A-E38D-B8E08907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95CEC4-E3A8-8525-7A7D-428CBA730D8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AF055-8EF2-D00D-BFAD-B0BFAB9F75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D38C22-7003-BC80-E3EC-7A741605A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639" y="0"/>
            <a:ext cx="95647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22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25F49-EF72-6439-931D-0A9F858D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77" y="76200"/>
            <a:ext cx="8061101" cy="553289"/>
          </a:xfrm>
        </p:spPr>
        <p:txBody>
          <a:bodyPr>
            <a:normAutofit/>
          </a:bodyPr>
          <a:lstStyle/>
          <a:p>
            <a:r>
              <a:rPr lang="en-US" sz="2400" dirty="0"/>
              <a:t>A Tree Abstract Base Class in Python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58A0B-A557-A7EE-624D-88A045B87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239B916D-9C2D-42AB-AE14-E538FDD0069B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93A10-5126-278E-1883-3B09595E9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2BE77ECF-F060-4D46-A3D9-128B9B0DFB4A}" type="slidenum">
              <a:rPr lang="en-US" smtClean="0"/>
              <a:pPr>
                <a:buFont typeface="Monotype Sorts" charset="2"/>
                <a:buNone/>
                <a:defRPr/>
              </a:pPr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2D0BA-71A1-1E3D-9635-7BC22A0D3CA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CE7BE-7EB7-E9E4-B6BE-C67EAA31F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" y="0"/>
            <a:ext cx="108722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87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AB0BB-D9F8-F543-0778-F3A360047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FAD42D-3481-FC61-607B-189D05B8C5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A0C18E-2508-2355-A4B0-19AEC57C455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C8DFB7-C36C-61A7-C83F-68D6A9644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17" y="0"/>
            <a:ext cx="11187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953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6DDC2-F9C6-5E79-7C5A-006F55069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F0BCFA-C4B2-E3E4-ECF7-AE716ABDBD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7F65E-C3E4-4AAE-A0B3-DF1EBBBE465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063F7D-0BB0-57AB-18D3-C6BFE1FFB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4544"/>
            <a:ext cx="12192000" cy="2768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2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1F2BA1-2A2A-4383-CA29-107F07D8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047FCB-941D-7ED7-1B0E-9F19C3C94B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C4370F-1F22-425A-A494-E42A9CC8306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4213D0-F695-5DA4-F350-2F9187769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667"/>
            <a:ext cx="12192000" cy="594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26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96B01-F2F9-7FA8-591E-75B69FFC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8.1.3 Computing Depth and Height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7ECC3A-58D1-8AB8-3B83-CC8DD13E1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EFC597-E05D-8035-630B-B87950EC45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44884-6213-FF00-1B41-287C4D3508F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8397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D41D-97A6-636B-A67A-0086C25BC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8.1.3 Computing Depth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0008D-E8A7-2737-6E4A-662A3F2D4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Let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be the position of a node of a tree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. The 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depth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the number of ancestors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, excluding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itself.</a:t>
            </a:r>
            <a:r>
              <a:rPr lang="en-US" sz="1800" dirty="0"/>
              <a:t> </a:t>
            </a:r>
            <a:endParaRPr lang="en-US" b="0" i="0" dirty="0">
              <a:solidFill>
                <a:srgbClr val="000000"/>
              </a:solidFill>
              <a:effectLst/>
              <a:latin typeface="Times-Roman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The depth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can also be recursively defined as follows:</a:t>
            </a:r>
            <a:b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MSY10"/>
              </a:rPr>
              <a:t>•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the root, then the depth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0.</a:t>
            </a:r>
            <a:b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MSY10"/>
              </a:rPr>
              <a:t>•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Otherwise, the depth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one plus the depth of the parent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</a:t>
            </a:r>
            <a:r>
              <a:rPr lang="en-US" sz="3200" dirty="0"/>
              <a:t>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BA796-6947-CEAA-4032-1BFE7186B7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CBAFF-0150-EA84-B64A-5B226626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CF35D00-A6D5-2B79-100B-01ED83FF296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646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B76DB6-1822-99C9-06E0-82B82A07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E6EA50-230E-79F9-D3AA-A4A1318965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29944-7D4B-EAC3-5D39-FD02525862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6CD42E-D64A-BEDE-28FA-716B71AD4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6856"/>
            <a:ext cx="12192000" cy="330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300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C5F80-2427-770F-B14F-A1DE8E740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2B344-9486-8E79-A474-06D9D212B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8.1.3 Computing Height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A04F3-D40E-3EB3-AF96-10441C36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The 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height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of a position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in a tree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also defined recursively:</a:t>
            </a:r>
            <a:b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MSY10"/>
              </a:rPr>
              <a:t>•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a leaf, then the height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0.</a:t>
            </a:r>
            <a:b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MSY10"/>
              </a:rPr>
              <a:t>•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Otherwise, the height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one more than the maximum of the heights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’s children.</a:t>
            </a:r>
            <a:r>
              <a:rPr lang="en-US" dirty="0"/>
              <a:t>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The 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height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of a nonempty tree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the height of the root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The height of a nonempty tree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equal to the maximum of the depths of its leaf positions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0CFED-6518-A777-8D12-769BB3164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28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E625D-8905-E666-D804-66AB08F6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82BAECC-C72A-C728-91D9-2A45AE9B212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875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59186-A194-12C0-8885-D9F8E05F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56E35F-0985-F0D3-9DB0-2C239D44E3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29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3C68C-B7DB-D90C-390A-326A49961F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5825C40-BAE2-3C8C-069D-2ADF03D66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8008"/>
            <a:ext cx="12192000" cy="22619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BC3ED4-7705-4244-FA51-EB984B0C47E6}"/>
              </a:ext>
            </a:extLst>
          </p:cNvPr>
          <p:cNvSpPr txBox="1"/>
          <p:nvPr/>
        </p:nvSpPr>
        <p:spPr>
          <a:xfrm>
            <a:off x="685800" y="5334000"/>
            <a:ext cx="9753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Complexity: O(n^2) where n is the number of nodes of the subtree with root p.</a:t>
            </a:r>
          </a:p>
        </p:txBody>
      </p:sp>
    </p:spTree>
    <p:extLst>
      <p:ext uri="{BB962C8B-B14F-4D97-AF65-F5344CB8AC3E}">
        <p14:creationId xmlns:p14="http://schemas.microsoft.com/office/powerpoint/2010/main" val="3244641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21378-4C18-E66C-FC2C-423790E5E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868CAD-C3FB-1587-FC6D-41B0B5F5F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6600AA-E827-6594-DEE9-C7F0C3D43E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F32C1A-D966-A946-B80B-9AB1541D02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0E28E3-BB65-B70B-7C9C-5CF6AC518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5800"/>
            <a:ext cx="12192000" cy="35863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008822-B7A0-6D22-5B3A-E336A3BAE5F2}"/>
              </a:ext>
            </a:extLst>
          </p:cNvPr>
          <p:cNvSpPr txBox="1"/>
          <p:nvPr/>
        </p:nvSpPr>
        <p:spPr>
          <a:xfrm>
            <a:off x="1600200" y="5334000"/>
            <a:ext cx="8839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Complexity: O(n) where n is the number of nodes of the subtree with root p.</a:t>
            </a:r>
          </a:p>
        </p:txBody>
      </p:sp>
    </p:spTree>
    <p:extLst>
      <p:ext uri="{BB962C8B-B14F-4D97-AF65-F5344CB8AC3E}">
        <p14:creationId xmlns:p14="http://schemas.microsoft.com/office/powerpoint/2010/main" val="30482096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492484-671B-54DF-BCD6-BCD7F878A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BE51C6-0BB2-9D5A-5E99-FF19707A2B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D8AD39-5018-E999-2EF5-8694ADC3A14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DD78D5-E72C-5CFD-EA02-2382D6285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328"/>
            <a:ext cx="12192000" cy="446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91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9FB2-7B0F-8DD6-4A0A-EBC79962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22B9C-2ACF-FA7D-5A6D-6F2BC23E0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2C321-B4BE-5721-967B-FDBBA43066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32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AB0D5-3406-5AB5-D0FA-E4847BC77B0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5185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583712-4061-8533-8963-04C1F607C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B0DD5F-C3BD-F8F2-B705-224B6052AA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621A83-F001-3BD4-8EA2-C1B85322708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A6296F-3A6A-3EFD-E479-5147FB885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660" y="0"/>
            <a:ext cx="89246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918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35E6D0-C1CB-4B17-5A38-8030C82F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D89BF6-060F-B2DC-5732-7CA7258FE7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6E338-82D2-13D3-6CFA-40E194AD139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47F075-76D5-6446-6E3A-90FA15A34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79" y="0"/>
            <a:ext cx="105280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78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15C77-A190-CCF2-2906-92E2F63C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Recursive Binary Tree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B1B04-2ECE-7B6F-5744-62DFB7CCC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node r, called the root of T , that stores an element</a:t>
            </a:r>
          </a:p>
          <a:p>
            <a:r>
              <a:rPr lang="en-US" dirty="0"/>
              <a:t>A binary tree (possibly empty), called the left subtree of T</a:t>
            </a:r>
          </a:p>
          <a:p>
            <a:r>
              <a:rPr lang="en-US" dirty="0"/>
              <a:t>A binary tree (possibly empty), called the right subtree of 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1B1B06-D109-9B98-7838-D9ADAC69A2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35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02EE9-ABC9-66B9-81FB-1A8C05A0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2010223-526A-CA0C-8C86-5419F1E9C78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102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8B36-C621-09F4-D2CC-F747A9D3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8.2.1 The Binary Tree Abstract Data Type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33543-635B-1F5F-EF6D-A8E429DC7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9426-7CC6-16C8-A24F-B4DAEE691B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36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65976-DE1F-DB46-0EE6-85D938C4CB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3833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D6CD-D9E8-EBEC-5ABC-07BDB67B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950128-9715-82F5-C4E4-5B090B808C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F2D0D-BB55-8054-5F97-ED56B185FFC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2F51DD-F1D8-C84B-A4F4-A9D3B6085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0814"/>
            <a:ext cx="12192000" cy="485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3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C75DF-3655-0824-44C0-E86EC491D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BinaryTree</a:t>
            </a:r>
            <a:r>
              <a:rPr lang="en-US" dirty="0"/>
              <a:t> Abstract Base Class in Python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11B05-CA25-C480-819B-C55CD269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AF5BD-54DB-4814-5CC8-C69F9E429D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38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DF7FB-D412-72B1-DFF0-880D241CD5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7855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CB56FC-0075-8B6F-B385-B540F022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67AA30-32E3-8C67-4CAF-F19884E4AD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39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4E64DF-D4B7-361B-B0BA-BAB82B6975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C07335-9421-3BB2-F042-3067A2171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782" y="0"/>
            <a:ext cx="110324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819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C50D68-E412-9152-3B71-E23687F83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DCABE3-6AC0-5E84-DCF5-82B841DB26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577BD-B36D-A5A2-2E9A-218C4823A57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BCA717-94CA-FFD9-67A8-8F1A7FBDF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" y="0"/>
            <a:ext cx="9944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2275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5950-AA37-9CDF-A301-381FECD6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8.2.2 Properties of Binary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01F7A-1502-D029-5CE1-7ABB1FD67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40D6C6-8E3E-7CB8-9997-E83B1BDFED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41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E1074-BFF8-A216-15C4-1E94E94EF4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2823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35C9D-52E5-7385-2FA1-5AAC492BB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A5A410-94ED-374C-2521-A86AB34A5D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596ACD-1430-9836-9399-F87BD97A4F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CF65D0-BA48-F82E-695D-56FE128A9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65" y="0"/>
            <a:ext cx="9979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772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356C-E65E-CC7F-3C90-D0DCA784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49C34-696C-FCDE-D6D1-C2393B4B37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800" b="0" i="0" dirty="0">
                <a:solidFill>
                  <a:srgbClr val="242021"/>
                </a:solidFill>
                <a:effectLst/>
                <a:latin typeface="WarnockPro-Light"/>
              </a:rPr>
              <a:t> Contains the maximum number of nodes for a given height </a:t>
            </a:r>
            <a:r>
              <a:rPr lang="en-US" sz="2800" b="0" i="1" dirty="0">
                <a:solidFill>
                  <a:srgbClr val="242021"/>
                </a:solidFill>
                <a:effectLst/>
                <a:latin typeface="WarnockPro-LightIt"/>
              </a:rPr>
              <a:t>H</a:t>
            </a:r>
            <a:r>
              <a:rPr lang="en-US" sz="360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70BEC-4E1C-3F4B-E899-E647B5E718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BBEB22E7-5009-4A4A-A166-B272187857D2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CEE603-217A-E61B-3DD7-A057400941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43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8649F-B421-8A2F-E25D-72A02A3375A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E41246-976B-78D7-29CD-A65970C2D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647" y="2057400"/>
            <a:ext cx="12192000" cy="391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7036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BEDE98-CA68-A186-6244-B5B341EC7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D0E41-8F42-937F-2706-3E2226D3C3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5E1432-7D48-A7B3-C0DE-DAE0ACE45E8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5490FD-5623-0131-4E5D-F8F612FBC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903"/>
            <a:ext cx="12192000" cy="577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9203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28E70-1A07-77E4-85D4-AE3765E7A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9DF104-2AB7-FE03-08E0-1B76FE76E2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DBC37-54B4-C868-759A-88920CC3EB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0A37AE-DE8C-D307-228F-CA92923C4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9696"/>
            <a:ext cx="12192000" cy="95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840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2667-D718-72CA-D6A7-2CC5BEF1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Height of full binary tree given its node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55D9A-6EA0-CB9A-7D05-0DC6DF307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627D8D-4C9A-640C-5759-E48F2B39E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46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B1BFA-2902-BE87-CC54-ECF2570D6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60BA112-8BFE-53DA-0316-5F1B6389114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1537AE-5F2F-8F1A-0FDC-17B614CB2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74" y="2092429"/>
            <a:ext cx="12192000" cy="378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0025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9765C-87E4-748D-91EE-7C155A67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FEE14-F7C3-6740-0945-75716F02F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42021"/>
                </a:solidFill>
                <a:latin typeface="NewsGothicStd-Bold"/>
              </a:rPr>
              <a:t>A full binary tree: level k has exactly 2^k – 1 nodes</a:t>
            </a:r>
            <a:endParaRPr lang="en-US" i="0" dirty="0">
              <a:solidFill>
                <a:srgbClr val="242021"/>
              </a:solidFill>
              <a:effectLst/>
              <a:latin typeface="NewsGothicStd-Bold"/>
            </a:endParaRPr>
          </a:p>
          <a:p>
            <a:r>
              <a:rPr lang="en-US" i="0" dirty="0">
                <a:solidFill>
                  <a:srgbClr val="242021"/>
                </a:solidFill>
                <a:effectLst/>
                <a:latin typeface="NewsGothicStd-Bold"/>
              </a:rPr>
              <a:t>A</a:t>
            </a:r>
            <a:r>
              <a:rPr lang="en-US" b="1" i="0" dirty="0">
                <a:solidFill>
                  <a:srgbClr val="242021"/>
                </a:solidFill>
                <a:effectLst/>
                <a:latin typeface="NewsGothicStd-Bold"/>
              </a:rPr>
              <a:t> perfectly balanced binary tree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, which includes a complete complement of nodes at each level but the last one, is bushy enough to support worst-case logarithmic access to leaf nodes.</a:t>
            </a:r>
          </a:p>
          <a:p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A </a:t>
            </a:r>
            <a:r>
              <a:rPr lang="en-US" b="1" i="0" dirty="0">
                <a:solidFill>
                  <a:srgbClr val="242021"/>
                </a:solidFill>
                <a:effectLst/>
                <a:latin typeface="NewsGothicStd-Bold"/>
              </a:rPr>
              <a:t>complete binary tree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, in which any nodes on the last level are filled in from left to right, is, like a full binary tree, a special case of a perfectly balanced binary tree.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6C748-AAF8-8163-6BA2-D424A20E99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47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1AAC8-5739-02AE-DA70-F1ADA77A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4A1667-21D7-B490-D9B9-28B27F55EF3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2587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63778-07FC-2FA9-62A3-DC62E24F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29656E-C83B-E481-91B0-A003BB3295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BCA009-E227-35F8-FD96-748BE5F6C05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7E07C-A818-0A10-21B0-7E08F0A81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639" y="0"/>
            <a:ext cx="9480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3193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303C74-18FC-724D-ED37-58C42CC8F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3EC03-DA6E-E549-6D8A-C8C723300F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49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7D5EED-49BB-73F5-072F-13DD1A2524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160064-8EBA-BED5-6CF2-92992ADB4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962" y="1504950"/>
            <a:ext cx="974407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8147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EA706-BAB9-C606-7529-B2F75BADC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8.3 Implementing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AD2ECD-3BBB-5C4C-93AA-2310EDA4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4BB23-D187-B625-2831-77FD227A2A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50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11528-5E80-6407-9F7A-8BFDFE38FD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5278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2B59-7F50-6CAB-FF45-668FB9B88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8.3.1 Linked Structure for Binary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5D1F90-9632-1BFF-2500-71480ED99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4105860-DA06-4136-8ED8-157A1C8FEBE0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C0ACB-B245-B5FD-5B6F-64629BC204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668E2E4-C289-40FA-803B-52DC86338CE3}" type="slidenum">
              <a:rPr lang="en-US" smtClean="0"/>
              <a:pPr>
                <a:buFont typeface="Monotype Sorts" charset="2"/>
                <a:buNone/>
                <a:defRPr/>
              </a:pPr>
              <a:t>51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3B8F2-8269-C85E-C3AE-0CB713B85C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B80540-82A8-A430-635B-862A8CF1A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88726"/>
            <a:ext cx="9180396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591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2E57A-970A-79C4-BBAA-2B37A61D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Implementation of a Linked Binary Tree Structure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E4E074-B6AA-8680-0C22-FC04207A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E5D62-7448-EBC5-8E78-B08DB8FFF3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52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7EE5C-9300-1488-6897-B92BE1A993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7197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29967-3765-C743-D5D1-D7F582B3E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Operations for Updating a Linked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5D2A7-25CE-DB7B-66AD-D8E5A07BDA5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63100-C27E-C170-D66F-3D0CB8B55F2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BBEB22E7-5009-4A4A-A166-B272187857D2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577AD-AED8-48CD-FDB1-4D81D0D245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BC9EDAA9-37F3-4614-95D5-5B7FFAB71D04}" type="slidenum">
              <a:rPr lang="en-US" smtClean="0"/>
              <a:pPr>
                <a:buFont typeface="Monotype Sorts" charset="2"/>
                <a:buNone/>
                <a:defRPr/>
              </a:pPr>
              <a:t>53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804FF-6729-259F-5351-438527831E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4802F-1CF2-D63E-12E4-86D5E374E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744" y="1102551"/>
            <a:ext cx="7289192" cy="501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8774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6F8D8E-3BCA-0B2E-58AD-B13795FD4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031571-B509-3BF0-634E-C8AF33BB24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4AF89B-D778-AEDC-2C21-986CF9C2F0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40CEFD-F7B3-C502-9AD6-6CA3F1713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980" y="0"/>
            <a:ext cx="10172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363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8DE9B7-7F46-1241-9B21-DA9F3E5E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278B4C-2906-7F71-60F7-D03D96B69F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DB7B3-42C8-B470-3FB3-67C2256F188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366359-3037-6876-A5AF-5674B8902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53" y="0"/>
            <a:ext cx="110404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7678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15C93A-9C98-1959-09D8-29F374F9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32DE15-0029-3067-13AB-5D104CD23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362D8-1D3B-110F-5206-1109215AAE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B0BAE4-245C-101A-D574-3996A03CB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6138"/>
            <a:ext cx="12192000" cy="260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8457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9F5D4C-F20E-C594-D66A-DC5522846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F48A119-4066-5527-3364-FA4C67DDFC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B8121-07B7-AA31-E4F7-379DFF808D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CAF906-7275-4C2A-28CD-C62196D20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503"/>
            <a:ext cx="12192000" cy="645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416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B9E8FF-6CA3-51E1-5457-40A28436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7D4444-9DDF-33C9-BB26-DF49693B78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9C4EE-EFBA-605E-5EED-9AA05E557D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6CD4A3-4361-3104-DCCD-DB4E25A24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676"/>
            <a:ext cx="12192000" cy="629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8184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2ABD91-B087-96C3-8175-AEC62B95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E39C3D-5349-0A76-311B-AE1CA89038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59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58FE9-74A7-8677-287F-F8523C28CB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EEFF3-1B32-762E-74B8-C5685F714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8206"/>
            <a:ext cx="12192000" cy="484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003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12FD3-A129-50DB-BD7A-6F284A2F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03ED31-8C0D-F781-B42F-7769F9546A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645504-A5D4-4074-6110-69EC0AE4B6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D1B5ED-8775-FFA7-4645-83AB82057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8818"/>
            <a:ext cx="12192000" cy="568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2196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95666-0B3D-4F98-C01B-91F4C376D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7A2F95-23ED-AD1D-18E5-58B1EB21C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58DF46-D1EB-C030-7BEC-FEF6A17CFAF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8504B6-0ED6-7A59-6CAD-C5E4215BD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86" y="0"/>
            <a:ext cx="102400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2661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9C8CEC-5C73-33AE-F745-65953209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E24A12-FA69-B435-FB04-45C3C3FA7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5BBFDB-75BD-CCF8-F429-93389A4FB8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E890E8-0F21-632B-AFA8-51E40FB83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8101"/>
            <a:ext cx="12192000" cy="386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4888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E9A2CF-00CE-AA45-C626-09B5703D8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A519F1-2581-B662-7FD7-826F755D0E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63D7AF-1F73-F8DE-39D5-2F8EDD251BB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969F45-36F4-F5F8-1DEA-2F063713B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964" y="0"/>
            <a:ext cx="90960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0732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72C91-7A08-2D16-7582-62D5AD67A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003966-E3A7-DDC6-33BF-6EDC109723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010C49-EC60-91CE-6D1C-97E5446D98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8B089F-3A36-17C9-9870-D925F023C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94" y="0"/>
            <a:ext cx="10393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836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E66FE-E6C6-EC0C-B819-B8853DF3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100C3E-497D-4AAE-AA0A-3009A7AFFD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D672F8-835F-00CA-100B-4D1D050108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B8F16-5C8D-DB7E-5F89-7D9CE9BEE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7510"/>
            <a:ext cx="12192000" cy="498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601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C876-AB12-82CB-7F54-6B6D49E71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8.3.3 Linked Structure for General Trees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24C279-A7D4-3E4E-5F98-70BC43A08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84EBD-4582-9E4D-DB31-28A8EF304D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66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1184A-1FC9-41F7-2EC6-6271B7151B6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1699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882B5-C213-8857-7BB7-7E370FC4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BC3D94-FE1B-9784-5400-9F2BC10DF0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67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FE54A-B260-F4B2-C1BF-D707C58DB2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11E01-0D49-E747-1775-EFAF60F80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8258"/>
            <a:ext cx="12192000" cy="47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996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5FC9CE-385E-CA02-7401-A2420310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00D1EA-A3A9-00BB-20BB-32CC6817E8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68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BC67E-3188-EE80-3672-B091D70FE1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2FC60F-C1AB-F01E-DFF9-6C18B4631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819"/>
            <a:ext cx="12192000" cy="665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542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E933B-16BC-B321-AB3E-C4F1E8D0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 Tree Traversal Algorithms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5E8F3A-90F5-21F1-B33C-633DB422B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C84426FF-70A0-4692-A209-ADABD479B6F8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41652-4CCC-7EAA-3635-DFF0CAE0A9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9126DDB-45DE-4D72-94FB-1E2D565E80AF}" type="slidenum">
              <a:rPr lang="en-US" smtClean="0"/>
              <a:pPr>
                <a:buFont typeface="Monotype Sorts" charset="2"/>
                <a:buNone/>
                <a:defRPr/>
              </a:pPr>
              <a:t>69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8F422-0329-4395-C2B2-98169F5160B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5456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F0EDF-7957-ACDA-4C12-EC28E5DC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 Tree Traversal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A8B3E-D85B-8AF7-15D8-765D4016D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A 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traversal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of a tree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a systematic way of accessing, or “visiting,” all the positions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. </a:t>
            </a:r>
          </a:p>
          <a:p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preorder traversal: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 the root of </a:t>
            </a:r>
            <a:r>
              <a:rPr lang="en-US" b="0" i="1" dirty="0">
                <a:solidFill>
                  <a:srgbClr val="000000"/>
                </a:solidFill>
                <a:effectLst/>
                <a:latin typeface="Times-Italic"/>
              </a:rPr>
              <a:t>T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is visited first and then the subtrees rooted at its children are traversed recursively.</a:t>
            </a:r>
          </a:p>
          <a:p>
            <a:r>
              <a:rPr lang="en-US" b="1" i="1" dirty="0" err="1">
                <a:solidFill>
                  <a:srgbClr val="000000"/>
                </a:solidFill>
                <a:effectLst/>
                <a:latin typeface="Times-BoldItalic"/>
              </a:rPr>
              <a:t>postorder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 traversal: 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 recursively traverses the subtrees rooted at the children of the root first, and then visits the root (hence, the name “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Times-Roman"/>
              </a:rPr>
              <a:t>postorder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”)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C6AD8-539F-CEAB-1E9B-2E3E53E4F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DC4EE-21BC-EEF8-EE95-64AE6B339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78CC1C1-2313-5075-247B-FB4CA548DAA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98060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A199C-2769-AB21-439B-DACD3FB4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8.4.1 Preorder of General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F6FA9-189E-C6C6-A8A5-F4B08E62F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E7AEC-2A72-699B-F72B-0AB465981B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71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4A3BB-A145-EFBA-E61F-C98E4C496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BEDCA78-AF2A-DB51-4C3E-16A548788F6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E8B798-08DE-43AA-4CDA-5193B480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4552"/>
            <a:ext cx="12192000" cy="323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14149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CEA27-98DC-1FEB-68DC-51EFF0A7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Preorder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05EF4-C940-8A5D-39C9-E40EEA47D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The </a:t>
            </a:r>
            <a:r>
              <a:rPr lang="en-US" b="1" i="0" dirty="0">
                <a:solidFill>
                  <a:srgbClr val="242021"/>
                </a:solidFill>
                <a:effectLst/>
                <a:latin typeface="NewsGothicStd-Bold"/>
              </a:rPr>
              <a:t>preorder traversal </a:t>
            </a:r>
            <a:r>
              <a:rPr lang="en-US" b="0" i="0" dirty="0">
                <a:solidFill>
                  <a:srgbClr val="242021"/>
                </a:solidFill>
                <a:effectLst/>
                <a:latin typeface="WarnockPro-Light"/>
              </a:rPr>
              <a:t>algorithm visits a tree’s root node and then traverses the left subtree and the right subtree in a similar manner.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00A1A-ACB4-ACAB-DBBC-453105231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AD6D0-28C5-88DC-5E57-F962D7BBC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4B46AB-CE8C-2DE3-A982-1CAB69F21CB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782225-8DBB-072F-35DD-1810F51E7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87" y="3063873"/>
            <a:ext cx="57626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5699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CAEF02-0FD2-C1EC-3124-9CEC8C8EC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12B43D-8BD0-F18F-B1AE-25ED170F95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73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CB1802-BF67-4584-5486-3E687ABFF81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096DE2-1CF4-0D4E-8C64-7E7942500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209"/>
            <a:ext cx="12192000" cy="55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356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289F5-5600-B41C-C9FF-47E295AAB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7262-9519-8DA9-E16F-0FE8B99C6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8.4.1 </a:t>
            </a:r>
            <a:r>
              <a:rPr lang="en-US" dirty="0" err="1"/>
              <a:t>Postorder</a:t>
            </a:r>
            <a:r>
              <a:rPr lang="en-US" dirty="0"/>
              <a:t> of General Trees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AFD10-11A0-D673-6FDC-73BD4C833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DE4CB-1724-0F5A-A305-2856FFE23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74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8FDD0F-B18B-81FB-82CB-39AEBE89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BB83BA0-918A-652E-E2A7-5FFE75EBEFC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B6F192-980D-94DB-46FD-8BB135F17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2689"/>
            <a:ext cx="12192000" cy="315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967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65E59-1E6F-0B2C-49B8-623FED2D6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73AF-8581-6E26-3538-4A8469008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Postorder</a:t>
            </a:r>
            <a:r>
              <a:rPr lang="en-US" dirty="0"/>
              <a:t>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8C1A5-49B7-A82D-0908-5C1A39C86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The </a:t>
            </a:r>
            <a:r>
              <a:rPr lang="en-US" sz="1800" b="1" i="0" dirty="0" err="1">
                <a:solidFill>
                  <a:srgbClr val="242021"/>
                </a:solidFill>
                <a:effectLst/>
                <a:latin typeface="NewsGothicStd-Bold"/>
              </a:rPr>
              <a:t>postorder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 traversal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algorithm traverses the left subtree, traverses the right subtree, and visits the root node. </a:t>
            </a:r>
            <a:br>
              <a:rPr lang="en-US" sz="1400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48200-0887-CAB8-326C-968A83902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75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C8FC7-04FC-11EC-5FC8-602025DE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2F6325-2103-10B9-B302-343B9288C21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746D5F-7792-67E9-6329-FA774C77E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243" y="2891206"/>
            <a:ext cx="6005513" cy="345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0578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8A378-36BE-DA03-5A96-3D2777CB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C2AB5-B3A2-5A48-6820-20813C98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F04CF3-20F8-91B3-73AF-F1B85509EA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76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3DC86-1D9C-0B4C-D7E3-C3CD5EBBCE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84CF2B-C351-2716-A21E-5B040C3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2963"/>
            <a:ext cx="12192000" cy="563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3571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852A-E0A7-CB01-0235-A1B1A6404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8.4.3 </a:t>
            </a:r>
            <a:r>
              <a:rPr lang="en-US" dirty="0" err="1"/>
              <a:t>Inorder</a:t>
            </a:r>
            <a:r>
              <a:rPr lang="en-US" dirty="0"/>
              <a:t> Traversal of a Binary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DBFC2-C577-0C48-8295-2DDCB6C61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 err="1">
                <a:solidFill>
                  <a:srgbClr val="000000"/>
                </a:solidFill>
                <a:effectLst/>
                <a:latin typeface="Times-BoldItalic"/>
              </a:rPr>
              <a:t>inorder</a:t>
            </a:r>
            <a:r>
              <a:rPr lang="en-US" b="1" i="1" dirty="0">
                <a:solidFill>
                  <a:srgbClr val="000000"/>
                </a:solidFill>
                <a:effectLst/>
                <a:latin typeface="Times-BoldItalic"/>
              </a:rPr>
              <a:t> traversal</a:t>
            </a:r>
            <a:r>
              <a:rPr lang="en-US" b="0" i="0" dirty="0">
                <a:solidFill>
                  <a:srgbClr val="000000"/>
                </a:solidFill>
                <a:effectLst/>
                <a:latin typeface="Times-Roman"/>
              </a:rPr>
              <a:t>: we visit a position between the recursive traversals of its left and right subtrees. </a:t>
            </a:r>
            <a:br>
              <a:rPr lang="en-US" sz="3200" dirty="0"/>
            </a:b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F7D1-411B-E703-0772-2B9906F129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77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D3A49-6A3A-73D3-5702-CF1661B2E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319C5CE-82BA-10BF-BD6A-46B652CFEF7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7036AA-63A3-055B-D214-9F470DD60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59479"/>
            <a:ext cx="10363200" cy="342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65255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7E497-E23E-172D-07A3-1350D67B0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2ED97A-3AF5-494F-013F-FFEA370C3A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78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8FCF1D-6C3C-2269-8E62-72CDF6ED2F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7B407D-967E-D1ED-D3F1-F92A4A4F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228600"/>
            <a:ext cx="1190625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11950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3DF4F-BB61-4124-0A61-ED42460AC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8.4.2 Breadth-First Tree Traversal (Level order)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683EC-0B7D-FE3D-D175-B2C794487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i="1" dirty="0">
                <a:solidFill>
                  <a:srgbClr val="000000"/>
                </a:solidFill>
                <a:effectLst/>
                <a:latin typeface="Times-BoldItalic"/>
              </a:rPr>
              <a:t>breadth-first traversal</a:t>
            </a:r>
            <a:r>
              <a:rPr lang="en-US" sz="1800" dirty="0">
                <a:solidFill>
                  <a:srgbClr val="000000"/>
                </a:solidFill>
                <a:latin typeface="Times-Roman"/>
              </a:rPr>
              <a:t>: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traverse a tree so that we visit all the positions at depth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-Italic"/>
              </a:rPr>
              <a:t>d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before we visit the positions at depth 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Times-Italic"/>
              </a:rPr>
              <a:t>d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CMR10"/>
              </a:rPr>
              <a:t>+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1.  (</a:t>
            </a:r>
            <a:r>
              <a:rPr lang="en-US" sz="1800" dirty="0">
                <a:solidFill>
                  <a:srgbClr val="000000"/>
                </a:solidFill>
                <a:latin typeface="Times-Roman"/>
              </a:rPr>
              <a:t>non-weighted 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Times-Roman"/>
              </a:rPr>
              <a:t>shortest path application)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8FB02-FF84-685A-D46A-C2DDC53D2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79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6FACD-7D18-66FE-A59B-18F87526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8D662B8-27EC-1AD8-1E17-EB8DABB768E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F010A-0E0C-B686-1213-90C30ED65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734055"/>
            <a:ext cx="9448800" cy="365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54815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ADA47-CD6B-296F-55C7-4621CAA3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106A0-2D67-1562-5852-C2F5F146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order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0494E-E175-601A-D2E6-82362AC29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Beginning with level 0, the </a:t>
            </a:r>
            <a:r>
              <a:rPr lang="en-US" sz="1800" b="1" i="0" dirty="0">
                <a:solidFill>
                  <a:srgbClr val="242021"/>
                </a:solidFill>
                <a:effectLst/>
                <a:latin typeface="NewsGothicStd-Bold"/>
              </a:rPr>
              <a:t>level order traversal </a:t>
            </a:r>
            <a:r>
              <a:rPr lang="en-US" sz="1800" b="0" i="0" dirty="0">
                <a:solidFill>
                  <a:srgbClr val="242021"/>
                </a:solidFill>
                <a:effectLst/>
                <a:latin typeface="WarnockPro-Light"/>
              </a:rPr>
              <a:t>algorithm visits the nodes at each level in left-to-right order</a:t>
            </a:r>
            <a:r>
              <a:rPr lang="en-US" sz="1400" dirty="0"/>
              <a:t> </a:t>
            </a:r>
            <a:br>
              <a:rPr lang="en-US" sz="1400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BBDCD-E64B-2344-1BCE-3C41A5FAB9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34A84676-C444-4AC5-8B4E-405A7C81C0FB}" type="slidenum">
              <a:rPr lang="en-US" altLang="en-US" smtClean="0"/>
              <a:pPr>
                <a:buFont typeface="Monotype Sorts" charset="2"/>
                <a:buNone/>
                <a:defRPr/>
              </a:pPr>
              <a:t>80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64C3F-4311-1892-E469-522DF6AE8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322F42-4C51-1BD5-3AA0-3F878865B3F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FC32583D-C3E8-4AE3-B635-FDFA2D64A695}" type="datetime1">
              <a:rPr lang="en-US" smtClean="0"/>
              <a:t>3/13/2024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48956F-A48F-404F-91C5-94BE8A017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431074"/>
            <a:ext cx="5715001" cy="3629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2817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055BA1-7C41-7B0D-F1A2-4D7F86D0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FFB4A3-5524-D63E-6C60-EEE0C6664B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81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273050-77A6-59AA-C8CC-4D0C594E89F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2A71B3-8955-CD03-B5B7-6B7CCAB78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836"/>
            <a:ext cx="12192000" cy="390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3087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18DEB4-FDC8-826A-CA3F-F26BC7BD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6759CF-093D-01A5-D238-E2B140C17E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82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E6EBE-F590-7B21-A010-D012459B21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CF43DE-3891-3D56-E12B-C4E43B89C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04" y="0"/>
            <a:ext cx="105125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7233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1A741-A426-DBB9-5D04-8366D0991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65A71745-A66D-4D2C-AB6B-F5743AD780F4}" type="datetime1">
              <a:rPr lang="en-US" smtClean="0"/>
              <a:t>3/13/2024</a:t>
            </a:fld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6028A4-2344-045E-02B9-0E268A8E3F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fld id="{D1AD3536-327C-4937-83AF-A64971CFA6D9}" type="slidenum">
              <a:rPr lang="en-US" smtClean="0"/>
              <a:pPr>
                <a:buFont typeface="Monotype Sorts" charset="2"/>
                <a:buNone/>
                <a:defRPr/>
              </a:pPr>
              <a:t>83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5AC609-9C64-4418-286B-96448154D94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 typeface="Monotype Sorts" charset="2"/>
              <a:buNone/>
              <a:defRPr/>
            </a:pPr>
            <a:r>
              <a:rPr lang="en-US"/>
              <a:t>Data Structures and Algorithms in Python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A295C6-DF92-63C9-D1D2-3428D768A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51" y="0"/>
            <a:ext cx="116860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19509"/>
      </p:ext>
    </p:extLst>
  </p:cSld>
  <p:clrMapOvr>
    <a:masterClrMapping/>
  </p:clrMapOvr>
</p:sld>
</file>

<file path=ppt/theme/theme1.xml><?xml version="1.0" encoding="utf-8"?>
<a:theme xmlns:a="http://schemas.openxmlformats.org/drawingml/2006/main" name="Vicostone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u thuyet trình cong ty Vicostone" id="{123813FF-2186-4307-88AB-E52DC4E764C5}" vid="{7A2E833A-1ED4-4E30-9CFE-D6481D7B3B5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19445</TotalTime>
  <Words>1793</Words>
  <Application>Microsoft Office PowerPoint</Application>
  <PresentationFormat>Widescreen</PresentationFormat>
  <Paragraphs>338</Paragraphs>
  <Slides>83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104" baseType="lpstr">
      <vt:lpstr>ＭＳ Ｐゴシック</vt:lpstr>
      <vt:lpstr>Arial</vt:lpstr>
      <vt:lpstr>Calibri</vt:lpstr>
      <vt:lpstr>CMR10</vt:lpstr>
      <vt:lpstr>CMSS10</vt:lpstr>
      <vt:lpstr>CMSSBX10</vt:lpstr>
      <vt:lpstr>CMSY10</vt:lpstr>
      <vt:lpstr>Courier New</vt:lpstr>
      <vt:lpstr>Monotype Sorts</vt:lpstr>
      <vt:lpstr>NewsGothicStd</vt:lpstr>
      <vt:lpstr>NewsGothicStd-Bold</vt:lpstr>
      <vt:lpstr>Times New Roman</vt:lpstr>
      <vt:lpstr>Times-Bold</vt:lpstr>
      <vt:lpstr>Times-BoldItalic</vt:lpstr>
      <vt:lpstr>Times-Italic</vt:lpstr>
      <vt:lpstr>Times-Roman</vt:lpstr>
      <vt:lpstr>WarnockPro-Bold</vt:lpstr>
      <vt:lpstr>WarnockPro-Light</vt:lpstr>
      <vt:lpstr>WarnockPro-LightIt</vt:lpstr>
      <vt:lpstr>Wingdings</vt:lpstr>
      <vt:lpstr>Vicostone Template</vt:lpstr>
      <vt:lpstr>Database Systems:  Design, Implementation, and Management 14th Edition</vt:lpstr>
      <vt:lpstr>National Economics University Faculty of Mathematical Economics</vt:lpstr>
      <vt:lpstr>Learning Objectives</vt:lpstr>
      <vt:lpstr>Some applications</vt:lpstr>
      <vt:lpstr>Overview of trees</vt:lpstr>
      <vt:lpstr>PowerPoint Presentation</vt:lpstr>
      <vt:lpstr>An overview of trees</vt:lpstr>
      <vt:lpstr>Tree Terminology</vt:lpstr>
      <vt:lpstr>PowerPoint Presentation</vt:lpstr>
      <vt:lpstr>PowerPoint Presentation</vt:lpstr>
      <vt:lpstr>General Trees and Binary Trees</vt:lpstr>
      <vt:lpstr>Recursive Definitions of Tree</vt:lpstr>
      <vt:lpstr>PowerPoint Presentation</vt:lpstr>
      <vt:lpstr>Some applications</vt:lpstr>
      <vt:lpstr>PowerPoint Presentation</vt:lpstr>
      <vt:lpstr>PowerPoint Presentation</vt:lpstr>
      <vt:lpstr>PowerPoint Presentation</vt:lpstr>
      <vt:lpstr>8.1. General Trees</vt:lpstr>
      <vt:lpstr>8.1.2 The Tree Abstract Data Type</vt:lpstr>
      <vt:lpstr>PowerPoint Presentation</vt:lpstr>
      <vt:lpstr>A Tree Abstract Base Class in Python</vt:lpstr>
      <vt:lpstr>PowerPoint Presentation</vt:lpstr>
      <vt:lpstr>PowerPoint Presentation</vt:lpstr>
      <vt:lpstr>PowerPoint Presentation</vt:lpstr>
      <vt:lpstr>8.1.3 Computing Depth and Height</vt:lpstr>
      <vt:lpstr>8.1.3 Computing Depth  </vt:lpstr>
      <vt:lpstr>PowerPoint Presentation</vt:lpstr>
      <vt:lpstr>8.1.3 Computing Height</vt:lpstr>
      <vt:lpstr>PowerPoint Presentation</vt:lpstr>
      <vt:lpstr>PowerPoint Presentation</vt:lpstr>
      <vt:lpstr>PowerPoint Presentation</vt:lpstr>
      <vt:lpstr>Binary trees</vt:lpstr>
      <vt:lpstr>PowerPoint Presentation</vt:lpstr>
      <vt:lpstr>PowerPoint Presentation</vt:lpstr>
      <vt:lpstr>A Recursive Binary Tree Definition</vt:lpstr>
      <vt:lpstr>8.2.1 The Binary Tree Abstract Data Type</vt:lpstr>
      <vt:lpstr>PowerPoint Presentation</vt:lpstr>
      <vt:lpstr>The BinaryTree Abstract Base Class in Python</vt:lpstr>
      <vt:lpstr>PowerPoint Presentation</vt:lpstr>
      <vt:lpstr>PowerPoint Presentation</vt:lpstr>
      <vt:lpstr>8.2.2 Properties of Binary Trees</vt:lpstr>
      <vt:lpstr>PowerPoint Presentation</vt:lpstr>
      <vt:lpstr>Full binary tree</vt:lpstr>
      <vt:lpstr>PowerPoint Presentation</vt:lpstr>
      <vt:lpstr>PowerPoint Presentation</vt:lpstr>
      <vt:lpstr>Height of full binary tree given its node</vt:lpstr>
      <vt:lpstr>Binary tree</vt:lpstr>
      <vt:lpstr>PowerPoint Presentation</vt:lpstr>
      <vt:lpstr>PowerPoint Presentation</vt:lpstr>
      <vt:lpstr>8.3 Implementing Trees</vt:lpstr>
      <vt:lpstr>8.3.1 Linked Structure for Binary Trees</vt:lpstr>
      <vt:lpstr>Python Implementation of a Linked Binary Tree Structure</vt:lpstr>
      <vt:lpstr>Operations for Updating a Linked Binary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8.3.3 Linked Structure for General Trees</vt:lpstr>
      <vt:lpstr>PowerPoint Presentation</vt:lpstr>
      <vt:lpstr>PowerPoint Presentation</vt:lpstr>
      <vt:lpstr>8.4 Tree Traversal Algorithms</vt:lpstr>
      <vt:lpstr>8.4 Tree Traversal Algorithms</vt:lpstr>
      <vt:lpstr>8.4.1 Preorder of General Trees</vt:lpstr>
      <vt:lpstr>Preorder Traversal</vt:lpstr>
      <vt:lpstr>PowerPoint Presentation</vt:lpstr>
      <vt:lpstr>8.4.1 Postorder of General Trees</vt:lpstr>
      <vt:lpstr>Postorder Traversal</vt:lpstr>
      <vt:lpstr>PowerPoint Presentation</vt:lpstr>
      <vt:lpstr>8.4.3 Inorder Traversal of a Binary Tree</vt:lpstr>
      <vt:lpstr>PowerPoint Presentation</vt:lpstr>
      <vt:lpstr>8.4.2 Breadth-First Tree Traversal (Level order)</vt:lpstr>
      <vt:lpstr>Level order Traversal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Systems:  Design, Implementation, and Management Ninth Edition</dc:title>
  <dc:creator>Duc Minh Vu</dc:creator>
  <cp:lastModifiedBy>Vu Duc Minh</cp:lastModifiedBy>
  <cp:revision>296</cp:revision>
  <cp:lastPrinted>2024-02-29T02:13:54Z</cp:lastPrinted>
  <dcterms:created xsi:type="dcterms:W3CDTF">2009-10-12T20:16:00Z</dcterms:created>
  <dcterms:modified xsi:type="dcterms:W3CDTF">2024-03-13T17:06:34Z</dcterms:modified>
</cp:coreProperties>
</file>