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55"/>
  </p:notesMasterIdLst>
  <p:handoutMasterIdLst>
    <p:handoutMasterId r:id="rId56"/>
  </p:handoutMasterIdLst>
  <p:sldIdLst>
    <p:sldId id="349" r:id="rId2"/>
    <p:sldId id="397" r:id="rId3"/>
    <p:sldId id="257" r:id="rId4"/>
    <p:sldId id="339" r:id="rId5"/>
    <p:sldId id="258" r:id="rId6"/>
    <p:sldId id="333" r:id="rId7"/>
    <p:sldId id="385" r:id="rId8"/>
    <p:sldId id="260" r:id="rId9"/>
    <p:sldId id="261" r:id="rId10"/>
    <p:sldId id="263" r:id="rId11"/>
    <p:sldId id="264" r:id="rId12"/>
    <p:sldId id="334" r:id="rId13"/>
    <p:sldId id="340" r:id="rId14"/>
    <p:sldId id="344" r:id="rId15"/>
    <p:sldId id="328" r:id="rId16"/>
    <p:sldId id="273" r:id="rId17"/>
    <p:sldId id="276" r:id="rId18"/>
    <p:sldId id="345" r:id="rId19"/>
    <p:sldId id="280" r:id="rId20"/>
    <p:sldId id="284" r:id="rId21"/>
    <p:sldId id="387" r:id="rId22"/>
    <p:sldId id="388" r:id="rId23"/>
    <p:sldId id="335" r:id="rId24"/>
    <p:sldId id="289" r:id="rId25"/>
    <p:sldId id="290" r:id="rId26"/>
    <p:sldId id="389" r:id="rId27"/>
    <p:sldId id="296" r:id="rId28"/>
    <p:sldId id="298" r:id="rId29"/>
    <p:sldId id="390" r:id="rId30"/>
    <p:sldId id="303" r:id="rId31"/>
    <p:sldId id="341" r:id="rId32"/>
    <p:sldId id="342" r:id="rId33"/>
    <p:sldId id="347" r:id="rId34"/>
    <p:sldId id="348" r:id="rId35"/>
    <p:sldId id="305" r:id="rId36"/>
    <p:sldId id="391" r:id="rId37"/>
    <p:sldId id="309" r:id="rId38"/>
    <p:sldId id="336" r:id="rId39"/>
    <p:sldId id="337" r:id="rId40"/>
    <p:sldId id="317" r:id="rId41"/>
    <p:sldId id="319" r:id="rId42"/>
    <p:sldId id="312" r:id="rId43"/>
    <p:sldId id="392" r:id="rId44"/>
    <p:sldId id="315" r:id="rId45"/>
    <p:sldId id="316" r:id="rId46"/>
    <p:sldId id="393" r:id="rId47"/>
    <p:sldId id="321" r:id="rId48"/>
    <p:sldId id="394" r:id="rId49"/>
    <p:sldId id="325" r:id="rId50"/>
    <p:sldId id="326" r:id="rId51"/>
    <p:sldId id="327" r:id="rId52"/>
    <p:sldId id="395" r:id="rId53"/>
    <p:sldId id="396" r:id="rId54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AAED65F1-447A-E56C-8C0E-C0EF8BC413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C2E91030-CF5D-67A1-1AF9-4519662CD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19B583C8-3E25-A65B-FD4D-E1B27C8EB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588CF53-F1C1-497E-8927-5BA8B3BEAE8E}" type="slidenum">
              <a:rPr lang="en-US" altLang="en-US" sz="1200"/>
              <a:pPr/>
              <a:t>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96CFCCF8-468E-E278-A466-07F523EF28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3A7C46-9CC5-4602-9CA7-5E11396D6D6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FEA2AC8-0FF7-F050-A1AC-17C3E2D98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8E44485-B32D-7B23-AF52-9281187B2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EEC61FBF-0933-7D91-47A9-586CB9E22C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BDC823C3-E812-F173-CD17-714CBBBB9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A8399AD3-5ED3-5A0E-1E28-BA302968E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2DC4FB1-E2DA-4F4E-9D5E-A907F3A2797E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FA8C25D0-2441-FB3D-5ABC-48126DCA40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E41716-B623-4C77-915D-098E67CB3E9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F42A717-961C-8DF3-8541-B8323A75B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AE91360-D739-46DF-BF50-DA4FD854D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5ACFFBCD-F6DC-6A88-CAF6-EC0792460D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8C28C3-7D00-4BD5-A499-69114E7BB170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092B232-9336-BCBB-9E5A-E9C61E7A15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C09835DA-CAEB-D154-5A1B-A682736FE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AABC2CB-A06A-C1E7-5589-82168A0B40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50F21C-A7BE-4CE1-B4CC-3298014ED296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A0065F8B-D83C-9E11-846E-CDC592F14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8C1396A6-DBB7-4307-3CCF-50AD0441E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530D867B-0680-FC6C-B3D8-BD6D67C95D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BC53BEE-022C-4D0B-B126-63BBAF3C11A0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B7B44C6-1703-B1E1-1D7F-01E194DE1F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A0F1EB16-8510-6501-3D18-4BC597AC4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841834B0-472E-77AE-F0E7-52487F8716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188D6B4F-3A04-9AB0-C9BC-1FE18937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9A63E7A9-C31B-49D6-C25E-A5333ADA0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A0324E9-51E0-4D98-9B3E-7C29C41ABF82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8B0A2E05-7147-16E0-287C-1CD359DC3E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8BE382A3-DCBD-71C8-BAEF-18FD3CD1F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70D9BFCE-FC7D-73F8-FBF2-1F95A66DC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8370C97-094C-4832-8DE0-08B6DA4A134E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D1D03F7A-2393-D61A-226B-7B7F9957E1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1C6DF44B-49D9-FF62-8A38-3E7102558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0F65F394-9655-A0D3-C5E7-83C4C471F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35A2986-32D3-4FD1-98DA-541A19C19642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658CB83-889D-5B1B-A1B8-56239C01C4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0FDE238-3D1B-4176-9885-A133ACC62409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B48062D-2570-46F1-8047-CF651F1782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EB49491-2E45-550B-C170-EF39EA0B3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688C31DB-EFCD-0333-3982-B0F68894F7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BC3D0EA-C69B-48DD-A2EC-1AC123770FFF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1B82D0F4-1955-876A-DCE6-11563C0D9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6D19C1C-D122-DF58-E8A8-D207D0FAA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162FE73F-6D23-6092-14D4-CE911E9FD2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7FC906-DE9E-4E10-94D4-475AA2F7EFE4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AA17744-FEEC-FC93-5365-3AC962C17F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39E5FCA6-235E-15F0-07BA-C80FC15E7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97C356F-CF95-197C-7B6C-631BAEF454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23C989-798E-46C3-B29E-C6E288802E27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20090AA-4485-2407-AFDE-1B38B65867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EE3B0E9-5812-A145-061D-A30C583EF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1F2C420C-57F0-3BAF-C222-75937BD8C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7F4E21-720F-4BBE-9FCB-21E41C515F58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6CCE357-5D57-961C-5FD1-F085DEA5EA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12E7A07A-AD56-9D1C-C46A-6C74860CD3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35201F2-6664-3737-1CB9-777075ACC0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27BBA40-72A5-4EBB-9B73-0084BD054B14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1F13F76-50A1-DD75-E526-D7379AED4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C85F9A92-DFCB-EF2C-B807-F73BD731D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A3AFBC5-47CC-B5D5-3746-39F6B437F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318B85-CCE6-4BE9-BB11-A4AAF33D08A5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58CED90-107A-15D6-709E-7D1259D5D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551D59A-CF15-1B12-53FC-EF8DD0060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B47651F9-63F3-0AB3-BC96-4498462AC3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08E350D-A1A4-49F5-A563-EDE70D8C1ECC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C85E718-D363-CD1D-3124-BADF1573E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B70E552-76CE-E80F-977E-8B9E70032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883A0A6B-B89B-147F-12D8-2045E76DB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B391086-2220-4D37-B267-C4DDB5CF07C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454B2BC4-78DF-D8C6-480E-176B7FEF7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887208E2-3552-5F5F-1C5B-6FA214B0C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07531D7-524D-B718-F8DF-A5469A5937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5D5BCEA-62DE-4332-8601-D876D6365A15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ABEDE4A0-A59F-EADE-344A-4E7AE01CCB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CE9FA2A7-16E8-5C00-3185-AE53AC212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C99F4C14-52E4-E0F9-3819-DC1358296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64BE7D-2576-482B-B1A5-80E4608151E1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BA0A3D73-DCC3-9CF0-3370-FB6D128F42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9A6C9D58-6DF6-84CF-56BA-E3D98A9B5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E639E2BF-5640-AF19-8826-F9A15766A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0B3CFDE-7777-4BC2-B405-1892D8DD8A44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8DFBB565-BF0E-0894-E785-E570C3C01C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766CB7F-F5E1-9FF4-3852-938585285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A79C05AB-280F-1723-D80C-D35E6BC6A8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A0FA713E-E1EB-6025-4D2A-203939255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91CCF420-D68F-4189-5196-F05189F85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DA236BD-D9C9-4BC9-97C2-889B6B1A9573}" type="slidenum">
              <a:rPr lang="en-US" altLang="en-US" sz="1200"/>
              <a:pPr/>
              <a:t>31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>
            <a:extLst>
              <a:ext uri="{FF2B5EF4-FFF2-40B4-BE49-F238E27FC236}">
                <a16:creationId xmlns:a16="http://schemas.microsoft.com/office/drawing/2014/main" id="{00BB1077-5609-9DC8-0973-B70E7DB9A1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84995" name="Notes Placeholder 2">
            <a:extLst>
              <a:ext uri="{FF2B5EF4-FFF2-40B4-BE49-F238E27FC236}">
                <a16:creationId xmlns:a16="http://schemas.microsoft.com/office/drawing/2014/main" id="{567518F8-D61E-F627-53A7-2CB117C63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E55E9321-1013-E401-22E8-2F2F54EFC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0F6F34F-4883-47B9-99BD-591512692D7E}" type="slidenum">
              <a:rPr lang="en-US" altLang="en-US" sz="1200"/>
              <a:pPr/>
              <a:t>32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CDCC40C6-BB1A-9100-053C-2D1917C25F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6A8CD287-DAA5-2ABD-B693-8704225DE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5CDA0983-B301-4BFB-5BC7-BD5A555C5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ACBE783-517C-4E3E-8D81-AA4BBE830893}" type="slidenum">
              <a:rPr lang="en-US" altLang="en-US" sz="1200"/>
              <a:pPr/>
              <a:t>33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CFE62E73-F510-73D4-1A93-7DED82FE2B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86D1109F-FDC5-6F03-A69B-D99EBC771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6BEE6263-183A-BF6A-2880-FA1635FD1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E4D36E-4EEF-4177-ADC7-C66DC4DFECA5}" type="slidenum">
              <a:rPr lang="en-US" altLang="en-US" sz="1200"/>
              <a:pPr/>
              <a:t>34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91AC7BBF-E8EB-ED4C-93D7-5F74F5BF8F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8A08D4-80F7-411F-95B8-EC7616FA4C4C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C4EC2A72-6086-7B14-7D11-30315AB44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36B3C3F-8161-59C5-C19E-6D9FB0198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66EF0EB2-FEFD-0B2B-0D90-576E0F383D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633153A-910D-4DD9-BFC5-F67B028EABC1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E37F6A74-3055-BFB4-9277-4C3ECFD8C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AE454CF6-CC8E-417C-F5D1-2789F89B6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B23A5FB2-911C-F5D2-1FF2-B876BC59F5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7FB9501A-266A-585D-3878-5FAB3FBC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F7D1F3CE-DB81-6DB8-5227-D6E2FB256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2985127-DA32-4141-BACF-A7D60AC7D5BE}" type="slidenum">
              <a:rPr lang="en-US" altLang="en-US" sz="1200"/>
              <a:pPr/>
              <a:t>38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6439FD45-47E8-93BE-D03F-0457D9B20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B4D33247-FB92-926A-D098-94803695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13568DE8-6743-6F27-D688-2D4C5F526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8057E2-5913-40A3-8FB2-FC1F6E6B4921}" type="slidenum">
              <a:rPr lang="en-US" altLang="en-US" sz="1200"/>
              <a:pPr/>
              <a:t>39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47502E43-FF1D-7413-2AE2-6CCCEA7902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7E5F6FF-8B5E-4D9D-A023-61367FE05AA3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09A1CE6E-3D9E-F0EF-5C07-B38DD2B500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AA1995-B03B-E15A-2230-9884BE8FE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3538A439-13DB-78B7-A77F-3567B676E8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A287886-E8F7-4041-A14E-5756CA4A2DEC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FCF392D3-BEA8-B3C5-9DC7-75DBBF2D23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E1211FF5-81DF-19C1-043F-E8ED66FE2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11E61CC1-9F0E-9EE9-E395-C04D6701B8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BAC4FE0-58E8-4AA3-8E3F-97EB82C505DE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CA01BC21-2F9E-9CF4-6190-1AA07D648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4B90D880-DBB9-C783-3922-5F73489E0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6439FD45-47E8-93BE-D03F-0457D9B20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B4D33247-FB92-926A-D098-94803695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13568DE8-6743-6F27-D688-2D4C5F526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8057E2-5913-40A3-8FB2-FC1F6E6B4921}" type="slidenum">
              <a:rPr lang="en-US" altLang="en-US" sz="1200"/>
              <a:pPr/>
              <a:t>43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945622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AE534D22-18D2-A603-14E4-1E4F2964A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720729F-DBC2-4456-B474-FC78DA227C2B}" type="slidenum">
              <a:rPr lang="en-US" altLang="en-US" sz="1200"/>
              <a:pPr/>
              <a:t>44</a:t>
            </a:fld>
            <a:endParaRPr lang="en-US" altLang="en-US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5626F2E-44CA-E6B3-F9FF-F9E2EDFE15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AC0C3847-3DE4-2D43-36B2-992795646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BAC25B3-27C9-7563-0B81-99B043A29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4538776-547E-4B0A-9142-EFF629C0EE71}" type="slidenum">
              <a:rPr lang="en-US" altLang="en-US" sz="1200"/>
              <a:pPr/>
              <a:t>45</a:t>
            </a:fld>
            <a:endParaRPr lang="en-US" altLang="en-US" sz="120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C0B49951-0AC9-0D2F-4E89-99B4A329E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8BCCCE20-562B-D4B5-4D60-031C06FF1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6439FD45-47E8-93BE-D03F-0457D9B20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B4D33247-FB92-926A-D098-94803695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13568DE8-6743-6F27-D688-2D4C5F526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8057E2-5913-40A3-8FB2-FC1F6E6B4921}" type="slidenum">
              <a:rPr lang="en-US" altLang="en-US" sz="1200"/>
              <a:pPr/>
              <a:t>46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368647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FABE5981-3A80-508E-4CFE-BC162221EB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D7AB64-FBCD-4304-AD68-5BE075192A5C}" type="slidenum">
              <a:rPr lang="en-US" altLang="en-US" sz="1200"/>
              <a:pPr/>
              <a:t>47</a:t>
            </a:fld>
            <a:endParaRPr lang="en-US" altLang="en-US" sz="1200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A3CC26B3-D1F4-A9BE-38F6-C9351AA8F9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A8D665C3-1187-7A51-F5BD-85F07F3EB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6439FD45-47E8-93BE-D03F-0457D9B20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423863" y="704850"/>
            <a:ext cx="6254750" cy="3519488"/>
          </a:xfrm>
          <a:ln/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B4D33247-FB92-926A-D098-948036957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13568DE8-6743-6F27-D688-2D4C5F526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48057E2-5913-40A3-8FB2-FC1F6E6B4921}" type="slidenum">
              <a:rPr lang="en-US" altLang="en-US" sz="1200"/>
              <a:pPr/>
              <a:t>48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709015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8A5CD95-B142-54BB-C018-0BE906462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CC579D7-7071-4C73-9BE1-A7A1A236857D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61F7FD3A-9168-6ABC-4E3D-ADB4A93EA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2312C8FF-6498-6D0D-08DF-803FA0E5C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19B8F3A-4CF0-1919-7069-38C9AD316F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974113D-D835-4237-A49D-67AEFD4D178A}" type="slidenum">
              <a:rPr lang="en-US" altLang="en-US" sz="1200"/>
              <a:pPr/>
              <a:t>50</a:t>
            </a:fld>
            <a:endParaRPr lang="en-US" altLang="en-US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A3DDF77D-5654-FBA7-DA6A-C7C1AAC84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C0FC80A0-AFD7-423D-846F-A1EE8FE7B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0EBED853-5D33-947E-2DD0-9A25734D6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14EE52-DFAF-4F4D-AC23-5A7EB895028A}" type="slidenum">
              <a:rPr lang="en-US" altLang="en-US" sz="1200"/>
              <a:pPr/>
              <a:t>51</a:t>
            </a:fld>
            <a:endParaRPr lang="en-US" altLang="en-US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01592BE2-AD41-93CB-AD24-25ED6EA9C0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32D9B0A7-AE28-06E8-8DF8-BA1D28202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70CDB7DB-1416-44CC-ACE5-B5206DD1C7F9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610630A6-FE3A-4418-BA37-DB6231FA0D9A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9715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4B5BBCE3-17C7-423F-943C-1B41998CE066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8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Database System Design, Implementation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20AF5762-59E0-4629-90DC-1BE8FA26301F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980B57E2-876F-4F24-9AAF-4A5EC41F8CAC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D5D00D0E-AE31-4F91-87E6-947C53839E5E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FD2A4B3F-A5D2-47E2-8B97-E32FFADFAD96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A3DC5F72-96BD-4919-AD9E-D68E35DCD53F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3AA6EF9F-2327-46EA-8DE0-9647F5F6B2D9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B9C4CA34-7830-4F80-BF1D-E0A1020A7D1C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z="8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B4B040A3-31D5-4BDD-9BA1-61463AF2BB42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84938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800" smtClean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buFont typeface="Monotype Sorts" charset="2"/>
              <a:buNone/>
              <a:defRPr/>
            </a:pPr>
            <a:fld id="{F021814C-C15F-4062-B937-24D99463BB98}" type="datetime1">
              <a:rPr lang="en-US" smtClean="0"/>
              <a:pPr>
                <a:buFont typeface="Monotype Sorts" charset="2"/>
                <a:buNone/>
                <a:defRPr/>
              </a:pPr>
              <a:t>12/19/2024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75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Database </a:t>
            </a:r>
            <a:r>
              <a:rPr lang="en-US" sz="800" dirty="0"/>
              <a:t>System</a:t>
            </a:r>
            <a:r>
              <a:rPr lang="en-US" dirty="0"/>
              <a:t> Design, </a:t>
            </a:r>
            <a:r>
              <a:rPr lang="en-US" sz="800" dirty="0"/>
              <a:t>Implementation</a:t>
            </a:r>
            <a:r>
              <a:rPr lang="en-US" dirty="0"/>
              <a:t>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FBCF949-29D3-4DF4-AAC8-19339CAF90BF}" type="datetime1">
              <a:rPr lang="en-US" smtClean="0"/>
              <a:t>12/19/2024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5367" name="Picture 8">
            <a:extLst>
              <a:ext uri="{FF2B5EF4-FFF2-40B4-BE49-F238E27FC236}">
                <a16:creationId xmlns:a16="http://schemas.microsoft.com/office/drawing/2014/main" id="{801B691D-4D46-C251-46D8-95ADC8DDA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3" y="152400"/>
            <a:ext cx="12105993" cy="633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Data Science &amp; Artificial Intelligence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dirty="0"/>
              <a:t>Database System Design, Implementation And Management Course – Data Model</a:t>
            </a:r>
          </a:p>
          <a:p>
            <a:pPr eaLnBrk="1" hangingPunct="1"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(FDA – SLSCM Lab)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76F99BE-16D2-D698-B84F-294467AC8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4034" y="204634"/>
            <a:ext cx="1243166" cy="124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9BFC2BE-16EA-CF2A-0193-BCC3544BE7F1}"/>
              </a:ext>
            </a:extLst>
          </p:cNvPr>
          <p:cNvSpPr txBox="1">
            <a:spLocks/>
          </p:cNvSpPr>
          <p:nvPr/>
        </p:nvSpPr>
        <p:spPr>
          <a:xfrm>
            <a:off x="0" y="6600825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70935733-0070-4FC4-AA67-45D4DA740129}" type="datetime1">
              <a:rPr lang="en-US" sz="900" smtClean="0"/>
              <a:pPr>
                <a:defRPr/>
              </a:pPr>
              <a:t>12/19/2024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36BB0-D354-C3A9-B5A0-5D1CD2961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6604000"/>
            <a:ext cx="4967287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/>
            <a:r>
              <a:rPr lang="en-US" altLang="en-US" sz="900" dirty="0">
                <a:solidFill>
                  <a:schemeClr val="bg1"/>
                </a:solidFill>
              </a:rPr>
              <a:t>Database System Design, Implementation And Management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EEC19-2A29-080D-84C0-C504A808E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6600825"/>
            <a:ext cx="2743200" cy="27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defTabSz="342900" rtl="0" eaLnBrk="1" fontAlgn="auto" hangingPunct="1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/>
            <a:fld id="{25E4E02F-8D0B-4F73-B3DD-858F1DB63CB0}" type="slidenum">
              <a:rPr lang="en-US" altLang="en-US" sz="900" smtClean="0">
                <a:solidFill>
                  <a:schemeClr val="bg1"/>
                </a:solidFill>
              </a:rPr>
              <a:pPr algn="r"/>
              <a:t>2</a:t>
            </a:fld>
            <a:endParaRPr lang="en-US" altLang="en-US" sz="900" dirty="0">
              <a:solidFill>
                <a:schemeClr val="bg1"/>
              </a:solidFill>
            </a:endParaRP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11910D4C-A8E1-69FA-9253-D7771B26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09550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Discuss data modeling and why data models are important</a:t>
            </a:r>
            <a:endParaRPr lang="en-US" dirty="0">
              <a:solidFill>
                <a:srgbClr val="242021"/>
              </a:solidFill>
              <a:latin typeface="MyriadPro-SemiboldSemiCn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Describe the basic data-modeling building blocks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Define what business rules are and how they influence database design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Outline how the major data models evolved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List emerging alternative data models and the needs they fulfill</a:t>
            </a:r>
            <a:endParaRPr lang="en-US" dirty="0">
              <a:solidFill>
                <a:srgbClr val="242021"/>
              </a:solidFill>
              <a:latin typeface="MyriadPro-SemiboldSemiCn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242021"/>
                </a:solidFill>
                <a:effectLst/>
                <a:latin typeface="MyriadPro-SemiboldSemiCn"/>
              </a:rPr>
              <a:t>Explain how data models can be classified by their level of abstraction</a:t>
            </a:r>
            <a:r>
              <a:rPr lang="en-US" sz="3200" dirty="0"/>
              <a:t> </a:t>
            </a:r>
            <a:br>
              <a:rPr lang="en-US" dirty="0"/>
            </a:b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1F7BAB8-80DB-4E62-842E-B5FE49FBC773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E1F37B5-A828-DA51-E23E-A08D3FAFC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8C698D5-E49B-4EA2-CD52-00728EC83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Designers, programmers, and end users see data in different ways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Different views of same data lead to designs that do not reflect organization’s operation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Data modeling reduces complexities of database design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Various degrees of data abstraction help reconcile varying views of same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1B48D-3506-B854-B860-F55FB40439C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23C446CA-EA9F-4A25-ADB9-EAA8504DC6A3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8E975-0E6A-CC06-8B66-868B4377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C4DED-83C8-4CC4-6417-4A95BC88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F9687196-A9B6-DB65-2E70-CE1FF2A92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2-1 Data Modeling and Data Models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B39EA72A-8692-F1B7-A3BB-27F59D2F2A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Data models 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Relatively simple representations of complex real-world data structures</a:t>
            </a:r>
          </a:p>
          <a:p>
            <a:pPr lvl="2"/>
            <a:r>
              <a:rPr lang="en-US" altLang="en-US" sz="1600" dirty="0">
                <a:ea typeface="ＭＳ Ｐゴシック" panose="020B0600070205080204" pitchFamily="34" charset="-128"/>
              </a:rPr>
              <a:t>Often graphical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Model: an abstraction of a real-world object or event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Useful in understanding complexities of the real-world environment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Data modeling is iterative and progressive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17CC45-A848-B924-9C76-815E9251E35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2089EC07-346D-457E-825E-B78AAE38789B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BA186-6D96-BADE-DC23-00E3E82A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32E27-DD70-5339-5643-96E58AD9C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554631-3E9B-7CB5-C44B-365194939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252" y="2144766"/>
            <a:ext cx="25908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9A53E50-56D9-6968-EC2E-247310885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2-2 The Importance of Data Models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CEEFADF-5C2E-C06F-E0BE-BBA83574C3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Facilitate interaction among the designer, the applications programmer, and the end user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End users have different views and needs for data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Data model organizes data for various users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Data model is an abstraction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Cannot draw required data out of the data model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7C58E-5B50-F8A5-E3DC-F0D68869F83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7DF64C4-A033-443F-A83F-23708FD6B502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8AE94-7BD4-01FC-6269-EDB9E53A4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4ADD1-7244-4E9E-E256-503613A0D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5E99-904A-5FAD-7FE9-056E799E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EECFE-62F8-6468-F992-EB1A46FBE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510DBD-B54C-4BB2-9910-15204BA8081C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08ACC7-1B28-181D-1ED6-3FC47B16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1F0A3-D837-561C-82E8-B5D119A1306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1AC891F-B65E-485A-BC1B-E4344CC26454}" type="datetime1">
              <a:rPr lang="en-US" smtClean="0"/>
              <a:t>12/19/2024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7338C3-260C-AA44-ACC1-2A83AE21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90640"/>
            <a:ext cx="9029700" cy="179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8AA291-5020-5B21-2159-B11885FC7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429000"/>
            <a:ext cx="90582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2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B0D1CDE7-A8B9-E774-8254-D7044CBE3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2-3 Data Model Basic Building Blocks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E2E9D807-DE8E-B18F-A32B-17AE515E72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096000" cy="4351338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Entity: anything about which data are to be collected and stored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Attribute: a characteristic of an entity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Relationship: describes an association among entities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One-to-many (1:M) relationship 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Many-to-many (M:N or M:M) relationship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One-to-one (1:1) relationship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Constraint: a restriction placed on the data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72597-3A02-17BF-11C7-F1032F13C2D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37D43A64-ECA2-4944-A788-74A1FDBEF04B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1ACBA-2988-6B4D-5368-9F65A115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4B7DD-6781-102B-DDA2-845A75651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4A5540-3E0F-477D-C50C-E7EEB149B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806" y="838200"/>
            <a:ext cx="2657475" cy="3714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56FBB8-44FA-BC69-BFAF-A18DC2819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025" y="838200"/>
            <a:ext cx="1799247" cy="5341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2E83F1-B318-7EF8-F034-AE535B040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614" y="4519422"/>
            <a:ext cx="2514600" cy="1567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E8CACD7B-0AB0-1038-74AC-A73BD4006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2-4 Business Rules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4B80793B-5FE6-9742-EC45-3FBB4304DE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71600"/>
            <a:ext cx="8686800" cy="4114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Descriptions of policies, procedures, or principles within a specific organization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Apply to any organization that stores and uses data to generate information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Description of operations to create/enforce actions within an organization’s environment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Must be in writing and kept up to date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Must be easy to understand and widely disseminated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Describe characteristics of data as viewed by the company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4CBA5-EE99-F43C-4D1F-449345922F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30FD94A-031E-421C-B089-B0E06EC41F3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E98ED-BC37-C189-86C2-5A6D2696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17FFA7-55C2-C3F3-EDE7-4E5E184F4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D990A-C4C0-CE30-81F8-43792A3DE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487" y="1600200"/>
            <a:ext cx="2409825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6">
            <a:extLst>
              <a:ext uri="{FF2B5EF4-FFF2-40B4-BE49-F238E27FC236}">
                <a16:creationId xmlns:a16="http://schemas.microsoft.com/office/drawing/2014/main" id="{F34220FB-BF51-CD9F-0247-8378877444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2-4a Discovering Business Rules</a:t>
            </a:r>
          </a:p>
        </p:txBody>
      </p:sp>
      <p:sp>
        <p:nvSpPr>
          <p:cNvPr id="10243" name="Rectangle 7">
            <a:extLst>
              <a:ext uri="{FF2B5EF4-FFF2-40B4-BE49-F238E27FC236}">
                <a16:creationId xmlns:a16="http://schemas.microsoft.com/office/drawing/2014/main" id="{52D8AB9E-464C-8372-17F7-A6973C9303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24000"/>
            <a:ext cx="105156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Sources of business rules: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Company managers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Policy makers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Department managers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Written documentation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Procedures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Standards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Operations manuals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Direct interviews with end users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CC1EC-67A7-4F48-84FE-8ECA9EF830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70E98937-EB27-4AE7-A20A-C1DDD8A3E00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8C61D-2673-F101-4B2C-B68916C0F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744F7-8148-8514-58F6-6D0E43259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7B5E07AA-A8C3-952A-93BF-9CF8EE014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2-4a Discovering Business Rules (cont’d.)</a:t>
            </a:r>
          </a:p>
        </p:txBody>
      </p:sp>
      <p:sp>
        <p:nvSpPr>
          <p:cNvPr id="11267" name="Rectangle 7">
            <a:extLst>
              <a:ext uri="{FF2B5EF4-FFF2-40B4-BE49-F238E27FC236}">
                <a16:creationId xmlns:a16="http://schemas.microsoft.com/office/drawing/2014/main" id="{76D1171E-C427-666E-5760-00D37E38A0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Standardize company’s view of data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Communications tool between users and designers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Allow designer to understand the nature, role, and scope of data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Allow designer to understand business processes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Allow designer to develop appropriate relationship participation rules and constraints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7C9D3-1834-8F6E-C637-A6609277FC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ED97F323-3616-4F15-A664-63AE541B2A03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159583-85A3-4B0A-E53D-ABC01263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FCC67-0D69-2294-138A-5B9EECA2C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F2EBB5D-E52C-8C92-7F07-FABBCA7F6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2-4b Translating Business Rules into Data Model Components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D1D5E90-FF74-B0B0-4C70-9857172EE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Nouns translate into entities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Verbs translate into relationships among entities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Relationships are bidirectional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Two questions to identify the relationship type: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How many instances of B are related to one instance of A?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How many instances of A are related to one instance of B?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72633-05DB-4A03-C1EC-0190F162C0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30F4C08C-3EE5-42B7-A72B-3DDABDC1EA32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CC9A1-A31C-C777-6CF9-9DD084D5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911CE-CC07-4E93-DC49-853A16E20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76AFF51-CC1A-09CF-3A17-33023F7C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2-4c Naming Conventions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C08079F2-E939-5663-C078-0AA990D09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96600" cy="4351338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Naming occurs during translation of business rules to data model components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Names should make the object unique and distinguishable from other objects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Names should also be descriptive of objects in the environment and be familiar to users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Proper naming: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Facilitates communication between parties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Promotes self-documentation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2371C-4CCC-789B-2767-0E2B4681553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2B3F4340-CEB6-4B54-8AB1-23A18275176E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25BC0-282A-A91D-5458-C8B24C61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44C15-FA16-4D0A-8F6B-38541ED38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C0E8F2-5715-7C29-5214-BA9F6C978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4910931"/>
            <a:ext cx="7705725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9B6FFC5-C9AE-563E-E293-51C36CFA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 The Evolution of Data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4F733-B18F-0938-E8CF-2E01E6EF779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DC394D2-CD59-483B-8EAB-636C5856931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D795E-C4C0-13AB-9976-BB5C4D6C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4C7FE-94ED-BA27-DA55-7333A5962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6C87C-4A9C-0455-86E8-812651FD6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50" y="1447800"/>
            <a:ext cx="8115300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BD2EAA32-0812-3D00-360B-3615EE0E2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2-5a Hierarchical and Network Models</a:t>
            </a:r>
          </a:p>
        </p:txBody>
      </p:sp>
      <p:sp>
        <p:nvSpPr>
          <p:cNvPr id="15363" name="Rectangle 5">
            <a:extLst>
              <a:ext uri="{FF2B5EF4-FFF2-40B4-BE49-F238E27FC236}">
                <a16:creationId xmlns:a16="http://schemas.microsoft.com/office/drawing/2014/main" id="{8A0EBCC0-E0F8-1141-ACEA-D0BD754A6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153400" cy="4351338"/>
          </a:xfrm>
        </p:spPr>
        <p:txBody>
          <a:bodyPr/>
          <a:lstStyle/>
          <a:p>
            <a:r>
              <a:rPr lang="en-US" altLang="en-US" sz="2800" dirty="0">
                <a:ea typeface="ＭＳ Ｐゴシック" panose="020B0600070205080204" pitchFamily="34" charset="-128"/>
              </a:rPr>
              <a:t>The hierarchical model 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Developed in the 1960s to manage large amounts of data for manufacturing projects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Basic logical structure is represented by an upside-down “tree”</a:t>
            </a:r>
          </a:p>
          <a:p>
            <a:pPr lvl="1"/>
            <a:r>
              <a:rPr lang="en-US" altLang="en-US" sz="2400" dirty="0">
                <a:ea typeface="ＭＳ Ｐゴシック" panose="020B0600070205080204" pitchFamily="34" charset="-128"/>
              </a:rPr>
              <a:t>Structure contains levels or segments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2D4CA-BF16-3271-D97A-79614E4906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4FE7DBA8-203E-42D0-8CEC-3C0E2EA97FE0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3E98D-895A-412D-0022-69447466A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E23D4-6790-DF55-E896-A05EA053E9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89BF2-2488-57B0-FA11-A372EFA8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1862496"/>
            <a:ext cx="2238375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A7508A7D-FA50-6426-8ED7-CA91D45D6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2-5a Hierarchical and Network Models (cont’d.)</a:t>
            </a:r>
          </a:p>
        </p:txBody>
      </p:sp>
      <p:sp>
        <p:nvSpPr>
          <p:cNvPr id="16387" name="Rectangle 5">
            <a:extLst>
              <a:ext uri="{FF2B5EF4-FFF2-40B4-BE49-F238E27FC236}">
                <a16:creationId xmlns:a16="http://schemas.microsoft.com/office/drawing/2014/main" id="{1120A55F-1A86-97E9-8A2B-A2A6DC4651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3058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Network model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Created to represent complex data relationships more effectively than the hierarchical model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Improves database performance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Imposes a database standard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Resembles hierarchical model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Record may have more than one parent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C68B2-8F77-1109-425C-50035426FC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4B3D79C7-8F61-458B-BF71-74E43D90248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5E424-B248-DE75-4873-A4F9C610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4AF39-1DB2-93E8-DA9D-FE86698B3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61A9E-A349-E701-5F97-D29809315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592" y="911223"/>
            <a:ext cx="1809750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>
            <a:extLst>
              <a:ext uri="{FF2B5EF4-FFF2-40B4-BE49-F238E27FC236}">
                <a16:creationId xmlns:a16="http://schemas.microsoft.com/office/drawing/2014/main" id="{DD1D5EBD-7B51-BB87-035B-6FC2BBEA9B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2-5a Hierarchical and Network Models (cont’d.)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7895CADC-CF3A-17CF-BE61-3764D69BA7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Collection of records in 1:M relationships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Set composed of two record types:</a:t>
            </a:r>
          </a:p>
          <a:p>
            <a:pPr lvl="2" eaLnBrk="1" hangingPunct="1"/>
            <a:r>
              <a:rPr lang="en-US" altLang="en-US" dirty="0">
                <a:ea typeface="ＭＳ Ｐゴシック" panose="020B0600070205080204" pitchFamily="34" charset="-128"/>
              </a:rPr>
              <a:t>Owner </a:t>
            </a:r>
          </a:p>
          <a:p>
            <a:pPr lvl="2" eaLnBrk="1" hangingPunct="1"/>
            <a:r>
              <a:rPr lang="en-US" altLang="en-US" dirty="0">
                <a:ea typeface="ＭＳ Ｐゴシック" panose="020B0600070205080204" pitchFamily="34" charset="-128"/>
              </a:rPr>
              <a:t>Member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Network model concepts still used today: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Schema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Conceptual organization of entire database as viewed by the database administrator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Subschema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Database portion “seen” by the application programs</a:t>
            </a:r>
          </a:p>
          <a:p>
            <a:pPr lvl="2"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882C09-8146-40F3-92B6-61434B8DD4A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B5D661EC-B716-4301-8CCA-AFEB6AE0D5CE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A31C5-3DC9-BDE9-BF68-DCE6AA3A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dirty="0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C564B9-6954-75E6-CCCE-77BB6166E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None/>
              <a:defRPr/>
            </a:pPr>
            <a:fld id="{34A84676-C444-4AC5-8B4E-405A7C81C0FB}" type="slidenum">
              <a:rPr lang="en-US" altLang="en-US" smtClean="0"/>
              <a:pPr>
                <a:buNone/>
                <a:defRPr/>
              </a:pPr>
              <a:t>17</a:t>
            </a:fld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638B7CBC-3F74-156E-835B-1D16FCBEF2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2-5a Hierarchical and Network Models (cont’d.)</a:t>
            </a:r>
          </a:p>
        </p:txBody>
      </p:sp>
      <p:sp>
        <p:nvSpPr>
          <p:cNvPr id="18435" name="Rectangle 5">
            <a:extLst>
              <a:ext uri="{FF2B5EF4-FFF2-40B4-BE49-F238E27FC236}">
                <a16:creationId xmlns:a16="http://schemas.microsoft.com/office/drawing/2014/main" id="{25C5A82F-6020-9575-DD78-E1B04ADE42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Data management language (DML) 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Defines the environment in which data can be managed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Data definition language (DDL)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Enables the administrator to define the schema components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CEAC6-76EF-9E6A-56F9-06F37175DAC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247FA2A-A8AB-437A-8E62-1E943D7456C2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B48D1-4B9B-3628-8173-BE62D07F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0929-4E10-CA69-8D28-F0EE7A42D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4FEE1155-2462-A912-DA79-B85E33FED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2-5b The Relational Model</a:t>
            </a: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A4412BAF-5E16-15E2-01A8-064D82736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9154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Developed by E.F. Codd (IBM) in 1970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Table (relations)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Matrix consisting of row/column intersections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Each row in a relation is called a tuple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Relational models were considered impractical in 1970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Model was conceptually simple at expense of computer overhead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09AFEA-AEFD-1C1B-61B5-86AD92ABE4C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DD356FF-6429-40EF-8972-6759546FAC0A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ECFBC-A45B-538D-8058-8C6ED3067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31634-5C37-679A-A1D0-852C32D8F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7219A-8321-7587-C5F6-69F67ACF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394" y="1254100"/>
            <a:ext cx="2580967" cy="36341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1DCE23-FBA7-AA31-A7FF-166506A74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1254100"/>
            <a:ext cx="230505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5D3ADEC2-2F27-DFB3-8625-998E027662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2-5b The Relational Model (cont’d.)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4D1822E8-18F4-52CD-82D8-A69776AE2C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Relational data management system (RDBMS)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Performs same functions provided by hierarchical model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Hides complexity from the user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Relational diagram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Representation of entities, attributes, and relationships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Relational table stores collection of related entities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BC977D-7995-D947-848F-D2054273E4E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3D8570CB-817B-47B9-B66F-2FDB2DAEE6F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A7123-7A94-7C42-A319-763BA607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1C8FB-774C-60F4-82B8-6EDEEB826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BA452E-6345-E889-97F6-1BBA6869F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009652"/>
            <a:ext cx="2133600" cy="2571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11D261-B08C-7317-54E4-A4EC4D948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838575"/>
            <a:ext cx="209550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789F6-50B3-0132-92C5-C33158F4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2A3F4C-E84E-4899-BCC1-C7E2DDDD318F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EA4E3-B2F9-7262-6229-6B84940CB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1B74-17ED-B341-D009-776D4585BF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57AEF-B4E9-D188-76B5-1FAAFDEF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1071562"/>
            <a:ext cx="10125075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32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789F6-50B3-0132-92C5-C33158F4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0DBE87-A48B-487B-BC53-A32B291325D5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EA4E3-B2F9-7262-6229-6B84940CB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1B74-17ED-B341-D009-776D4585BF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BD8DA-1F60-1CBE-21E1-DB25BA491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423987"/>
            <a:ext cx="77914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412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7183D95-C35B-45B5-1929-7835F6EC4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2-5b The Relational Model (cont’d.)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9C565F20-0015-6517-E9C6-31CA609580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SQL-based relational database application involves three parts: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End-user interface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Allows end user to interact with the data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Set of tables stored in the database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Each table is independent from another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Rows in different tables are related based on common values in common attributes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SQL “engine”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Executes all queries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0521DE-F98D-EC7D-96C2-0B008BB11C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73BB832B-8B9E-49CB-8DB5-DB13469D243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9A3CC-79BF-2957-3579-3495DB50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EC12C-0EB1-12E6-1C84-8927B8182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968E7AE8-C0BD-2DB3-E63B-BC82D6E9E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2-5c The Entity Relationship Model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AE3C61D4-00D9-31C3-678F-7C92C34C2E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4582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Widely accepted standard for data modeling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Introduced by Chen in 1976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Graphical representation of entities and their relationships in a database structure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Entity relationship diagram (ERD)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Uses graphic representations to model database components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Entity is mapped to a relational table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0ACC9-77BA-1067-D9BB-B18D8C5DA4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16287D8-D9B6-40F7-B7E9-A5B40BA8D7F7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6D27C-0BEF-3BD5-D524-9DF8EB7E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EF668-1E7C-81BC-4B04-AF1EAAAC7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ADA71-CF60-9410-71B2-D3D7E9DD6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1190318"/>
            <a:ext cx="2095500" cy="167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7DB767-A65A-06B8-B16C-B81C8E157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1675" y="2876550"/>
            <a:ext cx="2295525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>
            <a:extLst>
              <a:ext uri="{FF2B5EF4-FFF2-40B4-BE49-F238E27FC236}">
                <a16:creationId xmlns:a16="http://schemas.microsoft.com/office/drawing/2014/main" id="{5A13B98B-078F-156A-40D5-68CBEDF4B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2-5c The Entity Relationship Model (cont’d.)</a:t>
            </a:r>
          </a:p>
        </p:txBody>
      </p:sp>
      <p:sp>
        <p:nvSpPr>
          <p:cNvPr id="25603" name="Rectangle 6">
            <a:extLst>
              <a:ext uri="{FF2B5EF4-FFF2-40B4-BE49-F238E27FC236}">
                <a16:creationId xmlns:a16="http://schemas.microsoft.com/office/drawing/2014/main" id="{A88E1AB4-7D75-B98D-E71C-25CF70233F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1534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Entity instance (or occurrence) is row in table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Entity set is collection of like entities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Connectivity labels types of relationships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Relationships are expressed using Chen notation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Relationships are represented by a diamond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Relationship name is written inside the diamond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Crow’s Foot notation used as design standard in this book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6DC9D0-115B-7C3F-E310-A823B69F33C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E92B7C4-7C38-48C5-8747-D65AB892641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D33D4-FA0A-5A15-CD71-EB3B6B0B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4F2C9-1EED-67D7-38DF-7B206C8E1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C99967-26F7-3D74-746F-4D2F4C52E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871538"/>
            <a:ext cx="2581275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789F6-50B3-0132-92C5-C33158F4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602C5E-0315-405F-8FE3-F23BA0154553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EA4E3-B2F9-7262-6229-6B84940CB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1B74-17ED-B341-D009-776D4585BF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014933-DBB5-1CFD-918E-4D646FA52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571500"/>
            <a:ext cx="101631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43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04723CE1-0E16-8293-5B34-CA0947C85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2-5d The Object-Oriented (OO) Model</a:t>
            </a:r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9EE6C918-16B9-AA4F-3FAF-9E3CD36C2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690690"/>
            <a:ext cx="88392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Data and relationships are contained in a single structure known as an object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OODM (object-oriented data model) is the basis for OODBMS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Semantic data model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An object: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Contains operations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Are self-contained: a basic building-block for autonomous structures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Is an abstraction of a real-world entity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18E72-A5EA-8C4E-591E-1E7B5E551B6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D26962B7-9FA2-4D71-89EA-D5B175C476F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8CE02-8875-DDA1-FDED-68A0D09C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F320F-7BBC-FBB4-AC92-2D8F29656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9F026B-E813-B77E-296B-CEAD57421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920355"/>
            <a:ext cx="2039112" cy="501728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id="{FC0635A6-1242-96C3-CF04-F6474B93F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2-5d The Object-Oriented (OO) Model (cont’d.)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DB98890E-2A21-E532-F52D-AF5BDA0E4D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781800" cy="4351338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Attributes describe the properties of an object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Objects that share similar characteristics are grouped in classes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Classes are organized in a class hierarchy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Inheritance: object inherits methods and attributes of parent class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UML based on OO concepts that describe diagrams and symbols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Used to graphically model a system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008F9-C9DE-F789-5DA9-D9D854660D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8D740E7A-15B3-4F06-B65D-3F15E6C56748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E29B9-4D89-5B5B-8831-FDDFA952E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FDF50-642C-2F7D-B2F2-F4E336F57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EE701E-E39A-68C1-9BCD-827EAF044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425" y="796131"/>
            <a:ext cx="1781175" cy="5591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B26E4-8F5C-A91E-13BD-E421734BA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2366961"/>
            <a:ext cx="1866900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789F6-50B3-0132-92C5-C33158F4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0707CE-5252-4D41-9E37-8C4F6C15D9BE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EA4E3-B2F9-7262-6229-6B84940CB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1B74-17ED-B341-D009-776D4585BF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D68A6-7C72-A0CF-CE66-363365BD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1152525"/>
            <a:ext cx="101060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57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384C806E-494D-7491-EE0F-548C5E9E0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2-5e Object/Relational and XML</a:t>
            </a:r>
          </a:p>
        </p:txBody>
      </p:sp>
      <p:sp>
        <p:nvSpPr>
          <p:cNvPr id="30723" name="Rectangle 5">
            <a:extLst>
              <a:ext uri="{FF2B5EF4-FFF2-40B4-BE49-F238E27FC236}">
                <a16:creationId xmlns:a16="http://schemas.microsoft.com/office/drawing/2014/main" id="{3343870A-21D6-C4FF-64CD-7E0DED573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7818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Extended relational data model (ERDM)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Semantic data model developed in response to increasing complexity of applications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Includes many of OO model’s best features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Often described as an object/relational database management system (O/RDBMS)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Primarily geared to business applications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21479B-C5FB-04CD-F98B-1938B91DCAE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0EC4BF4-EF46-4F95-94B3-E8E136233BCB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8C283-6D2F-105E-1E7C-3F5A3D63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5C727-3429-2BA5-6C30-41E8E7ED2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ED031-F36A-6856-2E2F-4815EC41E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676" y="1166812"/>
            <a:ext cx="2305050" cy="4524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80EAD5-C63E-D9DC-A656-28A794CA4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2" y="2133600"/>
            <a:ext cx="1895475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D95F0954-3D29-4E60-BB29-E2EAEB5C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Object/Relational and XML (cont’d.)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AC2BC54A-F8A7-5405-E199-87E893BAB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Internet revolution created the potential to exchange critical business information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In this environment, Extensible Markup Language (XML) emerged as the de facto standard 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Current databases support XML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XML: the standard protocol for data exchange among systems and Internet services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188D5-9853-2835-342B-05F60A713DA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EB81DD20-5CE4-4C73-AA4D-B2E79BAF080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D9FDA-6DE4-8AA7-F852-35E52109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67142-F678-F3CC-3C25-D04F9EF7D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6B55C62-00FC-A0DE-146A-EB6ED049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2-5f Emerging Data Models: Big Data and NoSQL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47C953B0-4AE5-0BAE-74EE-2684B5CAC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246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Big Data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Find new and better ways to manage large amounts of Web-generated data and derive business insight from it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Simultaneously provides high performance and scalability at a reasonable cost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Relational approach does not always match the needs of organizations with Big Data challenges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6650B-358F-C685-C0EA-23E5AAA20C3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406C599-3E8A-4E5C-B97E-D3454A9876B4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5045D-CB2F-9095-8E11-9BC40B02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72F63-FA14-ECBC-F34E-822CF696F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578D43-5DEF-58A7-178E-895F0964D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663" y="1524000"/>
            <a:ext cx="1743075" cy="440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3CA70A-C577-0B2A-8DE8-9B1281CC9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387" y="2095500"/>
            <a:ext cx="1724025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6">
            <a:extLst>
              <a:ext uri="{FF2B5EF4-FFF2-40B4-BE49-F238E27FC236}">
                <a16:creationId xmlns:a16="http://schemas.microsoft.com/office/drawing/2014/main" id="{06555764-5076-A79C-43A0-30EA2BD8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2-5f Emerging Data Models: Big Data and NoSQL (cont’d.)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F55A5289-4896-95AA-0184-C2CAF644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676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NoSQL databases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Not based on the relational model, hence the name NoSQL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Supports distributed database architectures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Provides high scalability, high availability, and fault tolerance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Supports very large amounts of sparse data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Geared toward performance rather than transaction consistency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F8584-3E9A-2D4B-F835-082F466B23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E71CD46-C1E8-46CA-9009-33A8927631C6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A8603-C9D0-2430-69A0-C9797189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B5578-47E1-1897-3EC2-0936A3C14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E36DEF-F584-95FE-812A-095C78E79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19200"/>
            <a:ext cx="1771650" cy="4762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87AF35-89FE-CD40-3D86-75C350BFF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800" y="2405063"/>
            <a:ext cx="17145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6">
            <a:extLst>
              <a:ext uri="{FF2B5EF4-FFF2-40B4-BE49-F238E27FC236}">
                <a16:creationId xmlns:a16="http://schemas.microsoft.com/office/drawing/2014/main" id="{1177154F-EBB3-F5AE-E71D-1E5A385C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Emerging Data Models: Big Data and NoSQL (cont’d.)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9BC08D36-7DE2-05E7-75CA-FAABCD25D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Key-value data model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Two data elements: key and value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Every key has a corresponding value or set of values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Sparse data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Number of attributes is very large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Number of actual data instances is low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Eventual consistency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Updates will propagate through system; eventually all data copies will be consistent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DE082-1873-4F5E-B1ED-901250685AB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2C952241-50BF-4A79-8608-68434705AA5F}" type="datetime1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E842E-A8EF-7FBB-767D-56B09C1E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68436-39DB-20FC-E99B-175FECE26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80AA963D-1320-586F-2139-4C1DA778C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2-5g Data Models: A Summary</a:t>
            </a: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E4958BA6-E160-A042-29F5-610674B9AD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Common characteristics: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Conceptual simplicity with semantic completeness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Represent the real world as closely as possible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Real-world transformations must comply with consistency and integrity characteristics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Each new data model capitalized on the shortcomings of previous models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Some models better suited for some tasks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5ADDD-FB0E-370B-13F3-41347759286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7EF8E438-71ED-4BF8-985C-6BDD6C71A3C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2E859-8FE5-2521-6CFF-7B1E6A87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FD0067-88A0-B97A-3CA3-39F4604BB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789F6-50B3-0132-92C5-C33158F4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D965A88-E4DC-4B8E-877D-3EBB6491B961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EA4E3-B2F9-7262-6229-6B84940CBD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1B74-17ED-B341-D009-776D4585BF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892A9-04CF-510F-C4A0-10A327421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519112"/>
            <a:ext cx="81153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0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>
            <a:extLst>
              <a:ext uri="{FF2B5EF4-FFF2-40B4-BE49-F238E27FC236}">
                <a16:creationId xmlns:a16="http://schemas.microsoft.com/office/drawing/2014/main" id="{893BDF18-7485-BD27-A083-F67ABB27D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 Degrees of Data Abstraction</a:t>
            </a: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384F7090-22BB-2F44-E929-9992BB6F12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Database designer starts with abstracted view, then adds details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ANSI Standards Planning and Requirements Committee (SPARC)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Defined a framework for data modeling based on degrees of data abstraction (1970s): 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External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Conceptual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Internal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B458F2-1218-8355-4BAD-2F9EB3641E9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2AD22D8D-BCB8-4320-A3DE-4D6C8213377F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75894-CE19-5C1B-2EDD-07D62DE6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F81EC-B850-ADC7-DD6F-AAB04308D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23E1F-C112-1234-1E27-532C70FBF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BD4F55-2FF7-4BC1-9012-BB00CC74654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938BD-7B4A-420C-085C-F37F1438B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D869C-E6DB-A5CB-5CB0-8E2763F206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5F0FBF-3424-7AEA-1D3F-785CB86E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2095500"/>
            <a:ext cx="817245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8A389-6640-AF0E-F880-5C4DDC07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68E3F5-73C5-4CD9-86BB-951CE792F675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FF381-5C33-1942-7B06-483DEB251F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2AFD-536F-9781-A471-41835081B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9AB78-D285-713E-B39E-8C188113F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09600"/>
            <a:ext cx="9563100" cy="580616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DC36ACAF-7986-72DB-FD69-9C7BD8E53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2-6a The External Model</a:t>
            </a: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0F607AFA-A6DD-BAFB-F996-98FF8BA96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End users’ view of the data environment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ER diagrams represent external views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External schema: specific representation of an external view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Entities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Relationships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Processes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Constraints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C769F3-88EF-205A-3732-BD1E9CC54D8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71E553D-89DD-4C51-B1BF-637D5161DBD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B16C27-7290-3A50-2299-4B8C7B56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73A4E3-AB5D-7677-2EBB-B7BC248214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3D40F-0E7F-4588-B5F8-407321A3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825625"/>
            <a:ext cx="189547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>
            <a:extLst>
              <a:ext uri="{FF2B5EF4-FFF2-40B4-BE49-F238E27FC236}">
                <a16:creationId xmlns:a16="http://schemas.microsoft.com/office/drawing/2014/main" id="{86E5C6F7-20AA-AED6-FBEA-9F1F811E07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2-6a The External Model (cont’d.)</a:t>
            </a: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ADD4B7D2-ACF8-DB2E-EF29-64D7D0F8E8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Easy to identify specific data required to support each business unit’s operations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Facilitates designer’s job by providing feedback about the model’s adequacy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Ensures security constraints in database design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Simplifies application program development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9105E-7721-502E-A17D-8E681B99BFF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577A89D-B909-459A-94B1-B2458F8D1805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DAE7E-21A1-F4EA-80A9-791BFAF7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5AF22-0F87-AF3D-0895-4BFB33C61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F7845B0E-CB07-1718-A667-D7806BF5C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2-6b The Conceptual Model</a:t>
            </a:r>
          </a:p>
        </p:txBody>
      </p:sp>
      <p:sp>
        <p:nvSpPr>
          <p:cNvPr id="43011" name="Rectangle 5">
            <a:extLst>
              <a:ext uri="{FF2B5EF4-FFF2-40B4-BE49-F238E27FC236}">
                <a16:creationId xmlns:a16="http://schemas.microsoft.com/office/drawing/2014/main" id="{E79E0438-CD90-C3EE-F27E-E17BE06B8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7056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Represents global view of the entire database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All external views integrated into single global view: conceptual schema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ER model most widely used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ERD graphically represents the conceptual schema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9141D-0C70-078F-01EB-3DB149ABDD3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F5BAD904-89C5-434A-AE5A-127EB465BE7C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26545-B376-AC8D-1B3C-868D0869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F61F3-6015-279A-027E-DC63A3392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A73A31-EF26-D0B5-C5DC-BBBBE7A75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76" y="1690690"/>
            <a:ext cx="1847850" cy="3495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E297BB-B50D-658E-06F7-3D41B9325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426" y="1385889"/>
            <a:ext cx="1847850" cy="41052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8A389-6640-AF0E-F880-5C4DDC07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31752C-33DA-4224-B953-45EA91E03EFE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FF381-5C33-1942-7B06-483DEB251F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2AFD-536F-9781-A471-41835081B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3E033-4521-9E8B-55EB-366F56CF4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5" y="838200"/>
            <a:ext cx="8286750" cy="555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889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5D70FE2-2277-6805-1554-AEF449BA0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2-6b The Conceptual Model (cont’d.)</a:t>
            </a:r>
          </a:p>
        </p:txBody>
      </p:sp>
      <p:sp>
        <p:nvSpPr>
          <p:cNvPr id="45059" name="Rectangle 8">
            <a:extLst>
              <a:ext uri="{FF2B5EF4-FFF2-40B4-BE49-F238E27FC236}">
                <a16:creationId xmlns:a16="http://schemas.microsoft.com/office/drawing/2014/main" id="{61A94DBA-3A50-19C3-CE1F-071A0D644F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Provides a relatively easily understood macro level view of data environment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Independent of both software and hardware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Does not depend on the DBMS software used to implement the model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Does not depend on the hardware used in the implementation of the model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Changes in hardware or software do not affect database design at the conceptual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AF8E52-7CBD-75F9-05DE-C872FB942AC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CC1A1FFC-5511-4C74-B4C8-3EE01AFC6E9C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63EBB-6D8C-86C4-21D8-2DEA54BCF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C0E25-0487-146B-D538-5F88A6D5C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4D6F1336-E89B-451E-03E7-3CDC7F265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2-6c The Internal Model</a:t>
            </a: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40E833EC-A888-6D75-6EDF-3F557201A3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610600" cy="43513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Representation of the database as “seen” by the DBMS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Maps the conceptual model to the DBMS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Internal schema depicts a specific representation of an internal model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Depends on specific database software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Change in DBMS software requires internal model be changed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Logical independence: change internal model without affecting conceptual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92F63-9BD0-CCBB-A541-B3D84DD435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0515DD44-AAFE-40BE-A747-C716ED7ADD4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8D6A9-DC67-AD74-D6EA-1A80D4C8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B97B2-1D08-69D3-CF85-282C7DD6A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884054-9291-EE21-853E-0AEAF4C77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830" y="1705930"/>
            <a:ext cx="1846170" cy="3457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4EFBC-9564-732D-07B3-6FF53EE01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429301"/>
            <a:ext cx="1447800" cy="226684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8A389-6640-AF0E-F880-5C4DDC07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0C92A3-9DF0-4AC5-AEF5-E38C74D69DDD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FF381-5C33-1942-7B06-483DEB251F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2AFD-536F-9781-A471-41835081B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88524-03F5-7C3B-3880-4D0947B08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37" y="500062"/>
            <a:ext cx="81629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7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65EAECBA-D695-6A05-C89F-3A99B1871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2-6d The Physical Model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C7C345F9-81AB-9D27-B26A-92D20308F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8305800" cy="4351338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Operates at lowest level of abstraction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Describes the way data are saved on storage media such as disks or tapes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Requires the definition of physical storage and data access methods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Relational model aimed at logical level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Does not require physical-level details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Physical independence: changes in physical model do not affect internal model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94330-CF96-0705-3D20-78C59EB3656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6C99765E-1E54-4567-800E-2C6C7D9EAF28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D32D0-C273-B725-5CA6-9AF3A9380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6F721C-930E-ECF8-EBAB-8920D465D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5B7E88-E595-94AC-F7CB-85749ACA2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975" y="3389424"/>
            <a:ext cx="1733550" cy="1095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6A25B7-BECB-C09F-DC22-E1BDD8069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975" y="1654779"/>
            <a:ext cx="1800225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8A389-6640-AF0E-F880-5C4DDC07F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C9957-2480-4FB5-BB89-CF171F2B85B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FF381-5C33-1942-7B06-483DEB251F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2AFD-536F-9781-A471-41835081B9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FB92E-0089-F7CA-153B-E2D5EFA19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87" y="2500312"/>
            <a:ext cx="812482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464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6E537B55-6DCF-5E08-C80E-3C9CBF4DA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50179" name="Rectangle 5">
            <a:extLst>
              <a:ext uri="{FF2B5EF4-FFF2-40B4-BE49-F238E27FC236}">
                <a16:creationId xmlns:a16="http://schemas.microsoft.com/office/drawing/2014/main" id="{83A71DF1-F701-8315-BE86-D2D1C3D812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 data model is an abstraction of a complex real-world data environment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Basic data modeling components: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Entities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Attributes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Relationships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Constraints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Business rules identify and define basic modeling components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F1AE2-6A63-8E70-62AD-CBA69182784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5474E3F3-C3F1-4AA4-B80B-A277E15307DE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2021A-C6AB-E097-A3EE-16A8F007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BB740-EB51-B4E3-C6FA-55B39BBE87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>
            <a:extLst>
              <a:ext uri="{FF2B5EF4-FFF2-40B4-BE49-F238E27FC236}">
                <a16:creationId xmlns:a16="http://schemas.microsoft.com/office/drawing/2014/main" id="{A00C4D02-1F55-1691-D0F5-0B1526C3F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51203" name="Rectangle 5">
            <a:extLst>
              <a:ext uri="{FF2B5EF4-FFF2-40B4-BE49-F238E27FC236}">
                <a16:creationId xmlns:a16="http://schemas.microsoft.com/office/drawing/2014/main" id="{E49CB5A3-0754-44B8-E442-BFF6F5441A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Hierarchical model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Set of one-to-many (1:M) relationships between a parent and its children segments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Network data model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Uses sets to represent 1:M relationships between record types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Relational model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Current database implementation standard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ER model is a tool for data modeling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Complements relational model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7AFD1-BE7F-0D7C-F3CE-7CED63DB177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0462E2FE-7D58-45EA-9247-6DC63777E5DA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41836-94BA-980D-41D1-BD694121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6C115-0B80-6DAE-1601-F0B736636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>
            <a:extLst>
              <a:ext uri="{FF2B5EF4-FFF2-40B4-BE49-F238E27FC236}">
                <a16:creationId xmlns:a16="http://schemas.microsoft.com/office/drawing/2014/main" id="{47DD9C90-167A-2194-589F-5F48576C1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52227" name="Rectangle 5">
            <a:extLst>
              <a:ext uri="{FF2B5EF4-FFF2-40B4-BE49-F238E27FC236}">
                <a16:creationId xmlns:a16="http://schemas.microsoft.com/office/drawing/2014/main" id="{B61C57A7-55FC-1D0F-28E4-D669F3EC4B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Object-oriented data model: object is basic modeling structure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Relational model adopted object-oriented extensions: extended relational data model (ERDM)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OO data models depicted using UML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Data-modeling requirements are a function of different data views and abstraction levels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Three abstraction levels: external, conceptual, and internal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F77AF-96B3-22D2-0412-E6438C5533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92C7CD88-ABE4-4B35-8A04-B97607B05306}" type="datetime1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E93E8-D215-77C6-5263-E022EC8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92128-A896-706D-9340-A5A17C8D4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FFCBA7-1B67-0ABB-74A3-187BC9AD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E47E20-3038-4451-B82B-43EE1A60EBB0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98F9F-85EF-94F5-CD24-D53F0CF76A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35D7F-B76F-71B2-4C28-6A390E439A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A87665-5C94-C030-2EB9-6FEFAFFDA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00044"/>
            <a:ext cx="9829800" cy="460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32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82912-7967-84F9-A2ED-1181286A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EC227C-39B3-409E-886D-2ED7B992D435}" type="datetime1">
              <a:rPr lang="en-US" smtClean="0"/>
              <a:t>12/19/2024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2C0C-E63F-D7CA-FF6D-D3886899EA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AD3536-327C-4937-83AF-A64971CFA6D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A2E71-4942-1CCA-F12C-D124EA4160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 Design, Implementation And Management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071ECA-D1D8-A1A1-FAA0-CB519242F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600496" cy="30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29901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3857</TotalTime>
  <Words>2405</Words>
  <Application>Microsoft Office PowerPoint</Application>
  <PresentationFormat>Widescreen</PresentationFormat>
  <Paragraphs>468</Paragraphs>
  <Slides>53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ＭＳ Ｐゴシック</vt:lpstr>
      <vt:lpstr>Arial</vt:lpstr>
      <vt:lpstr>Calibri</vt:lpstr>
      <vt:lpstr>Courier New</vt:lpstr>
      <vt:lpstr>Monotype Sorts</vt:lpstr>
      <vt:lpstr>MyriadPro-SemiboldSemiCn</vt:lpstr>
      <vt:lpstr>Times New Roman</vt:lpstr>
      <vt:lpstr>Wingdings</vt:lpstr>
      <vt:lpstr>Vicostone Template</vt:lpstr>
      <vt:lpstr>Database Systems:  Design, Implementation, and Management 14th Edition</vt:lpstr>
      <vt:lpstr>National Economics University Faculty of Data Science &amp; Artificial Intelligence</vt:lpstr>
      <vt:lpstr>Learning Objectives</vt:lpstr>
      <vt:lpstr>Introduction</vt:lpstr>
      <vt:lpstr>2-1 Data Modeling and Data Models</vt:lpstr>
      <vt:lpstr>2-2 The Importance of Data Models</vt:lpstr>
      <vt:lpstr>PowerPoint Presentation</vt:lpstr>
      <vt:lpstr>2-3 Data Model Basic Building Blocks</vt:lpstr>
      <vt:lpstr>2-4 Business Rules</vt:lpstr>
      <vt:lpstr>2-4a Discovering Business Rules</vt:lpstr>
      <vt:lpstr>2-4a Discovering Business Rules (cont’d.)</vt:lpstr>
      <vt:lpstr>2-4b Translating Business Rules into Data Model Components</vt:lpstr>
      <vt:lpstr>2-4c Naming Conventions</vt:lpstr>
      <vt:lpstr>2-5 The Evolution of Data Models</vt:lpstr>
      <vt:lpstr>2-5a Hierarchical and Network Models</vt:lpstr>
      <vt:lpstr>2-5a Hierarchical and Network Models (cont’d.)</vt:lpstr>
      <vt:lpstr>2-5a Hierarchical and Network Models (cont’d.)</vt:lpstr>
      <vt:lpstr>2-5a Hierarchical and Network Models (cont’d.)</vt:lpstr>
      <vt:lpstr>2-5b The Relational Model</vt:lpstr>
      <vt:lpstr>2-5b The Relational Model (cont’d.)</vt:lpstr>
      <vt:lpstr>PowerPoint Presentation</vt:lpstr>
      <vt:lpstr>PowerPoint Presentation</vt:lpstr>
      <vt:lpstr>2-5b The Relational Model (cont’d.)</vt:lpstr>
      <vt:lpstr>2-5c The Entity Relationship Model</vt:lpstr>
      <vt:lpstr>2-5c The Entity Relationship Model (cont’d.)</vt:lpstr>
      <vt:lpstr>PowerPoint Presentation</vt:lpstr>
      <vt:lpstr>2-5d The Object-Oriented (OO) Model</vt:lpstr>
      <vt:lpstr>2-5d The Object-Oriented (OO) Model (cont’d.)</vt:lpstr>
      <vt:lpstr>PowerPoint Presentation</vt:lpstr>
      <vt:lpstr>2-5e Object/Relational and XML</vt:lpstr>
      <vt:lpstr>Object/Relational and XML (cont’d.)</vt:lpstr>
      <vt:lpstr>2-5f Emerging Data Models: Big Data and NoSQL</vt:lpstr>
      <vt:lpstr>2-5f Emerging Data Models: Big Data and NoSQL (cont’d.)</vt:lpstr>
      <vt:lpstr>Emerging Data Models: Big Data and NoSQL (cont’d.)</vt:lpstr>
      <vt:lpstr>2-5g Data Models: A Summary</vt:lpstr>
      <vt:lpstr>PowerPoint Presentation</vt:lpstr>
      <vt:lpstr>2-6 Degrees of Data Abstraction</vt:lpstr>
      <vt:lpstr>PowerPoint Presentation</vt:lpstr>
      <vt:lpstr>PowerPoint Presentation</vt:lpstr>
      <vt:lpstr>2-6a The External Model</vt:lpstr>
      <vt:lpstr>2-6a The External Model (cont’d.)</vt:lpstr>
      <vt:lpstr>2-6b The Conceptual Model</vt:lpstr>
      <vt:lpstr>PowerPoint Presentation</vt:lpstr>
      <vt:lpstr>2-6b The Conceptual Model (cont’d.)</vt:lpstr>
      <vt:lpstr>2-6c The Internal Model</vt:lpstr>
      <vt:lpstr>PowerPoint Presentation</vt:lpstr>
      <vt:lpstr>2-6d The Physical Model</vt:lpstr>
      <vt:lpstr>PowerPoint Presentation</vt:lpstr>
      <vt:lpstr>Summary</vt:lpstr>
      <vt:lpstr>Summary (cont’d.)</vt:lpstr>
      <vt:lpstr>Summary (cont’d.)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272</cp:revision>
  <cp:lastPrinted>2024-12-19T10:42:58Z</cp:lastPrinted>
  <dcterms:created xsi:type="dcterms:W3CDTF">2009-10-12T20:16:00Z</dcterms:created>
  <dcterms:modified xsi:type="dcterms:W3CDTF">2024-12-19T10:53:58Z</dcterms:modified>
</cp:coreProperties>
</file>