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29"/>
  </p:notesMasterIdLst>
  <p:handoutMasterIdLst>
    <p:handoutMasterId r:id="rId30"/>
  </p:handoutMasterIdLst>
  <p:sldIdLst>
    <p:sldId id="349" r:id="rId2"/>
    <p:sldId id="477" r:id="rId3"/>
    <p:sldId id="257" r:id="rId4"/>
    <p:sldId id="397" r:id="rId5"/>
    <p:sldId id="258" r:id="rId6"/>
    <p:sldId id="451" r:id="rId7"/>
    <p:sldId id="452" r:id="rId8"/>
    <p:sldId id="454" r:id="rId9"/>
    <p:sldId id="453" r:id="rId10"/>
    <p:sldId id="455" r:id="rId11"/>
    <p:sldId id="456" r:id="rId12"/>
    <p:sldId id="457" r:id="rId13"/>
    <p:sldId id="458" r:id="rId14"/>
    <p:sldId id="459" r:id="rId15"/>
    <p:sldId id="460" r:id="rId16"/>
    <p:sldId id="465" r:id="rId17"/>
    <p:sldId id="469" r:id="rId18"/>
    <p:sldId id="468" r:id="rId19"/>
    <p:sldId id="470" r:id="rId20"/>
    <p:sldId id="466" r:id="rId21"/>
    <p:sldId id="471" r:id="rId22"/>
    <p:sldId id="467" r:id="rId23"/>
    <p:sldId id="472" r:id="rId24"/>
    <p:sldId id="461" r:id="rId25"/>
    <p:sldId id="462" r:id="rId26"/>
    <p:sldId id="463" r:id="rId27"/>
    <p:sldId id="464" r:id="rId28"/>
  </p:sldIdLst>
  <p:sldSz cx="12192000" cy="6858000"/>
  <p:notesSz cx="7102475" cy="9388475"/>
  <p:defaultTextStyle>
    <a:defPPr>
      <a:defRPr lang="en-US"/>
    </a:defPPr>
    <a:lvl1pPr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798"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96D549CF-6DFD-CFDB-4965-58194CF4F2D7}"/>
              </a:ext>
            </a:extLst>
          </p:cNvPr>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1" name="Rectangle 3">
            <a:extLst>
              <a:ext uri="{FF2B5EF4-FFF2-40B4-BE49-F238E27FC236}">
                <a16:creationId xmlns:a16="http://schemas.microsoft.com/office/drawing/2014/main" id="{8E19A229-EAF8-2AAF-E6EC-E0366ADCBC21}"/>
              </a:ext>
            </a:extLst>
          </p:cNvPr>
          <p:cNvSpPr>
            <a:spLocks noGrp="1" noChangeArrowheads="1"/>
          </p:cNvSpPr>
          <p:nvPr>
            <p:ph type="dt" sz="quarter" idx="1"/>
          </p:nvPr>
        </p:nvSpPr>
        <p:spPr bwMode="auto">
          <a:xfrm>
            <a:off x="4022725" y="0"/>
            <a:ext cx="3078163"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dirty="0">
                <a:latin typeface="Arial" charset="0"/>
                <a:ea typeface="+mn-ea"/>
              </a:defRPr>
            </a:lvl1pPr>
          </a:lstStyle>
          <a:p>
            <a:pPr>
              <a:defRPr/>
            </a:pPr>
            <a:endParaRPr lang="en-US"/>
          </a:p>
        </p:txBody>
      </p:sp>
      <p:sp>
        <p:nvSpPr>
          <p:cNvPr id="176132" name="Rectangle 4">
            <a:extLst>
              <a:ext uri="{FF2B5EF4-FFF2-40B4-BE49-F238E27FC236}">
                <a16:creationId xmlns:a16="http://schemas.microsoft.com/office/drawing/2014/main" id="{F0195859-3B9C-EA5A-DAC2-F772721978B9}"/>
              </a:ext>
            </a:extLst>
          </p:cNvPr>
          <p:cNvSpPr>
            <a:spLocks noGrp="1" noChangeArrowheads="1"/>
          </p:cNvSpPr>
          <p:nvPr>
            <p:ph type="ftr" sz="quarter" idx="2"/>
          </p:nvPr>
        </p:nvSpPr>
        <p:spPr bwMode="auto">
          <a:xfrm>
            <a:off x="0" y="8916988"/>
            <a:ext cx="3078163"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3" name="Rectangle 5">
            <a:extLst>
              <a:ext uri="{FF2B5EF4-FFF2-40B4-BE49-F238E27FC236}">
                <a16:creationId xmlns:a16="http://schemas.microsoft.com/office/drawing/2014/main" id="{B8E62657-3ACA-464B-2D2E-4F1C967F22F3}"/>
              </a:ext>
            </a:extLst>
          </p:cNvPr>
          <p:cNvSpPr>
            <a:spLocks noGrp="1" noChangeArrowheads="1"/>
          </p:cNvSpPr>
          <p:nvPr>
            <p:ph type="sldNum" sz="quarter" idx="3"/>
          </p:nvPr>
        </p:nvSpPr>
        <p:spPr bwMode="auto">
          <a:xfrm>
            <a:off x="4022725" y="8916988"/>
            <a:ext cx="3078163"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a:lvl1pPr>
          </a:lstStyle>
          <a:p>
            <a:fld id="{1AA94293-E3C3-4E54-B9F5-BDD568EB9DE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7B0EA7D-2BA2-8120-5ABC-58CDE72589F4}"/>
              </a:ext>
            </a:extLst>
          </p:cNvPr>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defTabSz="942975" eaLnBrk="1" hangingPunct="1">
              <a:spcBef>
                <a:spcPct val="0"/>
              </a:spcBef>
              <a:buClrTx/>
              <a:buSzTx/>
              <a:buFontTx/>
              <a:buNone/>
              <a:defRPr sz="1200" dirty="0">
                <a:latin typeface="Arial" charset="0"/>
                <a:ea typeface="+mn-ea"/>
              </a:defRPr>
            </a:lvl1pPr>
          </a:lstStyle>
          <a:p>
            <a:pPr>
              <a:defRPr/>
            </a:pPr>
            <a:endParaRPr lang="en-US"/>
          </a:p>
        </p:txBody>
      </p:sp>
      <p:sp>
        <p:nvSpPr>
          <p:cNvPr id="52227" name="Rectangle 3">
            <a:extLst>
              <a:ext uri="{FF2B5EF4-FFF2-40B4-BE49-F238E27FC236}">
                <a16:creationId xmlns:a16="http://schemas.microsoft.com/office/drawing/2014/main" id="{9C10E525-0B9B-E215-412D-1BFB60849A0F}"/>
              </a:ext>
            </a:extLst>
          </p:cNvPr>
          <p:cNvSpPr>
            <a:spLocks noGrp="1" noChangeArrowheads="1"/>
          </p:cNvSpPr>
          <p:nvPr>
            <p:ph type="dt" idx="1"/>
          </p:nvPr>
        </p:nvSpPr>
        <p:spPr bwMode="auto">
          <a:xfrm>
            <a:off x="4022725"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defTabSz="942975" eaLnBrk="1" hangingPunct="1">
              <a:spcBef>
                <a:spcPct val="0"/>
              </a:spcBef>
              <a:buClrTx/>
              <a:buSzTx/>
              <a:buFontTx/>
              <a:buNone/>
              <a:defRPr sz="1200" dirty="0">
                <a:latin typeface="Arial" charset="0"/>
                <a:ea typeface="+mn-ea"/>
              </a:defRPr>
            </a:lvl1pPr>
          </a:lstStyle>
          <a:p>
            <a:pPr>
              <a:defRPr/>
            </a:pPr>
            <a:endParaRPr lang="en-US"/>
          </a:p>
        </p:txBody>
      </p:sp>
      <p:sp>
        <p:nvSpPr>
          <p:cNvPr id="53252" name="Rectangle 4">
            <a:extLst>
              <a:ext uri="{FF2B5EF4-FFF2-40B4-BE49-F238E27FC236}">
                <a16:creationId xmlns:a16="http://schemas.microsoft.com/office/drawing/2014/main" id="{D0C47E53-5BA5-1AAE-751E-1F2FCB50DCDC}"/>
              </a:ext>
            </a:extLst>
          </p:cNvPr>
          <p:cNvSpPr>
            <a:spLocks noGrp="1" noRot="1" noChangeAspect="1" noChangeArrowheads="1" noTextEdit="1"/>
          </p:cNvSpPr>
          <p:nvPr>
            <p:ph type="sldImg" idx="2"/>
          </p:nvPr>
        </p:nvSpPr>
        <p:spPr bwMode="auto">
          <a:xfrm>
            <a:off x="423863" y="704850"/>
            <a:ext cx="62547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AC9F7E04-E094-DF99-87DE-5755394A5A32}"/>
              </a:ext>
            </a:extLst>
          </p:cNvPr>
          <p:cNvSpPr>
            <a:spLocks noGrp="1" noChangeArrowheads="1"/>
          </p:cNvSpPr>
          <p:nvPr>
            <p:ph type="body" sz="quarter" idx="3"/>
          </p:nvPr>
        </p:nvSpPr>
        <p:spPr bwMode="auto">
          <a:xfrm>
            <a:off x="709613" y="4459288"/>
            <a:ext cx="5683250" cy="4224337"/>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B63EB7C0-6B53-7D30-2E9B-C6D99EA8D4D6}"/>
              </a:ext>
            </a:extLst>
          </p:cNvPr>
          <p:cNvSpPr>
            <a:spLocks noGrp="1" noChangeArrowheads="1"/>
          </p:cNvSpPr>
          <p:nvPr>
            <p:ph type="ftr" sz="quarter" idx="4"/>
          </p:nvPr>
        </p:nvSpPr>
        <p:spPr bwMode="auto">
          <a:xfrm>
            <a:off x="0"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defTabSz="942975" eaLnBrk="1" hangingPunct="1">
              <a:spcBef>
                <a:spcPct val="0"/>
              </a:spcBef>
              <a:buClrTx/>
              <a:buSzTx/>
              <a:buFontTx/>
              <a:buNone/>
              <a:defRPr sz="1200" dirty="0">
                <a:latin typeface="Arial" charset="0"/>
                <a:ea typeface="+mn-ea"/>
              </a:defRPr>
            </a:lvl1pPr>
          </a:lstStyle>
          <a:p>
            <a:pPr>
              <a:defRPr/>
            </a:pPr>
            <a:endParaRPr lang="en-US"/>
          </a:p>
        </p:txBody>
      </p:sp>
      <p:sp>
        <p:nvSpPr>
          <p:cNvPr id="52231" name="Rectangle 7">
            <a:extLst>
              <a:ext uri="{FF2B5EF4-FFF2-40B4-BE49-F238E27FC236}">
                <a16:creationId xmlns:a16="http://schemas.microsoft.com/office/drawing/2014/main" id="{93E52514-5308-A2CB-4759-555ACCF9884F}"/>
              </a:ext>
            </a:extLst>
          </p:cNvPr>
          <p:cNvSpPr>
            <a:spLocks noGrp="1" noChangeArrowheads="1"/>
          </p:cNvSpPr>
          <p:nvPr>
            <p:ph type="sldNum" sz="quarter" idx="5"/>
          </p:nvPr>
        </p:nvSpPr>
        <p:spPr bwMode="auto">
          <a:xfrm>
            <a:off x="4022725"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defTabSz="942975" eaLnBrk="1" hangingPunct="1">
              <a:spcBef>
                <a:spcPct val="0"/>
              </a:spcBef>
              <a:buClrTx/>
              <a:buSzTx/>
              <a:buFontTx/>
              <a:buNone/>
              <a:defRPr sz="1200"/>
            </a:lvl1pPr>
          </a:lstStyle>
          <a:p>
            <a:fld id="{8A144A25-5569-4442-A77C-2A296DF0D21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BD0B5F7-2B7A-DA2F-7070-6EF7799975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35C4C7B-183C-403B-84D5-321BC85875A1}"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6387" name="Rectangle 2">
            <a:extLst>
              <a:ext uri="{FF2B5EF4-FFF2-40B4-BE49-F238E27FC236}">
                <a16:creationId xmlns:a16="http://schemas.microsoft.com/office/drawing/2014/main" id="{DF4AD010-AA0B-CF86-F1F1-8CF3B11AFC63}"/>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CAB0135-16F3-2242-1C12-481333311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3</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4</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275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6CFCCF8-468E-E278-A466-07F523EF28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5B3A7C46-9CC5-4602-9CA7-5E11396D6D61}" type="slidenum">
              <a:rPr lang="en-US" altLang="en-US" sz="1200"/>
              <a:pPr/>
              <a:t>5</a:t>
            </a:fld>
            <a:endParaRPr lang="en-US" altLang="en-US" sz="1200"/>
          </a:p>
        </p:txBody>
      </p:sp>
      <p:sp>
        <p:nvSpPr>
          <p:cNvPr id="58371" name="Rectangle 2">
            <a:extLst>
              <a:ext uri="{FF2B5EF4-FFF2-40B4-BE49-F238E27FC236}">
                <a16:creationId xmlns:a16="http://schemas.microsoft.com/office/drawing/2014/main" id="{DFEA2AC8-0FF7-F050-A1AC-17C3E2D98B38}"/>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C8E44485-B32D-7B23-AF52-9281187B25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2"/>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741219" y="3243266"/>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5"/>
            <a:ext cx="2743200" cy="365125"/>
          </a:xfrm>
        </p:spPr>
        <p:txBody>
          <a:bodyPr/>
          <a:lstStyle>
            <a:lvl1pPr>
              <a:defRPr sz="1000" smtClean="0">
                <a:latin typeface="+mn-lt"/>
              </a:defRPr>
            </a:lvl1pPr>
          </a:lstStyle>
          <a:p>
            <a:pPr>
              <a:buFont typeface="Monotype Sorts" charset="2"/>
              <a:buNone/>
              <a:defRPr/>
            </a:pPr>
            <a:fld id="{0AB240B4-1A2E-4C00-9336-DA12AFA09EBD}" type="datetime1">
              <a:rPr lang="en-US" smtClean="0"/>
              <a:t>12/19/2024</a:t>
            </a:fld>
            <a:endParaRPr lang="en-US" dirty="0"/>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5"/>
            <a:ext cx="2743200" cy="365125"/>
          </a:xfrm>
        </p:spPr>
        <p:txBody>
          <a:bodyPr/>
          <a:lstStyle>
            <a:lvl1pPr>
              <a:defRPr sz="1000">
                <a:solidFill>
                  <a:prstClr val="white"/>
                </a:solidFill>
                <a:latin typeface="+mn-lt"/>
              </a:defRPr>
            </a:lvl1pPr>
          </a:lstStyle>
          <a:p>
            <a:pPr>
              <a:buFont typeface="Monotype Sorts" charset="2"/>
              <a:buNone/>
              <a:defRPr/>
            </a:pPr>
            <a:fld id="{775A0816-9807-4CA3-A3C5-68577B5C955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sz="1000">
                <a:latin typeface="+mn-lt"/>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415709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3" name="Title 1"/>
          <p:cNvSpPr>
            <a:spLocks noGrp="1"/>
          </p:cNvSpPr>
          <p:nvPr>
            <p:ph type="title"/>
          </p:nvPr>
        </p:nvSpPr>
        <p:spPr>
          <a:xfrm>
            <a:off x="482252" y="277964"/>
            <a:ext cx="7928429"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buFont typeface="Monotype Sorts" charset="2"/>
              <a:buNone/>
              <a:defRPr/>
            </a:pPr>
            <a:fld id="{C4105860-DA06-4136-8ED8-157A1C8FEBE0}" type="datetime1">
              <a:rPr lang="en-US" smtClean="0"/>
              <a:t>12/19/2024</a:t>
            </a:fld>
            <a:endParaRPr lang="en-US" dirty="0"/>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buFont typeface="Monotype Sorts" charset="2"/>
              <a:buNone/>
              <a:defRPr/>
            </a:pPr>
            <a:fld id="{3668E2E4-C289-40FA-803B-52DC86338CE3}"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247985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487476" y="2949388"/>
            <a:ext cx="10515600" cy="1325563"/>
          </a:xfrm>
          <a:prstGeom prst="rect">
            <a:avLst/>
          </a:prstGeom>
        </p:spPr>
        <p:txBody>
          <a:bodyPr/>
          <a:lstStyle>
            <a:lvl1pPr>
              <a:defRPr sz="3375"/>
            </a:lvl1pPr>
          </a:lstStyle>
          <a:p>
            <a:r>
              <a:rPr lang="en-US"/>
              <a:t>Click to edit Master title style</a:t>
            </a:r>
            <a:endParaRPr lang="en-VN"/>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90"/>
            <a:ext cx="2743200" cy="268287"/>
          </a:xfrm>
        </p:spPr>
        <p:txBody>
          <a:bodyPr/>
          <a:lstStyle>
            <a:lvl1pPr>
              <a:defRPr smtClean="0"/>
            </a:lvl1pPr>
          </a:lstStyle>
          <a:p>
            <a:pPr>
              <a:buFont typeface="Monotype Sorts" charset="2"/>
              <a:buNone/>
              <a:defRPr/>
            </a:pPr>
            <a:fld id="{C84426FF-70A0-4692-A209-ADABD479B6F8}" type="datetime1">
              <a:rPr lang="en-US" smtClean="0"/>
              <a:t>12/19/2024</a:t>
            </a:fld>
            <a:endParaRPr lang="en-US" dirty="0"/>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1" y="6589715"/>
            <a:ext cx="2743200" cy="314325"/>
          </a:xfrm>
        </p:spPr>
        <p:txBody>
          <a:bodyPr/>
          <a:lstStyle>
            <a:lvl1pPr>
              <a:defRPr sz="1000"/>
            </a:lvl1pPr>
          </a:lstStyle>
          <a:p>
            <a:pPr>
              <a:buFont typeface="Monotype Sorts" charset="2"/>
              <a:buNone/>
              <a:defRPr/>
            </a:pPr>
            <a:fld id="{F9126DDB-45DE-4D72-94FB-1E2D565E80AF}"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85894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2" name="Title 1"/>
          <p:cNvSpPr>
            <a:spLocks noGrp="1"/>
          </p:cNvSpPr>
          <p:nvPr>
            <p:ph type="title"/>
          </p:nvPr>
        </p:nvSpPr>
        <p:spPr>
          <a:xfrm>
            <a:off x="340859" y="243492"/>
            <a:ext cx="8061101"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1" y="1169083"/>
            <a:ext cx="11551617" cy="4954133"/>
          </a:xfrm>
          <a:prstGeom prst="rect">
            <a:avLst/>
          </a:prstGeom>
        </p:spPr>
        <p:txBody>
          <a:bodyPr/>
          <a:lstStyle>
            <a:lvl1pPr>
              <a:defRPr sz="2400"/>
            </a:lvl1pPr>
            <a:lvl2pPr>
              <a:defRPr sz="2800"/>
            </a:lvl2pPr>
            <a:lvl3pPr>
              <a:defRPr sz="18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z="1000" smtClean="0"/>
            </a:lvl1pPr>
          </a:lstStyle>
          <a:p>
            <a:pPr>
              <a:buFont typeface="Monotype Sorts" charset="2"/>
              <a:buNone/>
              <a:defRPr/>
            </a:pPr>
            <a:fld id="{BBEB22E7-5009-4A4A-A166-B272187857D2}" type="datetime1">
              <a:rPr lang="en-US" smtClean="0"/>
              <a:t>12/19/2024</a:t>
            </a:fld>
            <a:endParaRPr lang="en-US" dirty="0"/>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sz="1000"/>
            </a:lvl1pPr>
          </a:lstStyle>
          <a:p>
            <a:pPr>
              <a:buFont typeface="Monotype Sorts" charset="2"/>
              <a:buNone/>
              <a:defRPr/>
            </a:pPr>
            <a:fld id="{BC9EDAA9-37F3-4614-95D5-5B7FFAB71D04}"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72814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7" y="2846231"/>
            <a:ext cx="4417452" cy="1460428"/>
          </a:xfrm>
          <a:prstGeom prst="rect">
            <a:avLst/>
          </a:prstGeom>
        </p:spPr>
        <p:txBody>
          <a:bodyPr anchor="b">
            <a:normAutofit/>
          </a:bodyPr>
          <a:lstStyle>
            <a:lvl1pPr algn="r">
              <a:defRPr sz="315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7" y="4429523"/>
            <a:ext cx="4417452" cy="750072"/>
          </a:xfrm>
          <a:prstGeom prst="rect">
            <a:avLst/>
          </a:prstGeom>
        </p:spPr>
        <p:txBody>
          <a:bodyPr/>
          <a:lstStyle>
            <a:lvl1pPr marL="0" indent="0" algn="r">
              <a:buNone/>
              <a:defRPr sz="1350" baseline="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11" name="Content Placeholder 2"/>
          <p:cNvSpPr>
            <a:spLocks noGrp="1"/>
          </p:cNvSpPr>
          <p:nvPr>
            <p:ph idx="13"/>
          </p:nvPr>
        </p:nvSpPr>
        <p:spPr>
          <a:xfrm>
            <a:off x="1" y="862153"/>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buFont typeface="Monotype Sorts" charset="2"/>
              <a:buNone/>
              <a:defRPr/>
            </a:pPr>
            <a:fld id="{83F9286B-6EB0-415E-9FD7-53754A124BCC}" type="datetime1">
              <a:rPr lang="en-US" smtClean="0"/>
              <a:t>12/19/2024</a:t>
            </a:fld>
            <a:endParaRPr lang="en-US" dirty="0"/>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257175" eaLnBrk="1" fontAlgn="auto" hangingPunct="1">
              <a:spcBef>
                <a:spcPts val="0"/>
              </a:spcBef>
              <a:spcAft>
                <a:spcPts val="0"/>
              </a:spcAft>
              <a:defRPr>
                <a:solidFill>
                  <a:prstClr val="white"/>
                </a:solidFill>
                <a:latin typeface="Calibri" panose="020F0502020204030204"/>
                <a:ea typeface="+mn-ea"/>
              </a:defRPr>
            </a:lvl1pPr>
          </a:lstStyle>
          <a:p>
            <a:pPr>
              <a:buFont typeface="Monotype Sorts" charset="2"/>
              <a:buNone/>
              <a:defRPr/>
            </a:pPr>
            <a:r>
              <a:rPr lang="en-US" dirty="0"/>
              <a:t>Data Structures and Algorithms in Python</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buFont typeface="Monotype Sorts" charset="2"/>
              <a:buNone/>
              <a:defRPr/>
            </a:pPr>
            <a:fld id="{4FC3DE7D-4EEA-43B2-9617-70FD3CFD639D}" type="slidenum">
              <a:rPr lang="en-US" smtClean="0"/>
              <a:pPr>
                <a:buFont typeface="Monotype Sorts" charset="2"/>
                <a:buNone/>
                <a:defRPr/>
              </a:pPr>
              <a:t>‹#›</a:t>
            </a:fld>
            <a:endParaRPr lang="en-US" dirty="0"/>
          </a:p>
        </p:txBody>
      </p:sp>
    </p:spTree>
    <p:extLst>
      <p:ext uri="{BB962C8B-B14F-4D97-AF65-F5344CB8AC3E}">
        <p14:creationId xmlns:p14="http://schemas.microsoft.com/office/powerpoint/2010/main" val="37428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831851" y="1709742"/>
            <a:ext cx="10515600" cy="2852737"/>
          </a:xfrm>
          <a:prstGeom prst="rect">
            <a:avLst/>
          </a:prstGeo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831851" y="4589467"/>
            <a:ext cx="10515600" cy="1500187"/>
          </a:xfrm>
          <a:prstGeom prst="rect">
            <a:avLst/>
          </a:prstGeo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7" y="278800"/>
            <a:ext cx="5813199" cy="457200"/>
          </a:xfrm>
          <a:prstGeom prst="rect">
            <a:avLst/>
          </a:prstGeom>
        </p:spPr>
        <p:txBody>
          <a:bodyPr/>
          <a:lstStyle>
            <a:lvl1pPr>
              <a:defRPr lang="en-VN" sz="1856"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z="1000" smtClean="0"/>
            </a:lvl1pPr>
          </a:lstStyle>
          <a:p>
            <a:pPr>
              <a:buFont typeface="Monotype Sorts" charset="2"/>
              <a:buNone/>
              <a:defRPr/>
            </a:pPr>
            <a:fld id="{C1CF96D5-A543-45D5-8992-B94C1177E4C6}" type="datetime1">
              <a:rPr lang="en-US" smtClean="0"/>
              <a:t>12/19/2024</a:t>
            </a:fld>
            <a:endParaRPr lang="en-US" dirty="0"/>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sz="1000"/>
            </a:lvl1pPr>
          </a:lstStyle>
          <a:p>
            <a:pPr>
              <a:buFont typeface="Monotype Sorts" charset="2"/>
              <a:buNone/>
              <a:defRPr/>
            </a:pPr>
            <a:fld id="{B9B03C63-2273-46E4-B7DF-3CCA315B6CB6}" type="slidenum">
              <a:rPr lang="en-US" smtClean="0"/>
              <a:pPr>
                <a:buFont typeface="Monotype Sorts" charset="2"/>
                <a:buNone/>
                <a:defRPr/>
              </a:pPr>
              <a:t>‹#›</a:t>
            </a:fld>
            <a:endParaRPr lang="en-US" dirty="0"/>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2586617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900"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1688"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901"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buFont typeface="Monotype Sorts" charset="2"/>
              <a:buNone/>
              <a:defRPr/>
            </a:pPr>
            <a:fld id="{DF507722-439B-4523-9CE9-B70AFEB2097E}" type="datetime1">
              <a:rPr lang="en-US" smtClean="0"/>
              <a:t>12/19/2024</a:t>
            </a:fld>
            <a:endParaRPr lang="en-US" dirty="0"/>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buFont typeface="Monotype Sorts" charset="2"/>
              <a:buNone/>
              <a:defRPr/>
            </a:pPr>
            <a:fld id="{FE967A2B-7DC3-460F-82C1-37366D5A5F1B}" type="slidenum">
              <a:rPr lang="en-US" smtClean="0"/>
              <a:pPr>
                <a:buFont typeface="Monotype Sorts" charset="2"/>
                <a:buNone/>
                <a:defRPr/>
              </a:pPr>
              <a:t>‹#›</a:t>
            </a:fld>
            <a:endParaRPr lang="en-US" dirty="0"/>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380227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atin typeface="Arial" panose="020B0604020202020204" pitchFamily="34" charset="0"/>
                <a:cs typeface="Arial" panose="020B0604020202020204" pitchFamily="34" charset="0"/>
              </a:defRPr>
            </a:lvl1pPr>
          </a:lstStyle>
          <a:p>
            <a:pPr>
              <a:buFont typeface="Monotype Sorts" charset="2"/>
              <a:buNone/>
              <a:defRPr/>
            </a:pPr>
            <a:fld id="{65A71745-A66D-4D2C-AB6B-F5743AD780F4}" type="datetime1">
              <a:rPr lang="en-US" smtClean="0"/>
              <a:pPr>
                <a:buFont typeface="Monotype Sorts" charset="2"/>
                <a:buNone/>
                <a:defRPr/>
              </a:pPr>
              <a:t>12/19/2024</a:t>
            </a:fld>
            <a:endParaRPr lang="en-US" dirty="0"/>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atin typeface="Arial" panose="020B0604020202020204" pitchFamily="34" charset="0"/>
                <a:cs typeface="Arial" panose="020B0604020202020204" pitchFamily="34" charset="0"/>
              </a:defRPr>
            </a:lvl1pPr>
          </a:lstStyle>
          <a:p>
            <a:pPr>
              <a:buFont typeface="Monotype Sorts" charset="2"/>
              <a:buNone/>
              <a:defRPr/>
            </a:pPr>
            <a:fld id="{D1AD3536-327C-4937-83AF-A64971CFA6D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atin typeface="Arial" panose="020B0604020202020204" pitchFamily="34" charset="0"/>
                <a:cs typeface="Arial" panose="020B0604020202020204" pitchFamily="34" charset="0"/>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186073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30"/>
            <a:ext cx="8061101" cy="553289"/>
          </a:xfrm>
          <a:prstGeom prst="rect">
            <a:avLst/>
          </a:prstGeom>
        </p:spPr>
        <p:txBody>
          <a:bodyPr>
            <a:normAutofit/>
          </a:bodyPr>
          <a:lstStyle>
            <a:lvl1pPr>
              <a:defRPr sz="1406"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atin typeface="Arial" panose="020B0604020202020204" pitchFamily="34" charset="0"/>
                <a:cs typeface="Arial" panose="020B0604020202020204" pitchFamily="34" charset="0"/>
              </a:defRPr>
            </a:lvl1pPr>
          </a:lstStyle>
          <a:p>
            <a:pPr>
              <a:buFont typeface="Monotype Sorts" charset="2"/>
              <a:buNone/>
              <a:defRPr/>
            </a:pPr>
            <a:fld id="{239B916D-9C2D-42AB-AE14-E538FDD0069B}" type="datetime1">
              <a:rPr lang="en-US" smtClean="0"/>
              <a:pPr>
                <a:buFont typeface="Monotype Sorts" charset="2"/>
                <a:buNone/>
                <a:defRPr/>
              </a:pPr>
              <a:t>12/19/2024</a:t>
            </a:fld>
            <a:endParaRPr lang="en-US" dirty="0"/>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atin typeface="Arial" panose="020B0604020202020204" pitchFamily="34" charset="0"/>
                <a:cs typeface="Arial" panose="020B0604020202020204" pitchFamily="34" charset="0"/>
              </a:defRPr>
            </a:lvl1pPr>
          </a:lstStyle>
          <a:p>
            <a:pPr>
              <a:buFont typeface="Monotype Sorts" charset="2"/>
              <a:buNone/>
              <a:defRPr/>
            </a:pPr>
            <a:fld id="{2BE77ECF-F060-4D46-A3D9-128B9B0DFB4A}"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atin typeface="Arial" panose="020B0604020202020204" pitchFamily="34" charset="0"/>
                <a:cs typeface="Arial" panose="020B0604020202020204" pitchFamily="34" charset="0"/>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1313785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1"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128588" indent="-128588">
              <a:lnSpc>
                <a:spcPct val="150000"/>
              </a:lnSpc>
              <a:buClr>
                <a:schemeClr val="accent2"/>
              </a:buClr>
              <a:buFont typeface="Wingdings" panose="05000000000000000000" pitchFamily="2" charset="2"/>
              <a:buChar char="q"/>
              <a:defRPr sz="2400"/>
            </a:lvl1pPr>
            <a:lvl2pPr marL="385763" indent="-128588">
              <a:lnSpc>
                <a:spcPct val="150000"/>
              </a:lnSpc>
              <a:buClr>
                <a:schemeClr val="accent2"/>
              </a:buClr>
              <a:buFont typeface="Wingdings" panose="05000000000000000000" pitchFamily="2" charset="2"/>
              <a:buChar char="Ø"/>
              <a:defRPr sz="2000"/>
            </a:lvl2pPr>
            <a:lvl3pPr marL="642938" indent="-128588">
              <a:lnSpc>
                <a:spcPct val="150000"/>
              </a:lnSpc>
              <a:buClr>
                <a:schemeClr val="accent2"/>
              </a:buClr>
              <a:buFont typeface="Wingdings" panose="05000000000000000000" pitchFamily="2" charset="2"/>
              <a:buChar char="ü"/>
              <a:defRPr sz="2000"/>
            </a:lvl3pPr>
            <a:lvl4pPr marL="900113" indent="-128588">
              <a:lnSpc>
                <a:spcPct val="150000"/>
              </a:lnSpc>
              <a:buClr>
                <a:schemeClr val="accent2"/>
              </a:buClr>
              <a:buFont typeface="Courier New" panose="02070309020205020404" pitchFamily="49" charset="0"/>
              <a:buChar char="o"/>
              <a:defRPr sz="1600"/>
            </a:lvl4pPr>
            <a:lvl5pPr marL="1157288" indent="-128588">
              <a:lnSpc>
                <a:spcPct val="150000"/>
              </a:lnSpc>
              <a:buClr>
                <a:schemeClr val="accent2"/>
              </a:buClr>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cs typeface="Arial" panose="020B0604020202020204" pitchFamily="34" charset="0"/>
              </a:defRPr>
            </a:lvl1pPr>
          </a:lstStyle>
          <a:p>
            <a:pPr>
              <a:buFont typeface="Monotype Sorts" charset="2"/>
              <a:buNone/>
              <a:defRPr/>
            </a:pPr>
            <a:fld id="{34A84676-C444-4AC5-8B4E-405A7C81C0FB}" type="slidenum">
              <a:rPr lang="en-US" altLang="en-US" smtClean="0"/>
              <a:pPr>
                <a:buFont typeface="Monotype Sorts" charset="2"/>
                <a:buNone/>
                <a:defRPr/>
              </a:pPr>
              <a:t>‹#›</a:t>
            </a:fld>
            <a:endParaRPr lang="en-US" altLang="en-US" dirty="0"/>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atin typeface="Arial" panose="020B0604020202020204" pitchFamily="34" charset="0"/>
                <a:cs typeface="Arial" panose="020B0604020202020204" pitchFamily="34" charset="0"/>
              </a:defRPr>
            </a:lvl1pPr>
          </a:lstStyle>
          <a:p>
            <a:pPr>
              <a:buFont typeface="Monotype Sorts" charset="2"/>
              <a:buNone/>
              <a:defRPr/>
            </a:pPr>
            <a:r>
              <a:rPr lang="en-US"/>
              <a:t>Data Structures and Algorithms in Python</a:t>
            </a:r>
            <a:endParaRPr lang="en-US" dirty="0"/>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atin typeface="Arial" panose="020B0604020202020204" pitchFamily="34" charset="0"/>
                <a:cs typeface="Arial" panose="020B0604020202020204" pitchFamily="34" charset="0"/>
              </a:defRPr>
            </a:lvl1pPr>
          </a:lstStyle>
          <a:p>
            <a:pPr>
              <a:buFont typeface="Monotype Sorts" charset="2"/>
              <a:buNone/>
              <a:defRPr/>
            </a:pPr>
            <a:fld id="{FC32583D-C3E8-4AE3-B635-FDFA2D64A695}" type="datetime1">
              <a:rPr lang="en-US" smtClean="0"/>
              <a:pPr>
                <a:buFont typeface="Monotype Sorts" charset="2"/>
                <a:buNone/>
                <a:defRPr/>
              </a:pPr>
              <a:t>12/19/2024</a:t>
            </a:fld>
            <a:endParaRPr lang="en-US" dirty="0"/>
          </a:p>
        </p:txBody>
      </p:sp>
    </p:spTree>
    <p:extLst>
      <p:ext uri="{BB962C8B-B14F-4D97-AF65-F5344CB8AC3E}">
        <p14:creationId xmlns:p14="http://schemas.microsoft.com/office/powerpoint/2010/main" val="153070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8">
            <a:extLst>
              <a:ext uri="{FF2B5EF4-FFF2-40B4-BE49-F238E27FC236}">
                <a16:creationId xmlns:a16="http://schemas.microsoft.com/office/drawing/2014/main" id="{661F23F4-6AD8-94D5-2C85-4CB1F4DB441C}"/>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cs typeface="Arial" panose="020B0604020202020204" pitchFamily="34" charset="0"/>
              </a:defRPr>
            </a:lvl1pPr>
          </a:lstStyle>
          <a:p>
            <a:pPr>
              <a:buFont typeface="Monotype Sorts" charset="2"/>
              <a:buNone/>
              <a:defRPr/>
            </a:pPr>
            <a:fld id="{B0510DBD-B54C-4BB2-9910-15204BA8081C}" type="slidenum">
              <a:rPr lang="en-US" altLang="en-US" smtClean="0"/>
              <a:pPr>
                <a:buFont typeface="Monotype Sorts" charset="2"/>
                <a:buNone/>
                <a:defRPr/>
              </a:pPr>
              <a:t>‹#›</a:t>
            </a:fld>
            <a:endParaRPr lang="en-US" altLang="en-US" dirty="0"/>
          </a:p>
        </p:txBody>
      </p:sp>
      <p:sp>
        <p:nvSpPr>
          <p:cNvPr id="5" name="Footer Placeholder 11">
            <a:extLst>
              <a:ext uri="{FF2B5EF4-FFF2-40B4-BE49-F238E27FC236}">
                <a16:creationId xmlns:a16="http://schemas.microsoft.com/office/drawing/2014/main" id="{928E7F04-0F8E-0741-CB89-B9A5C1DC84CD}"/>
              </a:ext>
            </a:extLst>
          </p:cNvPr>
          <p:cNvSpPr>
            <a:spLocks noGrp="1" noChangeArrowheads="1"/>
          </p:cNvSpPr>
          <p:nvPr>
            <p:ph type="ftr" sz="quarter" idx="11"/>
          </p:nvPr>
        </p:nvSpPr>
        <p:spPr/>
        <p:txBody>
          <a:bodyPr/>
          <a:lstStyle>
            <a:lvl1pPr>
              <a:defRPr>
                <a:latin typeface="Arial" panose="020B0604020202020204" pitchFamily="34" charset="0"/>
                <a:cs typeface="Arial" panose="020B0604020202020204" pitchFamily="34" charset="0"/>
              </a:defRPr>
            </a:lvl1pPr>
          </a:lstStyle>
          <a:p>
            <a:pPr>
              <a:buFont typeface="Monotype Sorts" charset="2"/>
              <a:buNone/>
              <a:defRPr/>
            </a:pPr>
            <a:r>
              <a:rPr lang="en-US"/>
              <a:t>Data Structures and Algorithms in Python</a:t>
            </a:r>
            <a:endParaRPr lang="en-US" dirty="0"/>
          </a:p>
        </p:txBody>
      </p:sp>
      <p:sp>
        <p:nvSpPr>
          <p:cNvPr id="6" name="Date Placeholder 1">
            <a:extLst>
              <a:ext uri="{FF2B5EF4-FFF2-40B4-BE49-F238E27FC236}">
                <a16:creationId xmlns:a16="http://schemas.microsoft.com/office/drawing/2014/main" id="{8F00BDC9-ED95-ECCB-3AA2-7C715A291A58}"/>
              </a:ext>
            </a:extLst>
          </p:cNvPr>
          <p:cNvSpPr>
            <a:spLocks noGrp="1"/>
          </p:cNvSpPr>
          <p:nvPr>
            <p:ph type="dt" sz="half" idx="12"/>
          </p:nvPr>
        </p:nvSpPr>
        <p:spPr/>
        <p:txBody>
          <a:bodyPr/>
          <a:lstStyle>
            <a:lvl1pPr>
              <a:defRPr smtClean="0">
                <a:latin typeface="Arial" panose="020B0604020202020204" pitchFamily="34" charset="0"/>
                <a:cs typeface="Arial" panose="020B0604020202020204" pitchFamily="34" charset="0"/>
              </a:defRPr>
            </a:lvl1pPr>
          </a:lstStyle>
          <a:p>
            <a:pPr>
              <a:buFont typeface="Monotype Sorts" charset="2"/>
              <a:buNone/>
              <a:defRPr/>
            </a:pPr>
            <a:fld id="{3F34B5DD-F4AF-4694-A8F2-2077CF152765}" type="datetime1">
              <a:rPr lang="en-US" smtClean="0"/>
              <a:pPr>
                <a:buFont typeface="Monotype Sorts" charset="2"/>
                <a:buNone/>
                <a:defRPr/>
              </a:pPr>
              <a:t>12/19/2024</a:t>
            </a:fld>
            <a:endParaRPr lang="en-US" dirty="0"/>
          </a:p>
        </p:txBody>
      </p:sp>
    </p:spTree>
    <p:extLst>
      <p:ext uri="{BB962C8B-B14F-4D97-AF65-F5344CB8AC3E}">
        <p14:creationId xmlns:p14="http://schemas.microsoft.com/office/powerpoint/2010/main" val="156350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dirty="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257175" eaLnBrk="1" fontAlgn="auto" hangingPunct="1">
              <a:spcBef>
                <a:spcPts val="0"/>
              </a:spcBef>
              <a:spcAft>
                <a:spcPts val="0"/>
              </a:spcAft>
              <a:defRPr sz="1000">
                <a:solidFill>
                  <a:prstClr val="white"/>
                </a:solidFill>
                <a:latin typeface="Calibri" panose="020F0502020204030204"/>
                <a:ea typeface="+mn-ea"/>
              </a:defRPr>
            </a:lvl1pPr>
          </a:lstStyle>
          <a:p>
            <a:pPr>
              <a:buFont typeface="Monotype Sorts" charset="2"/>
              <a:buNone/>
              <a:defRPr/>
            </a:pPr>
            <a:fld id="{B77A7909-E221-4E66-A5EF-13497EA60DDF}" type="slidenum">
              <a:rPr lang="en-US" smtClean="0"/>
              <a:pPr>
                <a:buFont typeface="Monotype Sorts" charset="2"/>
                <a:buNone/>
                <a:defRPr/>
              </a:pPr>
              <a:t>‹#›</a:t>
            </a:fld>
            <a:endParaRPr lang="en-US" dirty="0"/>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7"/>
            <a:ext cx="2743200" cy="257175"/>
          </a:xfrm>
          <a:prstGeom prst="rect">
            <a:avLst/>
          </a:prstGeom>
        </p:spPr>
        <p:txBody>
          <a:bodyPr vert="horz" lIns="91440" tIns="45720" rIns="91440" bIns="45720" rtlCol="0" anchor="ctr"/>
          <a:lstStyle>
            <a:lvl1pPr algn="l" defTabSz="257175" eaLnBrk="1" fontAlgn="auto" hangingPunct="1">
              <a:spcBef>
                <a:spcPts val="0"/>
              </a:spcBef>
              <a:spcAft>
                <a:spcPts val="0"/>
              </a:spcAft>
              <a:defRPr sz="1000" smtClean="0">
                <a:solidFill>
                  <a:prstClr val="white"/>
                </a:solidFill>
                <a:latin typeface="Calibri" panose="020F0502020204030204"/>
                <a:ea typeface="+mn-ea"/>
              </a:defRPr>
            </a:lvl1pPr>
          </a:lstStyle>
          <a:p>
            <a:pPr>
              <a:buFont typeface="Monotype Sorts" charset="2"/>
              <a:buNone/>
              <a:defRPr/>
            </a:pPr>
            <a:fld id="{D956F7ED-D063-4ECE-9B57-E455597CA494}" type="datetime1">
              <a:rPr lang="en-US" smtClean="0"/>
              <a:t>12/19/2024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4" y="6604000"/>
            <a:ext cx="4967287" cy="254000"/>
          </a:xfrm>
          <a:prstGeom prst="rect">
            <a:avLst/>
          </a:prstGeom>
          <a:ln/>
        </p:spPr>
        <p:txBody>
          <a:bodyPr/>
          <a:lstStyle>
            <a:lvl1pPr>
              <a:defRPr sz="1000">
                <a:solidFill>
                  <a:schemeClr val="bg1"/>
                </a:solidFill>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19132012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p:txStyles>
    <p:titleStyle>
      <a:lvl1pPr algn="l" defTabSz="514350" rtl="0" eaLnBrk="0" fontAlgn="base" hangingPunct="0">
        <a:lnSpc>
          <a:spcPct val="90000"/>
        </a:lnSpc>
        <a:spcBef>
          <a:spcPct val="0"/>
        </a:spcBef>
        <a:spcAft>
          <a:spcPct val="0"/>
        </a:spcAft>
        <a:defRPr sz="2475" kern="1200">
          <a:solidFill>
            <a:schemeClr val="tx1"/>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5pPr>
      <a:lvl6pPr marL="3429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6pPr>
      <a:lvl7pPr marL="6858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7pPr>
      <a:lvl8pPr marL="10287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8pPr>
      <a:lvl9pPr marL="13716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9pPr>
    </p:titleStyle>
    <p:bodyStyle>
      <a:lvl1pPr marL="128588" indent="-128588" algn="l" defTabSz="514350" rtl="0" eaLnBrk="0" fontAlgn="base" hangingPunct="0">
        <a:lnSpc>
          <a:spcPct val="90000"/>
        </a:lnSpc>
        <a:spcBef>
          <a:spcPts val="563"/>
        </a:spcBef>
        <a:spcAft>
          <a:spcPct val="0"/>
        </a:spcAft>
        <a:buFont typeface="Arial" panose="020B0604020202020204" pitchFamily="34" charset="0"/>
        <a:buChar char="•"/>
        <a:defRPr sz="1575"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0" fontAlgn="base" hangingPunct="0">
        <a:lnSpc>
          <a:spcPct val="90000"/>
        </a:lnSpc>
        <a:spcBef>
          <a:spcPts val="281"/>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0" fontAlgn="base" hangingPunct="0">
        <a:lnSpc>
          <a:spcPct val="90000"/>
        </a:lnSpc>
        <a:spcBef>
          <a:spcPts val="281"/>
        </a:spcBef>
        <a:spcAft>
          <a:spcPct val="0"/>
        </a:spcAft>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en.wikipedia.org/wiki/Tower_of_Hanoi" TargetMode="Externa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a:extLst>
              <a:ext uri="{FF2B5EF4-FFF2-40B4-BE49-F238E27FC236}">
                <a16:creationId xmlns:a16="http://schemas.microsoft.com/office/drawing/2014/main" id="{92E5D540-A172-47D4-6805-9B492CBB4B8E}"/>
              </a:ext>
            </a:extLst>
          </p:cNvPr>
          <p:cNvSpPr>
            <a:spLocks noGrp="1" noChangeArrowheads="1"/>
          </p:cNvSpPr>
          <p:nvPr>
            <p:ph type="ctrTitle" idx="4294967295"/>
          </p:nvPr>
        </p:nvSpPr>
        <p:spPr>
          <a:xfrm>
            <a:off x="2667000" y="1447800"/>
            <a:ext cx="8001000" cy="2209800"/>
          </a:xfrm>
        </p:spPr>
        <p:txBody>
          <a:bodyPr/>
          <a:lstStyle/>
          <a:p>
            <a:pPr eaLnBrk="1" hangingPunct="1"/>
            <a:r>
              <a:rPr lang="en-US" altLang="en-US" sz="4000" b="1"/>
              <a:t>Database Systems: </a:t>
            </a:r>
            <a:br>
              <a:rPr lang="en-US" altLang="en-US" sz="4000" b="1"/>
            </a:br>
            <a:r>
              <a:rPr lang="en-US" altLang="en-US" sz="4000" b="1"/>
              <a:t>Design, Implementation, and Management</a:t>
            </a:r>
            <a:br>
              <a:rPr lang="en-US" altLang="en-US" sz="4000" b="1"/>
            </a:br>
            <a:r>
              <a:rPr lang="en-US" altLang="en-US" sz="4000" b="1"/>
              <a:t>14</a:t>
            </a:r>
            <a:r>
              <a:rPr lang="en-US" altLang="en-US" sz="2800" b="1"/>
              <a:t>th Edition</a:t>
            </a:r>
          </a:p>
        </p:txBody>
      </p:sp>
      <p:sp>
        <p:nvSpPr>
          <p:cNvPr id="15363" name="Rectangle 1027">
            <a:extLst>
              <a:ext uri="{FF2B5EF4-FFF2-40B4-BE49-F238E27FC236}">
                <a16:creationId xmlns:a16="http://schemas.microsoft.com/office/drawing/2014/main" id="{248535E3-6B0B-E1D8-9717-427E36E84EA0}"/>
              </a:ext>
            </a:extLst>
          </p:cNvPr>
          <p:cNvSpPr>
            <a:spLocks noGrp="1" noChangeArrowheads="1"/>
          </p:cNvSpPr>
          <p:nvPr>
            <p:ph type="subTitle" idx="4294967295"/>
          </p:nvPr>
        </p:nvSpPr>
        <p:spPr>
          <a:xfrm>
            <a:off x="2740025" y="4524375"/>
            <a:ext cx="7927975" cy="1462088"/>
          </a:xfrm>
        </p:spPr>
        <p:txBody>
          <a:bodyPr/>
          <a:lstStyle/>
          <a:p>
            <a:pPr marL="0" indent="0" algn="ctr" eaLnBrk="1" hangingPunct="1">
              <a:buFont typeface="Arial" panose="020B0604020202020204" pitchFamily="34" charset="0"/>
              <a:buNone/>
            </a:pPr>
            <a:r>
              <a:rPr lang="en-US" altLang="en-US" sz="3400" i="1"/>
              <a:t>Chapter 1</a:t>
            </a:r>
          </a:p>
          <a:p>
            <a:pPr marL="0" indent="0" algn="ctr" eaLnBrk="1" hangingPunct="1">
              <a:buFont typeface="Arial" panose="020B0604020202020204" pitchFamily="34" charset="0"/>
              <a:buNone/>
            </a:pPr>
            <a:r>
              <a:rPr lang="en-US" altLang="en-US" sz="3400" i="1"/>
              <a:t>Database Systems</a:t>
            </a:r>
          </a:p>
        </p:txBody>
      </p:sp>
      <p:sp>
        <p:nvSpPr>
          <p:cNvPr id="4" name="Date Placeholder 3">
            <a:extLst>
              <a:ext uri="{FF2B5EF4-FFF2-40B4-BE49-F238E27FC236}">
                <a16:creationId xmlns:a16="http://schemas.microsoft.com/office/drawing/2014/main" id="{9A548246-CEB8-0971-5EF9-56854AD4362F}"/>
              </a:ext>
            </a:extLst>
          </p:cNvPr>
          <p:cNvSpPr>
            <a:spLocks noGrp="1"/>
          </p:cNvSpPr>
          <p:nvPr>
            <p:ph type="dt" sz="quarter" idx="10"/>
          </p:nvPr>
        </p:nvSpPr>
        <p:spPr/>
        <p:txBody>
          <a:bodyPr/>
          <a:lstStyle/>
          <a:p>
            <a:pPr>
              <a:defRPr/>
            </a:pPr>
            <a:fld id="{4863D60C-B233-4073-9E4F-853A6F50270F}" type="datetime1">
              <a:rPr lang="en-US" smtClean="0"/>
              <a:t>12/19/2024</a:t>
            </a:fld>
            <a:endParaRPr lang="en-US" dirty="0"/>
          </a:p>
        </p:txBody>
      </p:sp>
      <p:sp>
        <p:nvSpPr>
          <p:cNvPr id="15365" name="Footer Placeholder 5">
            <a:extLst>
              <a:ext uri="{FF2B5EF4-FFF2-40B4-BE49-F238E27FC236}">
                <a16:creationId xmlns:a16="http://schemas.microsoft.com/office/drawing/2014/main" id="{AAF4E8F2-2222-1382-2DBB-5EDCE12E239C}"/>
              </a:ext>
            </a:extLst>
          </p:cNvPr>
          <p:cNvSpPr>
            <a:spLocks noGrp="1" noChangeArrowheads="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 Structures and Algorithms in Python</a:t>
            </a:r>
            <a:endParaRPr lang="en-US" altLang="en-US" sz="1000" dirty="0">
              <a:solidFill>
                <a:schemeClr val="bg1"/>
              </a:solidFill>
            </a:endParaRPr>
          </a:p>
        </p:txBody>
      </p:sp>
      <p:sp>
        <p:nvSpPr>
          <p:cNvPr id="7" name="Slide Number Placeholder 6">
            <a:extLst>
              <a:ext uri="{FF2B5EF4-FFF2-40B4-BE49-F238E27FC236}">
                <a16:creationId xmlns:a16="http://schemas.microsoft.com/office/drawing/2014/main" id="{D8A4F77A-56CD-A304-C081-F43792560CE5}"/>
              </a:ext>
            </a:extLst>
          </p:cNvPr>
          <p:cNvSpPr>
            <a:spLocks noGrp="1"/>
          </p:cNvSpPr>
          <p:nvPr>
            <p:ph type="sldNum" sz="quarter" idx="11"/>
          </p:nvPr>
        </p:nvSpPr>
        <p:spPr/>
        <p:txBody>
          <a:bodyPr/>
          <a:lstStyle/>
          <a:p>
            <a:pPr>
              <a:defRPr/>
            </a:pPr>
            <a:endParaRPr lang="en-US" dirty="0"/>
          </a:p>
        </p:txBody>
      </p:sp>
      <p:pic>
        <p:nvPicPr>
          <p:cNvPr id="9" name="Picture 8">
            <a:extLst>
              <a:ext uri="{FF2B5EF4-FFF2-40B4-BE49-F238E27FC236}">
                <a16:creationId xmlns:a16="http://schemas.microsoft.com/office/drawing/2014/main" id="{774FF61F-2683-08B0-9745-3DDA87C764B4}"/>
              </a:ext>
            </a:extLst>
          </p:cNvPr>
          <p:cNvPicPr>
            <a:picLocks noChangeAspect="1"/>
          </p:cNvPicPr>
          <p:nvPr/>
        </p:nvPicPr>
        <p:blipFill>
          <a:blip r:embed="rId3"/>
          <a:stretch>
            <a:fillRect/>
          </a:stretch>
        </p:blipFill>
        <p:spPr>
          <a:xfrm>
            <a:off x="0" y="101995"/>
            <a:ext cx="12192000" cy="66540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sz="3200" dirty="0"/>
              <a:t>National Economics University</a:t>
            </a:r>
            <a:br>
              <a:rPr lang="en-US" altLang="en-US" sz="3200" dirty="0"/>
            </a:br>
            <a:r>
              <a:rPr lang="en-US" altLang="en-US" sz="3200"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marL="457200" indent="-457200" eaLnBrk="1" hangingPunct="1">
              <a:buFont typeface="Wingdings" panose="05000000000000000000" pitchFamily="2" charset="2"/>
              <a:buChar char="q"/>
              <a:defRPr/>
            </a:pPr>
            <a:r>
              <a:rPr lang="en-US" dirty="0"/>
              <a:t>Fundamentals of Python: Data Structures  – Recursion</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10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457200" indent="-457200">
              <a:buFont typeface="+mj-lt"/>
              <a:buAutoNum type="arabicPeriod"/>
            </a:pPr>
            <a:r>
              <a:rPr lang="en-US" dirty="0"/>
              <a:t>Measure the performance of an algorithm by obtaining running times and instruction counts with different data sets</a:t>
            </a:r>
          </a:p>
          <a:p>
            <a:pPr marL="457200" indent="-457200">
              <a:buFont typeface="+mj-lt"/>
              <a:buAutoNum type="arabicPeriod"/>
            </a:pPr>
            <a:r>
              <a:rPr lang="en-US" dirty="0"/>
              <a:t>Analyze an algorithm’s performance by determining its order of complexity, using big-O notation</a:t>
            </a:r>
          </a:p>
          <a:p>
            <a:pPr marL="457200" indent="-457200">
              <a:buFont typeface="+mj-lt"/>
              <a:buAutoNum type="arabicPeriod"/>
            </a:pPr>
            <a:r>
              <a:rPr lang="en-US" dirty="0"/>
              <a:t>Distinguish the common orders of complexity and the algorithmic patterns that exhibit them</a:t>
            </a:r>
          </a:p>
          <a:p>
            <a:pPr marL="0" indent="0">
              <a:buNone/>
            </a:pPr>
            <a:endParaRPr lang="en-US" altLang="en-US" dirty="0">
              <a:ea typeface="ＭＳ Ｐゴシック" panose="020B0600070205080204" pitchFamily="34" charset="-128"/>
            </a:endParaRPr>
          </a:p>
        </p:txBody>
      </p:sp>
      <p:sp>
        <p:nvSpPr>
          <p:cNvPr id="2" name="Date Placeholder 1">
            <a:extLst>
              <a:ext uri="{FF2B5EF4-FFF2-40B4-BE49-F238E27FC236}">
                <a16:creationId xmlns:a16="http://schemas.microsoft.com/office/drawing/2014/main" id="{DF67C4DE-CC03-B7D4-1ECF-F374CDF3F524}"/>
              </a:ext>
            </a:extLst>
          </p:cNvPr>
          <p:cNvSpPr>
            <a:spLocks noGrp="1"/>
          </p:cNvSpPr>
          <p:nvPr>
            <p:ph type="dt" sz="half" idx="12"/>
          </p:nvPr>
        </p:nvSpPr>
        <p:spPr/>
        <p:txBody>
          <a:bodyPr/>
          <a:lstStyle/>
          <a:p>
            <a:pPr>
              <a:defRPr/>
            </a:pPr>
            <a:fld id="{AABE9123-2607-4938-9511-9CCBFBB1BFEF}" type="datetime1">
              <a:rPr lang="en-US" smtClean="0"/>
              <a:t>12/19/2024</a:t>
            </a:fld>
            <a:endParaRPr lang="en-US"/>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Data Structures and Algorithms in Python</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0" indent="0">
              <a:buNone/>
            </a:pPr>
            <a:r>
              <a:rPr lang="en-US" sz="1800" b="0" i="0" dirty="0">
                <a:solidFill>
                  <a:srgbClr val="242021"/>
                </a:solidFill>
                <a:effectLst/>
                <a:latin typeface="JansonText-Roman"/>
              </a:rPr>
              <a:t>After completing this chapter, you will be able to:</a:t>
            </a:r>
          </a:p>
          <a:p>
            <a:pPr marL="457200" indent="-457200">
              <a:buFont typeface="+mj-lt"/>
              <a:buAutoNum type="arabicPeriod"/>
            </a:pPr>
            <a:r>
              <a:rPr lang="en-US" dirty="0"/>
              <a:t>Distinguish between the improvements obtained by tweaking an algorithm and reducing its order of complexity</a:t>
            </a:r>
          </a:p>
          <a:p>
            <a:pPr marL="457200" indent="-457200">
              <a:buFont typeface="+mj-lt"/>
              <a:buAutoNum type="arabicPeriod"/>
            </a:pPr>
            <a:r>
              <a:rPr lang="en-US" dirty="0"/>
              <a:t>Write a simple linear search algorithm and a simple sort algorithm</a:t>
            </a:r>
            <a:br>
              <a:rPr lang="en-US" dirty="0"/>
            </a:br>
            <a:endParaRPr lang="en-US" altLang="en-US" dirty="0">
              <a:ea typeface="ＭＳ Ｐゴシック" panose="020B0600070205080204" pitchFamily="34" charset="-128"/>
            </a:endParaRPr>
          </a:p>
        </p:txBody>
      </p:sp>
      <p:sp>
        <p:nvSpPr>
          <p:cNvPr id="2" name="Date Placeholder 1">
            <a:extLst>
              <a:ext uri="{FF2B5EF4-FFF2-40B4-BE49-F238E27FC236}">
                <a16:creationId xmlns:a16="http://schemas.microsoft.com/office/drawing/2014/main" id="{DF67C4DE-CC03-B7D4-1ECF-F374CDF3F524}"/>
              </a:ext>
            </a:extLst>
          </p:cNvPr>
          <p:cNvSpPr>
            <a:spLocks noGrp="1"/>
          </p:cNvSpPr>
          <p:nvPr>
            <p:ph type="dt" sz="half" idx="12"/>
          </p:nvPr>
        </p:nvSpPr>
        <p:spPr/>
        <p:txBody>
          <a:bodyPr/>
          <a:lstStyle/>
          <a:p>
            <a:pPr>
              <a:defRPr/>
            </a:pPr>
            <a:fld id="{0626C0FD-A160-4472-9DD2-CE2BB46AE65D}" type="datetime1">
              <a:rPr lang="en-US" smtClean="0"/>
              <a:t>12/19/2024</a:t>
            </a:fld>
            <a:endParaRPr lang="en-US"/>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Data Structures and Algorithms in Python</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4</a:t>
            </a:fld>
            <a:endParaRPr lang="en-US" altLang="en-US"/>
          </a:p>
        </p:txBody>
      </p:sp>
    </p:spTree>
    <p:extLst>
      <p:ext uri="{BB962C8B-B14F-4D97-AF65-F5344CB8AC3E}">
        <p14:creationId xmlns:p14="http://schemas.microsoft.com/office/powerpoint/2010/main" val="1787707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a:extLst>
              <a:ext uri="{FF2B5EF4-FFF2-40B4-BE49-F238E27FC236}">
                <a16:creationId xmlns:a16="http://schemas.microsoft.com/office/drawing/2014/main" id="{F9687196-A9B6-DB65-2E70-CE1FF2A92469}"/>
              </a:ext>
            </a:extLst>
          </p:cNvPr>
          <p:cNvSpPr>
            <a:spLocks noGrp="1" noChangeArrowheads="1"/>
          </p:cNvSpPr>
          <p:nvPr>
            <p:ph type="title"/>
          </p:nvPr>
        </p:nvSpPr>
        <p:spPr/>
        <p:txBody>
          <a:bodyPr/>
          <a:lstStyle/>
          <a:p>
            <a:r>
              <a:rPr lang="en-US" altLang="en-US" dirty="0">
                <a:ea typeface="ＭＳ Ｐゴシック" panose="020B0600070205080204" pitchFamily="34" charset="-128"/>
              </a:rPr>
              <a:t>2.2 What is Recursion?</a:t>
            </a:r>
          </a:p>
        </p:txBody>
      </p:sp>
      <p:sp>
        <p:nvSpPr>
          <p:cNvPr id="6147" name="Rectangle 5">
            <a:extLst>
              <a:ext uri="{FF2B5EF4-FFF2-40B4-BE49-F238E27FC236}">
                <a16:creationId xmlns:a16="http://schemas.microsoft.com/office/drawing/2014/main" id="{B39EA72A-8692-F1B7-A3BB-27F59D2F2A76}"/>
              </a:ext>
            </a:extLst>
          </p:cNvPr>
          <p:cNvSpPr>
            <a:spLocks noGrp="1" noChangeArrowheads="1"/>
          </p:cNvSpPr>
          <p:nvPr>
            <p:ph idx="1"/>
          </p:nvPr>
        </p:nvSpPr>
        <p:spPr>
          <a:xfrm>
            <a:off x="838200" y="1825625"/>
            <a:ext cx="10515600" cy="4351338"/>
          </a:xfrm>
        </p:spPr>
        <p:txBody>
          <a:bodyPr/>
          <a:lstStyle/>
          <a:p>
            <a:r>
              <a:rPr lang="en-US" altLang="en-US" dirty="0">
                <a:ea typeface="ＭＳ Ｐゴシック" panose="020B0600070205080204" pitchFamily="34" charset="-128"/>
              </a:rPr>
              <a:t>Any function which calls itself is called  recursive. </a:t>
            </a:r>
          </a:p>
          <a:p>
            <a:r>
              <a:rPr lang="en-US" altLang="en-US" dirty="0">
                <a:ea typeface="ＭＳ Ｐゴシック" panose="020B0600070205080204" pitchFamily="34" charset="-128"/>
              </a:rPr>
              <a:t>A recursive method solves a problem by calling a copy of itself to work on a smaller problem. </a:t>
            </a:r>
          </a:p>
          <a:p>
            <a:pPr lvl="1"/>
            <a:r>
              <a:rPr lang="en-US" altLang="en-US" dirty="0">
                <a:ea typeface="ＭＳ Ｐゴシック" panose="020B0600070205080204" pitchFamily="34" charset="-128"/>
              </a:rPr>
              <a:t>Recursion step. </a:t>
            </a:r>
          </a:p>
          <a:p>
            <a:pPr lvl="1"/>
            <a:r>
              <a:rPr lang="en-US" altLang="en-US" dirty="0">
                <a:ea typeface="ＭＳ Ｐゴシック" panose="020B0600070205080204" pitchFamily="34" charset="-128"/>
              </a:rPr>
              <a:t>Recursion step can result in many more such recursive calls</a:t>
            </a:r>
          </a:p>
        </p:txBody>
      </p:sp>
      <p:sp>
        <p:nvSpPr>
          <p:cNvPr id="2" name="Date Placeholder 1">
            <a:extLst>
              <a:ext uri="{FF2B5EF4-FFF2-40B4-BE49-F238E27FC236}">
                <a16:creationId xmlns:a16="http://schemas.microsoft.com/office/drawing/2014/main" id="{8417CC45-A848-B924-9C76-815E9251E35A}"/>
              </a:ext>
            </a:extLst>
          </p:cNvPr>
          <p:cNvSpPr>
            <a:spLocks noGrp="1"/>
          </p:cNvSpPr>
          <p:nvPr>
            <p:ph type="dt" sz="half" idx="12"/>
          </p:nvPr>
        </p:nvSpPr>
        <p:spPr/>
        <p:txBody>
          <a:bodyPr/>
          <a:lstStyle/>
          <a:p>
            <a:pPr>
              <a:defRPr/>
            </a:pPr>
            <a:fld id="{0EAE9E48-0330-4E69-A53F-D278E80A277C}" type="datetime1">
              <a:rPr lang="en-US" smtClean="0"/>
              <a:t>12/19/2024</a:t>
            </a:fld>
            <a:endParaRPr lang="en-US"/>
          </a:p>
        </p:txBody>
      </p:sp>
      <p:sp>
        <p:nvSpPr>
          <p:cNvPr id="4" name="Footer Placeholder 3">
            <a:extLst>
              <a:ext uri="{FF2B5EF4-FFF2-40B4-BE49-F238E27FC236}">
                <a16:creationId xmlns:a16="http://schemas.microsoft.com/office/drawing/2014/main" id="{1DABA186-6D96-BADE-DC23-00E3E82ACDCE}"/>
              </a:ext>
            </a:extLst>
          </p:cNvPr>
          <p:cNvSpPr>
            <a:spLocks noGrp="1"/>
          </p:cNvSpPr>
          <p:nvPr>
            <p:ph type="ftr" sz="quarter" idx="11"/>
          </p:nvPr>
        </p:nvSpPr>
        <p:spPr/>
        <p:txBody>
          <a:bodyPr/>
          <a:lstStyle/>
          <a:p>
            <a:pPr>
              <a:buNone/>
              <a:defRPr/>
            </a:pPr>
            <a:r>
              <a:rPr lang="en-US" dirty="0"/>
              <a:t>Data Structures and Algorithms in Python</a:t>
            </a:r>
          </a:p>
        </p:txBody>
      </p:sp>
      <p:sp>
        <p:nvSpPr>
          <p:cNvPr id="5" name="Slide Number Placeholder 4">
            <a:extLst>
              <a:ext uri="{FF2B5EF4-FFF2-40B4-BE49-F238E27FC236}">
                <a16:creationId xmlns:a16="http://schemas.microsoft.com/office/drawing/2014/main" id="{EB532E27-DD70-5339-5643-96E58AD9C722}"/>
              </a:ext>
            </a:extLst>
          </p:cNvPr>
          <p:cNvSpPr>
            <a:spLocks noGrp="1"/>
          </p:cNvSpPr>
          <p:nvPr>
            <p:ph type="sldNum" sz="quarter" idx="10"/>
          </p:nvPr>
        </p:nvSpPr>
        <p:spPr/>
        <p:txBody>
          <a:bodyPr/>
          <a:lstStyle/>
          <a:p>
            <a:pPr>
              <a:defRPr/>
            </a:pPr>
            <a:fld id="{34A84676-C444-4AC5-8B4E-405A7C81C0FB}"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F7E34-12EC-50F0-6B98-46533147DC97}"/>
              </a:ext>
            </a:extLst>
          </p:cNvPr>
          <p:cNvSpPr>
            <a:spLocks noGrp="1"/>
          </p:cNvSpPr>
          <p:nvPr>
            <p:ph type="title"/>
          </p:nvPr>
        </p:nvSpPr>
        <p:spPr/>
        <p:txBody>
          <a:bodyPr/>
          <a:lstStyle/>
          <a:p>
            <a:r>
              <a:rPr lang="en-US" dirty="0"/>
              <a:t>2.3 Why Recursion?</a:t>
            </a:r>
          </a:p>
        </p:txBody>
      </p:sp>
      <p:sp>
        <p:nvSpPr>
          <p:cNvPr id="3" name="Content Placeholder 2">
            <a:extLst>
              <a:ext uri="{FF2B5EF4-FFF2-40B4-BE49-F238E27FC236}">
                <a16:creationId xmlns:a16="http://schemas.microsoft.com/office/drawing/2014/main" id="{4BC94DC0-7600-CEB6-7FCD-484CCF51D741}"/>
              </a:ext>
            </a:extLst>
          </p:cNvPr>
          <p:cNvSpPr>
            <a:spLocks noGrp="1"/>
          </p:cNvSpPr>
          <p:nvPr>
            <p:ph idx="1"/>
          </p:nvPr>
        </p:nvSpPr>
        <p:spPr/>
        <p:txBody>
          <a:bodyPr/>
          <a:lstStyle/>
          <a:p>
            <a:r>
              <a:rPr lang="en-US" dirty="0"/>
              <a:t>A useful problem solving technique borrowed from mathematics. </a:t>
            </a:r>
          </a:p>
          <a:p>
            <a:r>
              <a:rPr lang="en-US" dirty="0"/>
              <a:t>Shorter and easier to write than iterative code.</a:t>
            </a:r>
          </a:p>
          <a:p>
            <a:r>
              <a:rPr lang="en-US" dirty="0"/>
              <a:t>Useful for tasks that can be defined in terms of similar subtasks. </a:t>
            </a:r>
          </a:p>
          <a:p>
            <a:pPr lvl="1"/>
            <a:r>
              <a:rPr lang="en-US" dirty="0"/>
              <a:t>Sort, search, and traversal problems often have simple recursive solutions.</a:t>
            </a:r>
          </a:p>
        </p:txBody>
      </p:sp>
      <p:sp>
        <p:nvSpPr>
          <p:cNvPr id="4" name="Slide Number Placeholder 3">
            <a:extLst>
              <a:ext uri="{FF2B5EF4-FFF2-40B4-BE49-F238E27FC236}">
                <a16:creationId xmlns:a16="http://schemas.microsoft.com/office/drawing/2014/main" id="{5C0008F0-A197-5336-A3BF-855FFCC819BA}"/>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a:t>
            </a:fld>
            <a:endParaRPr lang="en-US" altLang="en-US" dirty="0"/>
          </a:p>
        </p:txBody>
      </p:sp>
      <p:sp>
        <p:nvSpPr>
          <p:cNvPr id="5" name="Footer Placeholder 4">
            <a:extLst>
              <a:ext uri="{FF2B5EF4-FFF2-40B4-BE49-F238E27FC236}">
                <a16:creationId xmlns:a16="http://schemas.microsoft.com/office/drawing/2014/main" id="{C2EAADDD-F338-60E3-D89E-2A8E595874CB}"/>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E9035B1-3A87-325D-F271-43BE8805EE0A}"/>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2068592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74FF3-62A8-9E95-EF7C-7760BF62020D}"/>
              </a:ext>
            </a:extLst>
          </p:cNvPr>
          <p:cNvSpPr>
            <a:spLocks noGrp="1"/>
          </p:cNvSpPr>
          <p:nvPr>
            <p:ph type="title"/>
          </p:nvPr>
        </p:nvSpPr>
        <p:spPr/>
        <p:txBody>
          <a:bodyPr/>
          <a:lstStyle/>
          <a:p>
            <a:r>
              <a:rPr lang="en-US" dirty="0"/>
              <a:t>2.4 Format of a Recursive Function</a:t>
            </a:r>
          </a:p>
        </p:txBody>
      </p:sp>
      <p:sp>
        <p:nvSpPr>
          <p:cNvPr id="3" name="Content Placeholder 2">
            <a:extLst>
              <a:ext uri="{FF2B5EF4-FFF2-40B4-BE49-F238E27FC236}">
                <a16:creationId xmlns:a16="http://schemas.microsoft.com/office/drawing/2014/main" id="{9FC030A3-9D9C-F5C0-E33D-7178E6A7B30B}"/>
              </a:ext>
            </a:extLst>
          </p:cNvPr>
          <p:cNvSpPr>
            <a:spLocks noGrp="1"/>
          </p:cNvSpPr>
          <p:nvPr>
            <p:ph idx="1"/>
          </p:nvPr>
        </p:nvSpPr>
        <p:spPr/>
        <p:txBody>
          <a:bodyPr/>
          <a:lstStyle/>
          <a:p>
            <a:r>
              <a:rPr lang="en-US" b="0" i="0" dirty="0">
                <a:solidFill>
                  <a:srgbClr val="000000"/>
                </a:solidFill>
                <a:effectLst/>
                <a:latin typeface="CrimsonPro-Regular"/>
              </a:rPr>
              <a:t>1. </a:t>
            </a:r>
            <a:r>
              <a:rPr lang="en-US" b="1" i="0" dirty="0">
                <a:solidFill>
                  <a:srgbClr val="000000"/>
                </a:solidFill>
                <a:effectLst/>
                <a:latin typeface="CrimsonPro-SemiBold"/>
              </a:rPr>
              <a:t>Base cases</a:t>
            </a:r>
            <a:r>
              <a:rPr lang="en-US" b="0" i="0" dirty="0">
                <a:solidFill>
                  <a:srgbClr val="000000"/>
                </a:solidFill>
                <a:effectLst/>
                <a:latin typeface="CrimsonPro-Regular"/>
              </a:rPr>
              <a:t>: These tell the recursion when to terminate, meaning the recursion will be stopped once the base condition is met</a:t>
            </a:r>
          </a:p>
          <a:p>
            <a:r>
              <a:rPr lang="en-US" b="0" i="0" dirty="0">
                <a:solidFill>
                  <a:srgbClr val="000000"/>
                </a:solidFill>
                <a:effectLst/>
                <a:latin typeface="CrimsonPro-Regular"/>
              </a:rPr>
              <a:t>2. </a:t>
            </a:r>
            <a:r>
              <a:rPr lang="en-US" b="1" i="0" dirty="0">
                <a:solidFill>
                  <a:srgbClr val="000000"/>
                </a:solidFill>
                <a:effectLst/>
                <a:latin typeface="CrimsonPro-SemiBold"/>
              </a:rPr>
              <a:t>Recursive cases</a:t>
            </a:r>
            <a:r>
              <a:rPr lang="en-US" b="0" i="0" dirty="0">
                <a:solidFill>
                  <a:srgbClr val="000000"/>
                </a:solidFill>
                <a:effectLst/>
                <a:latin typeface="CrimsonPro-Regular"/>
              </a:rPr>
              <a:t>: The function calls itself recursively, and we progress toward achieving the base criteria</a:t>
            </a:r>
            <a:r>
              <a:rPr lang="en-US" sz="3200" dirty="0"/>
              <a:t> </a:t>
            </a:r>
            <a:br>
              <a:rPr lang="en-US" sz="3200" dirty="0"/>
            </a:br>
            <a:endParaRPr lang="en-US" sz="3200" dirty="0"/>
          </a:p>
        </p:txBody>
      </p:sp>
      <p:sp>
        <p:nvSpPr>
          <p:cNvPr id="4" name="Slide Number Placeholder 3">
            <a:extLst>
              <a:ext uri="{FF2B5EF4-FFF2-40B4-BE49-F238E27FC236}">
                <a16:creationId xmlns:a16="http://schemas.microsoft.com/office/drawing/2014/main" id="{303D9619-8C25-D40F-6927-87F92FA925B0}"/>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a:t>
            </a:fld>
            <a:endParaRPr lang="en-US" altLang="en-US" dirty="0"/>
          </a:p>
        </p:txBody>
      </p:sp>
      <p:sp>
        <p:nvSpPr>
          <p:cNvPr id="5" name="Footer Placeholder 4">
            <a:extLst>
              <a:ext uri="{FF2B5EF4-FFF2-40B4-BE49-F238E27FC236}">
                <a16:creationId xmlns:a16="http://schemas.microsoft.com/office/drawing/2014/main" id="{1FD85BCD-C2E8-42F6-9364-DD392735AACF}"/>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0866904F-3C9D-E27C-69D0-E424FA8FA20B}"/>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2037833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2AADC-6CE1-06D0-BA69-45E0E9242809}"/>
              </a:ext>
            </a:extLst>
          </p:cNvPr>
          <p:cNvSpPr>
            <a:spLocks noGrp="1"/>
          </p:cNvSpPr>
          <p:nvPr>
            <p:ph type="title"/>
          </p:nvPr>
        </p:nvSpPr>
        <p:spPr/>
        <p:txBody>
          <a:bodyPr/>
          <a:lstStyle/>
          <a:p>
            <a:r>
              <a:rPr lang="en-US" dirty="0"/>
              <a:t>Factorial</a:t>
            </a:r>
          </a:p>
        </p:txBody>
      </p:sp>
      <p:sp>
        <p:nvSpPr>
          <p:cNvPr id="3" name="Content Placeholder 2">
            <a:extLst>
              <a:ext uri="{FF2B5EF4-FFF2-40B4-BE49-F238E27FC236}">
                <a16:creationId xmlns:a16="http://schemas.microsoft.com/office/drawing/2014/main" id="{58FB25A7-B08A-E429-72DF-BFFB4D34C0C4}"/>
              </a:ext>
            </a:extLst>
          </p:cNvPr>
          <p:cNvSpPr>
            <a:spLocks noGrp="1"/>
          </p:cNvSpPr>
          <p:nvPr>
            <p:ph idx="1"/>
          </p:nvPr>
        </p:nvSpPr>
        <p:spPr/>
        <p:txBody>
          <a:bodyPr/>
          <a:lstStyle/>
          <a:p>
            <a:r>
              <a:rPr lang="en-US" dirty="0"/>
              <a:t> n! is the product of all integers between n and 1. The definition of recursive factorial looks like:</a:t>
            </a:r>
          </a:p>
          <a:p>
            <a:pPr lvl="1"/>
            <a:r>
              <a:rPr lang="en-US" dirty="0"/>
              <a:t>n! = 1 if n = 0</a:t>
            </a:r>
          </a:p>
          <a:p>
            <a:pPr lvl="1"/>
            <a:r>
              <a:rPr lang="en-US" dirty="0"/>
              <a:t>n! = n * (n-1)! if n &gt; 0</a:t>
            </a:r>
          </a:p>
          <a:p>
            <a:endParaRPr lang="en-US" dirty="0"/>
          </a:p>
        </p:txBody>
      </p:sp>
      <p:sp>
        <p:nvSpPr>
          <p:cNvPr id="4" name="Slide Number Placeholder 3">
            <a:extLst>
              <a:ext uri="{FF2B5EF4-FFF2-40B4-BE49-F238E27FC236}">
                <a16:creationId xmlns:a16="http://schemas.microsoft.com/office/drawing/2014/main" id="{7CB52C3A-D692-E000-1DDC-257D66210474}"/>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a:t>
            </a:fld>
            <a:endParaRPr lang="en-US" altLang="en-US" dirty="0"/>
          </a:p>
        </p:txBody>
      </p:sp>
      <p:sp>
        <p:nvSpPr>
          <p:cNvPr id="5" name="Footer Placeholder 4">
            <a:extLst>
              <a:ext uri="{FF2B5EF4-FFF2-40B4-BE49-F238E27FC236}">
                <a16:creationId xmlns:a16="http://schemas.microsoft.com/office/drawing/2014/main" id="{8187531A-CBF2-52EA-E72C-DE20ABFF6EAE}"/>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30D8053-DE50-95D5-3090-C255D8CBBBFB}"/>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3855961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2B2859-4160-25BD-B303-21F00842455F}"/>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C4D354C8-2113-AC05-B49D-8B472E669F0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9</a:t>
            </a:fld>
            <a:endParaRPr lang="en-US" dirty="0"/>
          </a:p>
        </p:txBody>
      </p:sp>
      <p:sp>
        <p:nvSpPr>
          <p:cNvPr id="4" name="Footer Placeholder 3">
            <a:extLst>
              <a:ext uri="{FF2B5EF4-FFF2-40B4-BE49-F238E27FC236}">
                <a16:creationId xmlns:a16="http://schemas.microsoft.com/office/drawing/2014/main" id="{ACCA9300-A44C-D920-3B51-3B114E9999EB}"/>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8" name="Picture 7">
            <a:extLst>
              <a:ext uri="{FF2B5EF4-FFF2-40B4-BE49-F238E27FC236}">
                <a16:creationId xmlns:a16="http://schemas.microsoft.com/office/drawing/2014/main" id="{090A8B7B-7E22-631E-93EA-4A232ECD5D83}"/>
              </a:ext>
            </a:extLst>
          </p:cNvPr>
          <p:cNvPicPr>
            <a:picLocks noChangeAspect="1"/>
          </p:cNvPicPr>
          <p:nvPr/>
        </p:nvPicPr>
        <p:blipFill>
          <a:blip r:embed="rId2"/>
          <a:stretch>
            <a:fillRect/>
          </a:stretch>
        </p:blipFill>
        <p:spPr>
          <a:xfrm>
            <a:off x="533400" y="1609725"/>
            <a:ext cx="6924675" cy="3638550"/>
          </a:xfrm>
          <a:prstGeom prst="rect">
            <a:avLst/>
          </a:prstGeom>
        </p:spPr>
      </p:pic>
      <p:pic>
        <p:nvPicPr>
          <p:cNvPr id="10" name="Picture 9">
            <a:extLst>
              <a:ext uri="{FF2B5EF4-FFF2-40B4-BE49-F238E27FC236}">
                <a16:creationId xmlns:a16="http://schemas.microsoft.com/office/drawing/2014/main" id="{95CCECC2-735F-6466-6F78-45EDD5513EB4}"/>
              </a:ext>
            </a:extLst>
          </p:cNvPr>
          <p:cNvPicPr>
            <a:picLocks noChangeAspect="1"/>
          </p:cNvPicPr>
          <p:nvPr/>
        </p:nvPicPr>
        <p:blipFill>
          <a:blip r:embed="rId3"/>
          <a:stretch>
            <a:fillRect/>
          </a:stretch>
        </p:blipFill>
        <p:spPr>
          <a:xfrm>
            <a:off x="7901583" y="1478068"/>
            <a:ext cx="3985617" cy="3677338"/>
          </a:xfrm>
          <a:prstGeom prst="rect">
            <a:avLst/>
          </a:prstGeom>
        </p:spPr>
      </p:pic>
    </p:spTree>
    <p:extLst>
      <p:ext uri="{BB962C8B-B14F-4D97-AF65-F5344CB8AC3E}">
        <p14:creationId xmlns:p14="http://schemas.microsoft.com/office/powerpoint/2010/main" val="830021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2296-AEEF-2957-BCC1-1CB01D96E48F}"/>
              </a:ext>
            </a:extLst>
          </p:cNvPr>
          <p:cNvSpPr>
            <a:spLocks noGrp="1"/>
          </p:cNvSpPr>
          <p:nvPr>
            <p:ph type="title"/>
          </p:nvPr>
        </p:nvSpPr>
        <p:spPr/>
        <p:txBody>
          <a:bodyPr/>
          <a:lstStyle/>
          <a:p>
            <a:r>
              <a:rPr lang="en-US" dirty="0"/>
              <a:t>2.6 Recursion versus Iteration</a:t>
            </a:r>
          </a:p>
        </p:txBody>
      </p:sp>
      <p:sp>
        <p:nvSpPr>
          <p:cNvPr id="3" name="Content Placeholder 2">
            <a:extLst>
              <a:ext uri="{FF2B5EF4-FFF2-40B4-BE49-F238E27FC236}">
                <a16:creationId xmlns:a16="http://schemas.microsoft.com/office/drawing/2014/main" id="{611C5CC1-1B77-4EF2-E236-D33785B66B18}"/>
              </a:ext>
            </a:extLst>
          </p:cNvPr>
          <p:cNvSpPr>
            <a:spLocks noGrp="1"/>
          </p:cNvSpPr>
          <p:nvPr>
            <p:ph idx="1"/>
          </p:nvPr>
        </p:nvSpPr>
        <p:spPr/>
        <p:txBody>
          <a:bodyPr/>
          <a:lstStyle/>
          <a:p>
            <a:r>
              <a:rPr lang="en-US" sz="2000" b="0" i="0" dirty="0">
                <a:solidFill>
                  <a:srgbClr val="000000"/>
                </a:solidFill>
                <a:effectLst/>
                <a:latin typeface="Tahoma" panose="020B0604030504040204" pitchFamily="34" charset="0"/>
              </a:rPr>
              <a:t>Recursion</a:t>
            </a:r>
            <a:endParaRPr lang="en-US" sz="2000" dirty="0">
              <a:solidFill>
                <a:srgbClr val="000000"/>
              </a:solidFill>
              <a:latin typeface="Tahoma" panose="020B0604030504040204" pitchFamily="34" charset="0"/>
            </a:endParaRPr>
          </a:p>
          <a:p>
            <a:pPr lvl="1"/>
            <a:r>
              <a:rPr lang="en-US" sz="1600" b="0" i="0" dirty="0">
                <a:solidFill>
                  <a:srgbClr val="000000"/>
                </a:solidFill>
                <a:effectLst/>
                <a:latin typeface="BaskOldFace"/>
              </a:rPr>
              <a:t>Terminates when a base case is reached.</a:t>
            </a:r>
            <a:endParaRPr lang="en-US" sz="1600" dirty="0">
              <a:solidFill>
                <a:srgbClr val="000000"/>
              </a:solidFill>
              <a:latin typeface="BaskOldFace"/>
            </a:endParaRPr>
          </a:p>
          <a:p>
            <a:pPr lvl="1"/>
            <a:r>
              <a:rPr lang="en-US" sz="1600" b="0" i="0" dirty="0">
                <a:solidFill>
                  <a:srgbClr val="000000"/>
                </a:solidFill>
                <a:effectLst/>
                <a:latin typeface="BaskOldFace"/>
              </a:rPr>
              <a:t>Each recursive call requires extra space on the stack frame (memory).</a:t>
            </a:r>
            <a:endParaRPr lang="en-US" sz="1600" dirty="0">
              <a:solidFill>
                <a:srgbClr val="000000"/>
              </a:solidFill>
              <a:latin typeface="BaskOldFace"/>
            </a:endParaRPr>
          </a:p>
          <a:p>
            <a:pPr lvl="1"/>
            <a:r>
              <a:rPr lang="en-US" sz="1600" b="0" i="0" dirty="0">
                <a:solidFill>
                  <a:srgbClr val="000000"/>
                </a:solidFill>
                <a:effectLst/>
                <a:latin typeface="BaskOldFace"/>
              </a:rPr>
              <a:t>If we get infinite recursion, the program may run out of memory and result in stack overflow.</a:t>
            </a:r>
            <a:endParaRPr lang="en-US" sz="1600" dirty="0">
              <a:solidFill>
                <a:srgbClr val="000000"/>
              </a:solidFill>
              <a:latin typeface="BaskOldFace"/>
            </a:endParaRPr>
          </a:p>
          <a:p>
            <a:pPr lvl="1"/>
            <a:r>
              <a:rPr lang="en-US" sz="1600" b="0" i="0" dirty="0">
                <a:solidFill>
                  <a:srgbClr val="000000"/>
                </a:solidFill>
                <a:effectLst/>
                <a:latin typeface="BaskOldFace"/>
              </a:rPr>
              <a:t>Solutions to some problems are easier to formulate recursively.</a:t>
            </a:r>
          </a:p>
          <a:p>
            <a:r>
              <a:rPr lang="en-US" sz="2000" b="0" i="0" dirty="0">
                <a:solidFill>
                  <a:srgbClr val="000000"/>
                </a:solidFill>
                <a:effectLst/>
                <a:latin typeface="Tahoma" panose="020B0604030504040204" pitchFamily="34" charset="0"/>
              </a:rPr>
              <a:t>Iteration</a:t>
            </a:r>
            <a:endParaRPr lang="en-US" sz="2000" dirty="0">
              <a:solidFill>
                <a:srgbClr val="000000"/>
              </a:solidFill>
              <a:latin typeface="Tahoma" panose="020B0604030504040204" pitchFamily="34" charset="0"/>
            </a:endParaRPr>
          </a:p>
          <a:p>
            <a:pPr lvl="1"/>
            <a:r>
              <a:rPr lang="en-US" sz="1600" b="0" i="0" dirty="0">
                <a:solidFill>
                  <a:srgbClr val="000000"/>
                </a:solidFill>
                <a:effectLst/>
                <a:latin typeface="BaskOldFace"/>
              </a:rPr>
              <a:t>Terminates when a condition is proven to be false.</a:t>
            </a:r>
            <a:endParaRPr lang="en-US" sz="1600" dirty="0">
              <a:solidFill>
                <a:srgbClr val="000000"/>
              </a:solidFill>
              <a:latin typeface="BaskOldFace"/>
            </a:endParaRPr>
          </a:p>
          <a:p>
            <a:pPr lvl="1"/>
            <a:r>
              <a:rPr lang="en-US" sz="1600" b="0" i="0" dirty="0">
                <a:solidFill>
                  <a:srgbClr val="000000"/>
                </a:solidFill>
                <a:effectLst/>
                <a:latin typeface="BaskOldFace"/>
              </a:rPr>
              <a:t>Each iteration does not require extra space.</a:t>
            </a:r>
            <a:endParaRPr lang="en-US" sz="1600" dirty="0">
              <a:solidFill>
                <a:srgbClr val="000000"/>
              </a:solidFill>
              <a:latin typeface="BaskOldFace"/>
            </a:endParaRPr>
          </a:p>
          <a:p>
            <a:pPr lvl="1"/>
            <a:r>
              <a:rPr lang="en-US" sz="1600" b="0" i="0" dirty="0">
                <a:solidFill>
                  <a:srgbClr val="000000"/>
                </a:solidFill>
                <a:effectLst/>
                <a:latin typeface="BaskOldFace"/>
              </a:rPr>
              <a:t>An infinite loop could loop forever since there is no extra memory being created.</a:t>
            </a:r>
            <a:endParaRPr lang="en-US" sz="1600" dirty="0">
              <a:solidFill>
                <a:srgbClr val="000000"/>
              </a:solidFill>
              <a:latin typeface="BaskOldFace"/>
            </a:endParaRPr>
          </a:p>
          <a:p>
            <a:pPr lvl="1"/>
            <a:r>
              <a:rPr lang="en-US" sz="1600" b="0" i="0" dirty="0">
                <a:solidFill>
                  <a:srgbClr val="000000"/>
                </a:solidFill>
                <a:effectLst/>
                <a:latin typeface="BaskOldFace"/>
              </a:rPr>
              <a:t>Iterative solutions to a problem may not always be as obvious as a recursive solution.</a:t>
            </a:r>
            <a:r>
              <a:rPr lang="en-US" sz="2400" dirty="0"/>
              <a:t> </a:t>
            </a:r>
          </a:p>
        </p:txBody>
      </p:sp>
      <p:sp>
        <p:nvSpPr>
          <p:cNvPr id="4" name="Slide Number Placeholder 3">
            <a:extLst>
              <a:ext uri="{FF2B5EF4-FFF2-40B4-BE49-F238E27FC236}">
                <a16:creationId xmlns:a16="http://schemas.microsoft.com/office/drawing/2014/main" id="{2EF36014-0A9A-B55D-A31E-6E969EF6955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10</a:t>
            </a:fld>
            <a:endParaRPr lang="en-US" altLang="en-US" dirty="0"/>
          </a:p>
        </p:txBody>
      </p:sp>
      <p:sp>
        <p:nvSpPr>
          <p:cNvPr id="5" name="Footer Placeholder 4">
            <a:extLst>
              <a:ext uri="{FF2B5EF4-FFF2-40B4-BE49-F238E27FC236}">
                <a16:creationId xmlns:a16="http://schemas.microsoft.com/office/drawing/2014/main" id="{F401362E-D15C-EE72-1F51-EAD9C87E77E3}"/>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6F89C1F-C7C7-5E42-19DD-F281429B08BF}"/>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327246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75BF-4BCF-0D1F-0C11-FE5C2738CD3F}"/>
              </a:ext>
            </a:extLst>
          </p:cNvPr>
          <p:cNvSpPr>
            <a:spLocks noGrp="1"/>
          </p:cNvSpPr>
          <p:nvPr>
            <p:ph type="title"/>
          </p:nvPr>
        </p:nvSpPr>
        <p:spPr/>
        <p:txBody>
          <a:bodyPr/>
          <a:lstStyle/>
          <a:p>
            <a:r>
              <a:rPr lang="en-US" dirty="0"/>
              <a:t>2.8 Example Algorithms of Recursion</a:t>
            </a:r>
          </a:p>
        </p:txBody>
      </p:sp>
      <p:sp>
        <p:nvSpPr>
          <p:cNvPr id="3" name="Content Placeholder 2">
            <a:extLst>
              <a:ext uri="{FF2B5EF4-FFF2-40B4-BE49-F238E27FC236}">
                <a16:creationId xmlns:a16="http://schemas.microsoft.com/office/drawing/2014/main" id="{9F6115EF-A8BA-2152-9810-5AC1FF7A3D75}"/>
              </a:ext>
            </a:extLst>
          </p:cNvPr>
          <p:cNvSpPr>
            <a:spLocks noGrp="1"/>
          </p:cNvSpPr>
          <p:nvPr>
            <p:ph idx="1"/>
          </p:nvPr>
        </p:nvSpPr>
        <p:spPr/>
        <p:txBody>
          <a:bodyPr/>
          <a:lstStyle/>
          <a:p>
            <a:r>
              <a:rPr lang="en-US" sz="1800" b="0" i="0" dirty="0">
                <a:solidFill>
                  <a:srgbClr val="000000"/>
                </a:solidFill>
                <a:effectLst/>
                <a:latin typeface="BaskOldFace"/>
              </a:rPr>
              <a:t>Fibonacci series, factorial finding</a:t>
            </a:r>
            <a:endParaRPr lang="en-US" sz="1800" dirty="0">
              <a:solidFill>
                <a:srgbClr val="000000"/>
              </a:solidFill>
              <a:latin typeface="BaskOldFace"/>
            </a:endParaRPr>
          </a:p>
          <a:p>
            <a:r>
              <a:rPr lang="en-US" sz="1800" b="0" i="0" dirty="0">
                <a:solidFill>
                  <a:srgbClr val="000000"/>
                </a:solidFill>
                <a:effectLst/>
                <a:latin typeface="BaskOldFace"/>
              </a:rPr>
              <a:t>Merge sort, quick sort</a:t>
            </a:r>
            <a:endParaRPr lang="en-US" sz="1800" dirty="0">
              <a:solidFill>
                <a:srgbClr val="000000"/>
              </a:solidFill>
              <a:latin typeface="BaskOldFace"/>
            </a:endParaRPr>
          </a:p>
          <a:p>
            <a:r>
              <a:rPr lang="en-US" sz="1800" b="0" i="0" dirty="0">
                <a:solidFill>
                  <a:srgbClr val="000000"/>
                </a:solidFill>
                <a:effectLst/>
                <a:latin typeface="BaskOldFace"/>
              </a:rPr>
              <a:t>Binary search</a:t>
            </a:r>
            <a:endParaRPr lang="en-US" sz="1800" dirty="0">
              <a:solidFill>
                <a:srgbClr val="000000"/>
              </a:solidFill>
              <a:latin typeface="BaskOldFace"/>
            </a:endParaRPr>
          </a:p>
          <a:p>
            <a:r>
              <a:rPr lang="en-US" sz="1800" b="0" i="0" dirty="0">
                <a:solidFill>
                  <a:srgbClr val="000000"/>
                </a:solidFill>
                <a:effectLst/>
                <a:latin typeface="BaskOldFace"/>
              </a:rPr>
              <a:t>Tree traversals and many tree problems: </a:t>
            </a:r>
            <a:r>
              <a:rPr lang="en-US" sz="1800" b="0" i="0" dirty="0" err="1">
                <a:solidFill>
                  <a:srgbClr val="000000"/>
                </a:solidFill>
                <a:effectLst/>
                <a:latin typeface="BaskOldFace"/>
              </a:rPr>
              <a:t>InOrder</a:t>
            </a:r>
            <a:r>
              <a:rPr lang="en-US" sz="1800" b="0" i="0" dirty="0">
                <a:solidFill>
                  <a:srgbClr val="000000"/>
                </a:solidFill>
                <a:effectLst/>
                <a:latin typeface="BaskOldFace"/>
              </a:rPr>
              <a:t>, </a:t>
            </a:r>
            <a:r>
              <a:rPr lang="en-US" sz="1800" b="0" i="0" dirty="0" err="1">
                <a:solidFill>
                  <a:srgbClr val="000000"/>
                </a:solidFill>
                <a:effectLst/>
                <a:latin typeface="BaskOldFace"/>
              </a:rPr>
              <a:t>PreOrder</a:t>
            </a:r>
            <a:r>
              <a:rPr lang="en-US" sz="1800" b="0" i="0" dirty="0">
                <a:solidFill>
                  <a:srgbClr val="000000"/>
                </a:solidFill>
                <a:effectLst/>
                <a:latin typeface="BaskOldFace"/>
              </a:rPr>
              <a:t> </a:t>
            </a:r>
            <a:r>
              <a:rPr lang="en-US" sz="1800" b="0" i="0" dirty="0" err="1">
                <a:solidFill>
                  <a:srgbClr val="000000"/>
                </a:solidFill>
                <a:effectLst/>
                <a:latin typeface="BaskOldFace"/>
              </a:rPr>
              <a:t>PostOrder</a:t>
            </a:r>
            <a:endParaRPr lang="en-US" sz="1800" dirty="0">
              <a:solidFill>
                <a:srgbClr val="000000"/>
              </a:solidFill>
              <a:latin typeface="BaskOldFace"/>
            </a:endParaRPr>
          </a:p>
          <a:p>
            <a:r>
              <a:rPr lang="en-US" sz="1800" b="0" i="0" dirty="0">
                <a:solidFill>
                  <a:srgbClr val="000000"/>
                </a:solidFill>
                <a:effectLst/>
                <a:latin typeface="BaskOldFace"/>
              </a:rPr>
              <a:t>Graph traversals: DFS [Depth First Search] </a:t>
            </a:r>
          </a:p>
          <a:p>
            <a:r>
              <a:rPr lang="en-US" sz="1800" b="0" i="0" dirty="0">
                <a:solidFill>
                  <a:srgbClr val="000000"/>
                </a:solidFill>
                <a:effectLst/>
                <a:latin typeface="BaskOldFace"/>
              </a:rPr>
              <a:t>Dynamic programming examples</a:t>
            </a:r>
            <a:endParaRPr lang="en-US" sz="1800" dirty="0">
              <a:solidFill>
                <a:srgbClr val="000000"/>
              </a:solidFill>
              <a:latin typeface="BaskOldFace"/>
            </a:endParaRPr>
          </a:p>
          <a:p>
            <a:r>
              <a:rPr lang="en-US" sz="1800" b="0" i="0" dirty="0">
                <a:solidFill>
                  <a:srgbClr val="000000"/>
                </a:solidFill>
                <a:effectLst/>
                <a:latin typeface="BaskOldFace"/>
              </a:rPr>
              <a:t>Divide and conquer algorithms</a:t>
            </a:r>
            <a:endParaRPr lang="en-US" sz="1800" dirty="0">
              <a:solidFill>
                <a:srgbClr val="000000"/>
              </a:solidFill>
              <a:latin typeface="BaskOldFace"/>
            </a:endParaRPr>
          </a:p>
          <a:p>
            <a:r>
              <a:rPr lang="en-US" sz="1800" b="0" i="0" dirty="0">
                <a:solidFill>
                  <a:srgbClr val="000000"/>
                </a:solidFill>
                <a:effectLst/>
                <a:latin typeface="BaskOldFace"/>
              </a:rPr>
              <a:t>Towers of Hanoi</a:t>
            </a:r>
            <a:endParaRPr lang="en-US" sz="1800" dirty="0">
              <a:solidFill>
                <a:srgbClr val="000000"/>
              </a:solidFill>
              <a:latin typeface="BaskOldFace"/>
            </a:endParaRPr>
          </a:p>
          <a:p>
            <a:r>
              <a:rPr lang="en-US" sz="1800" b="0" i="0" dirty="0">
                <a:solidFill>
                  <a:srgbClr val="000000"/>
                </a:solidFill>
                <a:effectLst/>
                <a:latin typeface="BaskOldFace"/>
              </a:rPr>
              <a:t>Backtracking algorithms [we will discuss in next section]</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622E185D-0DD2-3F4A-98E1-AB618103B70D}"/>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11</a:t>
            </a:fld>
            <a:endParaRPr lang="en-US" altLang="en-US" dirty="0"/>
          </a:p>
        </p:txBody>
      </p:sp>
      <p:sp>
        <p:nvSpPr>
          <p:cNvPr id="5" name="Footer Placeholder 4">
            <a:extLst>
              <a:ext uri="{FF2B5EF4-FFF2-40B4-BE49-F238E27FC236}">
                <a16:creationId xmlns:a16="http://schemas.microsoft.com/office/drawing/2014/main" id="{A21DE16E-FC9B-4080-95FE-A71D2819F1ED}"/>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6849D3F2-3BBB-DC01-3901-CE449FAF7307}"/>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4061796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AD6DB-5955-3992-AC7C-6AA1E316A3DD}"/>
              </a:ext>
            </a:extLst>
          </p:cNvPr>
          <p:cNvSpPr>
            <a:spLocks noGrp="1"/>
          </p:cNvSpPr>
          <p:nvPr>
            <p:ph type="title"/>
          </p:nvPr>
        </p:nvSpPr>
        <p:spPr/>
        <p:txBody>
          <a:bodyPr/>
          <a:lstStyle/>
          <a:p>
            <a:r>
              <a:rPr lang="en-US" dirty="0"/>
              <a:t>2.9 Recursion: Problems &amp; Solutions</a:t>
            </a:r>
          </a:p>
        </p:txBody>
      </p:sp>
      <p:sp>
        <p:nvSpPr>
          <p:cNvPr id="3" name="Content Placeholder 2">
            <a:extLst>
              <a:ext uri="{FF2B5EF4-FFF2-40B4-BE49-F238E27FC236}">
                <a16:creationId xmlns:a16="http://schemas.microsoft.com/office/drawing/2014/main" id="{69A4B1E0-B5D8-8C0E-DB15-23095FEA0462}"/>
              </a:ext>
            </a:extLst>
          </p:cNvPr>
          <p:cNvSpPr>
            <a:spLocks noGrp="1"/>
          </p:cNvSpPr>
          <p:nvPr>
            <p:ph idx="1"/>
          </p:nvPr>
        </p:nvSpPr>
        <p:spPr>
          <a:xfrm>
            <a:off x="830825" y="1690690"/>
            <a:ext cx="10218175" cy="4351338"/>
          </a:xfrm>
        </p:spPr>
        <p:txBody>
          <a:bodyPr/>
          <a:lstStyle/>
          <a:p>
            <a:r>
              <a:rPr lang="en-US" sz="1600" dirty="0">
                <a:hlinkClick r:id="rId2"/>
              </a:rPr>
              <a:t>Tower of Hanoi - Wikipedia</a:t>
            </a:r>
            <a:endParaRPr lang="en-US" sz="2000" b="0" i="0" dirty="0">
              <a:solidFill>
                <a:srgbClr val="000000"/>
              </a:solidFill>
              <a:effectLst/>
              <a:latin typeface="BaskOldFace"/>
            </a:endParaRPr>
          </a:p>
          <a:p>
            <a:r>
              <a:rPr lang="en-US" sz="2000" b="0" i="0" dirty="0">
                <a:solidFill>
                  <a:srgbClr val="000000"/>
                </a:solidFill>
                <a:effectLst/>
                <a:latin typeface="BaskOldFace"/>
              </a:rPr>
              <a:t>It consists of three rods (or pegs or towers) and a number of disks of different sizes which can slide onto any rod. </a:t>
            </a:r>
          </a:p>
          <a:p>
            <a:r>
              <a:rPr lang="en-US" sz="2000" b="0" i="0" dirty="0">
                <a:solidFill>
                  <a:srgbClr val="000000"/>
                </a:solidFill>
                <a:effectLst/>
                <a:latin typeface="BaskOldFace"/>
              </a:rPr>
              <a:t>The puzzle starts with the disks on one rod in ascending order of size, the smallest at the top.</a:t>
            </a:r>
          </a:p>
          <a:p>
            <a:r>
              <a:rPr lang="en-US" sz="2000" b="0" i="0" dirty="0">
                <a:solidFill>
                  <a:srgbClr val="000000"/>
                </a:solidFill>
                <a:effectLst/>
                <a:latin typeface="BaskOldFace"/>
              </a:rPr>
              <a:t>The objective of the puzzle is to move the entire stack to another rod, satisfying the following rules:</a:t>
            </a:r>
            <a:endParaRPr lang="en-US" sz="2000" dirty="0">
              <a:solidFill>
                <a:srgbClr val="000000"/>
              </a:solidFill>
              <a:latin typeface="BaskOldFace"/>
            </a:endParaRPr>
          </a:p>
          <a:p>
            <a:pPr lvl="1"/>
            <a:r>
              <a:rPr lang="en-US" sz="1600" b="0" i="0" dirty="0">
                <a:solidFill>
                  <a:srgbClr val="000000"/>
                </a:solidFill>
                <a:effectLst/>
                <a:latin typeface="BaskOldFace"/>
              </a:rPr>
              <a:t>Only one disk may be moved at a time.</a:t>
            </a:r>
            <a:endParaRPr lang="en-US" sz="1600" dirty="0">
              <a:solidFill>
                <a:srgbClr val="000000"/>
              </a:solidFill>
              <a:latin typeface="BaskOldFace"/>
            </a:endParaRPr>
          </a:p>
          <a:p>
            <a:pPr lvl="1"/>
            <a:r>
              <a:rPr lang="en-US" sz="1600" b="0" i="0" dirty="0">
                <a:solidFill>
                  <a:srgbClr val="000000"/>
                </a:solidFill>
                <a:effectLst/>
                <a:latin typeface="BaskOldFace"/>
              </a:rPr>
              <a:t>Each move consists of taking the upper disk from one of the rods and sliding it onto another rod, on top of the other disks that may already be present on that rod.</a:t>
            </a:r>
            <a:endParaRPr lang="en-US" sz="1600" dirty="0">
              <a:solidFill>
                <a:srgbClr val="000000"/>
              </a:solidFill>
              <a:latin typeface="BaskOldFace"/>
            </a:endParaRPr>
          </a:p>
          <a:p>
            <a:pPr lvl="1"/>
            <a:r>
              <a:rPr lang="en-US" sz="1600" b="0" i="0" dirty="0">
                <a:solidFill>
                  <a:srgbClr val="000000"/>
                </a:solidFill>
                <a:effectLst/>
                <a:latin typeface="BaskOldFace"/>
              </a:rPr>
              <a:t>No disk may be placed on top of a smaller disk.</a:t>
            </a:r>
            <a:r>
              <a:rPr lang="en-US" sz="2400" dirty="0"/>
              <a:t> </a:t>
            </a:r>
          </a:p>
        </p:txBody>
      </p:sp>
      <p:sp>
        <p:nvSpPr>
          <p:cNvPr id="4" name="Slide Number Placeholder 3">
            <a:extLst>
              <a:ext uri="{FF2B5EF4-FFF2-40B4-BE49-F238E27FC236}">
                <a16:creationId xmlns:a16="http://schemas.microsoft.com/office/drawing/2014/main" id="{E8D61F57-0F6F-FD4E-0BA3-8ACFDE4FAA5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12</a:t>
            </a:fld>
            <a:endParaRPr lang="en-US" altLang="en-US" dirty="0"/>
          </a:p>
        </p:txBody>
      </p:sp>
      <p:sp>
        <p:nvSpPr>
          <p:cNvPr id="5" name="Footer Placeholder 4">
            <a:extLst>
              <a:ext uri="{FF2B5EF4-FFF2-40B4-BE49-F238E27FC236}">
                <a16:creationId xmlns:a16="http://schemas.microsoft.com/office/drawing/2014/main" id="{64893E0A-D46B-08BD-F919-3FBF6CE7986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54D1B60C-0D14-6AB0-243D-965CCFA67C32}"/>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2052" name="Picture 4">
            <a:extLst>
              <a:ext uri="{FF2B5EF4-FFF2-40B4-BE49-F238E27FC236}">
                <a16:creationId xmlns:a16="http://schemas.microsoft.com/office/drawing/2014/main" id="{AF88504E-A54A-FF1E-86A1-535C9A7E6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9094" y="992187"/>
            <a:ext cx="285750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5356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F44F3-CB4D-9299-B83B-8D6273600911}"/>
              </a:ext>
            </a:extLst>
          </p:cNvPr>
          <p:cNvSpPr>
            <a:spLocks noGrp="1"/>
          </p:cNvSpPr>
          <p:nvPr>
            <p:ph type="title"/>
          </p:nvPr>
        </p:nvSpPr>
        <p:spPr/>
        <p:txBody>
          <a:bodyPr/>
          <a:lstStyle/>
          <a:p>
            <a:r>
              <a:rPr lang="en-US" dirty="0"/>
              <a:t>Tower of Hanoi</a:t>
            </a:r>
          </a:p>
        </p:txBody>
      </p:sp>
      <p:sp>
        <p:nvSpPr>
          <p:cNvPr id="3" name="Content Placeholder 2">
            <a:extLst>
              <a:ext uri="{FF2B5EF4-FFF2-40B4-BE49-F238E27FC236}">
                <a16:creationId xmlns:a16="http://schemas.microsoft.com/office/drawing/2014/main" id="{3D43A80A-9CFD-3EE6-8D13-C0347DD95D1E}"/>
              </a:ext>
            </a:extLst>
          </p:cNvPr>
          <p:cNvSpPr>
            <a:spLocks noGrp="1"/>
          </p:cNvSpPr>
          <p:nvPr>
            <p:ph idx="1"/>
          </p:nvPr>
        </p:nvSpPr>
        <p:spPr/>
        <p:txBody>
          <a:bodyPr/>
          <a:lstStyle/>
          <a:p>
            <a:r>
              <a:rPr lang="en-US" sz="2000" b="1" i="0" dirty="0">
                <a:solidFill>
                  <a:srgbClr val="000000"/>
                </a:solidFill>
                <a:effectLst/>
                <a:latin typeface="BaskOldFace"/>
              </a:rPr>
              <a:t>Algorithm:</a:t>
            </a:r>
            <a:endParaRPr lang="en-US" sz="2000" b="1" dirty="0">
              <a:solidFill>
                <a:srgbClr val="000000"/>
              </a:solidFill>
              <a:latin typeface="BaskOldFace"/>
            </a:endParaRPr>
          </a:p>
          <a:p>
            <a:pPr algn="l">
              <a:buFont typeface="+mj-lt"/>
              <a:buAutoNum type="arabicPeriod"/>
            </a:pPr>
            <a:r>
              <a:rPr lang="en-US" sz="2000" b="0" i="0" dirty="0">
                <a:solidFill>
                  <a:srgbClr val="202122"/>
                </a:solidFill>
                <a:effectLst/>
                <a:latin typeface="Arial" panose="020B0604020202020204" pitchFamily="34" charset="0"/>
              </a:rPr>
              <a:t> Move </a:t>
            </a:r>
            <a:r>
              <a:rPr lang="en-US" sz="2000" b="0" i="1" dirty="0">
                <a:solidFill>
                  <a:srgbClr val="202122"/>
                </a:solidFill>
                <a:effectLst/>
                <a:latin typeface="Arial" panose="020B0604020202020204" pitchFamily="34" charset="0"/>
              </a:rPr>
              <a:t>m</a:t>
            </a:r>
            <a:r>
              <a:rPr lang="en-US" sz="2000" b="0" i="0" dirty="0">
                <a:solidFill>
                  <a:srgbClr val="202122"/>
                </a:solidFill>
                <a:effectLst/>
                <a:latin typeface="Arial" panose="020B0604020202020204" pitchFamily="34" charset="0"/>
              </a:rPr>
              <a:t> − 1 disks from the </a:t>
            </a:r>
            <a:r>
              <a:rPr lang="en-US" sz="2000" b="1" i="0" dirty="0">
                <a:solidFill>
                  <a:srgbClr val="202122"/>
                </a:solidFill>
                <a:effectLst/>
                <a:latin typeface="Arial" panose="020B0604020202020204" pitchFamily="34" charset="0"/>
              </a:rPr>
              <a:t>source</a:t>
            </a:r>
            <a:r>
              <a:rPr lang="en-US" sz="2000" b="0" i="0" dirty="0">
                <a:solidFill>
                  <a:srgbClr val="202122"/>
                </a:solidFill>
                <a:effectLst/>
                <a:latin typeface="Arial" panose="020B0604020202020204" pitchFamily="34" charset="0"/>
              </a:rPr>
              <a:t> to the </a:t>
            </a:r>
            <a:r>
              <a:rPr lang="en-US" sz="2000" b="1" i="0" dirty="0">
                <a:solidFill>
                  <a:srgbClr val="202122"/>
                </a:solidFill>
                <a:effectLst/>
                <a:latin typeface="Arial" panose="020B0604020202020204" pitchFamily="34" charset="0"/>
              </a:rPr>
              <a:t>spare</a:t>
            </a:r>
            <a:r>
              <a:rPr lang="en-US" sz="2000" b="0" i="0" dirty="0">
                <a:solidFill>
                  <a:srgbClr val="202122"/>
                </a:solidFill>
                <a:effectLst/>
                <a:latin typeface="Arial" panose="020B0604020202020204" pitchFamily="34" charset="0"/>
              </a:rPr>
              <a:t> peg, by </a:t>
            </a:r>
            <a:r>
              <a:rPr lang="en-US" sz="2000" b="0" i="1" dirty="0">
                <a:solidFill>
                  <a:srgbClr val="202122"/>
                </a:solidFill>
                <a:effectLst/>
                <a:latin typeface="Arial" panose="020B0604020202020204" pitchFamily="34" charset="0"/>
              </a:rPr>
              <a:t>the same general solving procedure</a:t>
            </a:r>
            <a:r>
              <a:rPr lang="en-US" sz="2000" b="0" i="0" dirty="0">
                <a:solidFill>
                  <a:srgbClr val="202122"/>
                </a:solidFill>
                <a:effectLst/>
                <a:latin typeface="Arial" panose="020B0604020202020204" pitchFamily="34" charset="0"/>
              </a:rPr>
              <a:t>.  </a:t>
            </a:r>
          </a:p>
          <a:p>
            <a:pPr algn="l">
              <a:buFont typeface="+mj-lt"/>
              <a:buAutoNum type="arabicPeriod"/>
            </a:pPr>
            <a:r>
              <a:rPr lang="en-US" sz="2000" b="0" i="0" dirty="0">
                <a:solidFill>
                  <a:srgbClr val="202122"/>
                </a:solidFill>
                <a:effectLst/>
                <a:latin typeface="Arial" panose="020B0604020202020204" pitchFamily="34" charset="0"/>
              </a:rPr>
              <a:t> Move the disk </a:t>
            </a:r>
            <a:r>
              <a:rPr lang="en-US" sz="2000" b="0" i="1" dirty="0">
                <a:solidFill>
                  <a:srgbClr val="202122"/>
                </a:solidFill>
                <a:effectLst/>
                <a:latin typeface="Arial" panose="020B0604020202020204" pitchFamily="34" charset="0"/>
              </a:rPr>
              <a:t>m</a:t>
            </a:r>
            <a:r>
              <a:rPr lang="en-US" sz="2000" b="0" i="0" dirty="0">
                <a:solidFill>
                  <a:srgbClr val="202122"/>
                </a:solidFill>
                <a:effectLst/>
                <a:latin typeface="Arial" panose="020B0604020202020204" pitchFamily="34" charset="0"/>
              </a:rPr>
              <a:t> from the </a:t>
            </a:r>
            <a:r>
              <a:rPr lang="en-US" sz="2000" b="1" i="0" dirty="0">
                <a:solidFill>
                  <a:srgbClr val="202122"/>
                </a:solidFill>
                <a:effectLst/>
                <a:latin typeface="Arial" panose="020B0604020202020204" pitchFamily="34" charset="0"/>
              </a:rPr>
              <a:t>source</a:t>
            </a:r>
            <a:r>
              <a:rPr lang="en-US" sz="2000" b="0" i="0" dirty="0">
                <a:solidFill>
                  <a:srgbClr val="202122"/>
                </a:solidFill>
                <a:effectLst/>
                <a:latin typeface="Arial" panose="020B0604020202020204" pitchFamily="34" charset="0"/>
              </a:rPr>
              <a:t> to the </a:t>
            </a:r>
            <a:r>
              <a:rPr lang="en-US" sz="2000" b="1" i="0" dirty="0">
                <a:solidFill>
                  <a:srgbClr val="202122"/>
                </a:solidFill>
                <a:effectLst/>
                <a:latin typeface="Arial" panose="020B0604020202020204" pitchFamily="34" charset="0"/>
              </a:rPr>
              <a:t>target</a:t>
            </a:r>
            <a:r>
              <a:rPr lang="en-US" sz="2000" b="0" i="0" dirty="0">
                <a:solidFill>
                  <a:srgbClr val="202122"/>
                </a:solidFill>
                <a:effectLst/>
                <a:latin typeface="Arial" panose="020B0604020202020204" pitchFamily="34" charset="0"/>
              </a:rPr>
              <a:t> peg.</a:t>
            </a:r>
          </a:p>
          <a:p>
            <a:pPr algn="l">
              <a:buFont typeface="+mj-lt"/>
              <a:buAutoNum type="arabicPeriod"/>
            </a:pPr>
            <a:r>
              <a:rPr lang="en-US" sz="2000" b="0" i="0" dirty="0">
                <a:solidFill>
                  <a:srgbClr val="202122"/>
                </a:solidFill>
                <a:effectLst/>
                <a:latin typeface="Arial" panose="020B0604020202020204" pitchFamily="34" charset="0"/>
              </a:rPr>
              <a:t> Move the </a:t>
            </a:r>
            <a:r>
              <a:rPr lang="en-US" sz="2000" b="0" i="1" dirty="0">
                <a:solidFill>
                  <a:srgbClr val="202122"/>
                </a:solidFill>
                <a:effectLst/>
                <a:latin typeface="Arial" panose="020B0604020202020204" pitchFamily="34" charset="0"/>
              </a:rPr>
              <a:t>m</a:t>
            </a:r>
            <a:r>
              <a:rPr lang="en-US" sz="2000" b="0" i="0" dirty="0">
                <a:solidFill>
                  <a:srgbClr val="202122"/>
                </a:solidFill>
                <a:effectLst/>
                <a:latin typeface="Arial" panose="020B0604020202020204" pitchFamily="34" charset="0"/>
              </a:rPr>
              <a:t> − 1 disks </a:t>
            </a:r>
            <a:r>
              <a:rPr lang="en-US" sz="2000" dirty="0">
                <a:solidFill>
                  <a:srgbClr val="202122"/>
                </a:solidFill>
              </a:rPr>
              <a:t>f</a:t>
            </a:r>
            <a:r>
              <a:rPr lang="en-US" sz="2000" b="0" i="0" dirty="0">
                <a:solidFill>
                  <a:srgbClr val="202122"/>
                </a:solidFill>
                <a:effectLst/>
                <a:latin typeface="Arial" panose="020B0604020202020204" pitchFamily="34" charset="0"/>
              </a:rPr>
              <a:t>rom the </a:t>
            </a:r>
            <a:r>
              <a:rPr lang="en-US" sz="2000" b="1" i="0" dirty="0">
                <a:solidFill>
                  <a:srgbClr val="202122"/>
                </a:solidFill>
                <a:effectLst/>
                <a:latin typeface="Arial" panose="020B0604020202020204" pitchFamily="34" charset="0"/>
              </a:rPr>
              <a:t>spare</a:t>
            </a:r>
            <a:r>
              <a:rPr lang="en-US" sz="2000" b="0" i="0" dirty="0">
                <a:solidFill>
                  <a:srgbClr val="202122"/>
                </a:solidFill>
                <a:effectLst/>
                <a:latin typeface="Arial" panose="020B0604020202020204" pitchFamily="34" charset="0"/>
              </a:rPr>
              <a:t> to the </a:t>
            </a:r>
            <a:r>
              <a:rPr lang="en-US" sz="2000" b="1" i="0" dirty="0">
                <a:solidFill>
                  <a:srgbClr val="202122"/>
                </a:solidFill>
                <a:effectLst/>
                <a:latin typeface="Arial" panose="020B0604020202020204" pitchFamily="34" charset="0"/>
              </a:rPr>
              <a:t>target</a:t>
            </a:r>
            <a:r>
              <a:rPr lang="en-US" sz="2000" b="0" i="0" dirty="0">
                <a:solidFill>
                  <a:srgbClr val="202122"/>
                </a:solidFill>
                <a:effectLst/>
                <a:latin typeface="Arial" panose="020B0604020202020204" pitchFamily="34" charset="0"/>
              </a:rPr>
              <a:t> peg by </a:t>
            </a:r>
            <a:r>
              <a:rPr lang="en-US" sz="2000" b="0" i="1" dirty="0">
                <a:solidFill>
                  <a:srgbClr val="202122"/>
                </a:solidFill>
                <a:effectLst/>
                <a:latin typeface="Arial" panose="020B0604020202020204" pitchFamily="34" charset="0"/>
              </a:rPr>
              <a:t>the same general solving procedure</a:t>
            </a:r>
            <a:r>
              <a:rPr lang="en-US" sz="2000" b="0" i="0" dirty="0">
                <a:solidFill>
                  <a:srgbClr val="202122"/>
                </a:solidFill>
                <a:effectLst/>
                <a:latin typeface="Arial" panose="020B0604020202020204" pitchFamily="34" charset="0"/>
              </a:rPr>
              <a:t> </a:t>
            </a:r>
          </a:p>
          <a:p>
            <a:pPr algn="l">
              <a:buFont typeface="+mj-lt"/>
              <a:buAutoNum type="arabicPeriod"/>
            </a:pPr>
            <a:r>
              <a:rPr lang="en-US" sz="2000" b="0" i="0" dirty="0">
                <a:solidFill>
                  <a:srgbClr val="202122"/>
                </a:solidFill>
                <a:effectLst/>
                <a:latin typeface="Arial" panose="020B0604020202020204" pitchFamily="34" charset="0"/>
              </a:rPr>
              <a:t> The base case is to move </a:t>
            </a:r>
            <a:r>
              <a:rPr lang="en-US" sz="2000" b="0" i="1" dirty="0">
                <a:solidFill>
                  <a:srgbClr val="202122"/>
                </a:solidFill>
                <a:effectLst/>
                <a:latin typeface="Arial" panose="020B0604020202020204" pitchFamily="34" charset="0"/>
              </a:rPr>
              <a:t>0</a:t>
            </a:r>
            <a:r>
              <a:rPr lang="en-US" sz="2000" b="0" i="0" dirty="0">
                <a:solidFill>
                  <a:srgbClr val="202122"/>
                </a:solidFill>
                <a:effectLst/>
                <a:latin typeface="Arial" panose="020B0604020202020204" pitchFamily="34" charset="0"/>
              </a:rPr>
              <a:t> disks (in steps 1 and 3), that is, do nothing—which obviously does not violate the rules</a:t>
            </a:r>
            <a:endParaRPr lang="en-US" sz="2800" dirty="0"/>
          </a:p>
        </p:txBody>
      </p:sp>
      <p:sp>
        <p:nvSpPr>
          <p:cNvPr id="4" name="Slide Number Placeholder 3">
            <a:extLst>
              <a:ext uri="{FF2B5EF4-FFF2-40B4-BE49-F238E27FC236}">
                <a16:creationId xmlns:a16="http://schemas.microsoft.com/office/drawing/2014/main" id="{94F362D5-6EC1-4414-6CB9-9DFE89704F9F}"/>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13</a:t>
            </a:fld>
            <a:endParaRPr lang="en-US" altLang="en-US" dirty="0"/>
          </a:p>
        </p:txBody>
      </p:sp>
      <p:sp>
        <p:nvSpPr>
          <p:cNvPr id="5" name="Footer Placeholder 4">
            <a:extLst>
              <a:ext uri="{FF2B5EF4-FFF2-40B4-BE49-F238E27FC236}">
                <a16:creationId xmlns:a16="http://schemas.microsoft.com/office/drawing/2014/main" id="{696A15A0-4366-EAED-5A1F-D58201890B0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6DF3983C-C03A-91C4-9F3A-664DFBD8A851}"/>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2527737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85A4ED-EA45-BCAE-1E89-63282FA18514}"/>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3F3B41F-B4B6-BDAD-6345-570178F3EB7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14</a:t>
            </a:fld>
            <a:endParaRPr lang="en-US" dirty="0"/>
          </a:p>
        </p:txBody>
      </p:sp>
      <p:sp>
        <p:nvSpPr>
          <p:cNvPr id="4" name="Footer Placeholder 3">
            <a:extLst>
              <a:ext uri="{FF2B5EF4-FFF2-40B4-BE49-F238E27FC236}">
                <a16:creationId xmlns:a16="http://schemas.microsoft.com/office/drawing/2014/main" id="{4D1DF271-7D46-3822-564B-606F9C8EE931}"/>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09B7FCE-737B-B1BD-3D30-5F3657406117}"/>
              </a:ext>
            </a:extLst>
          </p:cNvPr>
          <p:cNvPicPr>
            <a:picLocks noChangeAspect="1"/>
          </p:cNvPicPr>
          <p:nvPr/>
        </p:nvPicPr>
        <p:blipFill>
          <a:blip r:embed="rId2"/>
          <a:stretch>
            <a:fillRect/>
          </a:stretch>
        </p:blipFill>
        <p:spPr>
          <a:xfrm>
            <a:off x="1323036" y="2209800"/>
            <a:ext cx="9497364" cy="1971675"/>
          </a:xfrm>
          <a:prstGeom prst="rect">
            <a:avLst/>
          </a:prstGeom>
        </p:spPr>
      </p:pic>
    </p:spTree>
    <p:extLst>
      <p:ext uri="{BB962C8B-B14F-4D97-AF65-F5344CB8AC3E}">
        <p14:creationId xmlns:p14="http://schemas.microsoft.com/office/powerpoint/2010/main" val="2434492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7D0B8-AB40-3979-B817-4330FF51A5A6}"/>
              </a:ext>
            </a:extLst>
          </p:cNvPr>
          <p:cNvSpPr>
            <a:spLocks noGrp="1"/>
          </p:cNvSpPr>
          <p:nvPr>
            <p:ph type="title"/>
          </p:nvPr>
        </p:nvSpPr>
        <p:spPr/>
        <p:txBody>
          <a:bodyPr/>
          <a:lstStyle/>
          <a:p>
            <a:r>
              <a:rPr lang="en-US" dirty="0"/>
              <a:t>Check whether the array is in sorted order with recursion.</a:t>
            </a:r>
          </a:p>
        </p:txBody>
      </p:sp>
      <p:sp>
        <p:nvSpPr>
          <p:cNvPr id="3" name="Content Placeholder 2">
            <a:extLst>
              <a:ext uri="{FF2B5EF4-FFF2-40B4-BE49-F238E27FC236}">
                <a16:creationId xmlns:a16="http://schemas.microsoft.com/office/drawing/2014/main" id="{C0987F47-DCC2-D57D-F895-E327DBC41A3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F80C17A-A326-F332-32A0-0363489CDE0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15</a:t>
            </a:fld>
            <a:endParaRPr lang="en-US" altLang="en-US" dirty="0"/>
          </a:p>
        </p:txBody>
      </p:sp>
      <p:sp>
        <p:nvSpPr>
          <p:cNvPr id="5" name="Footer Placeholder 4">
            <a:extLst>
              <a:ext uri="{FF2B5EF4-FFF2-40B4-BE49-F238E27FC236}">
                <a16:creationId xmlns:a16="http://schemas.microsoft.com/office/drawing/2014/main" id="{969E0486-84C5-BFFA-DB5F-C1163F295867}"/>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0910192-13AA-951A-30CF-131474E4C832}"/>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06645269-42DA-310D-02CB-CBEDECB86699}"/>
              </a:ext>
            </a:extLst>
          </p:cNvPr>
          <p:cNvPicPr>
            <a:picLocks noChangeAspect="1"/>
          </p:cNvPicPr>
          <p:nvPr/>
        </p:nvPicPr>
        <p:blipFill>
          <a:blip r:embed="rId2"/>
          <a:stretch>
            <a:fillRect/>
          </a:stretch>
        </p:blipFill>
        <p:spPr>
          <a:xfrm>
            <a:off x="2566987" y="2590800"/>
            <a:ext cx="7684477" cy="2743200"/>
          </a:xfrm>
          <a:prstGeom prst="rect">
            <a:avLst/>
          </a:prstGeom>
        </p:spPr>
      </p:pic>
    </p:spTree>
    <p:extLst>
      <p:ext uri="{BB962C8B-B14F-4D97-AF65-F5344CB8AC3E}">
        <p14:creationId xmlns:p14="http://schemas.microsoft.com/office/powerpoint/2010/main" val="3136433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07E0-B2FF-A58B-6075-3E6670BC9A2A}"/>
              </a:ext>
            </a:extLst>
          </p:cNvPr>
          <p:cNvSpPr>
            <a:spLocks noGrp="1"/>
          </p:cNvSpPr>
          <p:nvPr>
            <p:ph type="title"/>
          </p:nvPr>
        </p:nvSpPr>
        <p:spPr/>
        <p:txBody>
          <a:bodyPr/>
          <a:lstStyle/>
          <a:p>
            <a:r>
              <a:rPr lang="en-US" dirty="0"/>
              <a:t>Summing the Elements of a Sequence Recursively</a:t>
            </a:r>
          </a:p>
        </p:txBody>
      </p:sp>
      <p:sp>
        <p:nvSpPr>
          <p:cNvPr id="3" name="Content Placeholder 2">
            <a:extLst>
              <a:ext uri="{FF2B5EF4-FFF2-40B4-BE49-F238E27FC236}">
                <a16:creationId xmlns:a16="http://schemas.microsoft.com/office/drawing/2014/main" id="{A7BD6406-2B56-D823-33FA-97E195C2834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90550C6-6F51-0EDD-7A17-19058ED02EF5}"/>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16</a:t>
            </a:fld>
            <a:endParaRPr lang="en-US" altLang="en-US" dirty="0"/>
          </a:p>
        </p:txBody>
      </p:sp>
      <p:sp>
        <p:nvSpPr>
          <p:cNvPr id="5" name="Footer Placeholder 4">
            <a:extLst>
              <a:ext uri="{FF2B5EF4-FFF2-40B4-BE49-F238E27FC236}">
                <a16:creationId xmlns:a16="http://schemas.microsoft.com/office/drawing/2014/main" id="{763DAE97-FC52-6E42-C29A-74483983353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A4DAEE40-F25F-1411-B28B-8CBB561AE38C}"/>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29C957F8-F6E3-8666-6136-E6142E5180F6}"/>
              </a:ext>
            </a:extLst>
          </p:cNvPr>
          <p:cNvPicPr>
            <a:picLocks noChangeAspect="1"/>
          </p:cNvPicPr>
          <p:nvPr/>
        </p:nvPicPr>
        <p:blipFill>
          <a:blip r:embed="rId2"/>
          <a:stretch>
            <a:fillRect/>
          </a:stretch>
        </p:blipFill>
        <p:spPr>
          <a:xfrm>
            <a:off x="990600" y="2009775"/>
            <a:ext cx="10210800" cy="2838450"/>
          </a:xfrm>
          <a:prstGeom prst="rect">
            <a:avLst/>
          </a:prstGeom>
        </p:spPr>
      </p:pic>
    </p:spTree>
    <p:extLst>
      <p:ext uri="{BB962C8B-B14F-4D97-AF65-F5344CB8AC3E}">
        <p14:creationId xmlns:p14="http://schemas.microsoft.com/office/powerpoint/2010/main" val="50686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C563B9-56E3-7C5C-AD58-86C93F9E2294}"/>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0656BFD3-7198-BE19-58A5-D0613996B8F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17</a:t>
            </a:fld>
            <a:endParaRPr lang="en-US" dirty="0"/>
          </a:p>
        </p:txBody>
      </p:sp>
      <p:sp>
        <p:nvSpPr>
          <p:cNvPr id="4" name="Footer Placeholder 3">
            <a:extLst>
              <a:ext uri="{FF2B5EF4-FFF2-40B4-BE49-F238E27FC236}">
                <a16:creationId xmlns:a16="http://schemas.microsoft.com/office/drawing/2014/main" id="{A7057631-9796-7FAA-7F09-9AA81FEF6EED}"/>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BD799094-F056-34ED-83E2-A74991C09BCD}"/>
              </a:ext>
            </a:extLst>
          </p:cNvPr>
          <p:cNvPicPr>
            <a:picLocks noChangeAspect="1"/>
          </p:cNvPicPr>
          <p:nvPr/>
        </p:nvPicPr>
        <p:blipFill>
          <a:blip r:embed="rId2"/>
          <a:stretch>
            <a:fillRect/>
          </a:stretch>
        </p:blipFill>
        <p:spPr>
          <a:xfrm>
            <a:off x="1733550" y="766762"/>
            <a:ext cx="8724900" cy="5324475"/>
          </a:xfrm>
          <a:prstGeom prst="rect">
            <a:avLst/>
          </a:prstGeom>
        </p:spPr>
      </p:pic>
      <p:sp>
        <p:nvSpPr>
          <p:cNvPr id="7" name="TextBox 6">
            <a:extLst>
              <a:ext uri="{FF2B5EF4-FFF2-40B4-BE49-F238E27FC236}">
                <a16:creationId xmlns:a16="http://schemas.microsoft.com/office/drawing/2014/main" id="{A73FF33B-FFE8-A4AE-59B0-77BA6AD82FA0}"/>
              </a:ext>
            </a:extLst>
          </p:cNvPr>
          <p:cNvSpPr txBox="1"/>
          <p:nvPr/>
        </p:nvSpPr>
        <p:spPr>
          <a:xfrm>
            <a:off x="685800" y="2514600"/>
            <a:ext cx="2476960" cy="1040285"/>
          </a:xfrm>
          <a:prstGeom prst="rect">
            <a:avLst/>
          </a:prstGeom>
          <a:noFill/>
        </p:spPr>
        <p:txBody>
          <a:bodyPr wrap="none" rtlCol="0">
            <a:spAutoFit/>
          </a:bodyPr>
          <a:lstStyle/>
          <a:p>
            <a:r>
              <a:rPr lang="en-US" dirty="0"/>
              <a:t>O(n) time</a:t>
            </a:r>
          </a:p>
          <a:p>
            <a:r>
              <a:rPr lang="en-US" dirty="0"/>
              <a:t>O(n) memory</a:t>
            </a:r>
          </a:p>
        </p:txBody>
      </p:sp>
    </p:spTree>
    <p:extLst>
      <p:ext uri="{BB962C8B-B14F-4D97-AF65-F5344CB8AC3E}">
        <p14:creationId xmlns:p14="http://schemas.microsoft.com/office/powerpoint/2010/main" val="1400712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07E0-B2FF-A58B-6075-3E6670BC9A2A}"/>
              </a:ext>
            </a:extLst>
          </p:cNvPr>
          <p:cNvSpPr>
            <a:spLocks noGrp="1"/>
          </p:cNvSpPr>
          <p:nvPr>
            <p:ph type="title"/>
          </p:nvPr>
        </p:nvSpPr>
        <p:spPr/>
        <p:txBody>
          <a:bodyPr/>
          <a:lstStyle/>
          <a:p>
            <a:r>
              <a:rPr lang="en-US" dirty="0"/>
              <a:t>Summing the Elements of a Sequence Recursively</a:t>
            </a:r>
          </a:p>
        </p:txBody>
      </p:sp>
      <p:sp>
        <p:nvSpPr>
          <p:cNvPr id="3" name="Content Placeholder 2">
            <a:extLst>
              <a:ext uri="{FF2B5EF4-FFF2-40B4-BE49-F238E27FC236}">
                <a16:creationId xmlns:a16="http://schemas.microsoft.com/office/drawing/2014/main" id="{A7BD6406-2B56-D823-33FA-97E195C2834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90550C6-6F51-0EDD-7A17-19058ED02EF5}"/>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18</a:t>
            </a:fld>
            <a:endParaRPr lang="en-US" altLang="en-US" dirty="0"/>
          </a:p>
        </p:txBody>
      </p:sp>
      <p:sp>
        <p:nvSpPr>
          <p:cNvPr id="5" name="Footer Placeholder 4">
            <a:extLst>
              <a:ext uri="{FF2B5EF4-FFF2-40B4-BE49-F238E27FC236}">
                <a16:creationId xmlns:a16="http://schemas.microsoft.com/office/drawing/2014/main" id="{763DAE97-FC52-6E42-C29A-74483983353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A4DAEE40-F25F-1411-B28B-8CBB561AE38C}"/>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9" name="Picture 8">
            <a:extLst>
              <a:ext uri="{FF2B5EF4-FFF2-40B4-BE49-F238E27FC236}">
                <a16:creationId xmlns:a16="http://schemas.microsoft.com/office/drawing/2014/main" id="{1B162E5F-4EA2-BADE-562D-DDA0D797EAAD}"/>
              </a:ext>
            </a:extLst>
          </p:cNvPr>
          <p:cNvPicPr>
            <a:picLocks noChangeAspect="1"/>
          </p:cNvPicPr>
          <p:nvPr/>
        </p:nvPicPr>
        <p:blipFill>
          <a:blip r:embed="rId2"/>
          <a:stretch>
            <a:fillRect/>
          </a:stretch>
        </p:blipFill>
        <p:spPr>
          <a:xfrm>
            <a:off x="1042987" y="2402605"/>
            <a:ext cx="10106025" cy="3771900"/>
          </a:xfrm>
          <a:prstGeom prst="rect">
            <a:avLst/>
          </a:prstGeom>
        </p:spPr>
      </p:pic>
    </p:spTree>
    <p:extLst>
      <p:ext uri="{BB962C8B-B14F-4D97-AF65-F5344CB8AC3E}">
        <p14:creationId xmlns:p14="http://schemas.microsoft.com/office/powerpoint/2010/main" val="3889963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9B33D3-F9D3-FB55-77D8-FD7AB3C9DF03}"/>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359ED49D-D7B9-6D7C-12D3-952B13916ED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19</a:t>
            </a:fld>
            <a:endParaRPr lang="en-US" dirty="0"/>
          </a:p>
        </p:txBody>
      </p:sp>
      <p:sp>
        <p:nvSpPr>
          <p:cNvPr id="4" name="Footer Placeholder 3">
            <a:extLst>
              <a:ext uri="{FF2B5EF4-FFF2-40B4-BE49-F238E27FC236}">
                <a16:creationId xmlns:a16="http://schemas.microsoft.com/office/drawing/2014/main" id="{D5C450D0-2855-AF5D-7282-26F47D30224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9A3808C-50DD-80B6-32C9-262DEE2540B1}"/>
              </a:ext>
            </a:extLst>
          </p:cNvPr>
          <p:cNvPicPr>
            <a:picLocks noChangeAspect="1"/>
          </p:cNvPicPr>
          <p:nvPr/>
        </p:nvPicPr>
        <p:blipFill>
          <a:blip r:embed="rId2"/>
          <a:stretch>
            <a:fillRect/>
          </a:stretch>
        </p:blipFill>
        <p:spPr>
          <a:xfrm>
            <a:off x="1476375" y="1709737"/>
            <a:ext cx="9239250" cy="3438525"/>
          </a:xfrm>
          <a:prstGeom prst="rect">
            <a:avLst/>
          </a:prstGeom>
        </p:spPr>
      </p:pic>
      <p:sp>
        <p:nvSpPr>
          <p:cNvPr id="7" name="TextBox 6">
            <a:extLst>
              <a:ext uri="{FF2B5EF4-FFF2-40B4-BE49-F238E27FC236}">
                <a16:creationId xmlns:a16="http://schemas.microsoft.com/office/drawing/2014/main" id="{3B47F89C-BF31-633C-2E29-A4F3EDC42F0F}"/>
              </a:ext>
            </a:extLst>
          </p:cNvPr>
          <p:cNvSpPr txBox="1"/>
          <p:nvPr/>
        </p:nvSpPr>
        <p:spPr>
          <a:xfrm>
            <a:off x="8831827" y="1371600"/>
            <a:ext cx="2957861" cy="1040285"/>
          </a:xfrm>
          <a:prstGeom prst="rect">
            <a:avLst/>
          </a:prstGeom>
          <a:noFill/>
        </p:spPr>
        <p:txBody>
          <a:bodyPr wrap="none" rtlCol="0">
            <a:spAutoFit/>
          </a:bodyPr>
          <a:lstStyle/>
          <a:p>
            <a:r>
              <a:rPr lang="en-US" dirty="0"/>
              <a:t>O(n) time</a:t>
            </a:r>
          </a:p>
          <a:p>
            <a:r>
              <a:rPr lang="en-US" dirty="0"/>
              <a:t>O(</a:t>
            </a:r>
            <a:r>
              <a:rPr lang="en-US" dirty="0" err="1"/>
              <a:t>logn</a:t>
            </a:r>
            <a:r>
              <a:rPr lang="en-US" dirty="0"/>
              <a:t>) memory</a:t>
            </a:r>
          </a:p>
        </p:txBody>
      </p:sp>
    </p:spTree>
    <p:extLst>
      <p:ext uri="{BB962C8B-B14F-4D97-AF65-F5344CB8AC3E}">
        <p14:creationId xmlns:p14="http://schemas.microsoft.com/office/powerpoint/2010/main" val="1493355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3E173-F5D4-F904-6421-2A52120761C6}"/>
              </a:ext>
            </a:extLst>
          </p:cNvPr>
          <p:cNvSpPr>
            <a:spLocks noGrp="1"/>
          </p:cNvSpPr>
          <p:nvPr>
            <p:ph type="title"/>
          </p:nvPr>
        </p:nvSpPr>
        <p:spPr/>
        <p:txBody>
          <a:bodyPr/>
          <a:lstStyle/>
          <a:p>
            <a:r>
              <a:rPr lang="en-US" dirty="0"/>
              <a:t>Reversing a Sequence with Recursion</a:t>
            </a:r>
          </a:p>
        </p:txBody>
      </p:sp>
      <p:sp>
        <p:nvSpPr>
          <p:cNvPr id="3" name="Content Placeholder 2">
            <a:extLst>
              <a:ext uri="{FF2B5EF4-FFF2-40B4-BE49-F238E27FC236}">
                <a16:creationId xmlns:a16="http://schemas.microsoft.com/office/drawing/2014/main" id="{23FB02AC-C2A4-D70E-0E8F-3AAD45CA3611}"/>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4F4D52A4-CA5B-7FCF-E5E2-C2C9E73E7359}"/>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20</a:t>
            </a:fld>
            <a:endParaRPr lang="en-US" altLang="en-US" dirty="0"/>
          </a:p>
        </p:txBody>
      </p:sp>
      <p:sp>
        <p:nvSpPr>
          <p:cNvPr id="5" name="Footer Placeholder 4">
            <a:extLst>
              <a:ext uri="{FF2B5EF4-FFF2-40B4-BE49-F238E27FC236}">
                <a16:creationId xmlns:a16="http://schemas.microsoft.com/office/drawing/2014/main" id="{CD957A9E-CCFF-F00A-B0B1-E28ECEE98092}"/>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960633F1-C92C-B133-D84E-5041C87DF663}"/>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C9D17855-8E1D-1F25-B25B-B5C22F79AE08}"/>
              </a:ext>
            </a:extLst>
          </p:cNvPr>
          <p:cNvPicPr>
            <a:picLocks noChangeAspect="1"/>
          </p:cNvPicPr>
          <p:nvPr/>
        </p:nvPicPr>
        <p:blipFill>
          <a:blip r:embed="rId2"/>
          <a:stretch>
            <a:fillRect/>
          </a:stretch>
        </p:blipFill>
        <p:spPr>
          <a:xfrm>
            <a:off x="990600" y="2729706"/>
            <a:ext cx="10067925" cy="2543175"/>
          </a:xfrm>
          <a:prstGeom prst="rect">
            <a:avLst/>
          </a:prstGeom>
        </p:spPr>
      </p:pic>
    </p:spTree>
    <p:extLst>
      <p:ext uri="{BB962C8B-B14F-4D97-AF65-F5344CB8AC3E}">
        <p14:creationId xmlns:p14="http://schemas.microsoft.com/office/powerpoint/2010/main" val="3225785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793DC9-0F86-CCDC-F3ED-4529F8B43CDD}"/>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1CD7736-802A-B51B-A39E-2E46B2DBA5F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21</a:t>
            </a:fld>
            <a:endParaRPr lang="en-US" dirty="0"/>
          </a:p>
        </p:txBody>
      </p:sp>
      <p:sp>
        <p:nvSpPr>
          <p:cNvPr id="4" name="Footer Placeholder 3">
            <a:extLst>
              <a:ext uri="{FF2B5EF4-FFF2-40B4-BE49-F238E27FC236}">
                <a16:creationId xmlns:a16="http://schemas.microsoft.com/office/drawing/2014/main" id="{45F92F80-90E9-C226-63C7-74E5B605472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A138CB8B-9966-2152-0F43-898EEB6FD013}"/>
              </a:ext>
            </a:extLst>
          </p:cNvPr>
          <p:cNvPicPr>
            <a:picLocks noChangeAspect="1"/>
          </p:cNvPicPr>
          <p:nvPr/>
        </p:nvPicPr>
        <p:blipFill>
          <a:blip r:embed="rId2"/>
          <a:stretch>
            <a:fillRect/>
          </a:stretch>
        </p:blipFill>
        <p:spPr>
          <a:xfrm>
            <a:off x="1162050" y="1147762"/>
            <a:ext cx="9867900" cy="4562475"/>
          </a:xfrm>
          <a:prstGeom prst="rect">
            <a:avLst/>
          </a:prstGeom>
        </p:spPr>
      </p:pic>
      <p:sp>
        <p:nvSpPr>
          <p:cNvPr id="7" name="TextBox 6">
            <a:extLst>
              <a:ext uri="{FF2B5EF4-FFF2-40B4-BE49-F238E27FC236}">
                <a16:creationId xmlns:a16="http://schemas.microsoft.com/office/drawing/2014/main" id="{49F3D58E-5DB5-7B93-4EA8-F7588E2E7CE4}"/>
              </a:ext>
            </a:extLst>
          </p:cNvPr>
          <p:cNvSpPr txBox="1"/>
          <p:nvPr/>
        </p:nvSpPr>
        <p:spPr>
          <a:xfrm>
            <a:off x="8839201" y="1524000"/>
            <a:ext cx="2743200" cy="1040285"/>
          </a:xfrm>
          <a:prstGeom prst="rect">
            <a:avLst/>
          </a:prstGeom>
          <a:noFill/>
        </p:spPr>
        <p:txBody>
          <a:bodyPr wrap="square" rtlCol="0">
            <a:spAutoFit/>
          </a:bodyPr>
          <a:lstStyle/>
          <a:p>
            <a:r>
              <a:rPr lang="en-US" dirty="0"/>
              <a:t>O(n) time</a:t>
            </a:r>
          </a:p>
          <a:p>
            <a:r>
              <a:rPr lang="en-US" dirty="0"/>
              <a:t>O(n) memory </a:t>
            </a:r>
          </a:p>
        </p:txBody>
      </p:sp>
    </p:spTree>
    <p:extLst>
      <p:ext uri="{BB962C8B-B14F-4D97-AF65-F5344CB8AC3E}">
        <p14:creationId xmlns:p14="http://schemas.microsoft.com/office/powerpoint/2010/main" val="1132665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7C83F-C42C-01AE-AD84-A7B346A62E96}"/>
              </a:ext>
            </a:extLst>
          </p:cNvPr>
          <p:cNvSpPr>
            <a:spLocks noGrp="1"/>
          </p:cNvSpPr>
          <p:nvPr>
            <p:ph type="title"/>
          </p:nvPr>
        </p:nvSpPr>
        <p:spPr/>
        <p:txBody>
          <a:bodyPr/>
          <a:lstStyle/>
          <a:p>
            <a:r>
              <a:rPr lang="en-US" dirty="0"/>
              <a:t>Recursive Algorithms for Computing Powers</a:t>
            </a:r>
          </a:p>
        </p:txBody>
      </p:sp>
      <p:sp>
        <p:nvSpPr>
          <p:cNvPr id="3" name="Content Placeholder 2">
            <a:extLst>
              <a:ext uri="{FF2B5EF4-FFF2-40B4-BE49-F238E27FC236}">
                <a16:creationId xmlns:a16="http://schemas.microsoft.com/office/drawing/2014/main" id="{CFDFCAA5-9CC2-476B-DC94-1DC1CAA601E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79A4C58-F864-A7DE-AE17-2C77047A7EA4}"/>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22</a:t>
            </a:fld>
            <a:endParaRPr lang="en-US" altLang="en-US" dirty="0"/>
          </a:p>
        </p:txBody>
      </p:sp>
      <p:sp>
        <p:nvSpPr>
          <p:cNvPr id="5" name="Footer Placeholder 4">
            <a:extLst>
              <a:ext uri="{FF2B5EF4-FFF2-40B4-BE49-F238E27FC236}">
                <a16:creationId xmlns:a16="http://schemas.microsoft.com/office/drawing/2014/main" id="{330574F7-2EFF-1F63-28B0-5CB7398F333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D1560372-861E-8536-E83E-F7622D9DF9E4}"/>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C1E348E1-9965-543D-1E82-91B65695C2F4}"/>
              </a:ext>
            </a:extLst>
          </p:cNvPr>
          <p:cNvPicPr>
            <a:picLocks noChangeAspect="1"/>
          </p:cNvPicPr>
          <p:nvPr/>
        </p:nvPicPr>
        <p:blipFill>
          <a:blip r:embed="rId2"/>
          <a:stretch>
            <a:fillRect/>
          </a:stretch>
        </p:blipFill>
        <p:spPr>
          <a:xfrm>
            <a:off x="1256685" y="1913141"/>
            <a:ext cx="9544050" cy="1276350"/>
          </a:xfrm>
          <a:prstGeom prst="rect">
            <a:avLst/>
          </a:prstGeom>
        </p:spPr>
      </p:pic>
      <p:pic>
        <p:nvPicPr>
          <p:cNvPr id="10" name="Picture 9">
            <a:extLst>
              <a:ext uri="{FF2B5EF4-FFF2-40B4-BE49-F238E27FC236}">
                <a16:creationId xmlns:a16="http://schemas.microsoft.com/office/drawing/2014/main" id="{CA246AF0-2CCA-2A75-50B4-9670AE45294C}"/>
              </a:ext>
            </a:extLst>
          </p:cNvPr>
          <p:cNvPicPr>
            <a:picLocks noChangeAspect="1"/>
          </p:cNvPicPr>
          <p:nvPr/>
        </p:nvPicPr>
        <p:blipFill>
          <a:blip r:embed="rId3"/>
          <a:stretch>
            <a:fillRect/>
          </a:stretch>
        </p:blipFill>
        <p:spPr>
          <a:xfrm>
            <a:off x="1175722" y="3502023"/>
            <a:ext cx="9705975" cy="2809875"/>
          </a:xfrm>
          <a:prstGeom prst="rect">
            <a:avLst/>
          </a:prstGeom>
        </p:spPr>
      </p:pic>
      <p:sp>
        <p:nvSpPr>
          <p:cNvPr id="13" name="TextBox 12">
            <a:extLst>
              <a:ext uri="{FF2B5EF4-FFF2-40B4-BE49-F238E27FC236}">
                <a16:creationId xmlns:a16="http://schemas.microsoft.com/office/drawing/2014/main" id="{D4DF4F27-3156-67EA-DA58-F35A405224CD}"/>
              </a:ext>
            </a:extLst>
          </p:cNvPr>
          <p:cNvSpPr txBox="1"/>
          <p:nvPr/>
        </p:nvSpPr>
        <p:spPr>
          <a:xfrm>
            <a:off x="8796690" y="3998836"/>
            <a:ext cx="2557110" cy="1040285"/>
          </a:xfrm>
          <a:prstGeom prst="rect">
            <a:avLst/>
          </a:prstGeom>
          <a:noFill/>
        </p:spPr>
        <p:txBody>
          <a:bodyPr wrap="none" rtlCol="0">
            <a:spAutoFit/>
          </a:bodyPr>
          <a:lstStyle/>
          <a:p>
            <a:r>
              <a:rPr lang="en-US" dirty="0"/>
              <a:t>O(n) time</a:t>
            </a:r>
          </a:p>
          <a:p>
            <a:r>
              <a:rPr lang="en-US" dirty="0"/>
              <a:t>O(n) memory</a:t>
            </a:r>
          </a:p>
        </p:txBody>
      </p:sp>
    </p:spTree>
    <p:extLst>
      <p:ext uri="{BB962C8B-B14F-4D97-AF65-F5344CB8AC3E}">
        <p14:creationId xmlns:p14="http://schemas.microsoft.com/office/powerpoint/2010/main" val="1190279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95519F-8827-C66E-CE37-C16B4E0D756E}"/>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96BFC867-C272-791E-11ED-ADF173F913E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23</a:t>
            </a:fld>
            <a:endParaRPr lang="en-US" dirty="0"/>
          </a:p>
        </p:txBody>
      </p:sp>
      <p:sp>
        <p:nvSpPr>
          <p:cNvPr id="4" name="Footer Placeholder 3">
            <a:extLst>
              <a:ext uri="{FF2B5EF4-FFF2-40B4-BE49-F238E27FC236}">
                <a16:creationId xmlns:a16="http://schemas.microsoft.com/office/drawing/2014/main" id="{6676E240-6D99-B56B-DA34-124DF861877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BCBF959C-AE2B-3EA4-48F3-430911F54C7D}"/>
              </a:ext>
            </a:extLst>
          </p:cNvPr>
          <p:cNvPicPr>
            <a:picLocks noChangeAspect="1"/>
          </p:cNvPicPr>
          <p:nvPr/>
        </p:nvPicPr>
        <p:blipFill>
          <a:blip r:embed="rId2"/>
          <a:stretch>
            <a:fillRect/>
          </a:stretch>
        </p:blipFill>
        <p:spPr>
          <a:xfrm>
            <a:off x="2209800" y="381000"/>
            <a:ext cx="7353300" cy="1438275"/>
          </a:xfrm>
          <a:prstGeom prst="rect">
            <a:avLst/>
          </a:prstGeom>
        </p:spPr>
      </p:pic>
      <p:pic>
        <p:nvPicPr>
          <p:cNvPr id="8" name="Picture 7">
            <a:extLst>
              <a:ext uri="{FF2B5EF4-FFF2-40B4-BE49-F238E27FC236}">
                <a16:creationId xmlns:a16="http://schemas.microsoft.com/office/drawing/2014/main" id="{68F27708-F13B-B4E9-65E0-6441EF0F9E95}"/>
              </a:ext>
            </a:extLst>
          </p:cNvPr>
          <p:cNvPicPr>
            <a:picLocks noChangeAspect="1"/>
          </p:cNvPicPr>
          <p:nvPr/>
        </p:nvPicPr>
        <p:blipFill>
          <a:blip r:embed="rId3"/>
          <a:stretch>
            <a:fillRect/>
          </a:stretch>
        </p:blipFill>
        <p:spPr>
          <a:xfrm>
            <a:off x="1221582" y="1905000"/>
            <a:ext cx="10267950" cy="4295775"/>
          </a:xfrm>
          <a:prstGeom prst="rect">
            <a:avLst/>
          </a:prstGeom>
        </p:spPr>
      </p:pic>
      <p:sp>
        <p:nvSpPr>
          <p:cNvPr id="9" name="TextBox 8">
            <a:extLst>
              <a:ext uri="{FF2B5EF4-FFF2-40B4-BE49-F238E27FC236}">
                <a16:creationId xmlns:a16="http://schemas.microsoft.com/office/drawing/2014/main" id="{622F7115-A51E-8097-3951-B63BC442A896}"/>
              </a:ext>
            </a:extLst>
          </p:cNvPr>
          <p:cNvSpPr txBox="1"/>
          <p:nvPr/>
        </p:nvSpPr>
        <p:spPr>
          <a:xfrm>
            <a:off x="8305800" y="2209800"/>
            <a:ext cx="2957861" cy="1040285"/>
          </a:xfrm>
          <a:prstGeom prst="rect">
            <a:avLst/>
          </a:prstGeom>
          <a:noFill/>
        </p:spPr>
        <p:txBody>
          <a:bodyPr wrap="none" rtlCol="0">
            <a:spAutoFit/>
          </a:bodyPr>
          <a:lstStyle/>
          <a:p>
            <a:r>
              <a:rPr lang="en-US" dirty="0"/>
              <a:t>O(</a:t>
            </a:r>
            <a:r>
              <a:rPr lang="en-US" dirty="0" err="1"/>
              <a:t>logn</a:t>
            </a:r>
            <a:r>
              <a:rPr lang="en-US" dirty="0"/>
              <a:t>) time</a:t>
            </a:r>
          </a:p>
          <a:p>
            <a:r>
              <a:rPr lang="en-US" dirty="0"/>
              <a:t>O(</a:t>
            </a:r>
            <a:r>
              <a:rPr lang="en-US" dirty="0" err="1"/>
              <a:t>logn</a:t>
            </a:r>
            <a:r>
              <a:rPr lang="en-US" dirty="0"/>
              <a:t>) memory</a:t>
            </a:r>
          </a:p>
        </p:txBody>
      </p:sp>
    </p:spTree>
    <p:extLst>
      <p:ext uri="{BB962C8B-B14F-4D97-AF65-F5344CB8AC3E}">
        <p14:creationId xmlns:p14="http://schemas.microsoft.com/office/powerpoint/2010/main" val="1657467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9A4F-D385-76A0-4852-22CC15785DA0}"/>
              </a:ext>
            </a:extLst>
          </p:cNvPr>
          <p:cNvSpPr>
            <a:spLocks noGrp="1"/>
          </p:cNvSpPr>
          <p:nvPr>
            <p:ph type="title"/>
          </p:nvPr>
        </p:nvSpPr>
        <p:spPr/>
        <p:txBody>
          <a:bodyPr/>
          <a:lstStyle/>
          <a:p>
            <a:r>
              <a:rPr lang="en-US" dirty="0"/>
              <a:t>Divide and Conquer Algorithms</a:t>
            </a:r>
          </a:p>
        </p:txBody>
      </p:sp>
      <p:sp>
        <p:nvSpPr>
          <p:cNvPr id="3" name="Date Placeholder 2">
            <a:extLst>
              <a:ext uri="{FF2B5EF4-FFF2-40B4-BE49-F238E27FC236}">
                <a16:creationId xmlns:a16="http://schemas.microsoft.com/office/drawing/2014/main" id="{51624881-C007-64B7-B521-F9587C17F860}"/>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8FE4EA2A-A97E-73F4-967A-F1ADC0EECE8B}"/>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24</a:t>
            </a:fld>
            <a:endParaRPr lang="en-US" dirty="0"/>
          </a:p>
        </p:txBody>
      </p:sp>
      <p:sp>
        <p:nvSpPr>
          <p:cNvPr id="5" name="Footer Placeholder 4">
            <a:extLst>
              <a:ext uri="{FF2B5EF4-FFF2-40B4-BE49-F238E27FC236}">
                <a16:creationId xmlns:a16="http://schemas.microsoft.com/office/drawing/2014/main" id="{B205EADC-3B4B-C723-320C-A5F1C4895D58}"/>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764838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44CC-C6BD-E027-C08B-50ABC98BCCB8}"/>
              </a:ext>
            </a:extLst>
          </p:cNvPr>
          <p:cNvSpPr>
            <a:spLocks noGrp="1"/>
          </p:cNvSpPr>
          <p:nvPr>
            <p:ph type="title"/>
          </p:nvPr>
        </p:nvSpPr>
        <p:spPr/>
        <p:txBody>
          <a:bodyPr/>
          <a:lstStyle/>
          <a:p>
            <a:r>
              <a:rPr lang="en-US" dirty="0"/>
              <a:t>Divide and conquer algorithm</a:t>
            </a:r>
          </a:p>
        </p:txBody>
      </p:sp>
      <p:sp>
        <p:nvSpPr>
          <p:cNvPr id="3" name="Content Placeholder 2">
            <a:extLst>
              <a:ext uri="{FF2B5EF4-FFF2-40B4-BE49-F238E27FC236}">
                <a16:creationId xmlns:a16="http://schemas.microsoft.com/office/drawing/2014/main" id="{3B52E56E-ACEC-3F9E-AE86-94E8D8AE75C0}"/>
              </a:ext>
            </a:extLst>
          </p:cNvPr>
          <p:cNvSpPr>
            <a:spLocks noGrp="1"/>
          </p:cNvSpPr>
          <p:nvPr>
            <p:ph idx="1"/>
          </p:nvPr>
        </p:nvSpPr>
        <p:spPr/>
        <p:txBody>
          <a:bodyPr/>
          <a:lstStyle/>
          <a:p>
            <a:r>
              <a:rPr lang="en-US" dirty="0"/>
              <a:t>An important algorithm design technique based on recursion.</a:t>
            </a:r>
          </a:p>
          <a:p>
            <a:r>
              <a:rPr lang="en-US" dirty="0"/>
              <a:t>Works by recursively breaking down a problem into two or more sub problems of the same type, until they become simple enough to be solved directly. </a:t>
            </a:r>
          </a:p>
          <a:p>
            <a:r>
              <a:rPr lang="en-US" dirty="0"/>
              <a:t>The solutions to the sub problems are then combined to give a solution to the original problem</a:t>
            </a:r>
          </a:p>
        </p:txBody>
      </p:sp>
      <p:sp>
        <p:nvSpPr>
          <p:cNvPr id="4" name="Slide Number Placeholder 3">
            <a:extLst>
              <a:ext uri="{FF2B5EF4-FFF2-40B4-BE49-F238E27FC236}">
                <a16:creationId xmlns:a16="http://schemas.microsoft.com/office/drawing/2014/main" id="{57FE6035-86B3-E1C7-800F-7FF1511518A5}"/>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25</a:t>
            </a:fld>
            <a:endParaRPr lang="en-US" altLang="en-US" dirty="0"/>
          </a:p>
        </p:txBody>
      </p:sp>
      <p:sp>
        <p:nvSpPr>
          <p:cNvPr id="5" name="Footer Placeholder 4">
            <a:extLst>
              <a:ext uri="{FF2B5EF4-FFF2-40B4-BE49-F238E27FC236}">
                <a16:creationId xmlns:a16="http://schemas.microsoft.com/office/drawing/2014/main" id="{8F332986-F9B8-4E44-6D7A-D17ABCB2C2A2}"/>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0F0C64D-EF5E-B29F-71A0-66B884CA213F}"/>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4124981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1A76-E3B4-10C2-E25B-41B795F78C23}"/>
              </a:ext>
            </a:extLst>
          </p:cNvPr>
          <p:cNvSpPr>
            <a:spLocks noGrp="1"/>
          </p:cNvSpPr>
          <p:nvPr>
            <p:ph type="title"/>
          </p:nvPr>
        </p:nvSpPr>
        <p:spPr/>
        <p:txBody>
          <a:bodyPr/>
          <a:lstStyle/>
          <a:p>
            <a:r>
              <a:rPr lang="en-US" dirty="0"/>
              <a:t>18.2 What is Divide and Conquer Strategy?</a:t>
            </a:r>
          </a:p>
        </p:txBody>
      </p:sp>
      <p:sp>
        <p:nvSpPr>
          <p:cNvPr id="3" name="Content Placeholder 2">
            <a:extLst>
              <a:ext uri="{FF2B5EF4-FFF2-40B4-BE49-F238E27FC236}">
                <a16:creationId xmlns:a16="http://schemas.microsoft.com/office/drawing/2014/main" id="{7B04D6A5-44D0-EA84-109C-6D01028AF82E}"/>
              </a:ext>
            </a:extLst>
          </p:cNvPr>
          <p:cNvSpPr>
            <a:spLocks noGrp="1"/>
          </p:cNvSpPr>
          <p:nvPr>
            <p:ph idx="1"/>
          </p:nvPr>
        </p:nvSpPr>
        <p:spPr/>
        <p:txBody>
          <a:bodyPr/>
          <a:lstStyle/>
          <a:p>
            <a:r>
              <a:rPr lang="en-US" sz="2800" dirty="0"/>
              <a:t>The D &amp; C strategy solves a problem by:</a:t>
            </a:r>
          </a:p>
          <a:p>
            <a:pPr lvl="1"/>
            <a:r>
              <a:rPr lang="en-US" sz="2400" dirty="0"/>
              <a:t>1. Divide: Breaking the problem into subproblems that are themselves smaller instances of the same type of problem.</a:t>
            </a:r>
          </a:p>
          <a:p>
            <a:pPr lvl="1"/>
            <a:r>
              <a:rPr lang="en-US" sz="2400" dirty="0"/>
              <a:t>2. Conquer: Conquer the subproblems by solving them recursively.</a:t>
            </a:r>
          </a:p>
          <a:p>
            <a:pPr lvl="1"/>
            <a:r>
              <a:rPr lang="en-US" sz="2400" dirty="0"/>
              <a:t>3. Combine: Combine the solutions to the subproblems into the solution for the original given problem.</a:t>
            </a:r>
          </a:p>
        </p:txBody>
      </p:sp>
      <p:sp>
        <p:nvSpPr>
          <p:cNvPr id="4" name="Slide Number Placeholder 3">
            <a:extLst>
              <a:ext uri="{FF2B5EF4-FFF2-40B4-BE49-F238E27FC236}">
                <a16:creationId xmlns:a16="http://schemas.microsoft.com/office/drawing/2014/main" id="{7F78A38E-5B5A-C427-A078-B3A30234335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26</a:t>
            </a:fld>
            <a:endParaRPr lang="en-US" altLang="en-US" dirty="0"/>
          </a:p>
        </p:txBody>
      </p:sp>
      <p:sp>
        <p:nvSpPr>
          <p:cNvPr id="5" name="Footer Placeholder 4">
            <a:extLst>
              <a:ext uri="{FF2B5EF4-FFF2-40B4-BE49-F238E27FC236}">
                <a16:creationId xmlns:a16="http://schemas.microsoft.com/office/drawing/2014/main" id="{2B6A8E5C-FD8F-AA0B-42DB-E1C9CF316329}"/>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2F6D288B-82F1-7B7A-4B63-FCCE75ECAA12}"/>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666090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E0B1BF-8D0F-780A-51CB-56DF1E0165C4}"/>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1D419AB-B39B-CB1C-C486-C8354736667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27</a:t>
            </a:fld>
            <a:endParaRPr lang="en-US" dirty="0"/>
          </a:p>
        </p:txBody>
      </p:sp>
      <p:sp>
        <p:nvSpPr>
          <p:cNvPr id="4" name="Footer Placeholder 3">
            <a:extLst>
              <a:ext uri="{FF2B5EF4-FFF2-40B4-BE49-F238E27FC236}">
                <a16:creationId xmlns:a16="http://schemas.microsoft.com/office/drawing/2014/main" id="{EA6646D0-DC46-DB66-A0C0-7F45EC4B2C48}"/>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DFF019B2-3C66-D882-3717-3EF6D6845698}"/>
              </a:ext>
            </a:extLst>
          </p:cNvPr>
          <p:cNvPicPr>
            <a:picLocks noChangeAspect="1"/>
          </p:cNvPicPr>
          <p:nvPr/>
        </p:nvPicPr>
        <p:blipFill>
          <a:blip r:embed="rId2"/>
          <a:stretch>
            <a:fillRect/>
          </a:stretch>
        </p:blipFill>
        <p:spPr>
          <a:xfrm>
            <a:off x="1243012" y="2000250"/>
            <a:ext cx="9705975" cy="2857500"/>
          </a:xfrm>
          <a:prstGeom prst="rect">
            <a:avLst/>
          </a:prstGeom>
        </p:spPr>
      </p:pic>
    </p:spTree>
    <p:extLst>
      <p:ext uri="{BB962C8B-B14F-4D97-AF65-F5344CB8AC3E}">
        <p14:creationId xmlns:p14="http://schemas.microsoft.com/office/powerpoint/2010/main" val="3650852687"/>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15860</TotalTime>
  <Words>1156</Words>
  <Application>Microsoft Office PowerPoint</Application>
  <PresentationFormat>Widescreen</PresentationFormat>
  <Paragraphs>177</Paragraphs>
  <Slides>27</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ＭＳ Ｐゴシック</vt:lpstr>
      <vt:lpstr>Arial</vt:lpstr>
      <vt:lpstr>BaskOldFace</vt:lpstr>
      <vt:lpstr>Calibri</vt:lpstr>
      <vt:lpstr>Courier New</vt:lpstr>
      <vt:lpstr>CrimsonPro-Regular</vt:lpstr>
      <vt:lpstr>CrimsonPro-SemiBold</vt:lpstr>
      <vt:lpstr>JansonText-Roman</vt:lpstr>
      <vt:lpstr>Monotype Sorts</vt:lpstr>
      <vt:lpstr>Tahoma</vt:lpstr>
      <vt:lpstr>Times New Roman</vt:lpstr>
      <vt:lpstr>Wingdings</vt:lpstr>
      <vt:lpstr>Vicostone Template</vt:lpstr>
      <vt:lpstr>Database Systems:  Design, Implementation, and Management 14th Edition</vt:lpstr>
      <vt:lpstr>National Economics University Faculty of Data Science &amp; Artificial Intelligence</vt:lpstr>
      <vt:lpstr>Learning Objectives</vt:lpstr>
      <vt:lpstr>Learning Objectives</vt:lpstr>
      <vt:lpstr>2.2 What is Recursion?</vt:lpstr>
      <vt:lpstr>2.3 Why Recursion?</vt:lpstr>
      <vt:lpstr>2.4 Format of a Recursive Function</vt:lpstr>
      <vt:lpstr>Factorial</vt:lpstr>
      <vt:lpstr>PowerPoint Presentation</vt:lpstr>
      <vt:lpstr>2.6 Recursion versus Iteration</vt:lpstr>
      <vt:lpstr>2.8 Example Algorithms of Recursion</vt:lpstr>
      <vt:lpstr>2.9 Recursion: Problems &amp; Solutions</vt:lpstr>
      <vt:lpstr>Tower of Hanoi</vt:lpstr>
      <vt:lpstr>PowerPoint Presentation</vt:lpstr>
      <vt:lpstr>Check whether the array is in sorted order with recursion.</vt:lpstr>
      <vt:lpstr>Summing the Elements of a Sequence Recursively</vt:lpstr>
      <vt:lpstr>PowerPoint Presentation</vt:lpstr>
      <vt:lpstr>Summing the Elements of a Sequence Recursively</vt:lpstr>
      <vt:lpstr>PowerPoint Presentation</vt:lpstr>
      <vt:lpstr>Reversing a Sequence with Recursion</vt:lpstr>
      <vt:lpstr>PowerPoint Presentation</vt:lpstr>
      <vt:lpstr>Recursive Algorithms for Computing Powers</vt:lpstr>
      <vt:lpstr>PowerPoint Presentation</vt:lpstr>
      <vt:lpstr>Divide and Conquer Algorithms</vt:lpstr>
      <vt:lpstr>Divide and conquer algorithm</vt:lpstr>
      <vt:lpstr>18.2 What is Divide and Conquer Strategy?</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Design, Implementation, and Management Ninth Edition</dc:title>
  <dc:creator>Duc Minh Vu</dc:creator>
  <cp:lastModifiedBy>Vu Duc Minh</cp:lastModifiedBy>
  <cp:revision>274</cp:revision>
  <cp:lastPrinted>2023-12-27T17:07:01Z</cp:lastPrinted>
  <dcterms:created xsi:type="dcterms:W3CDTF">2009-10-12T20:16:00Z</dcterms:created>
  <dcterms:modified xsi:type="dcterms:W3CDTF">2024-12-19T14:39:22Z</dcterms:modified>
</cp:coreProperties>
</file>